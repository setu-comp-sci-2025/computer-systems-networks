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4531" r:id="rId1"/>
  </p:sldMasterIdLst>
  <p:notesMasterIdLst>
    <p:notesMasterId r:id="rId45"/>
  </p:notesMasterIdLst>
  <p:sldIdLst>
    <p:sldId id="256" r:id="rId2"/>
    <p:sldId id="315" r:id="rId3"/>
    <p:sldId id="319" r:id="rId4"/>
    <p:sldId id="320" r:id="rId5"/>
    <p:sldId id="280" r:id="rId6"/>
    <p:sldId id="281" r:id="rId7"/>
    <p:sldId id="328" r:id="rId8"/>
    <p:sldId id="321" r:id="rId9"/>
    <p:sldId id="294" r:id="rId10"/>
    <p:sldId id="282" r:id="rId11"/>
    <p:sldId id="318" r:id="rId12"/>
    <p:sldId id="323" r:id="rId13"/>
    <p:sldId id="324" r:id="rId14"/>
    <p:sldId id="326" r:id="rId15"/>
    <p:sldId id="327" r:id="rId16"/>
    <p:sldId id="283" r:id="rId17"/>
    <p:sldId id="284" r:id="rId18"/>
    <p:sldId id="285" r:id="rId19"/>
    <p:sldId id="286" r:id="rId20"/>
    <p:sldId id="289" r:id="rId21"/>
    <p:sldId id="288" r:id="rId22"/>
    <p:sldId id="292" r:id="rId23"/>
    <p:sldId id="322" r:id="rId24"/>
    <p:sldId id="295" r:id="rId25"/>
    <p:sldId id="296" r:id="rId26"/>
    <p:sldId id="297" r:id="rId27"/>
    <p:sldId id="298" r:id="rId28"/>
    <p:sldId id="299" r:id="rId29"/>
    <p:sldId id="300" r:id="rId30"/>
    <p:sldId id="301" r:id="rId31"/>
    <p:sldId id="302" r:id="rId32"/>
    <p:sldId id="303" r:id="rId33"/>
    <p:sldId id="304" r:id="rId34"/>
    <p:sldId id="305" r:id="rId35"/>
    <p:sldId id="306" r:id="rId36"/>
    <p:sldId id="307" r:id="rId37"/>
    <p:sldId id="308" r:id="rId38"/>
    <p:sldId id="309" r:id="rId39"/>
    <p:sldId id="310" r:id="rId40"/>
    <p:sldId id="311" r:id="rId41"/>
    <p:sldId id="312" r:id="rId42"/>
    <p:sldId id="313" r:id="rId43"/>
    <p:sldId id="314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7" d="100"/>
          <a:sy n="117" d="100"/>
        </p:scale>
        <p:origin x="76" y="292"/>
      </p:cViewPr>
      <p:guideLst>
        <p:guide orient="horz" pos="2160"/>
        <p:guide pos="384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AutoShape 1">
            <a:extLst>
              <a:ext uri="{FF2B5EF4-FFF2-40B4-BE49-F238E27FC236}">
                <a16:creationId xmlns:a16="http://schemas.microsoft.com/office/drawing/2014/main" id="{B50194A5-DBED-4DC8-9F3C-54B1096172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008813" cy="92948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6" name="Text Box 2">
            <a:extLst>
              <a:ext uri="{FF2B5EF4-FFF2-40B4-BE49-F238E27FC236}">
                <a16:creationId xmlns:a16="http://schemas.microsoft.com/office/drawing/2014/main" id="{283ADD90-89F2-4AB1-A2BC-9D0325E71B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30384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7" name="Text Box 3">
            <a:extLst>
              <a:ext uri="{FF2B5EF4-FFF2-40B4-BE49-F238E27FC236}">
                <a16:creationId xmlns:a16="http://schemas.microsoft.com/office/drawing/2014/main" id="{5BF2848C-700B-4C96-A7DF-25CC184662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1925" y="0"/>
            <a:ext cx="30384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3CB6E874-6752-433A-9436-EBE44CD4AAA6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81100" y="698500"/>
            <a:ext cx="4646613" cy="3484563"/>
          </a:xfrm>
          <a:prstGeom prst="rect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57D4AB12-05E1-4A8A-BF89-6E10AB7FE935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933450" y="4416425"/>
            <a:ext cx="5141913" cy="417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240" tIns="46440" rIns="93240" bIns="4644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en-US"/>
          </a:p>
        </p:txBody>
      </p:sp>
      <p:sp>
        <p:nvSpPr>
          <p:cNvPr id="6150" name="Text Box 6">
            <a:extLst>
              <a:ext uri="{FF2B5EF4-FFF2-40B4-BE49-F238E27FC236}">
                <a16:creationId xmlns:a16="http://schemas.microsoft.com/office/drawing/2014/main" id="{A70B56C8-61E5-4CF8-A049-FC0CED4011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8832850"/>
            <a:ext cx="30384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1AAC8988-D24C-4363-9970-C31C61DDB666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3971925" y="8832850"/>
            <a:ext cx="303688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240" tIns="46440" rIns="93240" bIns="46440" numCol="1" anchor="b" anchorCtr="0" compatLnSpc="1">
            <a:prstTxWarp prst="textNoShape">
              <a:avLst/>
            </a:prstTxWarp>
          </a:bodyPr>
          <a:lstStyle>
            <a:lvl1pPr marL="215900" indent="-215900" algn="r" eaLnBrk="1">
              <a:buSzPct val="45000"/>
              <a:buFont typeface="Wingdings" panose="05000000000000000000" pitchFamily="2" charset="2"/>
              <a:buNone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300">
                <a:solidFill>
                  <a:srgbClr val="000000"/>
                </a:solidFill>
                <a:cs typeface="DejaVu Sans" charset="0"/>
              </a:defRPr>
            </a:lvl1pPr>
          </a:lstStyle>
          <a:p>
            <a:fld id="{52500AFF-4DA7-4A44-AA70-D3A9CA10689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82D69819-C15E-4209-BDC9-5FEAFA6B8C3E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31C10F6F-17EB-49A8-84DC-EA4EF5A9FB4A}" type="slidenum">
              <a:rPr lang="en-US" altLang="en-US"/>
              <a:pPr/>
              <a:t>1</a:t>
            </a:fld>
            <a:endParaRPr lang="en-US" altLang="en-US"/>
          </a:p>
        </p:txBody>
      </p:sp>
      <p:sp>
        <p:nvSpPr>
          <p:cNvPr id="67585" name="Text Box 1">
            <a:extLst>
              <a:ext uri="{FF2B5EF4-FFF2-40B4-BE49-F238E27FC236}">
                <a16:creationId xmlns:a16="http://schemas.microsoft.com/office/drawing/2014/main" id="{8C30EBA5-2E3A-4110-B3A6-4B22E49A2D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1925" y="8832850"/>
            <a:ext cx="30384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3240" tIns="46440" rIns="93240" bIns="46440" anchor="b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 algn="r">
              <a:buClrTx/>
              <a:buFontTx/>
              <a:buNone/>
            </a:pPr>
            <a:fld id="{08E0FC45-D1F7-47A4-83B0-909044E611CD}" type="slidenum">
              <a:rPr lang="en-US" altLang="en-US" sz="1300"/>
              <a:pPr algn="r">
                <a:buClrTx/>
                <a:buFontTx/>
                <a:buNone/>
              </a:pPr>
              <a:t>1</a:t>
            </a:fld>
            <a:endParaRPr lang="en-US" altLang="en-US" sz="1300"/>
          </a:p>
        </p:txBody>
      </p:sp>
      <p:sp>
        <p:nvSpPr>
          <p:cNvPr id="67586" name="Rectangle 2">
            <a:extLst>
              <a:ext uri="{FF2B5EF4-FFF2-40B4-BE49-F238E27FC236}">
                <a16:creationId xmlns:a16="http://schemas.microsoft.com/office/drawing/2014/main" id="{E0DCB8B5-ABA1-4BC5-A9D1-A33227DFE4F6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406400" y="698500"/>
            <a:ext cx="6197600" cy="34861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7587" name="Text Box 3">
            <a:extLst>
              <a:ext uri="{FF2B5EF4-FFF2-40B4-BE49-F238E27FC236}">
                <a16:creationId xmlns:a16="http://schemas.microsoft.com/office/drawing/2014/main" id="{1431A753-C842-4206-B778-24521DD38F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3450" y="4416425"/>
            <a:ext cx="5143500" cy="4181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>
            <a:extLst>
              <a:ext uri="{FF2B5EF4-FFF2-40B4-BE49-F238E27FC236}">
                <a16:creationId xmlns:a16="http://schemas.microsoft.com/office/drawing/2014/main" id="{39059EE6-8B01-4F35-9DC4-9347CC3A279A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8C39580-F0F2-42C0-ACDE-F72DB237FC57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92161" name="Rectangle 1">
            <a:extLst>
              <a:ext uri="{FF2B5EF4-FFF2-40B4-BE49-F238E27FC236}">
                <a16:creationId xmlns:a16="http://schemas.microsoft.com/office/drawing/2014/main" id="{014E2627-5964-4F2C-A6D6-3DA3CA17CC38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406400" y="698500"/>
            <a:ext cx="6197600" cy="34861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162" name="Rectangle 2">
            <a:extLst>
              <a:ext uri="{FF2B5EF4-FFF2-40B4-BE49-F238E27FC236}">
                <a16:creationId xmlns:a16="http://schemas.microsoft.com/office/drawing/2014/main" id="{2FCCB787-CF10-4C7E-A1D6-2AD93E605B20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33450" y="4416425"/>
            <a:ext cx="5143500" cy="41814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57898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>
            <a:extLst>
              <a:ext uri="{FF2B5EF4-FFF2-40B4-BE49-F238E27FC236}">
                <a16:creationId xmlns:a16="http://schemas.microsoft.com/office/drawing/2014/main" id="{F9BEC0A3-5B50-4CC2-AB4B-F5E12ABC3341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CD7BB1A9-97B6-42CF-92BA-FB1D05CAF4B5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93185" name="Rectangle 1">
            <a:extLst>
              <a:ext uri="{FF2B5EF4-FFF2-40B4-BE49-F238E27FC236}">
                <a16:creationId xmlns:a16="http://schemas.microsoft.com/office/drawing/2014/main" id="{F6B44AE6-F376-4DE3-9601-646D42511BD5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419100" y="703263"/>
            <a:ext cx="6172200" cy="34734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3186" name="Text Box 2">
            <a:extLst>
              <a:ext uri="{FF2B5EF4-FFF2-40B4-BE49-F238E27FC236}">
                <a16:creationId xmlns:a16="http://schemas.microsoft.com/office/drawing/2014/main" id="{FA89D86A-AF69-40AF-8A1B-FDA0300E71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>
            <a:extLst>
              <a:ext uri="{FF2B5EF4-FFF2-40B4-BE49-F238E27FC236}">
                <a16:creationId xmlns:a16="http://schemas.microsoft.com/office/drawing/2014/main" id="{A8575E37-46A2-4903-A4BE-C402057045F5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1E87E5F-6E4B-49CC-8EDB-5EF5D894BF85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106497" name="Rectangle 1">
            <a:extLst>
              <a:ext uri="{FF2B5EF4-FFF2-40B4-BE49-F238E27FC236}">
                <a16:creationId xmlns:a16="http://schemas.microsoft.com/office/drawing/2014/main" id="{D317A643-0002-44B0-9C85-3203EA7A7AEA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419100" y="703263"/>
            <a:ext cx="6172200" cy="34734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6498" name="Text Box 2">
            <a:extLst>
              <a:ext uri="{FF2B5EF4-FFF2-40B4-BE49-F238E27FC236}">
                <a16:creationId xmlns:a16="http://schemas.microsoft.com/office/drawing/2014/main" id="{7B35D056-7397-482C-B272-8634937CD9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>
            <a:extLst>
              <a:ext uri="{FF2B5EF4-FFF2-40B4-BE49-F238E27FC236}">
                <a16:creationId xmlns:a16="http://schemas.microsoft.com/office/drawing/2014/main" id="{3B5A79D8-AF79-4490-96A9-9EA54FC35C54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31D39D00-3733-4A6D-9AE4-CD98D1950026}" type="slidenum">
              <a:rPr lang="en-US" altLang="en-US"/>
              <a:pPr/>
              <a:t>10</a:t>
            </a:fld>
            <a:endParaRPr lang="en-US" altLang="en-US"/>
          </a:p>
        </p:txBody>
      </p:sp>
      <p:sp>
        <p:nvSpPr>
          <p:cNvPr id="94209" name="Rectangle 1">
            <a:extLst>
              <a:ext uri="{FF2B5EF4-FFF2-40B4-BE49-F238E27FC236}">
                <a16:creationId xmlns:a16="http://schemas.microsoft.com/office/drawing/2014/main" id="{AF172318-BE2C-4C51-B5C9-60327278622C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419100" y="703263"/>
            <a:ext cx="6172200" cy="34734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4210" name="Text Box 2">
            <a:extLst>
              <a:ext uri="{FF2B5EF4-FFF2-40B4-BE49-F238E27FC236}">
                <a16:creationId xmlns:a16="http://schemas.microsoft.com/office/drawing/2014/main" id="{C690E234-E899-49AE-9DCC-841304404F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>
            <a:extLst>
              <a:ext uri="{FF2B5EF4-FFF2-40B4-BE49-F238E27FC236}">
                <a16:creationId xmlns:a16="http://schemas.microsoft.com/office/drawing/2014/main" id="{34685C5D-B404-4EB0-AF0B-BF78640EF480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A95145D8-8ACF-45B8-B622-CA7AFA462C58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95233" name="Rectangle 1">
            <a:extLst>
              <a:ext uri="{FF2B5EF4-FFF2-40B4-BE49-F238E27FC236}">
                <a16:creationId xmlns:a16="http://schemas.microsoft.com/office/drawing/2014/main" id="{7CF4A4AF-1DBC-4BDC-8368-ADEDAB2F3526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419100" y="703263"/>
            <a:ext cx="6172200" cy="34734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5234" name="Text Box 2">
            <a:extLst>
              <a:ext uri="{FF2B5EF4-FFF2-40B4-BE49-F238E27FC236}">
                <a16:creationId xmlns:a16="http://schemas.microsoft.com/office/drawing/2014/main" id="{2A946927-D731-4864-A678-1ECC763287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>
            <a:extLst>
              <a:ext uri="{FF2B5EF4-FFF2-40B4-BE49-F238E27FC236}">
                <a16:creationId xmlns:a16="http://schemas.microsoft.com/office/drawing/2014/main" id="{652D5C9F-2DE3-4551-B151-251F0056DD00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D6445CAF-ED60-493D-8117-B80C40AFAB40}" type="slidenum">
              <a:rPr lang="en-US" altLang="en-US"/>
              <a:pPr/>
              <a:t>17</a:t>
            </a:fld>
            <a:endParaRPr lang="en-US" altLang="en-US"/>
          </a:p>
        </p:txBody>
      </p:sp>
      <p:sp>
        <p:nvSpPr>
          <p:cNvPr id="96257" name="Rectangle 1">
            <a:extLst>
              <a:ext uri="{FF2B5EF4-FFF2-40B4-BE49-F238E27FC236}">
                <a16:creationId xmlns:a16="http://schemas.microsoft.com/office/drawing/2014/main" id="{A436CF42-18A2-4FD9-B863-7BC3FEC1AAB1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419100" y="703263"/>
            <a:ext cx="6172200" cy="34734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6258" name="Text Box 2">
            <a:extLst>
              <a:ext uri="{FF2B5EF4-FFF2-40B4-BE49-F238E27FC236}">
                <a16:creationId xmlns:a16="http://schemas.microsoft.com/office/drawing/2014/main" id="{2E9971DE-229A-4815-B8E8-BEB6FE25C7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>
            <a:extLst>
              <a:ext uri="{FF2B5EF4-FFF2-40B4-BE49-F238E27FC236}">
                <a16:creationId xmlns:a16="http://schemas.microsoft.com/office/drawing/2014/main" id="{DBE4DA5B-7329-466D-BF5E-DB67BF3B61AB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EE8D41C-6C96-42D8-8065-ED549892983F}" type="slidenum">
              <a:rPr lang="en-US" altLang="en-US"/>
              <a:pPr/>
              <a:t>18</a:t>
            </a:fld>
            <a:endParaRPr lang="en-US" altLang="en-US"/>
          </a:p>
        </p:txBody>
      </p:sp>
      <p:sp>
        <p:nvSpPr>
          <p:cNvPr id="97281" name="Rectangle 1">
            <a:extLst>
              <a:ext uri="{FF2B5EF4-FFF2-40B4-BE49-F238E27FC236}">
                <a16:creationId xmlns:a16="http://schemas.microsoft.com/office/drawing/2014/main" id="{EFFE105B-1A7D-4944-BC2B-CEBBBF813A4C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419100" y="703263"/>
            <a:ext cx="6172200" cy="34734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7282" name="Text Box 2">
            <a:extLst>
              <a:ext uri="{FF2B5EF4-FFF2-40B4-BE49-F238E27FC236}">
                <a16:creationId xmlns:a16="http://schemas.microsoft.com/office/drawing/2014/main" id="{AE441206-676F-4EE2-8441-0F75B78937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>
            <a:extLst>
              <a:ext uri="{FF2B5EF4-FFF2-40B4-BE49-F238E27FC236}">
                <a16:creationId xmlns:a16="http://schemas.microsoft.com/office/drawing/2014/main" id="{92DEFA3E-D0C2-4904-914C-A6B163A82D14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C1080E8-6F80-4208-81D4-A7AA2E543585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98305" name="Rectangle 1">
            <a:extLst>
              <a:ext uri="{FF2B5EF4-FFF2-40B4-BE49-F238E27FC236}">
                <a16:creationId xmlns:a16="http://schemas.microsoft.com/office/drawing/2014/main" id="{C271D77A-A0D7-4E27-9305-F5CE504E40A4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419100" y="703263"/>
            <a:ext cx="6172200" cy="34734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8306" name="Text Box 2">
            <a:extLst>
              <a:ext uri="{FF2B5EF4-FFF2-40B4-BE49-F238E27FC236}">
                <a16:creationId xmlns:a16="http://schemas.microsoft.com/office/drawing/2014/main" id="{1AC00B82-102A-4A9E-8424-9AA8595A40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>
            <a:extLst>
              <a:ext uri="{FF2B5EF4-FFF2-40B4-BE49-F238E27FC236}">
                <a16:creationId xmlns:a16="http://schemas.microsoft.com/office/drawing/2014/main" id="{927B4CFD-FDFD-4B6D-8C5C-7FBA3F89FB7F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D6D06BEC-6ACC-44D1-B6BD-AE2F638058F2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101377" name="Rectangle 1">
            <a:extLst>
              <a:ext uri="{FF2B5EF4-FFF2-40B4-BE49-F238E27FC236}">
                <a16:creationId xmlns:a16="http://schemas.microsoft.com/office/drawing/2014/main" id="{4A1CDEDD-EADB-4FEF-9F46-4F8893BAC062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419100" y="703263"/>
            <a:ext cx="6172200" cy="34734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1378" name="Text Box 2">
            <a:extLst>
              <a:ext uri="{FF2B5EF4-FFF2-40B4-BE49-F238E27FC236}">
                <a16:creationId xmlns:a16="http://schemas.microsoft.com/office/drawing/2014/main" id="{48331DB8-D540-4D2B-BE17-64E57EE390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>
            <a:extLst>
              <a:ext uri="{FF2B5EF4-FFF2-40B4-BE49-F238E27FC236}">
                <a16:creationId xmlns:a16="http://schemas.microsoft.com/office/drawing/2014/main" id="{A7BDFE1F-0B21-45D7-B176-54C665F2FA0F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06B5CBE7-E4F3-4842-B26F-EE0AC97811FC}" type="slidenum">
              <a:rPr lang="en-US" altLang="en-US"/>
              <a:pPr/>
              <a:t>21</a:t>
            </a:fld>
            <a:endParaRPr lang="en-US" altLang="en-US"/>
          </a:p>
        </p:txBody>
      </p:sp>
      <p:sp>
        <p:nvSpPr>
          <p:cNvPr id="100353" name="Rectangle 1">
            <a:extLst>
              <a:ext uri="{FF2B5EF4-FFF2-40B4-BE49-F238E27FC236}">
                <a16:creationId xmlns:a16="http://schemas.microsoft.com/office/drawing/2014/main" id="{14799743-062D-4642-B3E2-7A0D4E9FD25E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419100" y="703263"/>
            <a:ext cx="6172200" cy="34734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0354" name="Text Box 2">
            <a:extLst>
              <a:ext uri="{FF2B5EF4-FFF2-40B4-BE49-F238E27FC236}">
                <a16:creationId xmlns:a16="http://schemas.microsoft.com/office/drawing/2014/main" id="{374427FD-0F98-469D-B15F-C9295F7CF0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>
            <a:extLst>
              <a:ext uri="{FF2B5EF4-FFF2-40B4-BE49-F238E27FC236}">
                <a16:creationId xmlns:a16="http://schemas.microsoft.com/office/drawing/2014/main" id="{F0573521-713D-4513-B2EC-408B47915B31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D7761BB0-D900-4AD6-B244-3D4D2B20CCA9}" type="slidenum">
              <a:rPr lang="en-US" altLang="en-US"/>
              <a:pPr/>
              <a:t>22</a:t>
            </a:fld>
            <a:endParaRPr lang="en-US" altLang="en-US"/>
          </a:p>
        </p:txBody>
      </p:sp>
      <p:sp>
        <p:nvSpPr>
          <p:cNvPr id="104449" name="Rectangle 1">
            <a:extLst>
              <a:ext uri="{FF2B5EF4-FFF2-40B4-BE49-F238E27FC236}">
                <a16:creationId xmlns:a16="http://schemas.microsoft.com/office/drawing/2014/main" id="{318D82E3-0903-4D83-9F4C-4850BB6D3DCF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419100" y="703263"/>
            <a:ext cx="6172200" cy="34734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4450" name="Text Box 2">
            <a:extLst>
              <a:ext uri="{FF2B5EF4-FFF2-40B4-BE49-F238E27FC236}">
                <a16:creationId xmlns:a16="http://schemas.microsoft.com/office/drawing/2014/main" id="{7BD5E491-E967-4437-90F6-C4D682EEB5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>
            <a:extLst>
              <a:ext uri="{FF2B5EF4-FFF2-40B4-BE49-F238E27FC236}">
                <a16:creationId xmlns:a16="http://schemas.microsoft.com/office/drawing/2014/main" id="{D96BF500-4562-4B13-8114-91927184C2D5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4111E45D-7356-44FE-AE69-0E07EDF36B4C}" type="slidenum">
              <a:rPr lang="en-US" altLang="en-US"/>
              <a:pPr/>
              <a:t>24</a:t>
            </a:fld>
            <a:endParaRPr lang="en-US" altLang="en-US"/>
          </a:p>
        </p:txBody>
      </p:sp>
      <p:sp>
        <p:nvSpPr>
          <p:cNvPr id="107521" name="Rectangle 1">
            <a:extLst>
              <a:ext uri="{FF2B5EF4-FFF2-40B4-BE49-F238E27FC236}">
                <a16:creationId xmlns:a16="http://schemas.microsoft.com/office/drawing/2014/main" id="{76C6F50B-83A7-40D8-8FE7-C44D398A2031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406400" y="698500"/>
            <a:ext cx="6197600" cy="34861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7522" name="Rectangle 2">
            <a:extLst>
              <a:ext uri="{FF2B5EF4-FFF2-40B4-BE49-F238E27FC236}">
                <a16:creationId xmlns:a16="http://schemas.microsoft.com/office/drawing/2014/main" id="{273A516D-E324-41D1-B4F7-6D94DDC13220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33450" y="4416425"/>
            <a:ext cx="5143500" cy="41814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>
            <a:extLst>
              <a:ext uri="{FF2B5EF4-FFF2-40B4-BE49-F238E27FC236}">
                <a16:creationId xmlns:a16="http://schemas.microsoft.com/office/drawing/2014/main" id="{B381D365-EF5F-4EDF-A8C3-90DA9B72CB83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E287614F-A5F7-42D9-91E5-594FD38A6D07}" type="slidenum">
              <a:rPr lang="en-US" altLang="en-US"/>
              <a:pPr/>
              <a:t>25</a:t>
            </a:fld>
            <a:endParaRPr lang="en-US" altLang="en-US"/>
          </a:p>
        </p:txBody>
      </p:sp>
      <p:sp>
        <p:nvSpPr>
          <p:cNvPr id="108545" name="Rectangle 1">
            <a:extLst>
              <a:ext uri="{FF2B5EF4-FFF2-40B4-BE49-F238E27FC236}">
                <a16:creationId xmlns:a16="http://schemas.microsoft.com/office/drawing/2014/main" id="{7EA66703-E625-41A7-88F7-B5998543BC50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406400" y="698500"/>
            <a:ext cx="6197600" cy="34861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8546" name="Rectangle 2">
            <a:extLst>
              <a:ext uri="{FF2B5EF4-FFF2-40B4-BE49-F238E27FC236}">
                <a16:creationId xmlns:a16="http://schemas.microsoft.com/office/drawing/2014/main" id="{575CC48B-9052-453C-9368-5357A6EEF6CD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33450" y="4416425"/>
            <a:ext cx="5143500" cy="41814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>
            <a:extLst>
              <a:ext uri="{FF2B5EF4-FFF2-40B4-BE49-F238E27FC236}">
                <a16:creationId xmlns:a16="http://schemas.microsoft.com/office/drawing/2014/main" id="{8E656F47-C1DB-4850-A87F-BE4A7861750A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4E2F3579-19C9-43C8-AE58-40C0C5E729F4}" type="slidenum">
              <a:rPr lang="en-US" altLang="en-US"/>
              <a:pPr/>
              <a:t>26</a:t>
            </a:fld>
            <a:endParaRPr lang="en-US" altLang="en-US"/>
          </a:p>
        </p:txBody>
      </p:sp>
      <p:sp>
        <p:nvSpPr>
          <p:cNvPr id="109569" name="Rectangle 1">
            <a:extLst>
              <a:ext uri="{FF2B5EF4-FFF2-40B4-BE49-F238E27FC236}">
                <a16:creationId xmlns:a16="http://schemas.microsoft.com/office/drawing/2014/main" id="{41A864A2-2028-4335-A5AD-245C5B36F464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406400" y="698500"/>
            <a:ext cx="6197600" cy="34861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9570" name="Rectangle 2">
            <a:extLst>
              <a:ext uri="{FF2B5EF4-FFF2-40B4-BE49-F238E27FC236}">
                <a16:creationId xmlns:a16="http://schemas.microsoft.com/office/drawing/2014/main" id="{97AFA580-A0E5-4AC1-8599-C4C58ECCBE96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33450" y="4416425"/>
            <a:ext cx="5143500" cy="41814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>
            <a:extLst>
              <a:ext uri="{FF2B5EF4-FFF2-40B4-BE49-F238E27FC236}">
                <a16:creationId xmlns:a16="http://schemas.microsoft.com/office/drawing/2014/main" id="{8DC44450-FFDD-49F0-985E-1FAF6B59F3F0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0018C4FA-10E9-4288-8887-043287E072A4}" type="slidenum">
              <a:rPr lang="en-US" altLang="en-US"/>
              <a:pPr/>
              <a:t>27</a:t>
            </a:fld>
            <a:endParaRPr lang="en-US" altLang="en-US"/>
          </a:p>
        </p:txBody>
      </p:sp>
      <p:sp>
        <p:nvSpPr>
          <p:cNvPr id="110593" name="Rectangle 1">
            <a:extLst>
              <a:ext uri="{FF2B5EF4-FFF2-40B4-BE49-F238E27FC236}">
                <a16:creationId xmlns:a16="http://schemas.microsoft.com/office/drawing/2014/main" id="{DE0D8403-6FDC-4F07-9250-6938CAF45BBE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406400" y="698500"/>
            <a:ext cx="6197600" cy="34861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10594" name="Rectangle 2">
            <a:extLst>
              <a:ext uri="{FF2B5EF4-FFF2-40B4-BE49-F238E27FC236}">
                <a16:creationId xmlns:a16="http://schemas.microsoft.com/office/drawing/2014/main" id="{92B63D2D-1C15-45AB-A863-10CD101087FF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33450" y="4416425"/>
            <a:ext cx="5143500" cy="41814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>
            <a:extLst>
              <a:ext uri="{FF2B5EF4-FFF2-40B4-BE49-F238E27FC236}">
                <a16:creationId xmlns:a16="http://schemas.microsoft.com/office/drawing/2014/main" id="{768D4767-C68B-487B-B4BA-296587565BA3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CEFBE788-7BCF-4201-B5C8-4E37909701AE}" type="slidenum">
              <a:rPr lang="en-US" altLang="en-US"/>
              <a:pPr/>
              <a:t>28</a:t>
            </a:fld>
            <a:endParaRPr lang="en-US" altLang="en-US"/>
          </a:p>
        </p:txBody>
      </p:sp>
      <p:sp>
        <p:nvSpPr>
          <p:cNvPr id="111617" name="Rectangle 1">
            <a:extLst>
              <a:ext uri="{FF2B5EF4-FFF2-40B4-BE49-F238E27FC236}">
                <a16:creationId xmlns:a16="http://schemas.microsoft.com/office/drawing/2014/main" id="{F56EB2D3-F7B2-4FE6-A7F4-F4558BEF5056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406400" y="698500"/>
            <a:ext cx="6197600" cy="34861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11618" name="Rectangle 2">
            <a:extLst>
              <a:ext uri="{FF2B5EF4-FFF2-40B4-BE49-F238E27FC236}">
                <a16:creationId xmlns:a16="http://schemas.microsoft.com/office/drawing/2014/main" id="{E78793D2-98A3-414C-949C-628CC5B0610E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33450" y="4416425"/>
            <a:ext cx="5143500" cy="41814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>
            <a:extLst>
              <a:ext uri="{FF2B5EF4-FFF2-40B4-BE49-F238E27FC236}">
                <a16:creationId xmlns:a16="http://schemas.microsoft.com/office/drawing/2014/main" id="{672961A3-30AA-4181-86A2-CE41C4847291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55C9AA42-F7A2-4561-A505-B1B1B6047F79}" type="slidenum">
              <a:rPr lang="en-US" altLang="en-US"/>
              <a:pPr/>
              <a:t>29</a:t>
            </a:fld>
            <a:endParaRPr lang="en-US" altLang="en-US"/>
          </a:p>
        </p:txBody>
      </p:sp>
      <p:sp>
        <p:nvSpPr>
          <p:cNvPr id="112641" name="Rectangle 1">
            <a:extLst>
              <a:ext uri="{FF2B5EF4-FFF2-40B4-BE49-F238E27FC236}">
                <a16:creationId xmlns:a16="http://schemas.microsoft.com/office/drawing/2014/main" id="{94F1332B-F33A-420E-B9E2-B08FAEB0A91A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406400" y="698500"/>
            <a:ext cx="6197600" cy="34861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12642" name="Rectangle 2">
            <a:extLst>
              <a:ext uri="{FF2B5EF4-FFF2-40B4-BE49-F238E27FC236}">
                <a16:creationId xmlns:a16="http://schemas.microsoft.com/office/drawing/2014/main" id="{295DB199-99F2-4F35-9453-EADCBA5340C3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33450" y="4416425"/>
            <a:ext cx="5143500" cy="41814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>
            <a:extLst>
              <a:ext uri="{FF2B5EF4-FFF2-40B4-BE49-F238E27FC236}">
                <a16:creationId xmlns:a16="http://schemas.microsoft.com/office/drawing/2014/main" id="{87C2C580-CD04-4057-BE65-D17FEF59CD76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1DACCE3A-B55F-4213-952F-9B09B0003A42}" type="slidenum">
              <a:rPr lang="en-US" altLang="en-US"/>
              <a:pPr/>
              <a:t>30</a:t>
            </a:fld>
            <a:endParaRPr lang="en-US" altLang="en-US"/>
          </a:p>
        </p:txBody>
      </p:sp>
      <p:sp>
        <p:nvSpPr>
          <p:cNvPr id="113665" name="Rectangle 1">
            <a:extLst>
              <a:ext uri="{FF2B5EF4-FFF2-40B4-BE49-F238E27FC236}">
                <a16:creationId xmlns:a16="http://schemas.microsoft.com/office/drawing/2014/main" id="{CA057D4B-AF51-4281-BC7E-2AD2236932D6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406400" y="698500"/>
            <a:ext cx="6197600" cy="34861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13666" name="Rectangle 2">
            <a:extLst>
              <a:ext uri="{FF2B5EF4-FFF2-40B4-BE49-F238E27FC236}">
                <a16:creationId xmlns:a16="http://schemas.microsoft.com/office/drawing/2014/main" id="{DB3E140D-E3E5-466E-B3CB-3F62AAF422EC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33450" y="4416425"/>
            <a:ext cx="5143500" cy="41814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>
            <a:extLst>
              <a:ext uri="{FF2B5EF4-FFF2-40B4-BE49-F238E27FC236}">
                <a16:creationId xmlns:a16="http://schemas.microsoft.com/office/drawing/2014/main" id="{63B375A7-2A75-4352-A61E-76AE7D044143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AF3DDE69-9C09-4C4A-A951-D817DC6DE697}" type="slidenum">
              <a:rPr lang="en-US" altLang="en-US"/>
              <a:pPr/>
              <a:t>31</a:t>
            </a:fld>
            <a:endParaRPr lang="en-US" altLang="en-US"/>
          </a:p>
        </p:txBody>
      </p:sp>
      <p:sp>
        <p:nvSpPr>
          <p:cNvPr id="114689" name="Rectangle 1">
            <a:extLst>
              <a:ext uri="{FF2B5EF4-FFF2-40B4-BE49-F238E27FC236}">
                <a16:creationId xmlns:a16="http://schemas.microsoft.com/office/drawing/2014/main" id="{51ABF3AC-C06C-4F5F-BE61-02C4CB868701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406400" y="698500"/>
            <a:ext cx="6197600" cy="34861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14690" name="Rectangle 2">
            <a:extLst>
              <a:ext uri="{FF2B5EF4-FFF2-40B4-BE49-F238E27FC236}">
                <a16:creationId xmlns:a16="http://schemas.microsoft.com/office/drawing/2014/main" id="{FC3884A6-7663-424A-A505-DD6CADE73B7E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33450" y="4416425"/>
            <a:ext cx="5143500" cy="41814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>
            <a:extLst>
              <a:ext uri="{FF2B5EF4-FFF2-40B4-BE49-F238E27FC236}">
                <a16:creationId xmlns:a16="http://schemas.microsoft.com/office/drawing/2014/main" id="{F87A7315-3026-4A6A-9BF9-AA71D3ACE60D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1E0389BF-55A5-446C-8B34-88DD48694FC6}" type="slidenum">
              <a:rPr lang="en-US" altLang="en-US"/>
              <a:pPr/>
              <a:t>32</a:t>
            </a:fld>
            <a:endParaRPr lang="en-US" altLang="en-US"/>
          </a:p>
        </p:txBody>
      </p:sp>
      <p:sp>
        <p:nvSpPr>
          <p:cNvPr id="115713" name="Rectangle 1">
            <a:extLst>
              <a:ext uri="{FF2B5EF4-FFF2-40B4-BE49-F238E27FC236}">
                <a16:creationId xmlns:a16="http://schemas.microsoft.com/office/drawing/2014/main" id="{AEA8E716-F781-4DBB-A10E-B6A1A0C7D36C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406400" y="698500"/>
            <a:ext cx="6197600" cy="34861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15714" name="Rectangle 2">
            <a:extLst>
              <a:ext uri="{FF2B5EF4-FFF2-40B4-BE49-F238E27FC236}">
                <a16:creationId xmlns:a16="http://schemas.microsoft.com/office/drawing/2014/main" id="{32E954F1-A920-4F89-AD85-A87F7BEF812D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33450" y="4416425"/>
            <a:ext cx="5143500" cy="41814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>
            <a:extLst>
              <a:ext uri="{FF2B5EF4-FFF2-40B4-BE49-F238E27FC236}">
                <a16:creationId xmlns:a16="http://schemas.microsoft.com/office/drawing/2014/main" id="{6B4245DA-4944-4CCA-9662-ACB103975F7D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2DA3C08F-C687-42A4-B3B6-85D2BCF42204}" type="slidenum">
              <a:rPr lang="en-US" altLang="en-US"/>
              <a:pPr/>
              <a:t>33</a:t>
            </a:fld>
            <a:endParaRPr lang="en-US" altLang="en-US"/>
          </a:p>
        </p:txBody>
      </p:sp>
      <p:sp>
        <p:nvSpPr>
          <p:cNvPr id="116737" name="Rectangle 1">
            <a:extLst>
              <a:ext uri="{FF2B5EF4-FFF2-40B4-BE49-F238E27FC236}">
                <a16:creationId xmlns:a16="http://schemas.microsoft.com/office/drawing/2014/main" id="{895FF3EF-DEC2-4E26-9257-9B959D205871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406400" y="698500"/>
            <a:ext cx="6197600" cy="34861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16738" name="Rectangle 2">
            <a:extLst>
              <a:ext uri="{FF2B5EF4-FFF2-40B4-BE49-F238E27FC236}">
                <a16:creationId xmlns:a16="http://schemas.microsoft.com/office/drawing/2014/main" id="{AF1DBF11-024A-4268-A709-4DFBD8D1C735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33450" y="4416425"/>
            <a:ext cx="5143500" cy="41814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>
            <a:extLst>
              <a:ext uri="{FF2B5EF4-FFF2-40B4-BE49-F238E27FC236}">
                <a16:creationId xmlns:a16="http://schemas.microsoft.com/office/drawing/2014/main" id="{C25FBA9F-920D-4BEF-B047-1C0A30327B3A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231FA584-3B5D-4F68-B97A-F25EEC5F463B}" type="slidenum">
              <a:rPr lang="en-US" altLang="en-US"/>
              <a:pPr/>
              <a:t>34</a:t>
            </a:fld>
            <a:endParaRPr lang="en-US" altLang="en-US"/>
          </a:p>
        </p:txBody>
      </p:sp>
      <p:sp>
        <p:nvSpPr>
          <p:cNvPr id="117761" name="Rectangle 1">
            <a:extLst>
              <a:ext uri="{FF2B5EF4-FFF2-40B4-BE49-F238E27FC236}">
                <a16:creationId xmlns:a16="http://schemas.microsoft.com/office/drawing/2014/main" id="{B9D66AAC-ADC5-4D02-9449-19632EC6B5F4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406400" y="698500"/>
            <a:ext cx="6197600" cy="34861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17762" name="Rectangle 2">
            <a:extLst>
              <a:ext uri="{FF2B5EF4-FFF2-40B4-BE49-F238E27FC236}">
                <a16:creationId xmlns:a16="http://schemas.microsoft.com/office/drawing/2014/main" id="{2DA83D03-9E91-4983-BDB5-9DDCFD24B421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33450" y="4416425"/>
            <a:ext cx="5143500" cy="41814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>
            <a:extLst>
              <a:ext uri="{FF2B5EF4-FFF2-40B4-BE49-F238E27FC236}">
                <a16:creationId xmlns:a16="http://schemas.microsoft.com/office/drawing/2014/main" id="{A49E8C00-5487-4DAE-AD5E-5BD93A33184B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5ECD4BE6-28C0-41D8-93F8-99550BB75C27}" type="slidenum">
              <a:rPr lang="en-US" altLang="en-US"/>
              <a:pPr/>
              <a:t>35</a:t>
            </a:fld>
            <a:endParaRPr lang="en-US" altLang="en-US"/>
          </a:p>
        </p:txBody>
      </p:sp>
      <p:sp>
        <p:nvSpPr>
          <p:cNvPr id="118785" name="Rectangle 1">
            <a:extLst>
              <a:ext uri="{FF2B5EF4-FFF2-40B4-BE49-F238E27FC236}">
                <a16:creationId xmlns:a16="http://schemas.microsoft.com/office/drawing/2014/main" id="{03530A26-B506-4EDC-AAAC-9539AC956AC6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406400" y="698500"/>
            <a:ext cx="6197600" cy="34861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18786" name="Rectangle 2">
            <a:extLst>
              <a:ext uri="{FF2B5EF4-FFF2-40B4-BE49-F238E27FC236}">
                <a16:creationId xmlns:a16="http://schemas.microsoft.com/office/drawing/2014/main" id="{A00CAC1C-EAE9-43AE-B5AC-C0968CF48075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33450" y="4416425"/>
            <a:ext cx="5143500" cy="41814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>
            <a:extLst>
              <a:ext uri="{FF2B5EF4-FFF2-40B4-BE49-F238E27FC236}">
                <a16:creationId xmlns:a16="http://schemas.microsoft.com/office/drawing/2014/main" id="{02A92C7F-5E7E-4A93-8DA2-F81B803CE6EC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EBB228CE-234F-41DD-BA5B-7C6CEE07237A}" type="slidenum">
              <a:rPr lang="en-US" altLang="en-US"/>
              <a:pPr/>
              <a:t>36</a:t>
            </a:fld>
            <a:endParaRPr lang="en-US" altLang="en-US"/>
          </a:p>
        </p:txBody>
      </p:sp>
      <p:sp>
        <p:nvSpPr>
          <p:cNvPr id="119809" name="Rectangle 1">
            <a:extLst>
              <a:ext uri="{FF2B5EF4-FFF2-40B4-BE49-F238E27FC236}">
                <a16:creationId xmlns:a16="http://schemas.microsoft.com/office/drawing/2014/main" id="{EDDC7F8E-3646-4DB6-A44F-8F850E4DD1EF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406400" y="698500"/>
            <a:ext cx="6197600" cy="34861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19810" name="Rectangle 2">
            <a:extLst>
              <a:ext uri="{FF2B5EF4-FFF2-40B4-BE49-F238E27FC236}">
                <a16:creationId xmlns:a16="http://schemas.microsoft.com/office/drawing/2014/main" id="{44E182EA-A7DC-4643-B083-3BA524B1A1F4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33450" y="4416425"/>
            <a:ext cx="5143500" cy="41814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>
            <a:extLst>
              <a:ext uri="{FF2B5EF4-FFF2-40B4-BE49-F238E27FC236}">
                <a16:creationId xmlns:a16="http://schemas.microsoft.com/office/drawing/2014/main" id="{96F5B634-D03F-442E-9927-AE4AC5ADFF99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C2A2A095-4D30-4CA0-822E-594A2E094DD4}" type="slidenum">
              <a:rPr lang="en-US" altLang="en-US"/>
              <a:pPr/>
              <a:t>37</a:t>
            </a:fld>
            <a:endParaRPr lang="en-US" altLang="en-US"/>
          </a:p>
        </p:txBody>
      </p:sp>
      <p:sp>
        <p:nvSpPr>
          <p:cNvPr id="120833" name="Rectangle 1">
            <a:extLst>
              <a:ext uri="{FF2B5EF4-FFF2-40B4-BE49-F238E27FC236}">
                <a16:creationId xmlns:a16="http://schemas.microsoft.com/office/drawing/2014/main" id="{75625062-0EF0-48A7-9ED9-34F3CFE7B12B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406400" y="698500"/>
            <a:ext cx="6197600" cy="34861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20834" name="Rectangle 2">
            <a:extLst>
              <a:ext uri="{FF2B5EF4-FFF2-40B4-BE49-F238E27FC236}">
                <a16:creationId xmlns:a16="http://schemas.microsoft.com/office/drawing/2014/main" id="{C8AE2F3F-ABAF-43EA-96CB-468B57E7EAC4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33450" y="4416425"/>
            <a:ext cx="5143500" cy="41814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>
            <a:extLst>
              <a:ext uri="{FF2B5EF4-FFF2-40B4-BE49-F238E27FC236}">
                <a16:creationId xmlns:a16="http://schemas.microsoft.com/office/drawing/2014/main" id="{3E8DA9FE-4959-4B2C-B612-FB9D062A58C0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F4624DEB-070B-476A-84AE-F46D2B91D52F}" type="slidenum">
              <a:rPr lang="en-US" altLang="en-US"/>
              <a:pPr/>
              <a:t>38</a:t>
            </a:fld>
            <a:endParaRPr lang="en-US" altLang="en-US"/>
          </a:p>
        </p:txBody>
      </p:sp>
      <p:sp>
        <p:nvSpPr>
          <p:cNvPr id="121857" name="Rectangle 1">
            <a:extLst>
              <a:ext uri="{FF2B5EF4-FFF2-40B4-BE49-F238E27FC236}">
                <a16:creationId xmlns:a16="http://schemas.microsoft.com/office/drawing/2014/main" id="{1C52B6A0-FE4C-4585-8E73-54BD713DD8FB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406400" y="698500"/>
            <a:ext cx="6197600" cy="34861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21858" name="Rectangle 2">
            <a:extLst>
              <a:ext uri="{FF2B5EF4-FFF2-40B4-BE49-F238E27FC236}">
                <a16:creationId xmlns:a16="http://schemas.microsoft.com/office/drawing/2014/main" id="{F563FB84-111A-477C-BF96-021ABFD489BE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33450" y="4416425"/>
            <a:ext cx="5143500" cy="41814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>
            <a:extLst>
              <a:ext uri="{FF2B5EF4-FFF2-40B4-BE49-F238E27FC236}">
                <a16:creationId xmlns:a16="http://schemas.microsoft.com/office/drawing/2014/main" id="{C71CE91A-0698-49B7-8733-9C24FF6B2C2A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0C05D4DB-5C8F-4B47-B7E2-689C1089A82D}" type="slidenum">
              <a:rPr lang="en-US" altLang="en-US"/>
              <a:pPr/>
              <a:t>39</a:t>
            </a:fld>
            <a:endParaRPr lang="en-US" altLang="en-US"/>
          </a:p>
        </p:txBody>
      </p:sp>
      <p:sp>
        <p:nvSpPr>
          <p:cNvPr id="122881" name="Rectangle 1">
            <a:extLst>
              <a:ext uri="{FF2B5EF4-FFF2-40B4-BE49-F238E27FC236}">
                <a16:creationId xmlns:a16="http://schemas.microsoft.com/office/drawing/2014/main" id="{813DC69F-61E3-4F59-AE06-F4DDB15E75BE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406400" y="698500"/>
            <a:ext cx="6197600" cy="34861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22882" name="Rectangle 2">
            <a:extLst>
              <a:ext uri="{FF2B5EF4-FFF2-40B4-BE49-F238E27FC236}">
                <a16:creationId xmlns:a16="http://schemas.microsoft.com/office/drawing/2014/main" id="{83178DDF-5F11-4AC3-B989-CFED2F010714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33450" y="4416425"/>
            <a:ext cx="5143500" cy="41814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>
            <a:extLst>
              <a:ext uri="{FF2B5EF4-FFF2-40B4-BE49-F238E27FC236}">
                <a16:creationId xmlns:a16="http://schemas.microsoft.com/office/drawing/2014/main" id="{21AD9456-4A9B-42B0-9C2F-24AD9D1D6158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1A2F5C1C-58FE-4DDB-BA85-1D87E15E3321}" type="slidenum">
              <a:rPr lang="en-US" altLang="en-US"/>
              <a:pPr/>
              <a:t>40</a:t>
            </a:fld>
            <a:endParaRPr lang="en-US" altLang="en-US"/>
          </a:p>
        </p:txBody>
      </p:sp>
      <p:sp>
        <p:nvSpPr>
          <p:cNvPr id="123905" name="Rectangle 1">
            <a:extLst>
              <a:ext uri="{FF2B5EF4-FFF2-40B4-BE49-F238E27FC236}">
                <a16:creationId xmlns:a16="http://schemas.microsoft.com/office/drawing/2014/main" id="{2B94DDEB-A6C6-409A-B14A-B88674EEC5F6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406400" y="698500"/>
            <a:ext cx="6197600" cy="34861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23906" name="Rectangle 2">
            <a:extLst>
              <a:ext uri="{FF2B5EF4-FFF2-40B4-BE49-F238E27FC236}">
                <a16:creationId xmlns:a16="http://schemas.microsoft.com/office/drawing/2014/main" id="{99CECEF2-04C4-4F0E-88EC-6EF6F1851E2F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33450" y="4416425"/>
            <a:ext cx="5143500" cy="41814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>
            <a:extLst>
              <a:ext uri="{FF2B5EF4-FFF2-40B4-BE49-F238E27FC236}">
                <a16:creationId xmlns:a16="http://schemas.microsoft.com/office/drawing/2014/main" id="{450D1B5C-A952-45AF-BB9E-8BFAE298AD75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587F3A3-B271-4BBB-BC78-CC1840129426}" type="slidenum">
              <a:rPr lang="en-US" altLang="en-US"/>
              <a:pPr/>
              <a:t>41</a:t>
            </a:fld>
            <a:endParaRPr lang="en-US" altLang="en-US"/>
          </a:p>
        </p:txBody>
      </p:sp>
      <p:sp>
        <p:nvSpPr>
          <p:cNvPr id="124929" name="Rectangle 1">
            <a:extLst>
              <a:ext uri="{FF2B5EF4-FFF2-40B4-BE49-F238E27FC236}">
                <a16:creationId xmlns:a16="http://schemas.microsoft.com/office/drawing/2014/main" id="{A5332F44-2096-4192-9A1C-FDBC64938670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406400" y="698500"/>
            <a:ext cx="6197600" cy="34861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2EB93DB7-B481-4275-A5EE-42C127B13A5B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33450" y="4416425"/>
            <a:ext cx="5143500" cy="41814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>
            <a:extLst>
              <a:ext uri="{FF2B5EF4-FFF2-40B4-BE49-F238E27FC236}">
                <a16:creationId xmlns:a16="http://schemas.microsoft.com/office/drawing/2014/main" id="{5C053159-75CB-4F49-84F1-0EAD009C0CC9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93F98AFE-869F-435B-BD6B-0BB089E58C3A}" type="slidenum">
              <a:rPr lang="en-US" altLang="en-US"/>
              <a:pPr/>
              <a:t>42</a:t>
            </a:fld>
            <a:endParaRPr lang="en-US" altLang="en-US"/>
          </a:p>
        </p:txBody>
      </p:sp>
      <p:sp>
        <p:nvSpPr>
          <p:cNvPr id="125953" name="Rectangle 1">
            <a:extLst>
              <a:ext uri="{FF2B5EF4-FFF2-40B4-BE49-F238E27FC236}">
                <a16:creationId xmlns:a16="http://schemas.microsoft.com/office/drawing/2014/main" id="{02017019-A3F9-4E1F-AE12-85C670071E7E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406400" y="698500"/>
            <a:ext cx="6197600" cy="34861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25954" name="Rectangle 2">
            <a:extLst>
              <a:ext uri="{FF2B5EF4-FFF2-40B4-BE49-F238E27FC236}">
                <a16:creationId xmlns:a16="http://schemas.microsoft.com/office/drawing/2014/main" id="{6B951036-CEB4-4C03-81B7-DA70C1704340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33450" y="4416425"/>
            <a:ext cx="5143500" cy="41814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>
            <a:extLst>
              <a:ext uri="{FF2B5EF4-FFF2-40B4-BE49-F238E27FC236}">
                <a16:creationId xmlns:a16="http://schemas.microsoft.com/office/drawing/2014/main" id="{0C678B77-FFAE-4245-9BAA-1E9FE0EBDD91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ECA29AE-EAF6-4E6A-A463-C5DDEA2ECC30}" type="slidenum">
              <a:rPr lang="en-US" altLang="en-US"/>
              <a:pPr/>
              <a:t>43</a:t>
            </a:fld>
            <a:endParaRPr lang="en-US" altLang="en-US"/>
          </a:p>
        </p:txBody>
      </p:sp>
      <p:sp>
        <p:nvSpPr>
          <p:cNvPr id="126977" name="Rectangle 1">
            <a:extLst>
              <a:ext uri="{FF2B5EF4-FFF2-40B4-BE49-F238E27FC236}">
                <a16:creationId xmlns:a16="http://schemas.microsoft.com/office/drawing/2014/main" id="{8F503739-C119-4899-8A67-3D51C611D621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406400" y="698500"/>
            <a:ext cx="6197600" cy="34861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26978" name="Rectangle 2">
            <a:extLst>
              <a:ext uri="{FF2B5EF4-FFF2-40B4-BE49-F238E27FC236}">
                <a16:creationId xmlns:a16="http://schemas.microsoft.com/office/drawing/2014/main" id="{1B2700E4-2771-43CC-AAD7-B3AF3DCFD2D4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33450" y="4416425"/>
            <a:ext cx="5143500" cy="41814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A04E8-B30E-4818-9514-082745BDC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5E38FB-F4EA-48F5-9BB3-703644F514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505503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4030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BF4029-6F67-4287-BC32-CC9DC6233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08FFA-1D3C-4BB1-B3A1-CA8D3FF97B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27201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33" r:id="rId1"/>
    <p:sldLayoutId id="2147484538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creativecommons.org/licenses/by-sa/3.0/" TargetMode="External"/><Relationship Id="rId4" Type="http://schemas.openxmlformats.org/officeDocument/2006/relationships/hyperlink" Target="http://superuser.com/questions/1076255/what-layer-of-the-tcp-ip-do-mac-addresses-and-ip-addresses-belong-to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reativecommons.org/licenses/by-sa/3.0/" TargetMode="External"/><Relationship Id="rId4" Type="http://schemas.openxmlformats.org/officeDocument/2006/relationships/hyperlink" Target="https://en.wikibooks.org/wiki/Communication_Networks/TCP_and_UDP_Protocols/UDP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3" name="Freeform: Shape 71">
            <a:extLst>
              <a:ext uri="{FF2B5EF4-FFF2-40B4-BE49-F238E27FC236}">
                <a16:creationId xmlns:a16="http://schemas.microsoft.com/office/drawing/2014/main" id="{66B332A4-D438-4773-A77F-5ED49A448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3768" y="0"/>
            <a:ext cx="8284464" cy="6858000"/>
          </a:xfrm>
          <a:custGeom>
            <a:avLst/>
            <a:gdLst>
              <a:gd name="connsiteX0" fmla="*/ 1818109 w 8284464"/>
              <a:gd name="connsiteY0" fmla="*/ 0 h 6858000"/>
              <a:gd name="connsiteX1" fmla="*/ 6466355 w 8284464"/>
              <a:gd name="connsiteY1" fmla="*/ 0 h 6858000"/>
              <a:gd name="connsiteX2" fmla="*/ 6620596 w 8284464"/>
              <a:gd name="connsiteY2" fmla="*/ 109683 h 6858000"/>
              <a:gd name="connsiteX3" fmla="*/ 8284464 w 8284464"/>
              <a:gd name="connsiteY3" fmla="*/ 3429000 h 6858000"/>
              <a:gd name="connsiteX4" fmla="*/ 6620596 w 8284464"/>
              <a:gd name="connsiteY4" fmla="*/ 6748318 h 6858000"/>
              <a:gd name="connsiteX5" fmla="*/ 6466355 w 8284464"/>
              <a:gd name="connsiteY5" fmla="*/ 6858000 h 6858000"/>
              <a:gd name="connsiteX6" fmla="*/ 1818109 w 8284464"/>
              <a:gd name="connsiteY6" fmla="*/ 6858000 h 6858000"/>
              <a:gd name="connsiteX7" fmla="*/ 1663869 w 8284464"/>
              <a:gd name="connsiteY7" fmla="*/ 6748318 h 6858000"/>
              <a:gd name="connsiteX8" fmla="*/ 0 w 8284464"/>
              <a:gd name="connsiteY8" fmla="*/ 3429000 h 6858000"/>
              <a:gd name="connsiteX9" fmla="*/ 1663869 w 8284464"/>
              <a:gd name="connsiteY9" fmla="*/ 1096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84464" h="6858000">
                <a:moveTo>
                  <a:pt x="1818109" y="0"/>
                </a:moveTo>
                <a:lnTo>
                  <a:pt x="6466355" y="0"/>
                </a:lnTo>
                <a:lnTo>
                  <a:pt x="6620596" y="109683"/>
                </a:lnTo>
                <a:cubicBezTo>
                  <a:pt x="7630666" y="865069"/>
                  <a:pt x="8284464" y="2070683"/>
                  <a:pt x="8284464" y="3429000"/>
                </a:cubicBezTo>
                <a:cubicBezTo>
                  <a:pt x="8284464" y="4787317"/>
                  <a:pt x="7630666" y="5992931"/>
                  <a:pt x="6620596" y="6748318"/>
                </a:cubicBezTo>
                <a:lnTo>
                  <a:pt x="6466355" y="6858000"/>
                </a:lnTo>
                <a:lnTo>
                  <a:pt x="1818109" y="6858000"/>
                </a:lnTo>
                <a:lnTo>
                  <a:pt x="1663869" y="6748318"/>
                </a:lnTo>
                <a:cubicBezTo>
                  <a:pt x="653798" y="5992931"/>
                  <a:pt x="0" y="4787317"/>
                  <a:pt x="0" y="3429000"/>
                </a:cubicBezTo>
                <a:cubicBezTo>
                  <a:pt x="0" y="2070683"/>
                  <a:pt x="653798" y="865069"/>
                  <a:pt x="1663869" y="10968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174" name="Freeform: Shape 73">
            <a:extLst>
              <a:ext uri="{FF2B5EF4-FFF2-40B4-BE49-F238E27FC236}">
                <a16:creationId xmlns:a16="http://schemas.microsoft.com/office/drawing/2014/main" id="{DF9AD32D-FF05-44F4-BD4D-9CEE89B71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8360" y="0"/>
            <a:ext cx="7955280" cy="6858000"/>
          </a:xfrm>
          <a:custGeom>
            <a:avLst/>
            <a:gdLst>
              <a:gd name="connsiteX0" fmla="*/ 1962423 w 7955280"/>
              <a:gd name="connsiteY0" fmla="*/ 0 h 6858000"/>
              <a:gd name="connsiteX1" fmla="*/ 5992858 w 7955280"/>
              <a:gd name="connsiteY1" fmla="*/ 0 h 6858000"/>
              <a:gd name="connsiteX2" fmla="*/ 6040191 w 7955280"/>
              <a:gd name="connsiteY2" fmla="*/ 27216 h 6858000"/>
              <a:gd name="connsiteX3" fmla="*/ 7955280 w 7955280"/>
              <a:gd name="connsiteY3" fmla="*/ 3429000 h 6858000"/>
              <a:gd name="connsiteX4" fmla="*/ 6040191 w 7955280"/>
              <a:gd name="connsiteY4" fmla="*/ 6830784 h 6858000"/>
              <a:gd name="connsiteX5" fmla="*/ 5992858 w 7955280"/>
              <a:gd name="connsiteY5" fmla="*/ 6858000 h 6858000"/>
              <a:gd name="connsiteX6" fmla="*/ 1962423 w 7955280"/>
              <a:gd name="connsiteY6" fmla="*/ 6858000 h 6858000"/>
              <a:gd name="connsiteX7" fmla="*/ 1915089 w 7955280"/>
              <a:gd name="connsiteY7" fmla="*/ 6830784 h 6858000"/>
              <a:gd name="connsiteX8" fmla="*/ 0 w 7955280"/>
              <a:gd name="connsiteY8" fmla="*/ 3429000 h 6858000"/>
              <a:gd name="connsiteX9" fmla="*/ 1915089 w 7955280"/>
              <a:gd name="connsiteY9" fmla="*/ 272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55280" h="6858000">
                <a:moveTo>
                  <a:pt x="1962423" y="0"/>
                </a:moveTo>
                <a:lnTo>
                  <a:pt x="5992858" y="0"/>
                </a:lnTo>
                <a:lnTo>
                  <a:pt x="6040191" y="27216"/>
                </a:lnTo>
                <a:cubicBezTo>
                  <a:pt x="7188332" y="724844"/>
                  <a:pt x="7955280" y="1987357"/>
                  <a:pt x="7955280" y="3429000"/>
                </a:cubicBezTo>
                <a:cubicBezTo>
                  <a:pt x="7955280" y="4870644"/>
                  <a:pt x="7188332" y="6133157"/>
                  <a:pt x="6040191" y="6830784"/>
                </a:cubicBezTo>
                <a:lnTo>
                  <a:pt x="5992858" y="6858000"/>
                </a:lnTo>
                <a:lnTo>
                  <a:pt x="1962423" y="6858000"/>
                </a:lnTo>
                <a:lnTo>
                  <a:pt x="1915089" y="6830784"/>
                </a:lnTo>
                <a:cubicBezTo>
                  <a:pt x="766948" y="6133157"/>
                  <a:pt x="0" y="4870644"/>
                  <a:pt x="0" y="3429000"/>
                </a:cubicBezTo>
                <a:cubicBezTo>
                  <a:pt x="0" y="1987357"/>
                  <a:pt x="766948" y="724844"/>
                  <a:pt x="1915089" y="272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169" name="Text Box 1">
            <a:extLst>
              <a:ext uri="{FF2B5EF4-FFF2-40B4-BE49-F238E27FC236}">
                <a16:creationId xmlns:a16="http://schemas.microsoft.com/office/drawing/2014/main" id="{21DD95E0-F7CE-4871-A23D-01393976BD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5631" y="1441938"/>
            <a:ext cx="7080738" cy="397412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</a:pPr>
            <a:r>
              <a:rPr lang="en-US" altLang="en-US" sz="5400">
                <a:solidFill>
                  <a:schemeClr val="bg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TCP/UDP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092916D8-D3AB-4655-9F05-0FD93E2865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4576" y="2641601"/>
            <a:ext cx="4989513" cy="172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4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BA093-C837-4306-B2CF-B82847E40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Recap: Layered Model Network Comms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B855F37C-A427-4321-8B64-B7AF997861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06606" y="1825625"/>
            <a:ext cx="4978787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695EBF-CDC0-4540-B2BF-CC743E81F720}"/>
              </a:ext>
            </a:extLst>
          </p:cNvPr>
          <p:cNvSpPr txBox="1"/>
          <p:nvPr/>
        </p:nvSpPr>
        <p:spPr>
          <a:xfrm>
            <a:off x="673260" y="1632994"/>
            <a:ext cx="2743200" cy="369332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Web Server</a:t>
            </a:r>
            <a:endParaRPr lang="en-US">
              <a:cs typeface="Calibri"/>
            </a:endParaRPr>
          </a:p>
        </p:txBody>
      </p:sp>
      <p:pic>
        <p:nvPicPr>
          <p:cNvPr id="7" name="Picture 7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D3F942EE-9D69-443E-890C-D132CEE58E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7515" y="1512991"/>
            <a:ext cx="5289629" cy="2867458"/>
          </a:xfrm>
          <a:prstGeom prst="rect">
            <a:avLst/>
          </a:prstGeom>
        </p:spPr>
      </p:pic>
      <p:sp>
        <p:nvSpPr>
          <p:cNvPr id="9" name="Left Brace 8">
            <a:extLst>
              <a:ext uri="{FF2B5EF4-FFF2-40B4-BE49-F238E27FC236}">
                <a16:creationId xmlns:a16="http://schemas.microsoft.com/office/drawing/2014/main" id="{EACD298C-FE89-47D0-A8E6-CF1AA6EDD8BE}"/>
              </a:ext>
            </a:extLst>
          </p:cNvPr>
          <p:cNvSpPr/>
          <p:nvPr/>
        </p:nvSpPr>
        <p:spPr>
          <a:xfrm>
            <a:off x="3597237" y="1905964"/>
            <a:ext cx="666662" cy="2419108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F5707D4-6290-413D-8EE1-5564116E1ADD}"/>
              </a:ext>
            </a:extLst>
          </p:cNvPr>
          <p:cNvSpPr/>
          <p:nvPr/>
        </p:nvSpPr>
        <p:spPr>
          <a:xfrm>
            <a:off x="9834622" y="1848091"/>
            <a:ext cx="1329159" cy="6443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>
                <a:cs typeface="Calibri"/>
              </a:rPr>
              <a:t>Application</a:t>
            </a:r>
            <a:endParaRPr lang="en-US" sz="18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FA29F07-5587-4BBB-8089-D21B07A10A6D}"/>
              </a:ext>
            </a:extLst>
          </p:cNvPr>
          <p:cNvSpPr/>
          <p:nvPr/>
        </p:nvSpPr>
        <p:spPr>
          <a:xfrm>
            <a:off x="9834621" y="2484698"/>
            <a:ext cx="1329159" cy="6443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>
                <a:cs typeface="Calibri"/>
              </a:rPr>
              <a:t>Transport</a:t>
            </a:r>
            <a:endParaRPr lang="en-US" sz="1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29DDD51-A37A-43F2-9441-86A052C38C64}"/>
              </a:ext>
            </a:extLst>
          </p:cNvPr>
          <p:cNvSpPr/>
          <p:nvPr/>
        </p:nvSpPr>
        <p:spPr>
          <a:xfrm>
            <a:off x="9834622" y="3121306"/>
            <a:ext cx="1329159" cy="6443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>
                <a:cs typeface="Calibri"/>
              </a:rPr>
              <a:t>Network</a:t>
            </a:r>
            <a:endParaRPr lang="en-US" sz="18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13B173-3E54-4173-AECE-B8D3DD55145A}"/>
              </a:ext>
            </a:extLst>
          </p:cNvPr>
          <p:cNvSpPr/>
          <p:nvPr/>
        </p:nvSpPr>
        <p:spPr>
          <a:xfrm>
            <a:off x="9834621" y="3757913"/>
            <a:ext cx="1329159" cy="6443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cs typeface="Calibri"/>
              </a:rPr>
              <a:t>Data Link/ Physical</a:t>
            </a:r>
            <a:endParaRPr lang="en-US" sz="1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05180C-DA66-4BF7-B153-C590609935D7}"/>
              </a:ext>
            </a:extLst>
          </p:cNvPr>
          <p:cNvSpPr txBox="1"/>
          <p:nvPr/>
        </p:nvSpPr>
        <p:spPr>
          <a:xfrm>
            <a:off x="9084197" y="1440083"/>
            <a:ext cx="2743200" cy="369332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800">
                <a:solidFill>
                  <a:schemeClr val="tx1"/>
                </a:solidFill>
              </a:rPr>
              <a:t>Layers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D3E33D-BE95-4A09-9480-818693B740EC}"/>
              </a:ext>
            </a:extLst>
          </p:cNvPr>
          <p:cNvSpPr txBox="1"/>
          <p:nvPr/>
        </p:nvSpPr>
        <p:spPr>
          <a:xfrm>
            <a:off x="846881" y="4391627"/>
            <a:ext cx="2743200" cy="181588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</a:rPr>
              <a:t> Benefits of Layered Model: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assists in protocol design</a:t>
            </a:r>
            <a:endParaRPr lang="en-US" sz="1600" dirty="0">
              <a:solidFill>
                <a:srgbClr val="000000"/>
              </a:solidFill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fosters competition</a:t>
            </a:r>
            <a:endParaRPr lang="en-US" sz="1600" dirty="0">
              <a:solidFill>
                <a:srgbClr val="000000"/>
              </a:solidFill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changes in one layer do not affect other layers</a:t>
            </a:r>
            <a:endParaRPr lang="en-US" sz="1600" dirty="0">
              <a:solidFill>
                <a:srgbClr val="000000"/>
              </a:solidFill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provides a common language </a:t>
            </a:r>
            <a:endParaRPr lang="en-US" sz="1600" dirty="0">
              <a:solidFill>
                <a:srgbClr val="000000"/>
              </a:solidFill>
              <a:cs typeface="Calibri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252FB38-6BBB-4A9C-8661-328D98021679}"/>
              </a:ext>
            </a:extLst>
          </p:cNvPr>
          <p:cNvSpPr/>
          <p:nvPr/>
        </p:nvSpPr>
        <p:spPr>
          <a:xfrm>
            <a:off x="4223656" y="2391228"/>
            <a:ext cx="5558971" cy="914400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644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/>
      <p:bldP spid="3" grpId="0" animBg="1"/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A70F4-45DB-4B96-A707-81767AE6D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5127031" cy="1676603"/>
          </a:xfrm>
        </p:spPr>
        <p:txBody>
          <a:bodyPr>
            <a:normAutofit/>
          </a:bodyPr>
          <a:lstStyle/>
          <a:p>
            <a:r>
              <a:rPr lang="en-US">
                <a:cs typeface="Calibri"/>
              </a:rPr>
              <a:t>Transport Layer Role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AC26A-459E-4A78-89E9-43F0060344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0" y="2438400"/>
            <a:ext cx="5127029" cy="3785419"/>
          </a:xfr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r>
              <a:rPr lang="en-US" sz="2800" dirty="0">
                <a:solidFill>
                  <a:srgbClr val="000000"/>
                </a:solidFill>
              </a:rPr>
              <a:t>Provides logical communications between applications running on different hosts.</a:t>
            </a:r>
          </a:p>
          <a:p>
            <a:r>
              <a:rPr lang="en-US" sz="2800" dirty="0">
                <a:solidFill>
                  <a:srgbClr val="000000"/>
                </a:solidFill>
              </a:rPr>
              <a:t>Provides the link between the application layer and the lower layers that are responsible for network transmission.</a:t>
            </a:r>
            <a:endParaRPr lang="en-US" dirty="0">
              <a:cs typeface="Calibri"/>
            </a:endParaRPr>
          </a:p>
          <a:p>
            <a:pPr lvl="1"/>
            <a:r>
              <a:rPr lang="en-US" dirty="0">
                <a:cs typeface="Calibri"/>
              </a:rPr>
              <a:t>Prepares application data for transport over a network</a:t>
            </a:r>
          </a:p>
          <a:p>
            <a:pPr lvl="1"/>
            <a:r>
              <a:rPr lang="en-US" dirty="0">
                <a:cs typeface="Calibri"/>
              </a:rPr>
              <a:t>Processes network data for use by apps</a:t>
            </a:r>
          </a:p>
          <a:p>
            <a:endParaRPr lang="en-US" dirty="0">
              <a:cs typeface="Calibri"/>
            </a:endParaRPr>
          </a:p>
          <a:p>
            <a:pPr marL="0" indent="0">
              <a:buNone/>
            </a:pPr>
            <a:endParaRPr lang="en-US" dirty="0">
              <a:cs typeface="Calibri"/>
            </a:endParaRPr>
          </a:p>
        </p:txBody>
      </p:sp>
      <p:pic>
        <p:nvPicPr>
          <p:cNvPr id="4" name="Picture 4" descr="A screenshot of a cell phone&#10;&#10;Description generated with high confidence">
            <a:extLst>
              <a:ext uri="{FF2B5EF4-FFF2-40B4-BE49-F238E27FC236}">
                <a16:creationId xmlns:a16="http://schemas.microsoft.com/office/drawing/2014/main" id="{70E59038-AA60-4B8E-8985-156B110BE2C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8446"/>
          <a:stretch/>
        </p:blipFill>
        <p:spPr>
          <a:xfrm>
            <a:off x="5763384" y="1514257"/>
            <a:ext cx="4061539" cy="4093389"/>
          </a:xfrm>
          <a:prstGeom prst="rect">
            <a:avLst/>
          </a:prstGeom>
          <a:effectLst/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7349C49F-009D-42E9-A333-7C7F6E492382}"/>
              </a:ext>
            </a:extLst>
          </p:cNvPr>
          <p:cNvSpPr/>
          <p:nvPr/>
        </p:nvSpPr>
        <p:spPr>
          <a:xfrm>
            <a:off x="5486400" y="2666475"/>
            <a:ext cx="978408" cy="83841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70136DA2-AA93-4290-9FD7-0FC68DAA82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8909213" y="1143000"/>
            <a:ext cx="3962400" cy="3266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C3C1B92-50BC-4C87-A2D7-2CA5A5C1BB17}"/>
              </a:ext>
            </a:extLst>
          </p:cNvPr>
          <p:cNvSpPr txBox="1"/>
          <p:nvPr/>
        </p:nvSpPr>
        <p:spPr>
          <a:xfrm>
            <a:off x="10058401" y="5238314"/>
            <a:ext cx="2684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900">
                <a:hlinkClick r:id="rId4" tooltip="http://superuser.com/questions/1076255/what-layer-of-the-tcp-ip-do-mac-addresses-and-ip-addresses-belong-to"/>
              </a:rPr>
              <a:t>This Photo</a:t>
            </a:r>
            <a:r>
              <a:rPr lang="en-IE" sz="900"/>
              <a:t> by Unknown Author is licensed under </a:t>
            </a:r>
            <a:r>
              <a:rPr lang="en-IE" sz="900">
                <a:hlinkClick r:id="rId5" tooltip="https://creativecommons.org/licenses/by-sa/3.0/"/>
              </a:rPr>
              <a:t>CC BY-SA</a:t>
            </a:r>
            <a:endParaRPr lang="en-IE" sz="900"/>
          </a:p>
        </p:txBody>
      </p:sp>
    </p:spTree>
    <p:extLst>
      <p:ext uri="{BB962C8B-B14F-4D97-AF65-F5344CB8AC3E}">
        <p14:creationId xmlns:p14="http://schemas.microsoft.com/office/powerpoint/2010/main" val="2626861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427AF5F-9A0E-42B7-A252-FD64C9885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BD9A77-932C-4965-88C8-37A897167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06443"/>
          </a:xfrm>
        </p:spPr>
        <p:txBody>
          <a:bodyPr>
            <a:normAutofit/>
          </a:bodyPr>
          <a:lstStyle/>
          <a:p>
            <a:r>
              <a:rPr lang="en-US" sz="4000" dirty="0">
                <a:cs typeface="Calibri"/>
              </a:rPr>
              <a:t>Transport Layer Purpose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0751E5-7620-49E4-88F4-3FE5F9237E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152774" cy="430346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300" dirty="0">
                <a:cs typeface="Calibri"/>
              </a:rPr>
              <a:t>Segments data and reassembles segments into various communication streams:</a:t>
            </a:r>
          </a:p>
          <a:p>
            <a:pPr lvl="1"/>
            <a:r>
              <a:rPr lang="en-US" sz="1300" b="1" dirty="0">
                <a:cs typeface="Calibri"/>
              </a:rPr>
              <a:t>Tracks individual communication between apps on source and destination  hosts</a:t>
            </a:r>
          </a:p>
          <a:p>
            <a:pPr lvl="2"/>
            <a:r>
              <a:rPr lang="en-US" sz="1300" dirty="0">
                <a:cs typeface="Calibri"/>
              </a:rPr>
              <a:t>A host can have multiple </a:t>
            </a:r>
            <a:r>
              <a:rPr lang="en-US" sz="1300" dirty="0" err="1">
                <a:cs typeface="Calibri"/>
              </a:rPr>
              <a:t>simultanious</a:t>
            </a:r>
            <a:r>
              <a:rPr lang="en-US" sz="1300" dirty="0">
                <a:cs typeface="Calibri"/>
              </a:rPr>
              <a:t> networked apps (e.g. browser, slack etc. </a:t>
            </a:r>
          </a:p>
          <a:p>
            <a:pPr lvl="1"/>
            <a:r>
              <a:rPr lang="en-US" sz="1300" b="1" dirty="0">
                <a:cs typeface="Calibri"/>
              </a:rPr>
              <a:t>Segments data  and manages each piece</a:t>
            </a:r>
          </a:p>
          <a:p>
            <a:pPr lvl="2"/>
            <a:r>
              <a:rPr lang="en-US" sz="1300" dirty="0">
                <a:cs typeface="Calibri"/>
              </a:rPr>
              <a:t>The Transport layer segments data from the Application layer</a:t>
            </a:r>
          </a:p>
          <a:p>
            <a:pPr lvl="2"/>
            <a:r>
              <a:rPr lang="en-US" sz="1300" dirty="0">
                <a:cs typeface="Calibri"/>
              </a:rPr>
              <a:t>Each piece of application data requires headers to indicate to which communication it is associated with</a:t>
            </a:r>
          </a:p>
          <a:p>
            <a:pPr lvl="1"/>
            <a:r>
              <a:rPr lang="en-US" sz="1300" b="1" dirty="0">
                <a:cs typeface="Calibri"/>
              </a:rPr>
              <a:t>Reassembles segments into application data</a:t>
            </a:r>
          </a:p>
          <a:p>
            <a:pPr lvl="2"/>
            <a:r>
              <a:rPr lang="en-US" sz="1300" dirty="0">
                <a:cs typeface="Calibri"/>
              </a:rPr>
              <a:t>At a receiving host, individual pieces of data must also be reconstructed into a complete data stream that is useful to the Application layer.</a:t>
            </a:r>
          </a:p>
          <a:p>
            <a:pPr lvl="1"/>
            <a:r>
              <a:rPr lang="en-US" sz="1300" b="1" dirty="0">
                <a:cs typeface="Calibri"/>
              </a:rPr>
              <a:t>Identifies different applications</a:t>
            </a:r>
          </a:p>
          <a:p>
            <a:pPr lvl="2"/>
            <a:r>
              <a:rPr lang="en-US" sz="1300" dirty="0">
                <a:cs typeface="Calibri"/>
              </a:rPr>
              <a:t>Transport layer must be able to identify target apps: Uses Port Numbers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A65F73E-D882-45B0-A1F8-33DB2775AB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1600200"/>
            <a:ext cx="7778092" cy="5186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0129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5" name="Picture 1">
            <a:extLst>
              <a:ext uri="{FF2B5EF4-FFF2-40B4-BE49-F238E27FC236}">
                <a16:creationId xmlns:a16="http://schemas.microsoft.com/office/drawing/2014/main" id="{0D22FB00-7C10-4444-9E34-BD08076189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0764" y="1211264"/>
            <a:ext cx="7997825" cy="5375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1746" name="Text Box 2">
            <a:extLst>
              <a:ext uri="{FF2B5EF4-FFF2-40B4-BE49-F238E27FC236}">
                <a16:creationId xmlns:a16="http://schemas.microsoft.com/office/drawing/2014/main" id="{BA69EDA7-DE75-49EF-9FE0-373A81AC8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2013" y="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>
              <a:buClrTx/>
              <a:buFontTx/>
              <a:buNone/>
            </a:pPr>
            <a:endParaRPr lang="en-US" altLang="en-US" sz="4000" u="sng" dirty="0">
              <a:solidFill>
                <a:srgbClr val="3333CC"/>
              </a:solidFill>
              <a:latin typeface="Comic Sans MS" panose="030F0702030302020204" pitchFamily="66" charset="0"/>
            </a:endParaRPr>
          </a:p>
        </p:txBody>
      </p:sp>
      <p:sp>
        <p:nvSpPr>
          <p:cNvPr id="31747" name="Text Box 3">
            <a:extLst>
              <a:ext uri="{FF2B5EF4-FFF2-40B4-BE49-F238E27FC236}">
                <a16:creationId xmlns:a16="http://schemas.microsoft.com/office/drawing/2014/main" id="{069F200C-4FCC-447D-BF03-88B6392AF1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7700" y="4268789"/>
            <a:ext cx="3295650" cy="7985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360" tIns="44280" rIns="90360" bIns="4428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 algn="ctr">
              <a:lnSpc>
                <a:spcPct val="96000"/>
              </a:lnSpc>
              <a:buClrTx/>
              <a:buFontTx/>
              <a:buNone/>
            </a:pPr>
            <a:r>
              <a:rPr lang="en-GB" altLang="en-US" sz="2400" dirty="0">
                <a:solidFill>
                  <a:srgbClr val="FF0000"/>
                </a:solidFill>
                <a:latin typeface="Arial" panose="020B0604020202020204" pitchFamily="34" charset="0"/>
                <a:cs typeface="msmincho" charset="0"/>
              </a:rPr>
              <a:t>ICMP(ping), ARP &amp; RARP</a:t>
            </a:r>
          </a:p>
        </p:txBody>
      </p:sp>
      <p:sp>
        <p:nvSpPr>
          <p:cNvPr id="31748" name="Text Box 4">
            <a:extLst>
              <a:ext uri="{FF2B5EF4-FFF2-40B4-BE49-F238E27FC236}">
                <a16:creationId xmlns:a16="http://schemas.microsoft.com/office/drawing/2014/main" id="{5A0B0AAF-CDFE-4ED9-8FD3-DD8B6C1E5A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1" y="6129339"/>
            <a:ext cx="1647825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360" tIns="44280" rIns="90360" bIns="4428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 algn="ctr">
              <a:lnSpc>
                <a:spcPct val="96000"/>
              </a:lnSpc>
              <a:buClrTx/>
              <a:buFontTx/>
              <a:buNone/>
            </a:pPr>
            <a:r>
              <a:rPr lang="en-GB" altLang="en-US" sz="2400" dirty="0">
                <a:solidFill>
                  <a:srgbClr val="FF0000"/>
                </a:solidFill>
                <a:latin typeface="Arial" panose="020B0604020202020204" pitchFamily="34" charset="0"/>
                <a:cs typeface="msmincho" charset="0"/>
              </a:rPr>
              <a:t>802.3</a:t>
            </a:r>
          </a:p>
        </p:txBody>
      </p:sp>
      <p:sp>
        <p:nvSpPr>
          <p:cNvPr id="31749" name="Text Box 5">
            <a:extLst>
              <a:ext uri="{FF2B5EF4-FFF2-40B4-BE49-F238E27FC236}">
                <a16:creationId xmlns:a16="http://schemas.microsoft.com/office/drawing/2014/main" id="{2FEE24E9-6BA6-432F-8C08-F721A6C42A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64008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 algn="r">
              <a:buClrTx/>
              <a:buFontTx/>
              <a:buNone/>
            </a:pPr>
            <a:r>
              <a:rPr lang="en-US" altLang="en-US" sz="1400">
                <a:latin typeface="Comic Sans MS" panose="030F0702030302020204" pitchFamily="66" charset="0"/>
              </a:rPr>
              <a:t> TCP/IP</a:t>
            </a:r>
          </a:p>
        </p:txBody>
      </p:sp>
      <p:sp>
        <p:nvSpPr>
          <p:cNvPr id="31750" name="Text Box 6">
            <a:extLst>
              <a:ext uri="{FF2B5EF4-FFF2-40B4-BE49-F238E27FC236}">
                <a16:creationId xmlns:a16="http://schemas.microsoft.com/office/drawing/2014/main" id="{87CF9A0F-B005-4E89-9C65-FEA2D0C81A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29801" y="6400800"/>
            <a:ext cx="6254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 algn="r">
              <a:buClrTx/>
              <a:buFontTx/>
              <a:buNone/>
            </a:pPr>
            <a:fld id="{A8713C7E-897E-405E-8A14-1BFD4AF8A0CF}" type="slidenum">
              <a:rPr lang="en-US" altLang="en-US" sz="1400"/>
              <a:pPr algn="r">
                <a:buClrTx/>
                <a:buFontTx/>
                <a:buNone/>
              </a:pPr>
              <a:t>5</a:t>
            </a:fld>
            <a:endParaRPr lang="en-US" altLang="en-US" sz="1400"/>
          </a:p>
        </p:txBody>
      </p:sp>
      <p:sp>
        <p:nvSpPr>
          <p:cNvPr id="10" name="Text Box 4">
            <a:extLst>
              <a:ext uri="{FF2B5EF4-FFF2-40B4-BE49-F238E27FC236}">
                <a16:creationId xmlns:a16="http://schemas.microsoft.com/office/drawing/2014/main" id="{98F7842A-3BA4-4CA7-9720-9FD79CA0B0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0113" y="6155981"/>
            <a:ext cx="1647825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360" tIns="44280" rIns="90360" bIns="4428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 algn="ctr">
              <a:lnSpc>
                <a:spcPct val="96000"/>
              </a:lnSpc>
              <a:buClrTx/>
              <a:buFontTx/>
              <a:buNone/>
            </a:pPr>
            <a:r>
              <a:rPr lang="en-GB" altLang="en-US" sz="2400" dirty="0" err="1">
                <a:solidFill>
                  <a:srgbClr val="FF0000"/>
                </a:solidFill>
                <a:latin typeface="Arial" panose="020B0604020202020204" pitchFamily="34" charset="0"/>
                <a:cs typeface="msmincho" charset="0"/>
              </a:rPr>
              <a:t>WiFi</a:t>
            </a:r>
            <a:endParaRPr lang="en-GB" altLang="en-US" sz="2400" dirty="0">
              <a:solidFill>
                <a:srgbClr val="FF0000"/>
              </a:solidFill>
              <a:latin typeface="Arial" panose="020B0604020202020204" pitchFamily="34" charset="0"/>
              <a:cs typeface="msmincho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720F6E4-7F49-48D9-A34D-92FE4E685ACC}"/>
              </a:ext>
            </a:extLst>
          </p:cNvPr>
          <p:cNvSpPr/>
          <p:nvPr/>
        </p:nvSpPr>
        <p:spPr>
          <a:xfrm>
            <a:off x="3733800" y="2590800"/>
            <a:ext cx="5334000" cy="1219200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" name="Callout: Line 1">
            <a:extLst>
              <a:ext uri="{FF2B5EF4-FFF2-40B4-BE49-F238E27FC236}">
                <a16:creationId xmlns:a16="http://schemas.microsoft.com/office/drawing/2014/main" id="{5A7FDBF4-76DE-4748-BFA1-9270AE2F7AAB}"/>
              </a:ext>
            </a:extLst>
          </p:cNvPr>
          <p:cNvSpPr/>
          <p:nvPr/>
        </p:nvSpPr>
        <p:spPr>
          <a:xfrm>
            <a:off x="9829800" y="3581400"/>
            <a:ext cx="2359025" cy="1676400"/>
          </a:xfrm>
          <a:prstGeom prst="borderCallout1">
            <a:avLst>
              <a:gd name="adj1" fmla="val 18750"/>
              <a:gd name="adj2" fmla="val -8333"/>
              <a:gd name="adj3" fmla="val -8241"/>
              <a:gd name="adj4" fmla="val -3118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TCP only part of the Transport layer</a:t>
            </a:r>
          </a:p>
        </p:txBody>
      </p:sp>
    </p:spTree>
    <p:extLst>
      <p:ext uri="{BB962C8B-B14F-4D97-AF65-F5344CB8AC3E}">
        <p14:creationId xmlns:p14="http://schemas.microsoft.com/office/powerpoint/2010/main" val="349406395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7" grpId="0"/>
      <p:bldP spid="31748" grpId="0"/>
      <p:bldP spid="10" grpId="0"/>
      <p:bldP spid="4" grpId="0" animBg="1"/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ext Box 1">
            <a:extLst>
              <a:ext uri="{FF2B5EF4-FFF2-40B4-BE49-F238E27FC236}">
                <a16:creationId xmlns:a16="http://schemas.microsoft.com/office/drawing/2014/main" id="{70CF868E-D51C-4094-B70D-71EF6BC20C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29" y="629266"/>
            <a:ext cx="3846871" cy="162232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3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UDP - User Datagram Protocol</a:t>
            </a:r>
          </a:p>
        </p:txBody>
      </p:sp>
      <p:sp>
        <p:nvSpPr>
          <p:cNvPr id="32770" name="Text Box 2">
            <a:extLst>
              <a:ext uri="{FF2B5EF4-FFF2-40B4-BE49-F238E27FC236}">
                <a16:creationId xmlns:a16="http://schemas.microsoft.com/office/drawing/2014/main" id="{0FDCB61C-A12D-402C-8B51-6378C2DA80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31" y="2438400"/>
            <a:ext cx="3505494" cy="378541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lIns="91440" tIns="45720" rIns="91440" bIns="45720" rtlCol="0">
            <a:normAutofit/>
          </a:bodyPr>
          <a:lstStyle>
            <a:lvl1pPr marL="3413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 marL="741363" indent="-28416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 marL="457200" indent="-228600">
              <a:lnSpc>
                <a:spcPct val="90000"/>
              </a:lnSpc>
              <a:spcBef>
                <a:spcPts val="700"/>
              </a:spcBef>
              <a:buClr>
                <a:srgbClr val="3333CC"/>
              </a:buClr>
              <a:buSzPct val="85000"/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+mn-lt"/>
                <a:cs typeface="+mn-cs"/>
              </a:rPr>
              <a:t>UDP is a transport protocol, that provides the basic functions for delivering datagrams between the appropriate applications,</a:t>
            </a:r>
            <a:endParaRPr lang="en-US" sz="1600" dirty="0">
              <a:solidFill>
                <a:schemeClr val="tx1"/>
              </a:solidFill>
              <a:latin typeface="+mn-lt"/>
              <a:cs typeface="+mn-cs"/>
            </a:endParaRPr>
          </a:p>
          <a:p>
            <a:pPr marL="800100" lvl="1" indent="-228600">
              <a:lnSpc>
                <a:spcPct val="90000"/>
              </a:lnSpc>
              <a:spcBef>
                <a:spcPts val="600"/>
              </a:spcBef>
              <a:buClr>
                <a:srgbClr val="3333CC"/>
              </a:buClr>
              <a:buSzPct val="75000"/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+mn-lt"/>
                <a:cs typeface="+mn-cs"/>
              </a:rPr>
              <a:t>communication between </a:t>
            </a:r>
            <a:r>
              <a:rPr lang="en-US" altLang="en-US" sz="1600" b="1" u="sng" dirty="0">
                <a:solidFill>
                  <a:schemeClr val="tx1"/>
                </a:solidFill>
                <a:latin typeface="+mn-lt"/>
                <a:cs typeface="+mn-cs"/>
              </a:rPr>
              <a:t>processes</a:t>
            </a:r>
            <a:endParaRPr lang="en-US" altLang="en-US" sz="1600" b="1" dirty="0">
              <a:solidFill>
                <a:schemeClr val="tx1"/>
              </a:solidFill>
              <a:latin typeface="+mn-lt"/>
              <a:cs typeface="+mn-cs"/>
            </a:endParaRPr>
          </a:p>
          <a:p>
            <a:pPr marL="457200" indent="-228600">
              <a:lnSpc>
                <a:spcPct val="90000"/>
              </a:lnSpc>
              <a:spcBef>
                <a:spcPts val="700"/>
              </a:spcBef>
              <a:buClr>
                <a:srgbClr val="3333CC"/>
              </a:buClr>
              <a:buSzPct val="85000"/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+mn-lt"/>
                <a:cs typeface="+mn-cs"/>
              </a:rPr>
              <a:t>UDP is a connectionless best-effort delivery </a:t>
            </a:r>
          </a:p>
          <a:p>
            <a:pPr marL="857250" lvl="1" indent="-228600">
              <a:lnSpc>
                <a:spcPct val="90000"/>
              </a:lnSpc>
              <a:spcBef>
                <a:spcPts val="700"/>
              </a:spcBef>
              <a:buClr>
                <a:srgbClr val="3333CC"/>
              </a:buClr>
              <a:buSzPct val="85000"/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+mn-lt"/>
                <a:cs typeface="+mn-cs"/>
              </a:rPr>
              <a:t>there is no acknowledgment that the data is received at the destination.</a:t>
            </a:r>
          </a:p>
          <a:p>
            <a:pPr marL="457200" indent="-228600">
              <a:lnSpc>
                <a:spcPct val="90000"/>
              </a:lnSpc>
              <a:spcBef>
                <a:spcPts val="700"/>
              </a:spcBef>
              <a:buClr>
                <a:srgbClr val="3333CC"/>
              </a:buClr>
              <a:buSzPct val="85000"/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+mn-lt"/>
                <a:cs typeface="+mn-cs"/>
              </a:rPr>
              <a:t>UDP uses </a:t>
            </a:r>
            <a:r>
              <a:rPr lang="en-US" altLang="en-US" sz="1600" b="1" i="1" dirty="0">
                <a:solidFill>
                  <a:schemeClr val="tx1"/>
                </a:solidFill>
                <a:latin typeface="+mn-lt"/>
                <a:cs typeface="+mn-cs"/>
              </a:rPr>
              <a:t>ports</a:t>
            </a:r>
            <a:r>
              <a:rPr lang="en-US" altLang="en-US" sz="1600" dirty="0">
                <a:solidFill>
                  <a:schemeClr val="tx1"/>
                </a:solidFill>
                <a:latin typeface="+mn-lt"/>
                <a:cs typeface="+mn-cs"/>
              </a:rPr>
              <a:t> to provide communication services to individual apps/processes.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5E39A796-BE83-48B1-B33F-35C4A32AA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ounded Rectangle 9">
            <a:extLst>
              <a:ext uri="{FF2B5EF4-FFF2-40B4-BE49-F238E27FC236}">
                <a16:creationId xmlns:a16="http://schemas.microsoft.com/office/drawing/2014/main" id="{72F84B47-E267-4194-8194-831DB7B55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557784"/>
            <a:ext cx="6584098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picture containing diagram&#10;&#10;Description automatically generated">
            <a:extLst>
              <a:ext uri="{FF2B5EF4-FFF2-40B4-BE49-F238E27FC236}">
                <a16:creationId xmlns:a16="http://schemas.microsoft.com/office/drawing/2014/main" id="{E56E3EDB-A6A3-4A9B-829E-38A3397C5C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405862" y="1937593"/>
            <a:ext cx="6019331" cy="2979568"/>
          </a:xfrm>
          <a:prstGeom prst="rect">
            <a:avLst/>
          </a:prstGeom>
          <a:effectLst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6373586-4676-476F-ACB4-F7975DEDC71C}"/>
              </a:ext>
            </a:extLst>
          </p:cNvPr>
          <p:cNvSpPr txBox="1"/>
          <p:nvPr/>
        </p:nvSpPr>
        <p:spPr>
          <a:xfrm>
            <a:off x="9118151" y="4717106"/>
            <a:ext cx="2307042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IE" sz="700">
                <a:solidFill>
                  <a:srgbClr val="FFFFFF"/>
                </a:solidFill>
                <a:hlinkClick r:id="rId4" tooltip="https://en.wikibooks.org/wiki/Communication_Networks/TCP_and_UDP_Protocols/UD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IE" sz="700">
                <a:solidFill>
                  <a:srgbClr val="FFFFFF"/>
                </a:solidFill>
              </a:rPr>
              <a:t> by Unknown Author is licensed under </a:t>
            </a:r>
            <a:r>
              <a:rPr lang="en-IE" sz="700">
                <a:solidFill>
                  <a:srgbClr val="FFFFFF"/>
                </a:solidFill>
                <a:hlinkClick r:id="rId5" tooltip="https://creativecommons.org/licenses/by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</a:t>
            </a:r>
            <a:endParaRPr lang="en-IE" sz="70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427AF5F-9A0E-42B7-A252-FD64C9885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DBEBBF-4BD4-4EB8-B2AB-D6EA86CC2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06443"/>
          </a:xfrm>
        </p:spPr>
        <p:txBody>
          <a:bodyPr>
            <a:normAutofit/>
          </a:bodyPr>
          <a:lstStyle/>
          <a:p>
            <a:r>
              <a:rPr lang="en-US" sz="4000" dirty="0"/>
              <a:t>Transmission Control Protocol(TCP)</a:t>
            </a:r>
            <a:endParaRPr lang="en-IE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6D12E-3CEC-4F43-80BD-62F7733C37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152774" cy="4303464"/>
          </a:xfrm>
        </p:spPr>
        <p:txBody>
          <a:bodyPr>
            <a:normAutofit/>
          </a:bodyPr>
          <a:lstStyle/>
          <a:p>
            <a:pPr marL="0" indent="0"/>
            <a:r>
              <a:rPr lang="en-US" sz="2000" dirty="0"/>
              <a:t>TCP provides reliability and flow control. TCP basic operations:</a:t>
            </a:r>
          </a:p>
          <a:p>
            <a:pPr marL="457200" lvl="1" indent="0"/>
            <a:r>
              <a:rPr lang="en-US" sz="1600" dirty="0"/>
              <a:t>Number and track data segments transmitted to a specific host from a specific application</a:t>
            </a:r>
          </a:p>
          <a:p>
            <a:pPr marL="457200" lvl="1" indent="0"/>
            <a:r>
              <a:rPr lang="en-US" sz="2000" dirty="0"/>
              <a:t>Acknowledge received data</a:t>
            </a:r>
          </a:p>
          <a:p>
            <a:pPr marL="457200" lvl="1" indent="0"/>
            <a:r>
              <a:rPr lang="en-US" sz="2000" dirty="0"/>
              <a:t>Retransmit any unacknowledged data after a certain amount of time</a:t>
            </a:r>
          </a:p>
          <a:p>
            <a:pPr marL="457200" lvl="1" indent="0"/>
            <a:r>
              <a:rPr lang="en-US" sz="2000" dirty="0"/>
              <a:t>Sequence data that might arrive in wrong order</a:t>
            </a:r>
          </a:p>
          <a:p>
            <a:pPr marL="457200" lvl="1" indent="0"/>
            <a:r>
              <a:rPr lang="en-US" sz="2000" dirty="0"/>
              <a:t>Send data at an efficient rate that is acceptable by the receiver</a:t>
            </a:r>
          </a:p>
          <a:p>
            <a:endParaRPr lang="en-IE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62D660-6159-4AA0-8DC5-FA2FF3768E8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9452" b="3"/>
          <a:stretch/>
        </p:blipFill>
        <p:spPr>
          <a:xfrm>
            <a:off x="5183500" y="1904282"/>
            <a:ext cx="6170299" cy="4224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2256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F751F-8001-4AD8-92B1-7B7C15012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Choosing Transport Layer Protocols…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A0D716-C4E2-4689-B352-9B544BFB49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Application developers choose based on the nature of the app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A56032-4C63-4EE6-93DA-89D46686CF7C}"/>
              </a:ext>
            </a:extLst>
          </p:cNvPr>
          <p:cNvSpPr txBox="1"/>
          <p:nvPr/>
        </p:nvSpPr>
        <p:spPr>
          <a:xfrm>
            <a:off x="1231899" y="2774042"/>
            <a:ext cx="2743200" cy="923330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/>
              <a:t>IP Telephony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cs typeface="Calibri"/>
              </a:rPr>
              <a:t>Video Streaming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cs typeface="Calibri"/>
              </a:rPr>
              <a:t>Frequent Sensor data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CC2917E-347B-4884-ADF6-A300CABDA49E}"/>
              </a:ext>
            </a:extLst>
          </p:cNvPr>
          <p:cNvSpPr/>
          <p:nvPr/>
        </p:nvSpPr>
        <p:spPr>
          <a:xfrm>
            <a:off x="1302657" y="3897085"/>
            <a:ext cx="4161970" cy="188504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cs typeface="Calibri"/>
              </a:rPr>
              <a:t>Requirements: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cs typeface="Calibri"/>
              </a:rPr>
              <a:t>Fast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cs typeface="Calibri"/>
              </a:rPr>
              <a:t>Low overhead</a:t>
            </a:r>
            <a:endParaRPr lang="en-US" dirty="0"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cs typeface="Calibri"/>
              </a:rPr>
              <a:t>No need for acknowedgements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cs typeface="Calibri"/>
              </a:rPr>
              <a:t>No need to resend lost data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cs typeface="Calibri"/>
              </a:rPr>
              <a:t>Delivers data as it arrives.</a:t>
            </a:r>
            <a:endParaRPr lang="en-US" dirty="0"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B2189B-7A9A-445E-A9F0-711200DBA156}"/>
              </a:ext>
            </a:extLst>
          </p:cNvPr>
          <p:cNvSpPr txBox="1"/>
          <p:nvPr/>
        </p:nvSpPr>
        <p:spPr>
          <a:xfrm>
            <a:off x="6529612" y="2719613"/>
            <a:ext cx="2743200" cy="923330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/>
              <a:t>SMPT</a:t>
            </a:r>
            <a:r>
              <a:rPr lang="en-US" dirty="0">
                <a:cs typeface="Calibri"/>
              </a:rPr>
              <a:t>/POP (email)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cs typeface="Calibri"/>
              </a:rPr>
              <a:t>HTTP (web page)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cs typeface="Calibri"/>
              </a:rPr>
              <a:t>Command data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2FFD6F3-7783-483F-B431-35FEA9AE73A9}"/>
              </a:ext>
            </a:extLst>
          </p:cNvPr>
          <p:cNvSpPr/>
          <p:nvPr/>
        </p:nvSpPr>
        <p:spPr>
          <a:xfrm>
            <a:off x="6600370" y="3842656"/>
            <a:ext cx="4161970" cy="188504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cs typeface="Calibri"/>
              </a:rPr>
              <a:t>Requirements: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cs typeface="Calibri"/>
              </a:rPr>
              <a:t>Reliable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 err="1">
                <a:cs typeface="Calibri"/>
              </a:rPr>
              <a:t>Acknowedge</a:t>
            </a:r>
            <a:r>
              <a:rPr lang="en-US" dirty="0">
                <a:cs typeface="Calibri"/>
              </a:rPr>
              <a:t> data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cs typeface="Calibri"/>
              </a:rPr>
              <a:t>Resend lost data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cs typeface="Calibri"/>
              </a:rPr>
              <a:t>Delivers data in order sent.</a:t>
            </a:r>
          </a:p>
        </p:txBody>
      </p:sp>
    </p:spTree>
    <p:extLst>
      <p:ext uri="{BB962C8B-B14F-4D97-AF65-F5344CB8AC3E}">
        <p14:creationId xmlns:p14="http://schemas.microsoft.com/office/powerpoint/2010/main" val="2530642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Text Box 1">
            <a:extLst>
              <a:ext uri="{FF2B5EF4-FFF2-40B4-BE49-F238E27FC236}">
                <a16:creationId xmlns:a16="http://schemas.microsoft.com/office/drawing/2014/main" id="{34C08A3F-C7ED-4FFF-8BD8-33E472AC50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301625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>
              <a:lnSpc>
                <a:spcPct val="96000"/>
              </a:lnSpc>
              <a:buClrTx/>
              <a:buFontTx/>
              <a:buNone/>
            </a:pPr>
            <a:r>
              <a:rPr lang="en-GB" altLang="en-US" sz="4000" u="sng" dirty="0">
                <a:solidFill>
                  <a:srgbClr val="3333CC"/>
                </a:solidFill>
                <a:latin typeface="+mj-lt"/>
              </a:rPr>
              <a:t>TCP vs. UDP</a:t>
            </a:r>
          </a:p>
        </p:txBody>
      </p:sp>
      <p:sp>
        <p:nvSpPr>
          <p:cNvPr id="46082" name="Text Box 2">
            <a:extLst>
              <a:ext uri="{FF2B5EF4-FFF2-40B4-BE49-F238E27FC236}">
                <a16:creationId xmlns:a16="http://schemas.microsoft.com/office/drawing/2014/main" id="{E91F5B95-DE26-4AFA-8008-902612C2B8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6301" y="1543050"/>
            <a:ext cx="8277225" cy="4592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t"/>
          <a:lstStyle>
            <a:lvl1pPr marL="342900" indent="-341313"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 marL="1905" indent="0">
              <a:lnSpc>
                <a:spcPct val="96000"/>
              </a:lnSpc>
              <a:spcBef>
                <a:spcPts val="688"/>
              </a:spcBef>
              <a:buClrTx/>
              <a:buSzPct val="148000"/>
            </a:pPr>
            <a:r>
              <a:rPr lang="en-GB" altLang="en-US" sz="2800" dirty="0">
                <a:latin typeface="+mj-lt"/>
              </a:rPr>
              <a:t>Q: Which protocol is better ?</a:t>
            </a:r>
            <a:endParaRPr lang="en-US" dirty="0">
              <a:cs typeface="Times New Roman"/>
            </a:endParaRPr>
          </a:p>
          <a:p>
            <a:pPr marL="1905" indent="0">
              <a:spcBef>
                <a:spcPts val="688"/>
              </a:spcBef>
              <a:buClrTx/>
              <a:buSzPct val="148000"/>
            </a:pPr>
            <a:r>
              <a:rPr lang="en-GB" altLang="en-US" sz="2800" dirty="0">
                <a:latin typeface="+mj-lt"/>
              </a:rPr>
              <a:t>A: It depends on the application.</a:t>
            </a:r>
            <a:endParaRPr lang="en-GB" altLang="en-US" sz="2800" dirty="0">
              <a:latin typeface="+mj-lt"/>
              <a:cs typeface="Calibri"/>
            </a:endParaRPr>
          </a:p>
          <a:p>
            <a:pPr marL="1905" indent="0">
              <a:spcBef>
                <a:spcPts val="688"/>
              </a:spcBef>
              <a:buClrTx/>
              <a:buSzPct val="148000"/>
            </a:pPr>
            <a:endParaRPr lang="en-GB" altLang="en-US" sz="2800" dirty="0">
              <a:latin typeface="+mj-lt"/>
              <a:cs typeface="Calibri"/>
            </a:endParaRPr>
          </a:p>
          <a:p>
            <a:pPr marL="1905" indent="0">
              <a:spcBef>
                <a:spcPts val="688"/>
              </a:spcBef>
              <a:buClrTx/>
              <a:buSzPct val="148000"/>
            </a:pPr>
            <a:r>
              <a:rPr lang="en-GB" altLang="en-US" sz="2800" dirty="0">
                <a:latin typeface="+mj-lt"/>
              </a:rPr>
              <a:t>	TCP provides a connection-oriented, reliable, byte stream service (lots of overhead).</a:t>
            </a:r>
            <a:endParaRPr lang="en-GB" altLang="en-US" sz="2800" dirty="0">
              <a:latin typeface="+mj-lt"/>
              <a:cs typeface="Calibri"/>
            </a:endParaRPr>
          </a:p>
          <a:p>
            <a:pPr marL="1905" indent="0">
              <a:spcBef>
                <a:spcPts val="688"/>
              </a:spcBef>
              <a:buClrTx/>
              <a:buSzPct val="148000"/>
            </a:pPr>
            <a:endParaRPr lang="en-GB" altLang="en-US" sz="2800" dirty="0">
              <a:latin typeface="+mj-lt"/>
              <a:cs typeface="Calibri"/>
            </a:endParaRPr>
          </a:p>
          <a:p>
            <a:pPr marL="1905" indent="0">
              <a:spcBef>
                <a:spcPts val="688"/>
              </a:spcBef>
              <a:buClrTx/>
              <a:buSzPct val="148000"/>
            </a:pPr>
            <a:r>
              <a:rPr lang="en-GB" altLang="en-US" sz="2800" dirty="0">
                <a:latin typeface="+mj-lt"/>
              </a:rPr>
              <a:t>	UDP offers minimal datagram delivery service (as little overhead as possible).</a:t>
            </a:r>
            <a:endParaRPr lang="en-GB" altLang="en-US" sz="2800" dirty="0">
              <a:latin typeface="+mj-lt"/>
              <a:cs typeface="Calibri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Text Box 1">
            <a:extLst>
              <a:ext uri="{FF2B5EF4-FFF2-40B4-BE49-F238E27FC236}">
                <a16:creationId xmlns:a16="http://schemas.microsoft.com/office/drawing/2014/main" id="{C2E9DE7C-720B-4A4D-B4C0-36EDA584CB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8525" y="0"/>
            <a:ext cx="655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>
              <a:lnSpc>
                <a:spcPct val="96000"/>
              </a:lnSpc>
              <a:buClrTx/>
              <a:buFontTx/>
              <a:buNone/>
            </a:pPr>
            <a:r>
              <a:rPr lang="en-GB" altLang="en-US" sz="4000" u="sng" dirty="0">
                <a:solidFill>
                  <a:srgbClr val="3333CC"/>
                </a:solidFill>
                <a:latin typeface="+mn-lt"/>
              </a:rPr>
              <a:t>Ports</a:t>
            </a:r>
          </a:p>
        </p:txBody>
      </p:sp>
      <p:sp>
        <p:nvSpPr>
          <p:cNvPr id="33794" name="Text Box 2">
            <a:extLst>
              <a:ext uri="{FF2B5EF4-FFF2-40B4-BE49-F238E27FC236}">
                <a16:creationId xmlns:a16="http://schemas.microsoft.com/office/drawing/2014/main" id="{1B7B59E9-4032-4BBC-B843-B501B77620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4050" y="958850"/>
            <a:ext cx="6263822" cy="3282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t"/>
          <a:lstStyle>
            <a:lvl1pPr marL="3413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 marL="457200" indent="-457200">
              <a:spcBef>
                <a:spcPts val="700"/>
              </a:spcBef>
              <a:buClr>
                <a:srgbClr val="3333CC"/>
              </a:buClr>
              <a:buSzPct val="85000"/>
              <a:buFont typeface="Arial" panose="05000000000000000000" pitchFamily="2" charset="2"/>
              <a:buChar char="•"/>
            </a:pPr>
            <a:r>
              <a:rPr lang="en-GB" altLang="en-US" sz="2800" dirty="0">
                <a:latin typeface="+mn-lt"/>
              </a:rPr>
              <a:t>TCP/IP uses an abstract destination point called a protocol port.</a:t>
            </a:r>
            <a:endParaRPr lang="en-US" dirty="0">
              <a:cs typeface="Times New Roman"/>
            </a:endParaRPr>
          </a:p>
          <a:p>
            <a:pPr marL="457200" indent="-457200">
              <a:spcBef>
                <a:spcPts val="700"/>
              </a:spcBef>
              <a:buClr>
                <a:srgbClr val="3333CC"/>
              </a:buClr>
              <a:buSzPct val="85000"/>
              <a:buFont typeface="Arial" panose="05000000000000000000" pitchFamily="2" charset="2"/>
              <a:buChar char="•"/>
            </a:pPr>
            <a:r>
              <a:rPr lang="en-GB" altLang="en-US" sz="2800" dirty="0">
                <a:latin typeface="+mn-lt"/>
              </a:rPr>
              <a:t>Ports are identified by a positive integer.</a:t>
            </a:r>
            <a:endParaRPr lang="en-GB" altLang="en-US" sz="2800" dirty="0">
              <a:latin typeface="+mn-lt"/>
              <a:cs typeface="Calibri"/>
            </a:endParaRPr>
          </a:p>
          <a:p>
            <a:pPr marL="689610" lvl="1" indent="-457200">
              <a:spcBef>
                <a:spcPts val="700"/>
              </a:spcBef>
              <a:buClr>
                <a:srgbClr val="3333CC"/>
              </a:buClr>
              <a:buSzPct val="85000"/>
              <a:buFont typeface="Arial" panose="05000000000000000000" pitchFamily="2" charset="2"/>
              <a:buChar char="•"/>
            </a:pPr>
            <a:r>
              <a:rPr lang="en-GB" sz="2800" b="1" dirty="0">
                <a:latin typeface="+mn-lt"/>
                <a:cs typeface="Calibri"/>
              </a:rPr>
              <a:t>Port number &amp; IP address allow any process/application in any computer on Internet to be uniquely identified</a:t>
            </a:r>
            <a:endParaRPr lang="en-GB" altLang="en-US" sz="2800" b="1" dirty="0">
              <a:latin typeface="+mn-lt"/>
              <a:cs typeface="Calibri"/>
            </a:endParaRPr>
          </a:p>
          <a:p>
            <a:pPr marL="457200" indent="-457200">
              <a:spcBef>
                <a:spcPts val="700"/>
              </a:spcBef>
              <a:buClr>
                <a:srgbClr val="3333CC"/>
              </a:buClr>
              <a:buSzPct val="85000"/>
              <a:buFont typeface="Arial" panose="05000000000000000000" pitchFamily="2" charset="2"/>
              <a:buChar char="•"/>
            </a:pPr>
            <a:r>
              <a:rPr lang="en-GB" altLang="en-US" sz="2800" dirty="0">
                <a:latin typeface="+mn-lt"/>
              </a:rPr>
              <a:t>Operating systems provide a mechanism that apps &amp; processes use to specify a port. </a:t>
            </a:r>
            <a:endParaRPr lang="en-GB" altLang="en-US" sz="2800" dirty="0">
              <a:latin typeface="+mn-lt"/>
              <a:cs typeface="Calibri"/>
            </a:endParaRPr>
          </a:p>
        </p:txBody>
      </p:sp>
      <p:grpSp>
        <p:nvGrpSpPr>
          <p:cNvPr id="33795" name="Group 3">
            <a:extLst>
              <a:ext uri="{FF2B5EF4-FFF2-40B4-BE49-F238E27FC236}">
                <a16:creationId xmlns:a16="http://schemas.microsoft.com/office/drawing/2014/main" id="{C2F7CA13-8AAF-468F-94CD-C053A9D09E22}"/>
              </a:ext>
            </a:extLst>
          </p:cNvPr>
          <p:cNvGrpSpPr>
            <a:grpSpLocks/>
          </p:cNvGrpSpPr>
          <p:nvPr/>
        </p:nvGrpSpPr>
        <p:grpSpPr bwMode="auto">
          <a:xfrm>
            <a:off x="10501768" y="1072696"/>
            <a:ext cx="1217840" cy="2905353"/>
            <a:chOff x="3021" y="2110"/>
            <a:chExt cx="1110" cy="2093"/>
          </a:xfrm>
        </p:grpSpPr>
        <p:sp>
          <p:nvSpPr>
            <p:cNvPr id="33796" name="AutoShape 4">
              <a:extLst>
                <a:ext uri="{FF2B5EF4-FFF2-40B4-BE49-F238E27FC236}">
                  <a16:creationId xmlns:a16="http://schemas.microsoft.com/office/drawing/2014/main" id="{5A78CA77-B28F-40AD-A662-C476D0FEA5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1" y="2387"/>
              <a:ext cx="1043" cy="1816"/>
            </a:xfrm>
            <a:prstGeom prst="roundRect">
              <a:avLst>
                <a:gd name="adj" fmla="val 56"/>
              </a:avLst>
            </a:prstGeom>
            <a:solidFill>
              <a:srgbClr val="777777"/>
            </a:solidFill>
            <a:ln w="25560" cap="sq">
              <a:solidFill>
                <a:srgbClr val="000000"/>
              </a:solidFill>
              <a:miter lim="800000"/>
              <a:headEnd/>
              <a:tailEnd/>
            </a:ln>
            <a:effectLst>
              <a:outerShdw dist="107933" dir="2700000" algn="ctr" rotWithShape="0">
                <a:srgbClr val="000000"/>
              </a:outerShdw>
            </a:effec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33797" name="Text Box 5">
              <a:extLst>
                <a:ext uri="{FF2B5EF4-FFF2-40B4-BE49-F238E27FC236}">
                  <a16:creationId xmlns:a16="http://schemas.microsoft.com/office/drawing/2014/main" id="{543D1559-6794-45D1-BBD6-54FA0CB9AE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98" y="2110"/>
              <a:ext cx="1033" cy="3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360" tIns="44280" rIns="90360" bIns="4428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9pPr>
            </a:lstStyle>
            <a:p>
              <a:pPr algn="ctr">
                <a:lnSpc>
                  <a:spcPct val="96000"/>
                </a:lnSpc>
                <a:buClrTx/>
                <a:buFontTx/>
                <a:buNone/>
              </a:pPr>
              <a:r>
                <a:rPr lang="en-GB" altLang="en-US" sz="2800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anose="020B0604020202020204" pitchFamily="34" charset="0"/>
                  <a:cs typeface="msmincho" charset="0"/>
                </a:rPr>
                <a:t>Host B</a:t>
              </a:r>
            </a:p>
          </p:txBody>
        </p:sp>
        <p:grpSp>
          <p:nvGrpSpPr>
            <p:cNvPr id="33798" name="Group 6">
              <a:extLst>
                <a:ext uri="{FF2B5EF4-FFF2-40B4-BE49-F238E27FC236}">
                  <a16:creationId xmlns:a16="http://schemas.microsoft.com/office/drawing/2014/main" id="{F2D4EA2A-C347-48D0-AF01-53C2E9F5B49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15" y="2502"/>
              <a:ext cx="633" cy="268"/>
              <a:chOff x="3315" y="2502"/>
              <a:chExt cx="633" cy="268"/>
            </a:xfrm>
          </p:grpSpPr>
          <p:sp>
            <p:nvSpPr>
              <p:cNvPr id="33799" name="Oval 7">
                <a:extLst>
                  <a:ext uri="{FF2B5EF4-FFF2-40B4-BE49-F238E27FC236}">
                    <a16:creationId xmlns:a16="http://schemas.microsoft.com/office/drawing/2014/main" id="{BCAF41C3-516B-4985-9DC3-89FE9796BD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47" y="2502"/>
                <a:ext cx="541" cy="268"/>
              </a:xfrm>
              <a:prstGeom prst="ellipse">
                <a:avLst/>
              </a:prstGeom>
              <a:solidFill>
                <a:srgbClr val="00FF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33800" name="Text Box 8">
                <a:extLst>
                  <a:ext uri="{FF2B5EF4-FFF2-40B4-BE49-F238E27FC236}">
                    <a16:creationId xmlns:a16="http://schemas.microsoft.com/office/drawing/2014/main" id="{E4494DB9-121E-4B22-862E-235507EB0B8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15" y="2516"/>
                <a:ext cx="633" cy="2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0360" tIns="44280" rIns="90360" bIns="44280" anchor="ctr">
                <a:spAutoFit/>
              </a:bodyPr>
              <a:lstStyle>
                <a:lvl1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1pPr>
                <a:lvl2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2pPr>
                <a:lvl3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3pPr>
                <a:lvl4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4pPr>
                <a:lvl5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5pPr>
                <a:lvl6pPr marL="25146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6pPr>
                <a:lvl7pPr marL="29718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7pPr>
                <a:lvl8pPr marL="34290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8pPr>
                <a:lvl9pPr marL="38862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9pPr>
              </a:lstStyle>
              <a:p>
                <a:pPr algn="ctr">
                  <a:lnSpc>
                    <a:spcPct val="96000"/>
                  </a:lnSpc>
                  <a:buClrTx/>
                  <a:buFontTx/>
                  <a:buNone/>
                </a:pPr>
                <a:r>
                  <a:rPr lang="en-GB" altLang="en-US" sz="1800">
                    <a:latin typeface="Arial" panose="020B0604020202020204" pitchFamily="34" charset="0"/>
                    <a:cs typeface="msmincho" charset="0"/>
                  </a:rPr>
                  <a:t>Process</a:t>
                </a:r>
              </a:p>
            </p:txBody>
          </p:sp>
        </p:grpSp>
        <p:grpSp>
          <p:nvGrpSpPr>
            <p:cNvPr id="33801" name="Group 9">
              <a:extLst>
                <a:ext uri="{FF2B5EF4-FFF2-40B4-BE49-F238E27FC236}">
                  <a16:creationId xmlns:a16="http://schemas.microsoft.com/office/drawing/2014/main" id="{BAAF3A30-A253-4654-955C-6D802721766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15" y="3101"/>
              <a:ext cx="633" cy="268"/>
              <a:chOff x="3315" y="3101"/>
              <a:chExt cx="633" cy="268"/>
            </a:xfrm>
          </p:grpSpPr>
          <p:sp>
            <p:nvSpPr>
              <p:cNvPr id="33802" name="Oval 10">
                <a:extLst>
                  <a:ext uri="{FF2B5EF4-FFF2-40B4-BE49-F238E27FC236}">
                    <a16:creationId xmlns:a16="http://schemas.microsoft.com/office/drawing/2014/main" id="{1E3CBE3D-2A7C-4496-9844-DF8AC952D0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47" y="3101"/>
                <a:ext cx="541" cy="268"/>
              </a:xfrm>
              <a:prstGeom prst="ellipse">
                <a:avLst/>
              </a:prstGeom>
              <a:solidFill>
                <a:srgbClr val="FAFD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33803" name="Text Box 11">
                <a:extLst>
                  <a:ext uri="{FF2B5EF4-FFF2-40B4-BE49-F238E27FC236}">
                    <a16:creationId xmlns:a16="http://schemas.microsoft.com/office/drawing/2014/main" id="{D6EE3214-EAE1-4160-BEEB-63935E55D10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15" y="3115"/>
                <a:ext cx="633" cy="2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0360" tIns="44280" rIns="90360" bIns="44280" anchor="ctr">
                <a:spAutoFit/>
              </a:bodyPr>
              <a:lstStyle>
                <a:lvl1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1pPr>
                <a:lvl2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2pPr>
                <a:lvl3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3pPr>
                <a:lvl4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4pPr>
                <a:lvl5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5pPr>
                <a:lvl6pPr marL="25146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6pPr>
                <a:lvl7pPr marL="29718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7pPr>
                <a:lvl8pPr marL="34290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8pPr>
                <a:lvl9pPr marL="38862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9pPr>
              </a:lstStyle>
              <a:p>
                <a:pPr algn="ctr">
                  <a:lnSpc>
                    <a:spcPct val="96000"/>
                  </a:lnSpc>
                  <a:buClrTx/>
                  <a:buFontTx/>
                  <a:buNone/>
                </a:pPr>
                <a:r>
                  <a:rPr lang="en-GB" altLang="en-US" sz="1800">
                    <a:latin typeface="Arial" panose="020B0604020202020204" pitchFamily="34" charset="0"/>
                    <a:cs typeface="msmincho" charset="0"/>
                  </a:rPr>
                  <a:t>Process</a:t>
                </a:r>
              </a:p>
            </p:txBody>
          </p:sp>
        </p:grpSp>
        <p:grpSp>
          <p:nvGrpSpPr>
            <p:cNvPr id="33804" name="Group 12">
              <a:extLst>
                <a:ext uri="{FF2B5EF4-FFF2-40B4-BE49-F238E27FC236}">
                  <a16:creationId xmlns:a16="http://schemas.microsoft.com/office/drawing/2014/main" id="{07C79D79-26A8-4E94-96E6-3F047C108B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15" y="3640"/>
              <a:ext cx="633" cy="268"/>
              <a:chOff x="3315" y="3640"/>
              <a:chExt cx="633" cy="268"/>
            </a:xfrm>
          </p:grpSpPr>
          <p:sp>
            <p:nvSpPr>
              <p:cNvPr id="33805" name="Oval 13">
                <a:extLst>
                  <a:ext uri="{FF2B5EF4-FFF2-40B4-BE49-F238E27FC236}">
                    <a16:creationId xmlns:a16="http://schemas.microsoft.com/office/drawing/2014/main" id="{3D300055-8F63-441E-808C-C93EA68B96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47" y="3640"/>
                <a:ext cx="541" cy="268"/>
              </a:xfrm>
              <a:prstGeom prst="ellipse">
                <a:avLst/>
              </a:prstGeom>
              <a:solidFill>
                <a:srgbClr val="00B7A5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33806" name="Text Box 14">
                <a:extLst>
                  <a:ext uri="{FF2B5EF4-FFF2-40B4-BE49-F238E27FC236}">
                    <a16:creationId xmlns:a16="http://schemas.microsoft.com/office/drawing/2014/main" id="{BBB8E8C8-A5CF-4B12-B75C-8B24B224496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15" y="3654"/>
                <a:ext cx="633" cy="2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0360" tIns="44280" rIns="90360" bIns="44280" anchor="ctr">
                <a:spAutoFit/>
              </a:bodyPr>
              <a:lstStyle>
                <a:lvl1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1pPr>
                <a:lvl2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2pPr>
                <a:lvl3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3pPr>
                <a:lvl4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4pPr>
                <a:lvl5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5pPr>
                <a:lvl6pPr marL="25146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6pPr>
                <a:lvl7pPr marL="29718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7pPr>
                <a:lvl8pPr marL="34290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8pPr>
                <a:lvl9pPr marL="38862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9pPr>
              </a:lstStyle>
              <a:p>
                <a:pPr algn="ctr">
                  <a:lnSpc>
                    <a:spcPct val="96000"/>
                  </a:lnSpc>
                  <a:buClrTx/>
                  <a:buFontTx/>
                  <a:buNone/>
                </a:pPr>
                <a:r>
                  <a:rPr lang="en-GB" altLang="en-US" sz="1800">
                    <a:latin typeface="Arial" panose="020B0604020202020204" pitchFamily="34" charset="0"/>
                    <a:cs typeface="msmincho" charset="0"/>
                  </a:rPr>
                  <a:t>Process</a:t>
                </a:r>
              </a:p>
            </p:txBody>
          </p:sp>
        </p:grpSp>
        <p:sp>
          <p:nvSpPr>
            <p:cNvPr id="33807" name="Line 15">
              <a:extLst>
                <a:ext uri="{FF2B5EF4-FFF2-40B4-BE49-F238E27FC236}">
                  <a16:creationId xmlns:a16="http://schemas.microsoft.com/office/drawing/2014/main" id="{FDE5ED6C-A0A8-4B52-A48E-ED1EB00E73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6" y="3620"/>
              <a:ext cx="340" cy="99"/>
            </a:xfrm>
            <a:prstGeom prst="line">
              <a:avLst/>
            </a:prstGeom>
            <a:noFill/>
            <a:ln w="50760" cap="sq">
              <a:solidFill>
                <a:srgbClr val="00B7A5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33808" name="Line 16">
              <a:extLst>
                <a:ext uri="{FF2B5EF4-FFF2-40B4-BE49-F238E27FC236}">
                  <a16:creationId xmlns:a16="http://schemas.microsoft.com/office/drawing/2014/main" id="{62D8B95F-E5D2-4949-BA35-3E1856C0F2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6" y="2602"/>
              <a:ext cx="461" cy="518"/>
            </a:xfrm>
            <a:prstGeom prst="line">
              <a:avLst/>
            </a:prstGeom>
            <a:noFill/>
            <a:ln w="50760" cap="sq">
              <a:solidFill>
                <a:srgbClr val="FAFD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33809" name="Line 17">
              <a:extLst>
                <a:ext uri="{FF2B5EF4-FFF2-40B4-BE49-F238E27FC236}">
                  <a16:creationId xmlns:a16="http://schemas.microsoft.com/office/drawing/2014/main" id="{8CEB8D5B-286E-4FEC-B3D4-588F524C35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64" y="2751"/>
              <a:ext cx="414" cy="518"/>
            </a:xfrm>
            <a:prstGeom prst="line">
              <a:avLst/>
            </a:prstGeom>
            <a:noFill/>
            <a:ln w="50760" cap="sq">
              <a:solidFill>
                <a:srgbClr val="00FF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33810" name="Line 18">
              <a:extLst>
                <a:ext uri="{FF2B5EF4-FFF2-40B4-BE49-F238E27FC236}">
                  <a16:creationId xmlns:a16="http://schemas.microsoft.com/office/drawing/2014/main" id="{CCD17643-5825-4347-A5A9-CAA956CCA0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6" y="2961"/>
              <a:ext cx="400" cy="698"/>
            </a:xfrm>
            <a:prstGeom prst="line">
              <a:avLst/>
            </a:prstGeom>
            <a:noFill/>
            <a:ln w="50760" cap="sq">
              <a:solidFill>
                <a:srgbClr val="00B7A5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33811" name="Oval 19">
              <a:extLst>
                <a:ext uri="{FF2B5EF4-FFF2-40B4-BE49-F238E27FC236}">
                  <a16:creationId xmlns:a16="http://schemas.microsoft.com/office/drawing/2014/main" id="{42029FEC-A13E-480F-8BEA-4FBAFE1F01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1" y="2567"/>
              <a:ext cx="79" cy="79"/>
            </a:xfrm>
            <a:prstGeom prst="ellipse">
              <a:avLst/>
            </a:prstGeom>
            <a:solidFill>
              <a:srgbClr val="FFFFFF"/>
            </a:solidFill>
            <a:ln w="255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33812" name="Oval 20">
              <a:extLst>
                <a:ext uri="{FF2B5EF4-FFF2-40B4-BE49-F238E27FC236}">
                  <a16:creationId xmlns:a16="http://schemas.microsoft.com/office/drawing/2014/main" id="{2FF583B2-1EB5-4C99-B3AE-910C5AAB06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1" y="2896"/>
              <a:ext cx="79" cy="79"/>
            </a:xfrm>
            <a:prstGeom prst="ellipse">
              <a:avLst/>
            </a:prstGeom>
            <a:solidFill>
              <a:srgbClr val="FFFFFF"/>
            </a:solidFill>
            <a:ln w="255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33813" name="Oval 21">
              <a:extLst>
                <a:ext uri="{FF2B5EF4-FFF2-40B4-BE49-F238E27FC236}">
                  <a16:creationId xmlns:a16="http://schemas.microsoft.com/office/drawing/2014/main" id="{DFC053C0-6C7C-45CA-B003-5A3677C983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1" y="3226"/>
              <a:ext cx="79" cy="79"/>
            </a:xfrm>
            <a:prstGeom prst="ellipse">
              <a:avLst/>
            </a:prstGeom>
            <a:solidFill>
              <a:srgbClr val="FFFFFF"/>
            </a:solidFill>
            <a:ln w="255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33814" name="Oval 22">
              <a:extLst>
                <a:ext uri="{FF2B5EF4-FFF2-40B4-BE49-F238E27FC236}">
                  <a16:creationId xmlns:a16="http://schemas.microsoft.com/office/drawing/2014/main" id="{3539683B-A798-4D17-9189-ABCA8E8528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1" y="3555"/>
              <a:ext cx="79" cy="79"/>
            </a:xfrm>
            <a:prstGeom prst="ellipse">
              <a:avLst/>
            </a:prstGeom>
            <a:solidFill>
              <a:srgbClr val="FFFFFF"/>
            </a:solidFill>
            <a:ln w="255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33815" name="Oval 23">
              <a:extLst>
                <a:ext uri="{FF2B5EF4-FFF2-40B4-BE49-F238E27FC236}">
                  <a16:creationId xmlns:a16="http://schemas.microsoft.com/office/drawing/2014/main" id="{B1BEDB0F-1ED9-456B-A589-FD8D02D513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1" y="3885"/>
              <a:ext cx="79" cy="79"/>
            </a:xfrm>
            <a:prstGeom prst="ellipse">
              <a:avLst/>
            </a:prstGeom>
            <a:solidFill>
              <a:srgbClr val="FFFFFF"/>
            </a:solidFill>
            <a:ln w="255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</p:grpSp>
      <p:grpSp>
        <p:nvGrpSpPr>
          <p:cNvPr id="33816" name="Group 24">
            <a:extLst>
              <a:ext uri="{FF2B5EF4-FFF2-40B4-BE49-F238E27FC236}">
                <a16:creationId xmlns:a16="http://schemas.microsoft.com/office/drawing/2014/main" id="{624F9E57-1CC6-410E-B519-31492681C3C7}"/>
              </a:ext>
            </a:extLst>
          </p:cNvPr>
          <p:cNvGrpSpPr>
            <a:grpSpLocks/>
          </p:cNvGrpSpPr>
          <p:nvPr/>
        </p:nvGrpSpPr>
        <p:grpSpPr bwMode="auto">
          <a:xfrm>
            <a:off x="8365300" y="1072696"/>
            <a:ext cx="1296535" cy="2999015"/>
            <a:chOff x="1286" y="2137"/>
            <a:chExt cx="1091" cy="2072"/>
          </a:xfrm>
        </p:grpSpPr>
        <p:sp>
          <p:nvSpPr>
            <p:cNvPr id="33817" name="AutoShape 25">
              <a:extLst>
                <a:ext uri="{FF2B5EF4-FFF2-40B4-BE49-F238E27FC236}">
                  <a16:creationId xmlns:a16="http://schemas.microsoft.com/office/drawing/2014/main" id="{08229556-6D5C-44BE-A076-8967B267A2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6" y="2411"/>
              <a:ext cx="1031" cy="1798"/>
            </a:xfrm>
            <a:prstGeom prst="roundRect">
              <a:avLst>
                <a:gd name="adj" fmla="val 56"/>
              </a:avLst>
            </a:prstGeom>
            <a:solidFill>
              <a:srgbClr val="777777"/>
            </a:solidFill>
            <a:ln w="25560" cap="sq">
              <a:solidFill>
                <a:srgbClr val="000000"/>
              </a:solidFill>
              <a:miter lim="800000"/>
              <a:headEnd/>
              <a:tailEnd/>
            </a:ln>
            <a:effectLst>
              <a:outerShdw dist="107933" dir="2700000" algn="ctr" rotWithShape="0">
                <a:srgbClr val="000000"/>
              </a:outerShdw>
            </a:effec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33818" name="Text Box 26">
              <a:extLst>
                <a:ext uri="{FF2B5EF4-FFF2-40B4-BE49-F238E27FC236}">
                  <a16:creationId xmlns:a16="http://schemas.microsoft.com/office/drawing/2014/main" id="{055891BF-BC13-448B-98D2-2C4DAAB66B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3" y="2137"/>
              <a:ext cx="1021" cy="3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360" tIns="44280" rIns="90360" bIns="4428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9pPr>
            </a:lstStyle>
            <a:p>
              <a:pPr algn="ctr">
                <a:lnSpc>
                  <a:spcPct val="96000"/>
                </a:lnSpc>
                <a:buClrTx/>
                <a:buFontTx/>
                <a:buNone/>
              </a:pPr>
              <a:r>
                <a:rPr lang="en-GB" altLang="en-US" sz="2800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anose="020B0604020202020204" pitchFamily="34" charset="0"/>
                  <a:cs typeface="msmincho" charset="0"/>
                </a:rPr>
                <a:t>Host A</a:t>
              </a:r>
            </a:p>
          </p:txBody>
        </p:sp>
        <p:grpSp>
          <p:nvGrpSpPr>
            <p:cNvPr id="33819" name="Group 27">
              <a:extLst>
                <a:ext uri="{FF2B5EF4-FFF2-40B4-BE49-F238E27FC236}">
                  <a16:creationId xmlns:a16="http://schemas.microsoft.com/office/drawing/2014/main" id="{5365F93D-6E0F-48F1-9817-DDE2858C46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99" y="2525"/>
              <a:ext cx="633" cy="266"/>
              <a:chOff x="1399" y="2525"/>
              <a:chExt cx="633" cy="266"/>
            </a:xfrm>
          </p:grpSpPr>
          <p:sp>
            <p:nvSpPr>
              <p:cNvPr id="33820" name="Oval 28">
                <a:extLst>
                  <a:ext uri="{FF2B5EF4-FFF2-40B4-BE49-F238E27FC236}">
                    <a16:creationId xmlns:a16="http://schemas.microsoft.com/office/drawing/2014/main" id="{874D531F-4D74-4B25-98BA-62A38CC696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60" y="2525"/>
                <a:ext cx="535" cy="266"/>
              </a:xfrm>
              <a:prstGeom prst="ellipse">
                <a:avLst/>
              </a:prstGeom>
              <a:solidFill>
                <a:srgbClr val="00FF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33821" name="Text Box 29">
                <a:extLst>
                  <a:ext uri="{FF2B5EF4-FFF2-40B4-BE49-F238E27FC236}">
                    <a16:creationId xmlns:a16="http://schemas.microsoft.com/office/drawing/2014/main" id="{228A5057-CE89-40E7-A93A-8749D37A07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99" y="2543"/>
                <a:ext cx="633" cy="2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0360" tIns="44280" rIns="90360" bIns="44280" anchor="ctr">
                <a:spAutoFit/>
              </a:bodyPr>
              <a:lstStyle>
                <a:lvl1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1pPr>
                <a:lvl2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2pPr>
                <a:lvl3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3pPr>
                <a:lvl4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4pPr>
                <a:lvl5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5pPr>
                <a:lvl6pPr marL="25146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6pPr>
                <a:lvl7pPr marL="29718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7pPr>
                <a:lvl8pPr marL="34290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8pPr>
                <a:lvl9pPr marL="38862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9pPr>
              </a:lstStyle>
              <a:p>
                <a:pPr algn="ctr">
                  <a:lnSpc>
                    <a:spcPct val="96000"/>
                  </a:lnSpc>
                  <a:buClrTx/>
                  <a:buFontTx/>
                  <a:buNone/>
                </a:pPr>
                <a:r>
                  <a:rPr lang="en-GB" altLang="en-US" sz="1800">
                    <a:latin typeface="Arial" panose="020B0604020202020204" pitchFamily="34" charset="0"/>
                    <a:cs typeface="msmincho" charset="0"/>
                  </a:rPr>
                  <a:t>Process</a:t>
                </a:r>
              </a:p>
            </p:txBody>
          </p:sp>
        </p:grpSp>
        <p:grpSp>
          <p:nvGrpSpPr>
            <p:cNvPr id="33822" name="Group 30">
              <a:extLst>
                <a:ext uri="{FF2B5EF4-FFF2-40B4-BE49-F238E27FC236}">
                  <a16:creationId xmlns:a16="http://schemas.microsoft.com/office/drawing/2014/main" id="{79DC8818-1148-4CDE-B1DF-B99E472FB7F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99" y="3118"/>
              <a:ext cx="633" cy="266"/>
              <a:chOff x="1399" y="3118"/>
              <a:chExt cx="633" cy="266"/>
            </a:xfrm>
          </p:grpSpPr>
          <p:sp>
            <p:nvSpPr>
              <p:cNvPr id="33823" name="Oval 31">
                <a:extLst>
                  <a:ext uri="{FF2B5EF4-FFF2-40B4-BE49-F238E27FC236}">
                    <a16:creationId xmlns:a16="http://schemas.microsoft.com/office/drawing/2014/main" id="{080A70F1-6BA5-4A2F-BEF1-FD5B51476C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60" y="3118"/>
                <a:ext cx="535" cy="266"/>
              </a:xfrm>
              <a:prstGeom prst="ellipse">
                <a:avLst/>
              </a:prstGeom>
              <a:solidFill>
                <a:srgbClr val="FAFD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33824" name="Text Box 32">
                <a:extLst>
                  <a:ext uri="{FF2B5EF4-FFF2-40B4-BE49-F238E27FC236}">
                    <a16:creationId xmlns:a16="http://schemas.microsoft.com/office/drawing/2014/main" id="{0959065B-63EB-4988-95E0-F22B3C60367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99" y="3136"/>
                <a:ext cx="633" cy="2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0360" tIns="44280" rIns="90360" bIns="44280" anchor="ctr">
                <a:spAutoFit/>
              </a:bodyPr>
              <a:lstStyle>
                <a:lvl1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1pPr>
                <a:lvl2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2pPr>
                <a:lvl3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3pPr>
                <a:lvl4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4pPr>
                <a:lvl5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5pPr>
                <a:lvl6pPr marL="25146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6pPr>
                <a:lvl7pPr marL="29718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7pPr>
                <a:lvl8pPr marL="34290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8pPr>
                <a:lvl9pPr marL="38862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9pPr>
              </a:lstStyle>
              <a:p>
                <a:pPr algn="ctr">
                  <a:lnSpc>
                    <a:spcPct val="96000"/>
                  </a:lnSpc>
                  <a:buClrTx/>
                  <a:buFontTx/>
                  <a:buNone/>
                </a:pPr>
                <a:r>
                  <a:rPr lang="en-GB" altLang="en-US" sz="1800">
                    <a:latin typeface="Arial" panose="020B0604020202020204" pitchFamily="34" charset="0"/>
                    <a:cs typeface="msmincho" charset="0"/>
                  </a:rPr>
                  <a:t>Process</a:t>
                </a:r>
              </a:p>
            </p:txBody>
          </p:sp>
        </p:grpSp>
        <p:grpSp>
          <p:nvGrpSpPr>
            <p:cNvPr id="33825" name="Group 33">
              <a:extLst>
                <a:ext uri="{FF2B5EF4-FFF2-40B4-BE49-F238E27FC236}">
                  <a16:creationId xmlns:a16="http://schemas.microsoft.com/office/drawing/2014/main" id="{32A7FB9A-2E24-4C0E-BAD4-A7CCDCD2149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99" y="3652"/>
              <a:ext cx="633" cy="266"/>
              <a:chOff x="1399" y="3652"/>
              <a:chExt cx="633" cy="266"/>
            </a:xfrm>
          </p:grpSpPr>
          <p:sp>
            <p:nvSpPr>
              <p:cNvPr id="33826" name="Oval 34">
                <a:extLst>
                  <a:ext uri="{FF2B5EF4-FFF2-40B4-BE49-F238E27FC236}">
                    <a16:creationId xmlns:a16="http://schemas.microsoft.com/office/drawing/2014/main" id="{1291CDF6-A522-494F-95E6-EDED04BF40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60" y="3652"/>
                <a:ext cx="535" cy="266"/>
              </a:xfrm>
              <a:prstGeom prst="ellipse">
                <a:avLst/>
              </a:prstGeom>
              <a:solidFill>
                <a:srgbClr val="00B7A5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33827" name="Text Box 35">
                <a:extLst>
                  <a:ext uri="{FF2B5EF4-FFF2-40B4-BE49-F238E27FC236}">
                    <a16:creationId xmlns:a16="http://schemas.microsoft.com/office/drawing/2014/main" id="{306F6549-9F62-4C26-9E08-24BCF495738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99" y="3670"/>
                <a:ext cx="633" cy="2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0360" tIns="44280" rIns="90360" bIns="44280" anchor="ctr">
                <a:spAutoFit/>
              </a:bodyPr>
              <a:lstStyle>
                <a:lvl1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1pPr>
                <a:lvl2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2pPr>
                <a:lvl3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3pPr>
                <a:lvl4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4pPr>
                <a:lvl5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5pPr>
                <a:lvl6pPr marL="25146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6pPr>
                <a:lvl7pPr marL="29718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7pPr>
                <a:lvl8pPr marL="34290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8pPr>
                <a:lvl9pPr marL="38862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9pPr>
              </a:lstStyle>
              <a:p>
                <a:pPr algn="ctr">
                  <a:lnSpc>
                    <a:spcPct val="96000"/>
                  </a:lnSpc>
                  <a:buClrTx/>
                  <a:buFontTx/>
                  <a:buNone/>
                </a:pPr>
                <a:r>
                  <a:rPr lang="en-GB" altLang="en-US" sz="1800">
                    <a:latin typeface="Arial" panose="020B0604020202020204" pitchFamily="34" charset="0"/>
                    <a:cs typeface="msmincho" charset="0"/>
                  </a:rPr>
                  <a:t>Process</a:t>
                </a:r>
              </a:p>
            </p:txBody>
          </p:sp>
        </p:grpSp>
        <p:sp>
          <p:nvSpPr>
            <p:cNvPr id="33828" name="Line 36">
              <a:extLst>
                <a:ext uri="{FF2B5EF4-FFF2-40B4-BE49-F238E27FC236}">
                  <a16:creationId xmlns:a16="http://schemas.microsoft.com/office/drawing/2014/main" id="{3D33DAD9-9867-4521-9DCF-C3BF662A91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76" y="2713"/>
              <a:ext cx="366" cy="246"/>
            </a:xfrm>
            <a:prstGeom prst="line">
              <a:avLst/>
            </a:prstGeom>
            <a:noFill/>
            <a:ln w="50760" cap="sq">
              <a:solidFill>
                <a:srgbClr val="00FF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33829" name="Line 37">
              <a:extLst>
                <a:ext uri="{FF2B5EF4-FFF2-40B4-BE49-F238E27FC236}">
                  <a16:creationId xmlns:a16="http://schemas.microsoft.com/office/drawing/2014/main" id="{B200E460-2529-411D-B230-17FB441C8F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46" y="3335"/>
              <a:ext cx="366" cy="246"/>
            </a:xfrm>
            <a:prstGeom prst="line">
              <a:avLst/>
            </a:prstGeom>
            <a:noFill/>
            <a:ln w="50760" cap="sq">
              <a:solidFill>
                <a:srgbClr val="FAFD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33830" name="Line 38">
              <a:extLst>
                <a:ext uri="{FF2B5EF4-FFF2-40B4-BE49-F238E27FC236}">
                  <a16:creationId xmlns:a16="http://schemas.microsoft.com/office/drawing/2014/main" id="{723697E5-B11B-42C2-AD25-2A864BC9CE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25" y="2624"/>
              <a:ext cx="409" cy="543"/>
            </a:xfrm>
            <a:prstGeom prst="line">
              <a:avLst/>
            </a:prstGeom>
            <a:noFill/>
            <a:ln w="50760" cap="sq">
              <a:solidFill>
                <a:srgbClr val="FAFD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33831" name="Line 39">
              <a:extLst>
                <a:ext uri="{FF2B5EF4-FFF2-40B4-BE49-F238E27FC236}">
                  <a16:creationId xmlns:a16="http://schemas.microsoft.com/office/drawing/2014/main" id="{DEBA6CED-061E-4CBC-A016-E3C135E8CA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6" y="3810"/>
              <a:ext cx="307" cy="98"/>
            </a:xfrm>
            <a:prstGeom prst="line">
              <a:avLst/>
            </a:prstGeom>
            <a:noFill/>
            <a:ln w="50760" cap="sq">
              <a:solidFill>
                <a:srgbClr val="00B7A5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33832" name="Oval 40">
              <a:extLst>
                <a:ext uri="{FF2B5EF4-FFF2-40B4-BE49-F238E27FC236}">
                  <a16:creationId xmlns:a16="http://schemas.microsoft.com/office/drawing/2014/main" id="{34E9B230-D662-4972-BABC-E9D21633F1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9" y="2589"/>
              <a:ext cx="78" cy="78"/>
            </a:xfrm>
            <a:prstGeom prst="ellipse">
              <a:avLst/>
            </a:prstGeom>
            <a:solidFill>
              <a:srgbClr val="FFFFFF"/>
            </a:solidFill>
            <a:ln w="255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33833" name="Oval 41">
              <a:extLst>
                <a:ext uri="{FF2B5EF4-FFF2-40B4-BE49-F238E27FC236}">
                  <a16:creationId xmlns:a16="http://schemas.microsoft.com/office/drawing/2014/main" id="{B0137B54-2DED-477A-B076-112939DA65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9" y="2915"/>
              <a:ext cx="78" cy="78"/>
            </a:xfrm>
            <a:prstGeom prst="ellipse">
              <a:avLst/>
            </a:prstGeom>
            <a:solidFill>
              <a:srgbClr val="FFFFFF"/>
            </a:solidFill>
            <a:ln w="255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33834" name="Oval 42">
              <a:extLst>
                <a:ext uri="{FF2B5EF4-FFF2-40B4-BE49-F238E27FC236}">
                  <a16:creationId xmlns:a16="http://schemas.microsoft.com/office/drawing/2014/main" id="{97336AFA-A6B4-449A-AE9A-9B3A64B467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9" y="3241"/>
              <a:ext cx="78" cy="78"/>
            </a:xfrm>
            <a:prstGeom prst="ellipse">
              <a:avLst/>
            </a:prstGeom>
            <a:solidFill>
              <a:srgbClr val="FFFFFF"/>
            </a:solidFill>
            <a:ln w="255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33835" name="Oval 43">
              <a:extLst>
                <a:ext uri="{FF2B5EF4-FFF2-40B4-BE49-F238E27FC236}">
                  <a16:creationId xmlns:a16="http://schemas.microsoft.com/office/drawing/2014/main" id="{55DF034B-6CF0-4453-B3AB-414E590EFD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9" y="3568"/>
              <a:ext cx="78" cy="78"/>
            </a:xfrm>
            <a:prstGeom prst="ellipse">
              <a:avLst/>
            </a:prstGeom>
            <a:solidFill>
              <a:srgbClr val="FFFFFF"/>
            </a:solidFill>
            <a:ln w="255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33836" name="Oval 44">
              <a:extLst>
                <a:ext uri="{FF2B5EF4-FFF2-40B4-BE49-F238E27FC236}">
                  <a16:creationId xmlns:a16="http://schemas.microsoft.com/office/drawing/2014/main" id="{11DBAFE8-CA33-4E3A-BCA6-F930AB67FA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9" y="3894"/>
              <a:ext cx="78" cy="78"/>
            </a:xfrm>
            <a:prstGeom prst="ellipse">
              <a:avLst/>
            </a:prstGeom>
            <a:solidFill>
              <a:srgbClr val="FFFFFF"/>
            </a:solidFill>
            <a:ln w="255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D1579-0294-4B6B-8AF8-88FD22FC2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Ports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D5DC6-EAF2-4746-A27F-072B86289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cs typeface="Calibri"/>
              </a:rPr>
              <a:t>Source/destination port: port numbers identify sending &amp; receiving processes</a:t>
            </a:r>
          </a:p>
          <a:p>
            <a:r>
              <a:rPr lang="en-US">
                <a:cs typeface="Calibri"/>
              </a:rPr>
              <a:t>Ports can be static or dynamic</a:t>
            </a:r>
            <a:endParaRPr lang="en-US"/>
          </a:p>
          <a:p>
            <a:pPr lvl="1"/>
            <a:r>
              <a:rPr lang="en-US">
                <a:cs typeface="Calibri"/>
              </a:rPr>
              <a:t>Static (&lt; 1024) assigned centrally, known as well known ports</a:t>
            </a:r>
          </a:p>
          <a:p>
            <a:pPr lvl="1"/>
            <a:r>
              <a:rPr lang="en-US">
                <a:cs typeface="Calibri"/>
              </a:rPr>
              <a:t>Dynamic (can be used by any computer application program to communicate with any other application program, 49152-65535 for Windows) </a:t>
            </a:r>
          </a:p>
          <a:p>
            <a:r>
              <a:rPr lang="en-US">
                <a:cs typeface="Calibri"/>
              </a:rPr>
              <a:t>Message length in bytes includes the UDP header and data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6385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8B7C3-388C-4BD0-B1A0-77A40ECF5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Ports: Multiple communications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6CBDDD-E555-4C4F-88C6-1E6433D2AE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Port numbers used in TCP and UDP to manage multiple, simultaneous conversations.</a:t>
            </a:r>
          </a:p>
          <a:p>
            <a:r>
              <a:rPr lang="en-GB" dirty="0"/>
              <a:t>The </a:t>
            </a:r>
            <a:r>
              <a:rPr lang="en-GB" b="1" dirty="0"/>
              <a:t>source port number </a:t>
            </a:r>
            <a:r>
              <a:rPr lang="en-GB" dirty="0"/>
              <a:t>is associated with the </a:t>
            </a:r>
            <a:r>
              <a:rPr lang="en-GB" b="1" dirty="0"/>
              <a:t>originating application </a:t>
            </a:r>
            <a:r>
              <a:rPr lang="en-GB" dirty="0"/>
              <a:t>on the local host whereas the </a:t>
            </a:r>
            <a:r>
              <a:rPr lang="en-GB" b="1" dirty="0"/>
              <a:t>destination port number </a:t>
            </a:r>
            <a:r>
              <a:rPr lang="en-GB" dirty="0"/>
              <a:t>is associated with the </a:t>
            </a:r>
            <a:r>
              <a:rPr lang="en-GB" b="1" dirty="0"/>
              <a:t>destination application </a:t>
            </a:r>
            <a:r>
              <a:rPr lang="en-GB" dirty="0"/>
              <a:t>on the remote host.</a:t>
            </a:r>
          </a:p>
          <a:p>
            <a:endParaRPr lang="en-I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1712BE-425B-468A-9840-CA0161D62B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9696" y="4572000"/>
            <a:ext cx="7832608" cy="136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2117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427AF5F-9A0E-42B7-A252-FD64C9885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2E7C9E-66CC-4F1F-9EB7-97F0A4DC6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06443"/>
          </a:xfrm>
        </p:spPr>
        <p:txBody>
          <a:bodyPr>
            <a:normAutofit/>
          </a:bodyPr>
          <a:lstStyle/>
          <a:p>
            <a:r>
              <a:rPr lang="en-IE" sz="4000"/>
              <a:t>Ports: Socket Pairs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848119-8A50-4B89-8FD4-CD2260FF9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152774" cy="4303464"/>
          </a:xfrm>
        </p:spPr>
        <p:txBody>
          <a:bodyPr>
            <a:normAutofit/>
          </a:bodyPr>
          <a:lstStyle/>
          <a:p>
            <a:r>
              <a:rPr lang="en-US" sz="1700" dirty="0"/>
              <a:t>The source and destination ports are placed within the segment</a:t>
            </a:r>
          </a:p>
          <a:p>
            <a:r>
              <a:rPr lang="en-US" sz="1700" dirty="0"/>
              <a:t>The segments are then encapsulated within an IP packet.</a:t>
            </a:r>
          </a:p>
          <a:p>
            <a:r>
              <a:rPr lang="en-US" sz="1700" dirty="0"/>
              <a:t>The combination of the source IP address and source port number, or the destination IP address and destination port number is known as a </a:t>
            </a:r>
            <a:r>
              <a:rPr lang="en-US" sz="1700" b="1" dirty="0"/>
              <a:t>socket</a:t>
            </a:r>
            <a:r>
              <a:rPr lang="en-US" sz="1700" dirty="0"/>
              <a:t>.</a:t>
            </a:r>
          </a:p>
          <a:p>
            <a:r>
              <a:rPr lang="en-US" sz="1700" dirty="0"/>
              <a:t>Sockets enable multiple processes, running on a client, to distinguish themselves from each other, and multiple connections to a server process to be distinguished from each other</a:t>
            </a:r>
          </a:p>
          <a:p>
            <a:endParaRPr lang="en-IE" sz="17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35C01A-D969-437E-A54C-4277C8E6FD1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22" r="2" b="2114"/>
          <a:stretch/>
        </p:blipFill>
        <p:spPr>
          <a:xfrm>
            <a:off x="5183500" y="1904282"/>
            <a:ext cx="6170299" cy="4224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9564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533A5-62A7-4407-8E45-5651BB7AF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Ports: Groups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14AC56-2CA1-4A38-867D-6BCEEECC82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1A0C98-779D-4F6C-B910-868515AA06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60894"/>
            <a:ext cx="9991725" cy="471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9426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893FCD6-A2DE-4DE4-B63F-B239DDFA25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987" y="776287"/>
            <a:ext cx="10106025" cy="53054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21F508B-919F-4ABF-88F8-3E57F712EDBB}"/>
              </a:ext>
            </a:extLst>
          </p:cNvPr>
          <p:cNvSpPr txBox="1"/>
          <p:nvPr/>
        </p:nvSpPr>
        <p:spPr>
          <a:xfrm>
            <a:off x="5181600" y="381000"/>
            <a:ext cx="2676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/>
              <a:t>Well-Known Port Numbers</a:t>
            </a:r>
          </a:p>
        </p:txBody>
      </p:sp>
    </p:spTree>
    <p:extLst>
      <p:ext uri="{BB962C8B-B14F-4D97-AF65-F5344CB8AC3E}">
        <p14:creationId xmlns:p14="http://schemas.microsoft.com/office/powerpoint/2010/main" val="24605564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Text Box 1">
            <a:extLst>
              <a:ext uri="{FF2B5EF4-FFF2-40B4-BE49-F238E27FC236}">
                <a16:creationId xmlns:a16="http://schemas.microsoft.com/office/drawing/2014/main" id="{AC0AC88A-25CF-4F33-8F3A-6F95EC1130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5327" y="213877"/>
            <a:ext cx="82931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>
              <a:lnSpc>
                <a:spcPct val="96000"/>
              </a:lnSpc>
              <a:buClrTx/>
              <a:buFontTx/>
              <a:buNone/>
            </a:pPr>
            <a:r>
              <a:rPr lang="en-GB" altLang="en-US" sz="4000" dirty="0">
                <a:solidFill>
                  <a:schemeClr val="tx1"/>
                </a:solidFill>
                <a:latin typeface="+mn-lt"/>
              </a:rPr>
              <a:t>UDP Datagram Format</a:t>
            </a:r>
          </a:p>
        </p:txBody>
      </p:sp>
      <p:grpSp>
        <p:nvGrpSpPr>
          <p:cNvPr id="34819" name="Group 3">
            <a:extLst>
              <a:ext uri="{FF2B5EF4-FFF2-40B4-BE49-F238E27FC236}">
                <a16:creationId xmlns:a16="http://schemas.microsoft.com/office/drawing/2014/main" id="{5164DFC0-9158-44B6-96E7-408709E29123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1676400"/>
            <a:ext cx="8124827" cy="3276600"/>
            <a:chOff x="2683" y="2189"/>
            <a:chExt cx="2766" cy="1374"/>
          </a:xfrm>
        </p:grpSpPr>
        <p:grpSp>
          <p:nvGrpSpPr>
            <p:cNvPr id="34820" name="Group 4">
              <a:extLst>
                <a:ext uri="{FF2B5EF4-FFF2-40B4-BE49-F238E27FC236}">
                  <a16:creationId xmlns:a16="http://schemas.microsoft.com/office/drawing/2014/main" id="{EF594CC5-A4FF-449F-92AD-ECD5953ED7A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83" y="2189"/>
              <a:ext cx="1374" cy="270"/>
              <a:chOff x="2683" y="2189"/>
              <a:chExt cx="1374" cy="270"/>
            </a:xfrm>
          </p:grpSpPr>
          <p:sp>
            <p:nvSpPr>
              <p:cNvPr id="34821" name="AutoShape 5">
                <a:extLst>
                  <a:ext uri="{FF2B5EF4-FFF2-40B4-BE49-F238E27FC236}">
                    <a16:creationId xmlns:a16="http://schemas.microsoft.com/office/drawing/2014/main" id="{E945677B-514B-4209-A8FB-1B9C2D6E8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3" y="2189"/>
                <a:ext cx="1374" cy="270"/>
              </a:xfrm>
              <a:prstGeom prst="roundRect">
                <a:avLst>
                  <a:gd name="adj" fmla="val 366"/>
                </a:avLst>
              </a:prstGeom>
              <a:solidFill>
                <a:srgbClr val="FFFFFF"/>
              </a:solidFill>
              <a:ln w="2556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34822" name="Text Box 6">
                <a:extLst>
                  <a:ext uri="{FF2B5EF4-FFF2-40B4-BE49-F238E27FC236}">
                    <a16:creationId xmlns:a16="http://schemas.microsoft.com/office/drawing/2014/main" id="{31490DA2-18DD-43E3-885C-C19219A3097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90" y="2200"/>
                <a:ext cx="960" cy="24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0360" tIns="44280" rIns="90360" bIns="44280" anchor="ctr">
                <a:spAutoFit/>
              </a:bodyPr>
              <a:lstStyle>
                <a:lvl1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1pPr>
                <a:lvl2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2pPr>
                <a:lvl3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3pPr>
                <a:lvl4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4pPr>
                <a:lvl5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5pPr>
                <a:lvl6pPr marL="25146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6pPr>
                <a:lvl7pPr marL="29718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7pPr>
                <a:lvl8pPr marL="34290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8pPr>
                <a:lvl9pPr marL="38862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9pPr>
              </a:lstStyle>
              <a:p>
                <a:pPr algn="ctr">
                  <a:lnSpc>
                    <a:spcPct val="96000"/>
                  </a:lnSpc>
                  <a:buClrTx/>
                  <a:buSzPct val="83000"/>
                  <a:buFontTx/>
                  <a:buNone/>
                </a:pPr>
                <a:r>
                  <a:rPr lang="en-GB" altLang="en-US" sz="2000" dirty="0">
                    <a:latin typeface="Arial" panose="020B0604020202020204" pitchFamily="34" charset="0"/>
                    <a:cs typeface="msmincho" charset="0"/>
                  </a:rPr>
                  <a:t>Source Port</a:t>
                </a:r>
              </a:p>
            </p:txBody>
          </p:sp>
        </p:grpSp>
        <p:grpSp>
          <p:nvGrpSpPr>
            <p:cNvPr id="34823" name="Group 7">
              <a:extLst>
                <a:ext uri="{FF2B5EF4-FFF2-40B4-BE49-F238E27FC236}">
                  <a16:creationId xmlns:a16="http://schemas.microsoft.com/office/drawing/2014/main" id="{E61C9ABE-27CD-4D64-83CC-458487E4C8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75" y="2189"/>
              <a:ext cx="1374" cy="270"/>
              <a:chOff x="4075" y="2189"/>
              <a:chExt cx="1374" cy="270"/>
            </a:xfrm>
          </p:grpSpPr>
          <p:sp>
            <p:nvSpPr>
              <p:cNvPr id="34824" name="AutoShape 8">
                <a:extLst>
                  <a:ext uri="{FF2B5EF4-FFF2-40B4-BE49-F238E27FC236}">
                    <a16:creationId xmlns:a16="http://schemas.microsoft.com/office/drawing/2014/main" id="{32E8C18F-7DD8-42D8-AE24-9D281E3EF9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75" y="2189"/>
                <a:ext cx="1374" cy="270"/>
              </a:xfrm>
              <a:prstGeom prst="roundRect">
                <a:avLst>
                  <a:gd name="adj" fmla="val 366"/>
                </a:avLst>
              </a:prstGeom>
              <a:solidFill>
                <a:srgbClr val="FFFFFF"/>
              </a:solidFill>
              <a:ln w="2556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34825" name="Text Box 9">
                <a:extLst>
                  <a:ext uri="{FF2B5EF4-FFF2-40B4-BE49-F238E27FC236}">
                    <a16:creationId xmlns:a16="http://schemas.microsoft.com/office/drawing/2014/main" id="{ACEA61E0-BE8B-4BB4-98D2-01DF625D28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35" y="2200"/>
                <a:ext cx="1254" cy="24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0360" tIns="44280" rIns="90360" bIns="44280" anchor="ctr">
                <a:spAutoFit/>
              </a:bodyPr>
              <a:lstStyle>
                <a:lvl1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1pPr>
                <a:lvl2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2pPr>
                <a:lvl3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3pPr>
                <a:lvl4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4pPr>
                <a:lvl5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5pPr>
                <a:lvl6pPr marL="25146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6pPr>
                <a:lvl7pPr marL="29718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7pPr>
                <a:lvl8pPr marL="34290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8pPr>
                <a:lvl9pPr marL="38862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9pPr>
              </a:lstStyle>
              <a:p>
                <a:pPr algn="ctr">
                  <a:lnSpc>
                    <a:spcPct val="96000"/>
                  </a:lnSpc>
                  <a:buClrTx/>
                  <a:buSzPct val="83000"/>
                  <a:buFontTx/>
                  <a:buNone/>
                </a:pPr>
                <a:r>
                  <a:rPr lang="en-GB" altLang="en-US" sz="2000">
                    <a:latin typeface="Arial" panose="020B0604020202020204" pitchFamily="34" charset="0"/>
                    <a:cs typeface="msmincho" charset="0"/>
                  </a:rPr>
                  <a:t>Destination Port</a:t>
                </a:r>
              </a:p>
            </p:txBody>
          </p:sp>
        </p:grpSp>
        <p:grpSp>
          <p:nvGrpSpPr>
            <p:cNvPr id="34826" name="Group 10">
              <a:extLst>
                <a:ext uri="{FF2B5EF4-FFF2-40B4-BE49-F238E27FC236}">
                  <a16:creationId xmlns:a16="http://schemas.microsoft.com/office/drawing/2014/main" id="{DD168946-34D5-4F30-903D-B98902C4B6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83" y="2477"/>
              <a:ext cx="1374" cy="270"/>
              <a:chOff x="2683" y="2477"/>
              <a:chExt cx="1374" cy="270"/>
            </a:xfrm>
          </p:grpSpPr>
          <p:sp>
            <p:nvSpPr>
              <p:cNvPr id="34827" name="AutoShape 11">
                <a:extLst>
                  <a:ext uri="{FF2B5EF4-FFF2-40B4-BE49-F238E27FC236}">
                    <a16:creationId xmlns:a16="http://schemas.microsoft.com/office/drawing/2014/main" id="{0BC32155-75B3-436F-B24A-4768280E76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3" y="2477"/>
                <a:ext cx="1374" cy="270"/>
              </a:xfrm>
              <a:prstGeom prst="roundRect">
                <a:avLst>
                  <a:gd name="adj" fmla="val 366"/>
                </a:avLst>
              </a:prstGeom>
              <a:solidFill>
                <a:srgbClr val="FFFFFF"/>
              </a:solidFill>
              <a:ln w="2556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34828" name="Text Box 12">
                <a:extLst>
                  <a:ext uri="{FF2B5EF4-FFF2-40B4-BE49-F238E27FC236}">
                    <a16:creationId xmlns:a16="http://schemas.microsoft.com/office/drawing/2014/main" id="{65D90ECC-63A4-451F-842E-EC7D964CD0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68" y="2488"/>
                <a:ext cx="604" cy="24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0360" tIns="44280" rIns="90360" bIns="44280" anchor="ctr">
                <a:spAutoFit/>
              </a:bodyPr>
              <a:lstStyle>
                <a:lvl1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1pPr>
                <a:lvl2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2pPr>
                <a:lvl3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3pPr>
                <a:lvl4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4pPr>
                <a:lvl5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5pPr>
                <a:lvl6pPr marL="25146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6pPr>
                <a:lvl7pPr marL="29718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7pPr>
                <a:lvl8pPr marL="34290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8pPr>
                <a:lvl9pPr marL="38862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9pPr>
              </a:lstStyle>
              <a:p>
                <a:pPr algn="ctr">
                  <a:lnSpc>
                    <a:spcPct val="96000"/>
                  </a:lnSpc>
                  <a:buClrTx/>
                  <a:buSzPct val="83000"/>
                  <a:buFontTx/>
                  <a:buNone/>
                </a:pPr>
                <a:r>
                  <a:rPr lang="en-GB" altLang="en-US" sz="2000">
                    <a:latin typeface="Arial" panose="020B0604020202020204" pitchFamily="34" charset="0"/>
                    <a:cs typeface="msmincho" charset="0"/>
                  </a:rPr>
                  <a:t>Length</a:t>
                </a:r>
              </a:p>
            </p:txBody>
          </p:sp>
        </p:grpSp>
        <p:grpSp>
          <p:nvGrpSpPr>
            <p:cNvPr id="34829" name="Group 13">
              <a:extLst>
                <a:ext uri="{FF2B5EF4-FFF2-40B4-BE49-F238E27FC236}">
                  <a16:creationId xmlns:a16="http://schemas.microsoft.com/office/drawing/2014/main" id="{D317DFB9-4D58-4262-BD01-A54DA8E140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75" y="2477"/>
              <a:ext cx="1374" cy="270"/>
              <a:chOff x="4075" y="2477"/>
              <a:chExt cx="1374" cy="270"/>
            </a:xfrm>
          </p:grpSpPr>
          <p:sp>
            <p:nvSpPr>
              <p:cNvPr id="34830" name="AutoShape 14">
                <a:extLst>
                  <a:ext uri="{FF2B5EF4-FFF2-40B4-BE49-F238E27FC236}">
                    <a16:creationId xmlns:a16="http://schemas.microsoft.com/office/drawing/2014/main" id="{CF75E2B2-C391-4823-80F2-4E9025E36E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75" y="2477"/>
                <a:ext cx="1374" cy="270"/>
              </a:xfrm>
              <a:prstGeom prst="roundRect">
                <a:avLst>
                  <a:gd name="adj" fmla="val 366"/>
                </a:avLst>
              </a:prstGeom>
              <a:solidFill>
                <a:srgbClr val="FFFFFF"/>
              </a:solidFill>
              <a:ln w="2556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34831" name="Text Box 15">
                <a:extLst>
                  <a:ext uri="{FF2B5EF4-FFF2-40B4-BE49-F238E27FC236}">
                    <a16:creationId xmlns:a16="http://schemas.microsoft.com/office/drawing/2014/main" id="{60B5C3C8-7BDA-47A9-B7D4-C6EA1DB8734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25" y="2488"/>
                <a:ext cx="873" cy="24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0360" tIns="44280" rIns="90360" bIns="44280" anchor="ctr">
                <a:spAutoFit/>
              </a:bodyPr>
              <a:lstStyle>
                <a:lvl1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1pPr>
                <a:lvl2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2pPr>
                <a:lvl3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3pPr>
                <a:lvl4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4pPr>
                <a:lvl5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5pPr>
                <a:lvl6pPr marL="25146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6pPr>
                <a:lvl7pPr marL="29718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7pPr>
                <a:lvl8pPr marL="34290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8pPr>
                <a:lvl9pPr marL="38862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9pPr>
              </a:lstStyle>
              <a:p>
                <a:pPr algn="ctr">
                  <a:lnSpc>
                    <a:spcPct val="96000"/>
                  </a:lnSpc>
                  <a:buClrTx/>
                  <a:buSzPct val="83000"/>
                  <a:buFontTx/>
                  <a:buNone/>
                </a:pPr>
                <a:r>
                  <a:rPr lang="en-GB" altLang="en-US" sz="2000">
                    <a:latin typeface="Arial" panose="020B0604020202020204" pitchFamily="34" charset="0"/>
                    <a:cs typeface="msmincho" charset="0"/>
                  </a:rPr>
                  <a:t>Checksum</a:t>
                </a:r>
              </a:p>
            </p:txBody>
          </p:sp>
        </p:grpSp>
        <p:grpSp>
          <p:nvGrpSpPr>
            <p:cNvPr id="34832" name="Group 16">
              <a:extLst>
                <a:ext uri="{FF2B5EF4-FFF2-40B4-BE49-F238E27FC236}">
                  <a16:creationId xmlns:a16="http://schemas.microsoft.com/office/drawing/2014/main" id="{22E487A9-7053-452B-B986-20A47B5997F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83" y="2765"/>
              <a:ext cx="2766" cy="798"/>
              <a:chOff x="2683" y="2765"/>
              <a:chExt cx="2766" cy="798"/>
            </a:xfrm>
          </p:grpSpPr>
          <p:sp>
            <p:nvSpPr>
              <p:cNvPr id="34833" name="AutoShape 17">
                <a:extLst>
                  <a:ext uri="{FF2B5EF4-FFF2-40B4-BE49-F238E27FC236}">
                    <a16:creationId xmlns:a16="http://schemas.microsoft.com/office/drawing/2014/main" id="{3AC6EA6D-8862-45D9-B80B-C75DBF5B05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3" y="2765"/>
                <a:ext cx="2766" cy="798"/>
              </a:xfrm>
              <a:prstGeom prst="roundRect">
                <a:avLst>
                  <a:gd name="adj" fmla="val 125"/>
                </a:avLst>
              </a:prstGeom>
              <a:solidFill>
                <a:srgbClr val="FFFFFF"/>
              </a:solidFill>
              <a:ln w="2556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34834" name="Text Box 18">
                <a:extLst>
                  <a:ext uri="{FF2B5EF4-FFF2-40B4-BE49-F238E27FC236}">
                    <a16:creationId xmlns:a16="http://schemas.microsoft.com/office/drawing/2014/main" id="{A7E6D1A1-EBA4-48F5-A9E8-CC900474188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40" y="3040"/>
                <a:ext cx="452" cy="24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0360" tIns="44280" rIns="90360" bIns="44280" anchor="ctr">
                <a:spAutoFit/>
              </a:bodyPr>
              <a:lstStyle>
                <a:lvl1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1pPr>
                <a:lvl2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2pPr>
                <a:lvl3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3pPr>
                <a:lvl4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4pPr>
                <a:lvl5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5pPr>
                <a:lvl6pPr marL="25146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6pPr>
                <a:lvl7pPr marL="29718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7pPr>
                <a:lvl8pPr marL="34290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8pPr>
                <a:lvl9pPr marL="38862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cs typeface="WenQuanYi Micro Hei" charset="0"/>
                  </a:defRPr>
                </a:lvl9pPr>
              </a:lstStyle>
              <a:p>
                <a:pPr algn="ctr">
                  <a:lnSpc>
                    <a:spcPct val="96000"/>
                  </a:lnSpc>
                  <a:buClrTx/>
                  <a:buSzPct val="83000"/>
                  <a:buFontTx/>
                  <a:buNone/>
                </a:pPr>
                <a:r>
                  <a:rPr lang="en-GB" altLang="en-US" sz="2000">
                    <a:latin typeface="Arial" panose="020B0604020202020204" pitchFamily="34" charset="0"/>
                    <a:cs typeface="msmincho" charset="0"/>
                  </a:rPr>
                  <a:t>Data</a:t>
                </a:r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348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  <p:tav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348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  <p:tav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9" dur="500"/>
                                        <p:tgtEl>
                                          <p:spTgt spid="34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Text Box 1">
            <a:extLst>
              <a:ext uri="{FF2B5EF4-FFF2-40B4-BE49-F238E27FC236}">
                <a16:creationId xmlns:a16="http://schemas.microsoft.com/office/drawing/2014/main" id="{B68802B1-233A-4C03-A462-E032CE9F76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1225" y="193676"/>
            <a:ext cx="7772400" cy="1401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>
              <a:lnSpc>
                <a:spcPct val="96000"/>
              </a:lnSpc>
              <a:buClrTx/>
              <a:buFontTx/>
              <a:buNone/>
            </a:pPr>
            <a:r>
              <a:rPr lang="en-GB" altLang="en-US" sz="4000" u="sng">
                <a:solidFill>
                  <a:srgbClr val="3333CC"/>
                </a:solidFill>
                <a:latin typeface="+mn-lt"/>
              </a:rPr>
              <a:t>TCP</a:t>
            </a:r>
            <a:br>
              <a:rPr lang="en-GB" altLang="en-US" sz="4000" u="sng">
                <a:solidFill>
                  <a:srgbClr val="3333CC"/>
                </a:solidFill>
                <a:latin typeface="+mn-lt"/>
              </a:rPr>
            </a:br>
            <a:r>
              <a:rPr lang="en-GB" altLang="en-US" sz="4000" i="1" u="sng">
                <a:solidFill>
                  <a:srgbClr val="3333CC"/>
                </a:solidFill>
                <a:latin typeface="+mn-lt"/>
              </a:rPr>
              <a:t>Transmission Control Protocol</a:t>
            </a:r>
          </a:p>
        </p:txBody>
      </p:sp>
      <p:sp>
        <p:nvSpPr>
          <p:cNvPr id="35842" name="Text Box 2">
            <a:extLst>
              <a:ext uri="{FF2B5EF4-FFF2-40B4-BE49-F238E27FC236}">
                <a16:creationId xmlns:a16="http://schemas.microsoft.com/office/drawing/2014/main" id="{099A815E-7142-4944-968E-9D92D877DA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1817689"/>
            <a:ext cx="7772400" cy="4465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t"/>
          <a:lstStyle>
            <a:lvl1pPr marL="3413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 marL="741363" indent="-28416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 marL="457200" indent="-457200">
              <a:spcBef>
                <a:spcPts val="700"/>
              </a:spcBef>
              <a:buClr>
                <a:srgbClr val="3333CC"/>
              </a:buClr>
              <a:buSzPct val="85000"/>
              <a:buFont typeface="Arial"/>
              <a:buChar char="•"/>
            </a:pPr>
            <a:r>
              <a:rPr lang="en-GB" altLang="en-US" sz="2800" dirty="0">
                <a:latin typeface="+mn-lt"/>
              </a:rPr>
              <a:t>TCP is an alternative transport layer protocol supported by TCP/IP.</a:t>
            </a:r>
            <a:endParaRPr lang="en-US" dirty="0">
              <a:cs typeface="Times New Roman"/>
            </a:endParaRPr>
          </a:p>
          <a:p>
            <a:pPr marL="457200" indent="-457200">
              <a:spcBef>
                <a:spcPts val="700"/>
              </a:spcBef>
              <a:buClr>
                <a:srgbClr val="3333CC"/>
              </a:buClr>
              <a:buSzPct val="85000"/>
              <a:buFont typeface="Arial" panose="05000000000000000000" pitchFamily="2" charset="2"/>
              <a:buChar char="•"/>
            </a:pPr>
            <a:endParaRPr lang="en-GB" altLang="en-US" sz="2800" dirty="0">
              <a:latin typeface="+mn-lt"/>
              <a:cs typeface="Calibri"/>
            </a:endParaRPr>
          </a:p>
          <a:p>
            <a:pPr marL="457200" indent="-457200">
              <a:spcBef>
                <a:spcPts val="700"/>
              </a:spcBef>
              <a:buClr>
                <a:srgbClr val="3333CC"/>
              </a:buClr>
              <a:buSzPct val="85000"/>
              <a:buFont typeface="Arial"/>
              <a:buChar char="•"/>
            </a:pPr>
            <a:r>
              <a:rPr lang="en-GB" altLang="en-US" sz="2800" dirty="0">
                <a:latin typeface="+mn-lt"/>
              </a:rPr>
              <a:t>TCP provides:</a:t>
            </a:r>
            <a:endParaRPr lang="en-GB" altLang="en-US" sz="2800" dirty="0">
              <a:latin typeface="+mn-lt"/>
              <a:cs typeface="Calibri"/>
            </a:endParaRPr>
          </a:p>
          <a:p>
            <a:pPr marL="914400" lvl="1" indent="-457200">
              <a:spcBef>
                <a:spcPts val="788"/>
              </a:spcBef>
              <a:buClr>
                <a:srgbClr val="3333CC"/>
              </a:buClr>
              <a:buSzPct val="75000"/>
              <a:buFont typeface="Arial"/>
              <a:buChar char="•"/>
            </a:pPr>
            <a:r>
              <a:rPr lang="en-GB" altLang="en-US" sz="3200" dirty="0">
                <a:latin typeface="+mn-lt"/>
              </a:rPr>
              <a:t>Connection-oriented</a:t>
            </a:r>
            <a:endParaRPr lang="en-GB" altLang="en-US" sz="3200" dirty="0">
              <a:latin typeface="+mn-lt"/>
              <a:cs typeface="Calibri"/>
            </a:endParaRPr>
          </a:p>
          <a:p>
            <a:pPr marL="914400" lvl="1" indent="-457200">
              <a:spcBef>
                <a:spcPts val="788"/>
              </a:spcBef>
              <a:buClr>
                <a:srgbClr val="3333CC"/>
              </a:buClr>
              <a:buSzPct val="75000"/>
              <a:buFont typeface="Arial"/>
              <a:buChar char="•"/>
            </a:pPr>
            <a:r>
              <a:rPr lang="en-GB" altLang="en-US" sz="3200" dirty="0">
                <a:latin typeface="+mn-lt"/>
              </a:rPr>
              <a:t>Reliable</a:t>
            </a:r>
            <a:endParaRPr lang="en-GB" altLang="en-US" sz="3200" dirty="0">
              <a:latin typeface="+mn-lt"/>
              <a:cs typeface="Calibri"/>
            </a:endParaRPr>
          </a:p>
          <a:p>
            <a:pPr marL="914400" lvl="1" indent="-457200">
              <a:spcBef>
                <a:spcPts val="788"/>
              </a:spcBef>
              <a:buClr>
                <a:srgbClr val="3333CC"/>
              </a:buClr>
              <a:buSzPct val="75000"/>
              <a:buFont typeface="Arial"/>
              <a:buChar char="•"/>
            </a:pPr>
            <a:r>
              <a:rPr lang="en-GB" altLang="en-US" sz="3200" dirty="0">
                <a:latin typeface="+mn-lt"/>
              </a:rPr>
              <a:t>Full-duplex</a:t>
            </a:r>
            <a:endParaRPr lang="en-GB" altLang="en-US" sz="3200" dirty="0">
              <a:latin typeface="+mn-lt"/>
              <a:cs typeface="Calibri"/>
            </a:endParaRPr>
          </a:p>
          <a:p>
            <a:pPr marL="914400" lvl="1" indent="-457200">
              <a:spcBef>
                <a:spcPts val="788"/>
              </a:spcBef>
              <a:buClr>
                <a:srgbClr val="3333CC"/>
              </a:buClr>
              <a:buSzPct val="75000"/>
              <a:buFont typeface="Arial"/>
              <a:buChar char="•"/>
            </a:pPr>
            <a:r>
              <a:rPr lang="en-GB" altLang="en-US" sz="3200" dirty="0">
                <a:latin typeface="+mn-lt"/>
              </a:rPr>
              <a:t>Byte-Stream</a:t>
            </a:r>
            <a:endParaRPr lang="en-GB" altLang="en-US" sz="3200" dirty="0">
              <a:latin typeface="+mn-lt"/>
              <a:cs typeface="Calibri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Text Box 1">
            <a:extLst>
              <a:ext uri="{FF2B5EF4-FFF2-40B4-BE49-F238E27FC236}">
                <a16:creationId xmlns:a16="http://schemas.microsoft.com/office/drawing/2014/main" id="{1F092B47-829A-4CF5-8AC7-EDC07D58E2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5200" y="280988"/>
            <a:ext cx="66294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>
              <a:lnSpc>
                <a:spcPct val="96000"/>
              </a:lnSpc>
              <a:buClrTx/>
              <a:buFontTx/>
              <a:buNone/>
            </a:pPr>
            <a:r>
              <a:rPr lang="en-GB" altLang="en-US" sz="4000" u="sng" dirty="0">
                <a:solidFill>
                  <a:srgbClr val="3333CC"/>
                </a:solidFill>
                <a:latin typeface="+mn-lt"/>
              </a:rPr>
              <a:t>Connection-Oriented</a:t>
            </a:r>
          </a:p>
        </p:txBody>
      </p:sp>
      <p:sp>
        <p:nvSpPr>
          <p:cNvPr id="36866" name="Text Box 2">
            <a:extLst>
              <a:ext uri="{FF2B5EF4-FFF2-40B4-BE49-F238E27FC236}">
                <a16:creationId xmlns:a16="http://schemas.microsoft.com/office/drawing/2014/main" id="{7306F5D7-5598-4B98-B035-17376D1E7A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7725" y="1243013"/>
            <a:ext cx="7880350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t"/>
          <a:lstStyle>
            <a:lvl1pPr marL="3413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 marL="741363" indent="-28416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 marL="457200" indent="-457200">
              <a:spcBef>
                <a:spcPts val="700"/>
              </a:spcBef>
              <a:buClr>
                <a:srgbClr val="3333CC"/>
              </a:buClr>
              <a:buSzPct val="85000"/>
              <a:buFont typeface="Arial"/>
              <a:buChar char="•"/>
            </a:pPr>
            <a:r>
              <a:rPr lang="en-GB" altLang="en-US" sz="2800" i="1" dirty="0">
                <a:latin typeface="+mn-lt"/>
              </a:rPr>
              <a:t>Connection oriented </a:t>
            </a:r>
            <a:r>
              <a:rPr lang="en-GB" altLang="en-US" sz="2800" dirty="0">
                <a:latin typeface="+mn-lt"/>
              </a:rPr>
              <a:t>means that a virtual connection is established before any user data is transferred.</a:t>
            </a:r>
            <a:endParaRPr lang="en-US" dirty="0">
              <a:cs typeface="Times New Roman"/>
            </a:endParaRPr>
          </a:p>
          <a:p>
            <a:pPr marL="800100" lvl="1" indent="-342900">
              <a:spcBef>
                <a:spcPts val="600"/>
              </a:spcBef>
              <a:buClr>
                <a:srgbClr val="3333CC"/>
              </a:buClr>
              <a:buSzPct val="75000"/>
              <a:buFont typeface="Arial" panose="05000000000000000000" pitchFamily="2" charset="2"/>
              <a:buChar char="•"/>
            </a:pPr>
            <a:endParaRPr lang="en-GB" altLang="en-US" sz="2400" dirty="0">
              <a:latin typeface="+mn-lt"/>
              <a:cs typeface="Calibri"/>
            </a:endParaRPr>
          </a:p>
          <a:p>
            <a:pPr marL="457200" indent="-457200">
              <a:spcBef>
                <a:spcPts val="700"/>
              </a:spcBef>
              <a:buClr>
                <a:srgbClr val="3333CC"/>
              </a:buClr>
              <a:buSzPct val="85000"/>
              <a:buFont typeface="Arial"/>
              <a:buChar char="•"/>
            </a:pPr>
            <a:r>
              <a:rPr lang="en-GB" altLang="en-US" sz="2800" dirty="0">
                <a:latin typeface="+mn-lt"/>
              </a:rPr>
              <a:t>If the connection cannot be established, the user program is notified (finds out). </a:t>
            </a:r>
            <a:endParaRPr lang="en-GB" altLang="en-US" sz="2800" dirty="0">
              <a:latin typeface="+mn-lt"/>
              <a:cs typeface="Calibri"/>
            </a:endParaRPr>
          </a:p>
          <a:p>
            <a:pPr marL="800100" lvl="1" indent="-342900">
              <a:spcBef>
                <a:spcPts val="600"/>
              </a:spcBef>
              <a:buClr>
                <a:srgbClr val="3333CC"/>
              </a:buClr>
              <a:buSzPct val="75000"/>
              <a:buFont typeface="Arial" panose="05000000000000000000" pitchFamily="2" charset="2"/>
              <a:buChar char="•"/>
            </a:pPr>
            <a:endParaRPr lang="en-GB" altLang="en-US" sz="2400" dirty="0">
              <a:latin typeface="+mn-lt"/>
              <a:cs typeface="Calibri"/>
            </a:endParaRPr>
          </a:p>
          <a:p>
            <a:pPr marL="457200" indent="-457200">
              <a:spcBef>
                <a:spcPts val="700"/>
              </a:spcBef>
              <a:buClr>
                <a:srgbClr val="3333CC"/>
              </a:buClr>
              <a:buSzPct val="85000"/>
              <a:buFont typeface="Arial"/>
              <a:buChar char="•"/>
            </a:pPr>
            <a:r>
              <a:rPr lang="en-GB" altLang="en-US" sz="2800" dirty="0">
                <a:latin typeface="+mn-lt"/>
              </a:rPr>
              <a:t>If the connection is ever interrupted,     the user program(s) is finds out there is a problem.</a:t>
            </a:r>
            <a:endParaRPr lang="en-GB" altLang="en-US" sz="2800" dirty="0">
              <a:latin typeface="+mn-lt"/>
              <a:cs typeface="Calibri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Text Box 1">
            <a:extLst>
              <a:ext uri="{FF2B5EF4-FFF2-40B4-BE49-F238E27FC236}">
                <a16:creationId xmlns:a16="http://schemas.microsoft.com/office/drawing/2014/main" id="{89741B4E-C739-429D-AE10-E70004954E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5675" y="215900"/>
            <a:ext cx="655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>
              <a:lnSpc>
                <a:spcPct val="96000"/>
              </a:lnSpc>
              <a:buClrTx/>
              <a:buFontTx/>
              <a:buNone/>
            </a:pPr>
            <a:r>
              <a:rPr lang="en-GB" altLang="en-US" sz="4000" u="sng">
                <a:solidFill>
                  <a:srgbClr val="3333CC"/>
                </a:solidFill>
                <a:latin typeface="+mj-lt"/>
              </a:rPr>
              <a:t>Reliable</a:t>
            </a:r>
          </a:p>
        </p:txBody>
      </p:sp>
      <p:sp>
        <p:nvSpPr>
          <p:cNvPr id="37890" name="Text Box 2">
            <a:extLst>
              <a:ext uri="{FF2B5EF4-FFF2-40B4-BE49-F238E27FC236}">
                <a16:creationId xmlns:a16="http://schemas.microsoft.com/office/drawing/2014/main" id="{E1116236-3BE7-4FF5-9AF4-CCA3F8DD5E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3589" y="1543050"/>
            <a:ext cx="8283575" cy="4794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t"/>
          <a:lstStyle>
            <a:lvl1pPr marL="3413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 marL="741363" indent="-28416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 marL="457200" indent="-457200">
              <a:spcBef>
                <a:spcPts val="700"/>
              </a:spcBef>
              <a:buClr>
                <a:srgbClr val="3333CC"/>
              </a:buClr>
              <a:buSzPct val="85000"/>
              <a:buFont typeface="Arial"/>
              <a:buChar char="•"/>
            </a:pPr>
            <a:r>
              <a:rPr lang="en-GB" altLang="en-US" sz="2800" i="1">
                <a:latin typeface="+mj-lt"/>
              </a:rPr>
              <a:t>Reliable</a:t>
            </a:r>
            <a:r>
              <a:rPr lang="en-GB" altLang="en-US" sz="2800">
                <a:latin typeface="+mj-lt"/>
              </a:rPr>
              <a:t> means that every transmission of data is acknowledged by the receiver.</a:t>
            </a:r>
            <a:endParaRPr lang="en-US">
              <a:cs typeface="Times New Roman"/>
            </a:endParaRPr>
          </a:p>
          <a:p>
            <a:pPr marL="800100" lvl="1" indent="-342900">
              <a:spcBef>
                <a:spcPts val="600"/>
              </a:spcBef>
              <a:buClr>
                <a:srgbClr val="3333CC"/>
              </a:buClr>
              <a:buSzPct val="75000"/>
              <a:buFont typeface="Arial" panose="05000000000000000000" pitchFamily="2" charset="2"/>
              <a:buChar char="•"/>
            </a:pPr>
            <a:endParaRPr lang="en-GB" altLang="en-US" sz="2400">
              <a:latin typeface="+mj-lt"/>
              <a:cs typeface="Calibri"/>
            </a:endParaRPr>
          </a:p>
          <a:p>
            <a:pPr marL="457200" indent="-457200">
              <a:spcBef>
                <a:spcPts val="700"/>
              </a:spcBef>
              <a:buClr>
                <a:srgbClr val="3333CC"/>
              </a:buClr>
              <a:buSzPct val="85000"/>
              <a:buFont typeface="Arial"/>
              <a:buChar char="•"/>
            </a:pPr>
            <a:r>
              <a:rPr lang="en-GB" altLang="en-US" sz="2800">
                <a:latin typeface="+mj-lt"/>
              </a:rPr>
              <a:t>Reliable does not mean that things don't go wrong, it means that we find out when things go wrong.</a:t>
            </a:r>
            <a:endParaRPr lang="en-GB" altLang="en-US" sz="2800">
              <a:latin typeface="+mj-lt"/>
              <a:cs typeface="Calibri"/>
            </a:endParaRPr>
          </a:p>
          <a:p>
            <a:pPr marL="800100" lvl="1" indent="-342900">
              <a:spcBef>
                <a:spcPts val="600"/>
              </a:spcBef>
              <a:buClr>
                <a:srgbClr val="3333CC"/>
              </a:buClr>
              <a:buSzPct val="75000"/>
              <a:buFont typeface="Arial" panose="05000000000000000000" pitchFamily="2" charset="2"/>
              <a:buChar char="•"/>
            </a:pPr>
            <a:endParaRPr lang="en-GB" altLang="en-US" sz="2400">
              <a:latin typeface="+mj-lt"/>
              <a:cs typeface="Calibri"/>
            </a:endParaRPr>
          </a:p>
          <a:p>
            <a:pPr marL="457200" indent="-457200">
              <a:spcBef>
                <a:spcPts val="700"/>
              </a:spcBef>
              <a:buClr>
                <a:srgbClr val="3333CC"/>
              </a:buClr>
              <a:buSzPct val="85000"/>
              <a:buFont typeface="Arial"/>
              <a:buChar char="•"/>
            </a:pPr>
            <a:r>
              <a:rPr lang="en-GB" altLang="en-US" sz="2800">
                <a:latin typeface="+mj-lt"/>
              </a:rPr>
              <a:t>If the sender does not receive acknowledgement within a specified amount of time, the sender retransmits the data. </a:t>
            </a:r>
            <a:endParaRPr lang="en-GB" altLang="en-US" sz="2800">
              <a:latin typeface="+mj-lt"/>
              <a:cs typeface="Calibri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Text Box 1">
            <a:extLst>
              <a:ext uri="{FF2B5EF4-FFF2-40B4-BE49-F238E27FC236}">
                <a16:creationId xmlns:a16="http://schemas.microsoft.com/office/drawing/2014/main" id="{4B40AA8C-D1A3-4D3B-88C7-17C190FD8F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2000" y="2159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>
              <a:lnSpc>
                <a:spcPct val="96000"/>
              </a:lnSpc>
              <a:buClrTx/>
              <a:buFontTx/>
              <a:buNone/>
            </a:pPr>
            <a:r>
              <a:rPr lang="en-GB" altLang="en-US" sz="4000" u="sng">
                <a:solidFill>
                  <a:srgbClr val="3333CC"/>
                </a:solidFill>
                <a:latin typeface="+mn-lt"/>
              </a:rPr>
              <a:t>Full Duplex</a:t>
            </a:r>
          </a:p>
        </p:txBody>
      </p:sp>
      <p:sp>
        <p:nvSpPr>
          <p:cNvPr id="40962" name="Text Box 2">
            <a:extLst>
              <a:ext uri="{FF2B5EF4-FFF2-40B4-BE49-F238E27FC236}">
                <a16:creationId xmlns:a16="http://schemas.microsoft.com/office/drawing/2014/main" id="{31AB5210-7B16-4F0F-B462-918E785069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5639" y="1373189"/>
            <a:ext cx="8264525" cy="428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t"/>
          <a:lstStyle>
            <a:lvl1pPr marL="3413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 marL="457200" indent="-457200">
              <a:spcBef>
                <a:spcPts val="700"/>
              </a:spcBef>
              <a:buClr>
                <a:srgbClr val="3333CC"/>
              </a:buClr>
              <a:buSzPct val="85000"/>
              <a:buFont typeface="Arial" panose="05000000000000000000" pitchFamily="2" charset="2"/>
              <a:buChar char="•"/>
            </a:pPr>
            <a:r>
              <a:rPr lang="en-GB" altLang="en-US" sz="2800">
                <a:latin typeface="+mn-lt"/>
              </a:rPr>
              <a:t>TCP provides transfer in both directions  (over a single virtual connection).</a:t>
            </a:r>
            <a:endParaRPr lang="en-US"/>
          </a:p>
          <a:p>
            <a:pPr marL="459105" indent="-457200">
              <a:spcBef>
                <a:spcPts val="700"/>
              </a:spcBef>
              <a:buClrTx/>
              <a:buSzPct val="85000"/>
              <a:buFont typeface="Arial"/>
              <a:buChar char="•"/>
            </a:pPr>
            <a:endParaRPr lang="en-GB" altLang="en-US" sz="2800">
              <a:latin typeface="+mn-lt"/>
              <a:cs typeface="Calibri"/>
            </a:endParaRPr>
          </a:p>
          <a:p>
            <a:pPr marL="457200" indent="-457200">
              <a:spcBef>
                <a:spcPts val="700"/>
              </a:spcBef>
              <a:buClr>
                <a:srgbClr val="3333CC"/>
              </a:buClr>
              <a:buSzPct val="85000"/>
              <a:buFont typeface="Arial" panose="05000000000000000000" pitchFamily="2" charset="2"/>
              <a:buChar char="•"/>
            </a:pPr>
            <a:r>
              <a:rPr lang="en-GB" altLang="en-US" sz="2800">
                <a:latin typeface="+mn-lt"/>
              </a:rPr>
              <a:t>To the application program these appear as 2 unrelated data streams, although TCP can piggyback control and data communication by providing control information (such as an ACK) along with user data.</a:t>
            </a:r>
            <a:endParaRPr lang="en-GB" altLang="en-US" sz="2800">
              <a:latin typeface="+mn-lt"/>
              <a:cs typeface="Calibri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Text Box 1">
            <a:extLst>
              <a:ext uri="{FF2B5EF4-FFF2-40B4-BE49-F238E27FC236}">
                <a16:creationId xmlns:a16="http://schemas.microsoft.com/office/drawing/2014/main" id="{3B9FF8DE-5047-451C-9C9C-476BF9427A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6925" y="290513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>
              <a:lnSpc>
                <a:spcPct val="96000"/>
              </a:lnSpc>
              <a:buClrTx/>
              <a:buFontTx/>
              <a:buNone/>
            </a:pPr>
            <a:r>
              <a:rPr lang="en-GB" altLang="en-US" sz="4000" u="sng">
                <a:solidFill>
                  <a:srgbClr val="3333CC"/>
                </a:solidFill>
                <a:latin typeface="+mj-lt"/>
              </a:rPr>
              <a:t>Buffering</a:t>
            </a:r>
          </a:p>
        </p:txBody>
      </p:sp>
      <p:sp>
        <p:nvSpPr>
          <p:cNvPr id="39938" name="Text Box 2">
            <a:extLst>
              <a:ext uri="{FF2B5EF4-FFF2-40B4-BE49-F238E27FC236}">
                <a16:creationId xmlns:a16="http://schemas.microsoft.com/office/drawing/2014/main" id="{0F7115F0-CFD3-465D-A052-63EF9E7441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1" y="1778000"/>
            <a:ext cx="8442325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13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>
              <a:spcBef>
                <a:spcPts val="700"/>
              </a:spcBef>
              <a:buClr>
                <a:srgbClr val="3333CC"/>
              </a:buClr>
              <a:buSzPct val="85000"/>
              <a:buFont typeface="Wingdings" panose="05000000000000000000" pitchFamily="2" charset="2"/>
              <a:buChar char=""/>
            </a:pPr>
            <a:r>
              <a:rPr lang="en-GB" altLang="en-US" sz="2800" dirty="0">
                <a:latin typeface="+mj-lt"/>
              </a:rPr>
              <a:t>TCP is responsible for buffering data and determining when it is time to send a datagram. </a:t>
            </a:r>
          </a:p>
          <a:p>
            <a:pPr marL="342900">
              <a:spcBef>
                <a:spcPts val="700"/>
              </a:spcBef>
              <a:buClrTx/>
              <a:buSzPct val="85000"/>
              <a:buFontTx/>
              <a:buNone/>
            </a:pPr>
            <a:endParaRPr lang="en-GB" altLang="en-US" sz="2800" dirty="0">
              <a:latin typeface="+mj-lt"/>
            </a:endParaRPr>
          </a:p>
          <a:p>
            <a:pPr>
              <a:spcBef>
                <a:spcPts val="700"/>
              </a:spcBef>
              <a:buClr>
                <a:srgbClr val="3333CC"/>
              </a:buClr>
              <a:buSzPct val="85000"/>
              <a:buFont typeface="Wingdings" panose="05000000000000000000" pitchFamily="2" charset="2"/>
              <a:buChar char=""/>
            </a:pPr>
            <a:r>
              <a:rPr lang="en-GB" altLang="en-US" sz="2800" dirty="0">
                <a:latin typeface="+mj-lt"/>
              </a:rPr>
              <a:t>It is possible for an application to tell TCP to send the data it has buffered without waiting for a buffer to fill up.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Text Box 1">
            <a:extLst>
              <a:ext uri="{FF2B5EF4-FFF2-40B4-BE49-F238E27FC236}">
                <a16:creationId xmlns:a16="http://schemas.microsoft.com/office/drawing/2014/main" id="{C0A7025D-F86C-4EC1-B0C6-0B0B91C254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2159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>
              <a:lnSpc>
                <a:spcPct val="96000"/>
              </a:lnSpc>
              <a:buClrTx/>
              <a:buFontTx/>
              <a:buNone/>
            </a:pPr>
            <a:r>
              <a:rPr lang="en-GB" altLang="en-US" sz="4000" u="sng" dirty="0">
                <a:solidFill>
                  <a:srgbClr val="3333CC"/>
                </a:solidFill>
                <a:latin typeface="+mn-lt"/>
              </a:rPr>
              <a:t>TCP Segment Format </a:t>
            </a:r>
          </a:p>
        </p:txBody>
      </p:sp>
      <p:sp>
        <p:nvSpPr>
          <p:cNvPr id="44034" name="AutoShape 2">
            <a:extLst>
              <a:ext uri="{FF2B5EF4-FFF2-40B4-BE49-F238E27FC236}">
                <a16:creationId xmlns:a16="http://schemas.microsoft.com/office/drawing/2014/main" id="{4228E584-F6E3-4566-B841-535249E79B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4200" y="2047875"/>
            <a:ext cx="8483600" cy="3987800"/>
          </a:xfrm>
          <a:prstGeom prst="roundRect">
            <a:avLst>
              <a:gd name="adj" fmla="val 37"/>
            </a:avLst>
          </a:prstGeom>
          <a:solidFill>
            <a:srgbClr val="FFFFFF"/>
          </a:solidFill>
          <a:ln w="50760" cap="sq">
            <a:solidFill>
              <a:schemeClr val="tx1"/>
            </a:solidFill>
            <a:miter lim="800000"/>
            <a:headEnd/>
            <a:tailEnd/>
          </a:ln>
          <a:effectLst>
            <a:outerShdw dist="107933" dir="2700000" algn="ctr" rotWithShape="0">
              <a:srgbClr val="000000"/>
            </a:outerShdw>
          </a:effectLst>
        </p:spPr>
        <p:txBody>
          <a:bodyPr wrap="none" anchor="ctr"/>
          <a:lstStyle/>
          <a:p>
            <a:endParaRPr lang="en-US" sz="2400"/>
          </a:p>
        </p:txBody>
      </p:sp>
      <p:grpSp>
        <p:nvGrpSpPr>
          <p:cNvPr id="44035" name="Group 3">
            <a:extLst>
              <a:ext uri="{FF2B5EF4-FFF2-40B4-BE49-F238E27FC236}">
                <a16:creationId xmlns:a16="http://schemas.microsoft.com/office/drawing/2014/main" id="{27A1FE93-AD2B-421E-9835-C7A064980BF2}"/>
              </a:ext>
            </a:extLst>
          </p:cNvPr>
          <p:cNvGrpSpPr>
            <a:grpSpLocks/>
          </p:cNvGrpSpPr>
          <p:nvPr/>
        </p:nvGrpSpPr>
        <p:grpSpPr bwMode="auto">
          <a:xfrm>
            <a:off x="6108701" y="2024064"/>
            <a:ext cx="4238625" cy="452437"/>
            <a:chOff x="2888" y="1275"/>
            <a:chExt cx="2670" cy="285"/>
          </a:xfrm>
        </p:grpSpPr>
        <p:sp>
          <p:nvSpPr>
            <p:cNvPr id="44036" name="AutoShape 4">
              <a:extLst>
                <a:ext uri="{FF2B5EF4-FFF2-40B4-BE49-F238E27FC236}">
                  <a16:creationId xmlns:a16="http://schemas.microsoft.com/office/drawing/2014/main" id="{8F8B94F1-E5E0-4F99-B3C8-39147E4153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8" y="1282"/>
              <a:ext cx="2670" cy="270"/>
            </a:xfrm>
            <a:prstGeom prst="roundRect">
              <a:avLst>
                <a:gd name="adj" fmla="val 366"/>
              </a:avLst>
            </a:prstGeom>
            <a:solidFill>
              <a:srgbClr val="FFFFFF"/>
            </a:solidFill>
            <a:ln w="25560" cap="sq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44037" name="Text Box 5">
              <a:extLst>
                <a:ext uri="{FF2B5EF4-FFF2-40B4-BE49-F238E27FC236}">
                  <a16:creationId xmlns:a16="http://schemas.microsoft.com/office/drawing/2014/main" id="{222CD687-1B1D-4A5D-9570-5B0ABD9D61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5" y="1275"/>
              <a:ext cx="1597" cy="285"/>
            </a:xfrm>
            <a:prstGeom prst="rect">
              <a:avLst/>
            </a:prstGeom>
            <a:noFill/>
            <a:ln w="9525" cap="flat">
              <a:solidFill>
                <a:srgbClr val="3465A4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360" tIns="44280" rIns="90360" bIns="44280" anchor="ctr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9pPr>
            </a:lstStyle>
            <a:p>
              <a:pPr algn="ctr">
                <a:lnSpc>
                  <a:spcPct val="96000"/>
                </a:lnSpc>
                <a:buClrTx/>
                <a:buFontTx/>
                <a:buNone/>
              </a:pPr>
              <a:r>
                <a:rPr lang="en-GB" altLang="en-US" sz="2400" b="1">
                  <a:latin typeface="Arial" panose="020B0604020202020204" pitchFamily="34" charset="0"/>
                  <a:cs typeface="msmincho" charset="0"/>
                </a:rPr>
                <a:t>Destination Port</a:t>
              </a:r>
            </a:p>
          </p:txBody>
        </p:sp>
      </p:grpSp>
      <p:grpSp>
        <p:nvGrpSpPr>
          <p:cNvPr id="44038" name="Group 6">
            <a:extLst>
              <a:ext uri="{FF2B5EF4-FFF2-40B4-BE49-F238E27FC236}">
                <a16:creationId xmlns:a16="http://schemas.microsoft.com/office/drawing/2014/main" id="{8421A85F-806A-4F82-8B8E-5541EC76220A}"/>
              </a:ext>
            </a:extLst>
          </p:cNvPr>
          <p:cNvGrpSpPr>
            <a:grpSpLocks/>
          </p:cNvGrpSpPr>
          <p:nvPr/>
        </p:nvGrpSpPr>
        <p:grpSpPr bwMode="auto">
          <a:xfrm>
            <a:off x="1839913" y="4310064"/>
            <a:ext cx="8507412" cy="452437"/>
            <a:chOff x="199" y="2715"/>
            <a:chExt cx="5359" cy="285"/>
          </a:xfrm>
        </p:grpSpPr>
        <p:sp>
          <p:nvSpPr>
            <p:cNvPr id="44039" name="AutoShape 7">
              <a:extLst>
                <a:ext uri="{FF2B5EF4-FFF2-40B4-BE49-F238E27FC236}">
                  <a16:creationId xmlns:a16="http://schemas.microsoft.com/office/drawing/2014/main" id="{0F5757FB-52D6-4A47-9526-9DB692159B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" y="2722"/>
              <a:ext cx="5359" cy="270"/>
            </a:xfrm>
            <a:prstGeom prst="roundRect">
              <a:avLst>
                <a:gd name="adj" fmla="val 366"/>
              </a:avLst>
            </a:prstGeom>
            <a:solidFill>
              <a:srgbClr val="FFFFFF"/>
            </a:solidFill>
            <a:ln w="25560" cap="sq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44040" name="Text Box 8">
              <a:extLst>
                <a:ext uri="{FF2B5EF4-FFF2-40B4-BE49-F238E27FC236}">
                  <a16:creationId xmlns:a16="http://schemas.microsoft.com/office/drawing/2014/main" id="{0A05F23F-9E54-4444-B18F-F730B6A4FC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7" y="2715"/>
              <a:ext cx="1524" cy="285"/>
            </a:xfrm>
            <a:prstGeom prst="rect">
              <a:avLst/>
            </a:prstGeom>
            <a:noFill/>
            <a:ln w="9525" cap="flat">
              <a:solidFill>
                <a:srgbClr val="3465A4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360" tIns="44280" rIns="90360" bIns="44280" anchor="ctr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9pPr>
            </a:lstStyle>
            <a:p>
              <a:pPr algn="ctr">
                <a:lnSpc>
                  <a:spcPct val="96000"/>
                </a:lnSpc>
                <a:buClrTx/>
                <a:buFontTx/>
                <a:buNone/>
              </a:pPr>
              <a:r>
                <a:rPr lang="en-GB" altLang="en-US" sz="2400" b="1">
                  <a:latin typeface="Arial" panose="020B0604020202020204" pitchFamily="34" charset="0"/>
                  <a:cs typeface="msmincho" charset="0"/>
                </a:rPr>
                <a:t>Options (if any)</a:t>
              </a:r>
            </a:p>
          </p:txBody>
        </p:sp>
      </p:grpSp>
      <p:grpSp>
        <p:nvGrpSpPr>
          <p:cNvPr id="44041" name="Group 9">
            <a:extLst>
              <a:ext uri="{FF2B5EF4-FFF2-40B4-BE49-F238E27FC236}">
                <a16:creationId xmlns:a16="http://schemas.microsoft.com/office/drawing/2014/main" id="{C8E532CD-7E59-4C87-A75A-E50EAC5092F8}"/>
              </a:ext>
            </a:extLst>
          </p:cNvPr>
          <p:cNvGrpSpPr>
            <a:grpSpLocks/>
          </p:cNvGrpSpPr>
          <p:nvPr/>
        </p:nvGrpSpPr>
        <p:grpSpPr bwMode="auto">
          <a:xfrm>
            <a:off x="1839913" y="4778376"/>
            <a:ext cx="8507412" cy="1266825"/>
            <a:chOff x="199" y="3010"/>
            <a:chExt cx="5359" cy="798"/>
          </a:xfrm>
        </p:grpSpPr>
        <p:sp>
          <p:nvSpPr>
            <p:cNvPr id="44042" name="AutoShape 10">
              <a:extLst>
                <a:ext uri="{FF2B5EF4-FFF2-40B4-BE49-F238E27FC236}">
                  <a16:creationId xmlns:a16="http://schemas.microsoft.com/office/drawing/2014/main" id="{99FBD54D-427F-4911-ACB7-8BB92BA10C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" y="3010"/>
              <a:ext cx="5359" cy="798"/>
            </a:xfrm>
            <a:prstGeom prst="roundRect">
              <a:avLst>
                <a:gd name="adj" fmla="val 125"/>
              </a:avLst>
            </a:prstGeom>
            <a:solidFill>
              <a:srgbClr val="FFFFFF"/>
            </a:solidFill>
            <a:ln w="25560" cap="sq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44043" name="Text Box 11">
              <a:extLst>
                <a:ext uri="{FF2B5EF4-FFF2-40B4-BE49-F238E27FC236}">
                  <a16:creationId xmlns:a16="http://schemas.microsoft.com/office/drawing/2014/main" id="{CBFCF6E6-B984-4003-B242-6E77ACA72F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14" y="3266"/>
              <a:ext cx="529" cy="285"/>
            </a:xfrm>
            <a:prstGeom prst="rect">
              <a:avLst/>
            </a:prstGeom>
            <a:noFill/>
            <a:ln w="9525" cap="flat">
              <a:solidFill>
                <a:srgbClr val="3465A4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360" tIns="44280" rIns="90360" bIns="44280" anchor="ctr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9pPr>
            </a:lstStyle>
            <a:p>
              <a:pPr algn="ctr">
                <a:lnSpc>
                  <a:spcPct val="96000"/>
                </a:lnSpc>
                <a:buClrTx/>
                <a:buFontTx/>
                <a:buNone/>
              </a:pPr>
              <a:r>
                <a:rPr lang="en-GB" altLang="en-US" sz="2400" b="1">
                  <a:latin typeface="Arial" panose="020B0604020202020204" pitchFamily="34" charset="0"/>
                  <a:cs typeface="msmincho" charset="0"/>
                </a:rPr>
                <a:t>Data</a:t>
              </a:r>
            </a:p>
          </p:txBody>
        </p:sp>
      </p:grpSp>
      <p:sp>
        <p:nvSpPr>
          <p:cNvPr id="44044" name="Line 12">
            <a:extLst>
              <a:ext uri="{FF2B5EF4-FFF2-40B4-BE49-F238E27FC236}">
                <a16:creationId xmlns:a16="http://schemas.microsoft.com/office/drawing/2014/main" id="{B386C0C8-9FDC-489D-886A-C01AAC01B035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1577975"/>
            <a:ext cx="1588" cy="431800"/>
          </a:xfrm>
          <a:prstGeom prst="line">
            <a:avLst/>
          </a:prstGeom>
          <a:noFill/>
          <a:ln w="25560" cap="sq">
            <a:solidFill>
              <a:schemeClr val="tx1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44045" name="Line 13">
            <a:extLst>
              <a:ext uri="{FF2B5EF4-FFF2-40B4-BE49-F238E27FC236}">
                <a16:creationId xmlns:a16="http://schemas.microsoft.com/office/drawing/2014/main" id="{14D61F3A-BB1D-4CDD-9071-BA10079C0247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1577975"/>
            <a:ext cx="1588" cy="431800"/>
          </a:xfrm>
          <a:prstGeom prst="line">
            <a:avLst/>
          </a:prstGeom>
          <a:noFill/>
          <a:ln w="25560" cap="sq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44046" name="Line 14">
            <a:extLst>
              <a:ext uri="{FF2B5EF4-FFF2-40B4-BE49-F238E27FC236}">
                <a16:creationId xmlns:a16="http://schemas.microsoft.com/office/drawing/2014/main" id="{DE57606E-A132-4607-8B6E-7EB0A9B59229}"/>
              </a:ext>
            </a:extLst>
          </p:cNvPr>
          <p:cNvSpPr>
            <a:spLocks noChangeShapeType="1"/>
          </p:cNvSpPr>
          <p:nvPr/>
        </p:nvSpPr>
        <p:spPr bwMode="auto">
          <a:xfrm>
            <a:off x="8229600" y="1577975"/>
            <a:ext cx="1588" cy="431800"/>
          </a:xfrm>
          <a:prstGeom prst="line">
            <a:avLst/>
          </a:prstGeom>
          <a:noFill/>
          <a:ln w="25560" cap="sq">
            <a:solidFill>
              <a:schemeClr val="tx1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44047" name="Line 15">
            <a:extLst>
              <a:ext uri="{FF2B5EF4-FFF2-40B4-BE49-F238E27FC236}">
                <a16:creationId xmlns:a16="http://schemas.microsoft.com/office/drawing/2014/main" id="{CC3BF782-D809-42CE-A9F9-5C49EEC95DDB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1577975"/>
            <a:ext cx="1588" cy="431800"/>
          </a:xfrm>
          <a:prstGeom prst="line">
            <a:avLst/>
          </a:prstGeom>
          <a:noFill/>
          <a:ln w="25560" cap="sq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44048" name="Line 16">
            <a:extLst>
              <a:ext uri="{FF2B5EF4-FFF2-40B4-BE49-F238E27FC236}">
                <a16:creationId xmlns:a16="http://schemas.microsoft.com/office/drawing/2014/main" id="{1EDBCF22-5F34-4790-9F97-82972262651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80125" y="1793875"/>
            <a:ext cx="488950" cy="1588"/>
          </a:xfrm>
          <a:prstGeom prst="line">
            <a:avLst/>
          </a:prstGeom>
          <a:noFill/>
          <a:ln w="25560" cap="sq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44049" name="Line 17">
            <a:extLst>
              <a:ext uri="{FF2B5EF4-FFF2-40B4-BE49-F238E27FC236}">
                <a16:creationId xmlns:a16="http://schemas.microsoft.com/office/drawing/2014/main" id="{C7465E1D-9189-4EDC-A038-821EC3769ED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756525" y="1793875"/>
            <a:ext cx="488950" cy="1588"/>
          </a:xfrm>
          <a:prstGeom prst="line">
            <a:avLst/>
          </a:prstGeom>
          <a:noFill/>
          <a:ln w="25560" cap="sq">
            <a:solidFill>
              <a:schemeClr val="tx1"/>
            </a:solidFill>
            <a:miter lim="800000"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44050" name="Text Box 18">
            <a:extLst>
              <a:ext uri="{FF2B5EF4-FFF2-40B4-BE49-F238E27FC236}">
                <a16:creationId xmlns:a16="http://schemas.microsoft.com/office/drawing/2014/main" id="{1833EAD9-E7F1-4E21-AE23-C34B7F09C5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4964" y="1544639"/>
            <a:ext cx="1011237" cy="454025"/>
          </a:xfrm>
          <a:prstGeom prst="rect">
            <a:avLst/>
          </a:prstGeom>
          <a:noFill/>
          <a:ln w="9525" cap="flat">
            <a:solidFill>
              <a:srgbClr val="3465A4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360" tIns="44280" rIns="90360" bIns="4428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>
              <a:lnSpc>
                <a:spcPct val="96000"/>
              </a:lnSpc>
              <a:buClrTx/>
              <a:buFontTx/>
              <a:buNone/>
            </a:pPr>
            <a:r>
              <a:rPr lang="en-GB" altLang="en-US" sz="2400">
                <a:latin typeface="Arial" panose="020B0604020202020204" pitchFamily="34" charset="0"/>
                <a:cs typeface="msmincho" charset="0"/>
              </a:rPr>
              <a:t>1 byte</a:t>
            </a:r>
          </a:p>
        </p:txBody>
      </p:sp>
      <p:sp>
        <p:nvSpPr>
          <p:cNvPr id="44051" name="Line 19">
            <a:extLst>
              <a:ext uri="{FF2B5EF4-FFF2-40B4-BE49-F238E27FC236}">
                <a16:creationId xmlns:a16="http://schemas.microsoft.com/office/drawing/2014/main" id="{C52E23BD-3C97-401C-8E1D-6228424A680F}"/>
              </a:ext>
            </a:extLst>
          </p:cNvPr>
          <p:cNvSpPr>
            <a:spLocks noChangeShapeType="1"/>
          </p:cNvSpPr>
          <p:nvPr/>
        </p:nvSpPr>
        <p:spPr bwMode="auto">
          <a:xfrm>
            <a:off x="10363200" y="1577975"/>
            <a:ext cx="1588" cy="431800"/>
          </a:xfrm>
          <a:prstGeom prst="line">
            <a:avLst/>
          </a:prstGeom>
          <a:noFill/>
          <a:ln w="25560" cap="sq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44052" name="Line 20">
            <a:extLst>
              <a:ext uri="{FF2B5EF4-FFF2-40B4-BE49-F238E27FC236}">
                <a16:creationId xmlns:a16="http://schemas.microsoft.com/office/drawing/2014/main" id="{8B2C8A26-B336-4921-9804-2CA4A18D9556}"/>
              </a:ext>
            </a:extLst>
          </p:cNvPr>
          <p:cNvSpPr>
            <a:spLocks noChangeShapeType="1"/>
          </p:cNvSpPr>
          <p:nvPr/>
        </p:nvSpPr>
        <p:spPr bwMode="auto">
          <a:xfrm>
            <a:off x="8229600" y="1577975"/>
            <a:ext cx="1588" cy="431800"/>
          </a:xfrm>
          <a:prstGeom prst="line">
            <a:avLst/>
          </a:prstGeom>
          <a:noFill/>
          <a:ln w="25560" cap="sq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44053" name="Line 21">
            <a:extLst>
              <a:ext uri="{FF2B5EF4-FFF2-40B4-BE49-F238E27FC236}">
                <a16:creationId xmlns:a16="http://schemas.microsoft.com/office/drawing/2014/main" id="{9239E702-A335-4443-A8E2-2CE4781DD5B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213725" y="1793875"/>
            <a:ext cx="488950" cy="1588"/>
          </a:xfrm>
          <a:prstGeom prst="line">
            <a:avLst/>
          </a:prstGeom>
          <a:noFill/>
          <a:ln w="25560" cap="sq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44054" name="Line 22">
            <a:extLst>
              <a:ext uri="{FF2B5EF4-FFF2-40B4-BE49-F238E27FC236}">
                <a16:creationId xmlns:a16="http://schemas.microsoft.com/office/drawing/2014/main" id="{5CA879A6-C0A9-4398-9DA2-C2CFDAF3720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890125" y="1793875"/>
            <a:ext cx="488950" cy="1588"/>
          </a:xfrm>
          <a:prstGeom prst="line">
            <a:avLst/>
          </a:prstGeom>
          <a:noFill/>
          <a:ln w="25560" cap="sq">
            <a:solidFill>
              <a:schemeClr val="tx1"/>
            </a:solidFill>
            <a:miter lim="800000"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44055" name="Text Box 23">
            <a:extLst>
              <a:ext uri="{FF2B5EF4-FFF2-40B4-BE49-F238E27FC236}">
                <a16:creationId xmlns:a16="http://schemas.microsoft.com/office/drawing/2014/main" id="{E651AD15-7123-4030-A341-9AB3E1AB5B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18564" y="1544639"/>
            <a:ext cx="1011237" cy="454025"/>
          </a:xfrm>
          <a:prstGeom prst="rect">
            <a:avLst/>
          </a:prstGeom>
          <a:noFill/>
          <a:ln w="9525" cap="flat">
            <a:solidFill>
              <a:srgbClr val="3465A4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360" tIns="44280" rIns="90360" bIns="4428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>
              <a:lnSpc>
                <a:spcPct val="96000"/>
              </a:lnSpc>
              <a:buClrTx/>
              <a:buFontTx/>
              <a:buNone/>
            </a:pPr>
            <a:r>
              <a:rPr lang="en-GB" altLang="en-US" sz="2400">
                <a:latin typeface="Arial" panose="020B0604020202020204" pitchFamily="34" charset="0"/>
                <a:cs typeface="msmincho" charset="0"/>
              </a:rPr>
              <a:t>1 byte</a:t>
            </a:r>
          </a:p>
        </p:txBody>
      </p:sp>
      <p:grpSp>
        <p:nvGrpSpPr>
          <p:cNvPr id="44056" name="Group 24">
            <a:extLst>
              <a:ext uri="{FF2B5EF4-FFF2-40B4-BE49-F238E27FC236}">
                <a16:creationId xmlns:a16="http://schemas.microsoft.com/office/drawing/2014/main" id="{A999977C-8E66-4598-9DE6-D75FD7F5D18D}"/>
              </a:ext>
            </a:extLst>
          </p:cNvPr>
          <p:cNvGrpSpPr>
            <a:grpSpLocks/>
          </p:cNvGrpSpPr>
          <p:nvPr/>
        </p:nvGrpSpPr>
        <p:grpSpPr bwMode="auto">
          <a:xfrm>
            <a:off x="1839914" y="2024064"/>
            <a:ext cx="4238625" cy="452437"/>
            <a:chOff x="199" y="1275"/>
            <a:chExt cx="2670" cy="285"/>
          </a:xfrm>
        </p:grpSpPr>
        <p:sp>
          <p:nvSpPr>
            <p:cNvPr id="44057" name="AutoShape 25">
              <a:extLst>
                <a:ext uri="{FF2B5EF4-FFF2-40B4-BE49-F238E27FC236}">
                  <a16:creationId xmlns:a16="http://schemas.microsoft.com/office/drawing/2014/main" id="{34332BAD-AD3C-4082-8974-8434040BFC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" y="1282"/>
              <a:ext cx="2670" cy="270"/>
            </a:xfrm>
            <a:prstGeom prst="roundRect">
              <a:avLst>
                <a:gd name="adj" fmla="val 366"/>
              </a:avLst>
            </a:prstGeom>
            <a:solidFill>
              <a:srgbClr val="FFFFFF"/>
            </a:solidFill>
            <a:ln w="25560" cap="sq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44058" name="Text Box 26">
              <a:extLst>
                <a:ext uri="{FF2B5EF4-FFF2-40B4-BE49-F238E27FC236}">
                  <a16:creationId xmlns:a16="http://schemas.microsoft.com/office/drawing/2014/main" id="{7334AD97-8D07-440B-B383-E83E5F64F5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4" y="1275"/>
              <a:ext cx="1201" cy="285"/>
            </a:xfrm>
            <a:prstGeom prst="rect">
              <a:avLst/>
            </a:prstGeom>
            <a:noFill/>
            <a:ln w="9525" cap="flat">
              <a:solidFill>
                <a:srgbClr val="3465A4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360" tIns="44280" rIns="90360" bIns="44280" anchor="ctr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9pPr>
            </a:lstStyle>
            <a:p>
              <a:pPr algn="ctr">
                <a:lnSpc>
                  <a:spcPct val="96000"/>
                </a:lnSpc>
                <a:buClrTx/>
                <a:buFontTx/>
                <a:buNone/>
              </a:pPr>
              <a:r>
                <a:rPr lang="en-GB" altLang="en-US" sz="2400" b="1">
                  <a:latin typeface="Arial" panose="020B0604020202020204" pitchFamily="34" charset="0"/>
                  <a:cs typeface="msmincho" charset="0"/>
                </a:rPr>
                <a:t>Source Port</a:t>
              </a:r>
            </a:p>
          </p:txBody>
        </p:sp>
      </p:grpSp>
      <p:grpSp>
        <p:nvGrpSpPr>
          <p:cNvPr id="44059" name="Group 27">
            <a:extLst>
              <a:ext uri="{FF2B5EF4-FFF2-40B4-BE49-F238E27FC236}">
                <a16:creationId xmlns:a16="http://schemas.microsoft.com/office/drawing/2014/main" id="{05D6EE72-12F0-471C-95E1-E28FEFEC33F2}"/>
              </a:ext>
            </a:extLst>
          </p:cNvPr>
          <p:cNvGrpSpPr>
            <a:grpSpLocks/>
          </p:cNvGrpSpPr>
          <p:nvPr/>
        </p:nvGrpSpPr>
        <p:grpSpPr bwMode="auto">
          <a:xfrm>
            <a:off x="1839913" y="2481264"/>
            <a:ext cx="8507412" cy="452437"/>
            <a:chOff x="199" y="1563"/>
            <a:chExt cx="5359" cy="285"/>
          </a:xfrm>
        </p:grpSpPr>
        <p:sp>
          <p:nvSpPr>
            <p:cNvPr id="44060" name="AutoShape 28">
              <a:extLst>
                <a:ext uri="{FF2B5EF4-FFF2-40B4-BE49-F238E27FC236}">
                  <a16:creationId xmlns:a16="http://schemas.microsoft.com/office/drawing/2014/main" id="{C15E339A-D64B-4869-A30B-12D81F693E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" y="1570"/>
              <a:ext cx="5359" cy="270"/>
            </a:xfrm>
            <a:prstGeom prst="roundRect">
              <a:avLst>
                <a:gd name="adj" fmla="val 366"/>
              </a:avLst>
            </a:prstGeom>
            <a:solidFill>
              <a:srgbClr val="FFFFFF"/>
            </a:solidFill>
            <a:ln w="25560" cap="sq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44061" name="Text Box 29">
              <a:extLst>
                <a:ext uri="{FF2B5EF4-FFF2-40B4-BE49-F238E27FC236}">
                  <a16:creationId xmlns:a16="http://schemas.microsoft.com/office/drawing/2014/main" id="{840029B2-305A-491E-B8FB-75B546768E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0" y="1563"/>
              <a:ext cx="1797" cy="285"/>
            </a:xfrm>
            <a:prstGeom prst="rect">
              <a:avLst/>
            </a:prstGeom>
            <a:noFill/>
            <a:ln w="9525" cap="flat">
              <a:solidFill>
                <a:srgbClr val="3465A4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360" tIns="44280" rIns="90360" bIns="44280" anchor="ctr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9pPr>
            </a:lstStyle>
            <a:p>
              <a:pPr algn="ctr">
                <a:lnSpc>
                  <a:spcPct val="96000"/>
                </a:lnSpc>
                <a:buClrTx/>
                <a:buFontTx/>
                <a:buNone/>
              </a:pPr>
              <a:r>
                <a:rPr lang="en-GB" altLang="en-US" sz="2400" b="1">
                  <a:latin typeface="Arial" panose="020B0604020202020204" pitchFamily="34" charset="0"/>
                  <a:cs typeface="msmincho" charset="0"/>
                </a:rPr>
                <a:t>Sequence Number</a:t>
              </a:r>
            </a:p>
          </p:txBody>
        </p:sp>
      </p:grpSp>
      <p:grpSp>
        <p:nvGrpSpPr>
          <p:cNvPr id="44062" name="Group 30">
            <a:extLst>
              <a:ext uri="{FF2B5EF4-FFF2-40B4-BE49-F238E27FC236}">
                <a16:creationId xmlns:a16="http://schemas.microsoft.com/office/drawing/2014/main" id="{1D46B5BE-6E5D-48B4-9995-18821605CC09}"/>
              </a:ext>
            </a:extLst>
          </p:cNvPr>
          <p:cNvGrpSpPr>
            <a:grpSpLocks/>
          </p:cNvGrpSpPr>
          <p:nvPr/>
        </p:nvGrpSpPr>
        <p:grpSpPr bwMode="auto">
          <a:xfrm>
            <a:off x="1839913" y="2943230"/>
            <a:ext cx="8507412" cy="444500"/>
            <a:chOff x="199" y="1854"/>
            <a:chExt cx="5359" cy="280"/>
          </a:xfrm>
        </p:grpSpPr>
        <p:sp>
          <p:nvSpPr>
            <p:cNvPr id="44063" name="AutoShape 31">
              <a:extLst>
                <a:ext uri="{FF2B5EF4-FFF2-40B4-BE49-F238E27FC236}">
                  <a16:creationId xmlns:a16="http://schemas.microsoft.com/office/drawing/2014/main" id="{3A7A5528-853F-436C-8ED9-816D2DDDBD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" y="1858"/>
              <a:ext cx="5359" cy="270"/>
            </a:xfrm>
            <a:prstGeom prst="roundRect">
              <a:avLst>
                <a:gd name="adj" fmla="val 366"/>
              </a:avLst>
            </a:prstGeom>
            <a:solidFill>
              <a:srgbClr val="FFFFFF"/>
            </a:solidFill>
            <a:ln w="25560" cap="sq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44064" name="Text Box 32">
              <a:extLst>
                <a:ext uri="{FF2B5EF4-FFF2-40B4-BE49-F238E27FC236}">
                  <a16:creationId xmlns:a16="http://schemas.microsoft.com/office/drawing/2014/main" id="{CBC7414E-8645-45DD-918B-8F24F72512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2" y="1854"/>
              <a:ext cx="3433" cy="280"/>
            </a:xfrm>
            <a:prstGeom prst="rect">
              <a:avLst/>
            </a:prstGeom>
            <a:noFill/>
            <a:ln w="9525" cap="flat">
              <a:solidFill>
                <a:srgbClr val="3465A4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360" tIns="44280" rIns="90360" bIns="44280" anchor="ctr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9pPr>
            </a:lstStyle>
            <a:p>
              <a:pPr algn="ctr">
                <a:lnSpc>
                  <a:spcPct val="96000"/>
                </a:lnSpc>
                <a:buClrTx/>
                <a:buFontTx/>
                <a:buNone/>
              </a:pPr>
              <a:r>
                <a:rPr lang="en-GB" altLang="en-US" sz="2400" b="1" dirty="0">
                  <a:latin typeface="Arial" panose="020B0604020202020204" pitchFamily="34" charset="0"/>
                  <a:cs typeface="msmincho" charset="0"/>
                </a:rPr>
                <a:t>Request/Acknowledgement Number</a:t>
              </a:r>
            </a:p>
          </p:txBody>
        </p:sp>
      </p:grpSp>
      <p:sp>
        <p:nvSpPr>
          <p:cNvPr id="44065" name="Line 33">
            <a:extLst>
              <a:ext uri="{FF2B5EF4-FFF2-40B4-BE49-F238E27FC236}">
                <a16:creationId xmlns:a16="http://schemas.microsoft.com/office/drawing/2014/main" id="{B228A41C-DF58-486C-B283-25127F72392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12925" y="1793875"/>
            <a:ext cx="488950" cy="1588"/>
          </a:xfrm>
          <a:prstGeom prst="line">
            <a:avLst/>
          </a:prstGeom>
          <a:noFill/>
          <a:ln w="25560" cap="sq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44066" name="Line 34">
            <a:extLst>
              <a:ext uri="{FF2B5EF4-FFF2-40B4-BE49-F238E27FC236}">
                <a16:creationId xmlns:a16="http://schemas.microsoft.com/office/drawing/2014/main" id="{402BB9F2-B7CD-4527-9928-2FB96823687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89325" y="1793875"/>
            <a:ext cx="488950" cy="1588"/>
          </a:xfrm>
          <a:prstGeom prst="line">
            <a:avLst/>
          </a:prstGeom>
          <a:noFill/>
          <a:ln w="25560" cap="sq">
            <a:solidFill>
              <a:schemeClr val="tx1"/>
            </a:solidFill>
            <a:miter lim="800000"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44067" name="Line 35">
            <a:extLst>
              <a:ext uri="{FF2B5EF4-FFF2-40B4-BE49-F238E27FC236}">
                <a16:creationId xmlns:a16="http://schemas.microsoft.com/office/drawing/2014/main" id="{D00D8819-45F0-433F-BF5A-F050C0EAD94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46525" y="1793875"/>
            <a:ext cx="488950" cy="1588"/>
          </a:xfrm>
          <a:prstGeom prst="line">
            <a:avLst/>
          </a:prstGeom>
          <a:noFill/>
          <a:ln w="25560" cap="sq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44068" name="Line 36">
            <a:extLst>
              <a:ext uri="{FF2B5EF4-FFF2-40B4-BE49-F238E27FC236}">
                <a16:creationId xmlns:a16="http://schemas.microsoft.com/office/drawing/2014/main" id="{F3AC88FC-C83B-4252-BD85-3987C714134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22925" y="1793875"/>
            <a:ext cx="488950" cy="1588"/>
          </a:xfrm>
          <a:prstGeom prst="line">
            <a:avLst/>
          </a:prstGeom>
          <a:noFill/>
          <a:ln w="25560" cap="sq">
            <a:solidFill>
              <a:schemeClr val="tx1"/>
            </a:solidFill>
            <a:miter lim="800000"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44069" name="Line 37">
            <a:extLst>
              <a:ext uri="{FF2B5EF4-FFF2-40B4-BE49-F238E27FC236}">
                <a16:creationId xmlns:a16="http://schemas.microsoft.com/office/drawing/2014/main" id="{72BEC856-D0D0-44D5-92F6-B2C2836942E3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2400" y="1577975"/>
            <a:ext cx="1588" cy="431800"/>
          </a:xfrm>
          <a:prstGeom prst="line">
            <a:avLst/>
          </a:prstGeom>
          <a:noFill/>
          <a:ln w="25560" cap="sq">
            <a:solidFill>
              <a:schemeClr val="tx1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44070" name="Line 38">
            <a:extLst>
              <a:ext uri="{FF2B5EF4-FFF2-40B4-BE49-F238E27FC236}">
                <a16:creationId xmlns:a16="http://schemas.microsoft.com/office/drawing/2014/main" id="{24A6BE93-8863-47AF-A2DA-F750DBE93E4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89325" y="1793875"/>
            <a:ext cx="488950" cy="1588"/>
          </a:xfrm>
          <a:prstGeom prst="line">
            <a:avLst/>
          </a:prstGeom>
          <a:noFill/>
          <a:ln w="25560" cap="sq">
            <a:solidFill>
              <a:schemeClr val="tx1"/>
            </a:solidFill>
            <a:miter lim="800000"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44071" name="Text Box 39">
            <a:extLst>
              <a:ext uri="{FF2B5EF4-FFF2-40B4-BE49-F238E27FC236}">
                <a16:creationId xmlns:a16="http://schemas.microsoft.com/office/drawing/2014/main" id="{70195521-111B-4BA6-9B0F-B91DBFCBBA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7764" y="1544639"/>
            <a:ext cx="1011237" cy="454025"/>
          </a:xfrm>
          <a:prstGeom prst="rect">
            <a:avLst/>
          </a:prstGeom>
          <a:noFill/>
          <a:ln w="9525" cap="flat">
            <a:solidFill>
              <a:srgbClr val="3465A4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360" tIns="44280" rIns="90360" bIns="4428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>
              <a:lnSpc>
                <a:spcPct val="96000"/>
              </a:lnSpc>
              <a:buClrTx/>
              <a:buFontTx/>
              <a:buNone/>
            </a:pPr>
            <a:r>
              <a:rPr lang="en-GB" altLang="en-US" sz="2400">
                <a:latin typeface="Arial" panose="020B0604020202020204" pitchFamily="34" charset="0"/>
                <a:cs typeface="msmincho" charset="0"/>
              </a:rPr>
              <a:t>1 byte</a:t>
            </a:r>
          </a:p>
        </p:txBody>
      </p:sp>
      <p:sp>
        <p:nvSpPr>
          <p:cNvPr id="44072" name="Line 40">
            <a:extLst>
              <a:ext uri="{FF2B5EF4-FFF2-40B4-BE49-F238E27FC236}">
                <a16:creationId xmlns:a16="http://schemas.microsoft.com/office/drawing/2014/main" id="{01046189-C964-400F-8826-50E3187DE921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2400" y="1577975"/>
            <a:ext cx="1588" cy="431800"/>
          </a:xfrm>
          <a:prstGeom prst="line">
            <a:avLst/>
          </a:prstGeom>
          <a:noFill/>
          <a:ln w="25560" cap="sq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44073" name="Line 41">
            <a:extLst>
              <a:ext uri="{FF2B5EF4-FFF2-40B4-BE49-F238E27FC236}">
                <a16:creationId xmlns:a16="http://schemas.microsoft.com/office/drawing/2014/main" id="{F8FF8295-37BE-4D62-A442-8287AE479B5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46525" y="1793875"/>
            <a:ext cx="488950" cy="1588"/>
          </a:xfrm>
          <a:prstGeom prst="line">
            <a:avLst/>
          </a:prstGeom>
          <a:noFill/>
          <a:ln w="25560" cap="sq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44074" name="Text Box 42">
            <a:extLst>
              <a:ext uri="{FF2B5EF4-FFF2-40B4-BE49-F238E27FC236}">
                <a16:creationId xmlns:a16="http://schemas.microsoft.com/office/drawing/2014/main" id="{4EDFF53F-1DC0-4D3D-A9F5-2E825D4C34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1364" y="1544639"/>
            <a:ext cx="1011237" cy="454025"/>
          </a:xfrm>
          <a:prstGeom prst="rect">
            <a:avLst/>
          </a:prstGeom>
          <a:noFill/>
          <a:ln w="9525" cap="flat">
            <a:solidFill>
              <a:srgbClr val="3465A4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360" tIns="44280" rIns="90360" bIns="4428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>
              <a:lnSpc>
                <a:spcPct val="96000"/>
              </a:lnSpc>
              <a:buClrTx/>
              <a:buFontTx/>
              <a:buNone/>
            </a:pPr>
            <a:r>
              <a:rPr lang="en-GB" altLang="en-US" sz="2400">
                <a:latin typeface="Arial" panose="020B0604020202020204" pitchFamily="34" charset="0"/>
                <a:cs typeface="msmincho" charset="0"/>
              </a:rPr>
              <a:t>1 byte</a:t>
            </a:r>
          </a:p>
        </p:txBody>
      </p:sp>
      <p:grpSp>
        <p:nvGrpSpPr>
          <p:cNvPr id="44075" name="Group 43">
            <a:extLst>
              <a:ext uri="{FF2B5EF4-FFF2-40B4-BE49-F238E27FC236}">
                <a16:creationId xmlns:a16="http://schemas.microsoft.com/office/drawing/2014/main" id="{9EA0F75A-0519-4FF8-ACBA-C8485B5E37E7}"/>
              </a:ext>
            </a:extLst>
          </p:cNvPr>
          <p:cNvGrpSpPr>
            <a:grpSpLocks/>
          </p:cNvGrpSpPr>
          <p:nvPr/>
        </p:nvGrpSpPr>
        <p:grpSpPr bwMode="auto">
          <a:xfrm>
            <a:off x="1841501" y="3395664"/>
            <a:ext cx="1038225" cy="452437"/>
            <a:chOff x="200" y="2139"/>
            <a:chExt cx="654" cy="285"/>
          </a:xfrm>
        </p:grpSpPr>
        <p:sp>
          <p:nvSpPr>
            <p:cNvPr id="44076" name="AutoShape 44">
              <a:extLst>
                <a:ext uri="{FF2B5EF4-FFF2-40B4-BE49-F238E27FC236}">
                  <a16:creationId xmlns:a16="http://schemas.microsoft.com/office/drawing/2014/main" id="{C5D2F7C4-A3F5-450B-86B9-C84015039A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" y="2146"/>
              <a:ext cx="654" cy="270"/>
            </a:xfrm>
            <a:prstGeom prst="roundRect">
              <a:avLst>
                <a:gd name="adj" fmla="val 366"/>
              </a:avLst>
            </a:prstGeom>
            <a:solidFill>
              <a:srgbClr val="FFFFFF"/>
            </a:solidFill>
            <a:ln w="25560" cap="sq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44077" name="Text Box 45">
              <a:extLst>
                <a:ext uri="{FF2B5EF4-FFF2-40B4-BE49-F238E27FC236}">
                  <a16:creationId xmlns:a16="http://schemas.microsoft.com/office/drawing/2014/main" id="{CBC2AD0C-CBD7-4AC9-ACE5-C9AC656E5C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9" y="2139"/>
              <a:ext cx="636" cy="285"/>
            </a:xfrm>
            <a:prstGeom prst="rect">
              <a:avLst/>
            </a:prstGeom>
            <a:noFill/>
            <a:ln w="9525" cap="flat">
              <a:solidFill>
                <a:srgbClr val="3465A4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360" tIns="44280" rIns="90360" bIns="44280" anchor="ctr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9pPr>
            </a:lstStyle>
            <a:p>
              <a:pPr algn="ctr">
                <a:lnSpc>
                  <a:spcPct val="96000"/>
                </a:lnSpc>
                <a:buClrTx/>
                <a:buFontTx/>
                <a:buNone/>
              </a:pPr>
              <a:r>
                <a:rPr lang="en-GB" altLang="en-US" sz="2400" b="1">
                  <a:latin typeface="Arial" panose="020B0604020202020204" pitchFamily="34" charset="0"/>
                  <a:cs typeface="msmincho" charset="0"/>
                </a:rPr>
                <a:t>offset</a:t>
              </a:r>
            </a:p>
          </p:txBody>
        </p:sp>
      </p:grpSp>
      <p:grpSp>
        <p:nvGrpSpPr>
          <p:cNvPr id="44078" name="Group 46">
            <a:extLst>
              <a:ext uri="{FF2B5EF4-FFF2-40B4-BE49-F238E27FC236}">
                <a16:creationId xmlns:a16="http://schemas.microsoft.com/office/drawing/2014/main" id="{ACE6F01B-817A-4C8E-B20E-F96237AD6ECE}"/>
              </a:ext>
            </a:extLst>
          </p:cNvPr>
          <p:cNvGrpSpPr>
            <a:grpSpLocks/>
          </p:cNvGrpSpPr>
          <p:nvPr/>
        </p:nvGrpSpPr>
        <p:grpSpPr bwMode="auto">
          <a:xfrm>
            <a:off x="2881313" y="3395664"/>
            <a:ext cx="1092200" cy="452437"/>
            <a:chOff x="855" y="2139"/>
            <a:chExt cx="688" cy="285"/>
          </a:xfrm>
        </p:grpSpPr>
        <p:sp>
          <p:nvSpPr>
            <p:cNvPr id="44079" name="AutoShape 47">
              <a:extLst>
                <a:ext uri="{FF2B5EF4-FFF2-40B4-BE49-F238E27FC236}">
                  <a16:creationId xmlns:a16="http://schemas.microsoft.com/office/drawing/2014/main" id="{0586BD38-3738-46D5-BBBF-E92ED369B5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2" y="2146"/>
              <a:ext cx="654" cy="270"/>
            </a:xfrm>
            <a:prstGeom prst="roundRect">
              <a:avLst>
                <a:gd name="adj" fmla="val 366"/>
              </a:avLst>
            </a:prstGeom>
            <a:solidFill>
              <a:srgbClr val="FFFFFF"/>
            </a:solidFill>
            <a:ln w="25560" cap="sq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44080" name="Text Box 48">
              <a:extLst>
                <a:ext uri="{FF2B5EF4-FFF2-40B4-BE49-F238E27FC236}">
                  <a16:creationId xmlns:a16="http://schemas.microsoft.com/office/drawing/2014/main" id="{8E69AEA9-2184-4258-A4F4-AD37A5930E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5" y="2139"/>
              <a:ext cx="688" cy="285"/>
            </a:xfrm>
            <a:prstGeom prst="rect">
              <a:avLst/>
            </a:prstGeom>
            <a:noFill/>
            <a:ln w="9525" cap="flat">
              <a:solidFill>
                <a:srgbClr val="3465A4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360" tIns="44280" rIns="90360" bIns="44280" anchor="ctr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9pPr>
            </a:lstStyle>
            <a:p>
              <a:pPr algn="ctr">
                <a:lnSpc>
                  <a:spcPct val="96000"/>
                </a:lnSpc>
                <a:buClrTx/>
                <a:buFontTx/>
                <a:buNone/>
              </a:pPr>
              <a:r>
                <a:rPr lang="en-GB" altLang="en-US" sz="2400" b="1">
                  <a:latin typeface="Arial" panose="020B0604020202020204" pitchFamily="34" charset="0"/>
                  <a:cs typeface="msmincho" charset="0"/>
                </a:rPr>
                <a:t>Reser.</a:t>
              </a:r>
            </a:p>
          </p:txBody>
        </p:sp>
      </p:grpSp>
      <p:grpSp>
        <p:nvGrpSpPr>
          <p:cNvPr id="44081" name="Group 49">
            <a:extLst>
              <a:ext uri="{FF2B5EF4-FFF2-40B4-BE49-F238E27FC236}">
                <a16:creationId xmlns:a16="http://schemas.microsoft.com/office/drawing/2014/main" id="{A3E71989-28C3-49D0-95BB-406A07C7838A}"/>
              </a:ext>
            </a:extLst>
          </p:cNvPr>
          <p:cNvGrpSpPr>
            <a:grpSpLocks/>
          </p:cNvGrpSpPr>
          <p:nvPr/>
        </p:nvGrpSpPr>
        <p:grpSpPr bwMode="auto">
          <a:xfrm>
            <a:off x="3975101" y="3395664"/>
            <a:ext cx="2105025" cy="452437"/>
            <a:chOff x="1544" y="2139"/>
            <a:chExt cx="1326" cy="285"/>
          </a:xfrm>
        </p:grpSpPr>
        <p:sp>
          <p:nvSpPr>
            <p:cNvPr id="44082" name="AutoShape 50">
              <a:extLst>
                <a:ext uri="{FF2B5EF4-FFF2-40B4-BE49-F238E27FC236}">
                  <a16:creationId xmlns:a16="http://schemas.microsoft.com/office/drawing/2014/main" id="{BEE0AD3A-46C2-4A96-AF16-F91865EFF0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4" y="2146"/>
              <a:ext cx="1326" cy="270"/>
            </a:xfrm>
            <a:prstGeom prst="roundRect">
              <a:avLst>
                <a:gd name="adj" fmla="val 366"/>
              </a:avLst>
            </a:prstGeom>
            <a:solidFill>
              <a:srgbClr val="FFFFFF"/>
            </a:solidFill>
            <a:ln w="25560" cap="sq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44083" name="Text Box 51">
              <a:extLst>
                <a:ext uri="{FF2B5EF4-FFF2-40B4-BE49-F238E27FC236}">
                  <a16:creationId xmlns:a16="http://schemas.microsoft.com/office/drawing/2014/main" id="{0D5698B2-6D4D-4487-AC21-E986ADB030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09" y="2139"/>
              <a:ext cx="796" cy="285"/>
            </a:xfrm>
            <a:prstGeom prst="rect">
              <a:avLst/>
            </a:prstGeom>
            <a:noFill/>
            <a:ln w="9525" cap="flat">
              <a:solidFill>
                <a:srgbClr val="3465A4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360" tIns="44280" rIns="90360" bIns="44280" anchor="ctr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9pPr>
            </a:lstStyle>
            <a:p>
              <a:pPr algn="ctr">
                <a:lnSpc>
                  <a:spcPct val="96000"/>
                </a:lnSpc>
                <a:buClrTx/>
                <a:buFontTx/>
                <a:buNone/>
              </a:pPr>
              <a:r>
                <a:rPr lang="en-GB" altLang="en-US" sz="2400" b="1" dirty="0">
                  <a:latin typeface="Arial" panose="020B0604020202020204" pitchFamily="34" charset="0"/>
                  <a:cs typeface="msmincho" charset="0"/>
                </a:rPr>
                <a:t>Control</a:t>
              </a:r>
            </a:p>
          </p:txBody>
        </p:sp>
      </p:grpSp>
      <p:grpSp>
        <p:nvGrpSpPr>
          <p:cNvPr id="44084" name="Group 52">
            <a:extLst>
              <a:ext uri="{FF2B5EF4-FFF2-40B4-BE49-F238E27FC236}">
                <a16:creationId xmlns:a16="http://schemas.microsoft.com/office/drawing/2014/main" id="{D3DA34AC-F6CA-41D3-A19F-C53D63084C6A}"/>
              </a:ext>
            </a:extLst>
          </p:cNvPr>
          <p:cNvGrpSpPr>
            <a:grpSpLocks/>
          </p:cNvGrpSpPr>
          <p:nvPr/>
        </p:nvGrpSpPr>
        <p:grpSpPr bwMode="auto">
          <a:xfrm>
            <a:off x="6107114" y="3395664"/>
            <a:ext cx="4238625" cy="452437"/>
            <a:chOff x="2887" y="2139"/>
            <a:chExt cx="2670" cy="285"/>
          </a:xfrm>
        </p:grpSpPr>
        <p:sp>
          <p:nvSpPr>
            <p:cNvPr id="44085" name="AutoShape 53">
              <a:extLst>
                <a:ext uri="{FF2B5EF4-FFF2-40B4-BE49-F238E27FC236}">
                  <a16:creationId xmlns:a16="http://schemas.microsoft.com/office/drawing/2014/main" id="{CC9CDA07-C6FB-43C5-AA32-54167707EA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7" y="2146"/>
              <a:ext cx="2670" cy="270"/>
            </a:xfrm>
            <a:prstGeom prst="roundRect">
              <a:avLst>
                <a:gd name="adj" fmla="val 366"/>
              </a:avLst>
            </a:prstGeom>
            <a:solidFill>
              <a:srgbClr val="FFFFFF"/>
            </a:solidFill>
            <a:ln w="25560" cap="sq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44086" name="Text Box 54">
              <a:extLst>
                <a:ext uri="{FF2B5EF4-FFF2-40B4-BE49-F238E27FC236}">
                  <a16:creationId xmlns:a16="http://schemas.microsoft.com/office/drawing/2014/main" id="{05C75C75-C824-42B2-86CB-8ED1D280B5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8" y="2139"/>
              <a:ext cx="848" cy="285"/>
            </a:xfrm>
            <a:prstGeom prst="rect">
              <a:avLst/>
            </a:prstGeom>
            <a:noFill/>
            <a:ln w="9525" cap="flat">
              <a:solidFill>
                <a:srgbClr val="3465A4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360" tIns="44280" rIns="90360" bIns="44280" anchor="ctr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9pPr>
            </a:lstStyle>
            <a:p>
              <a:pPr algn="ctr">
                <a:lnSpc>
                  <a:spcPct val="96000"/>
                </a:lnSpc>
                <a:buClrTx/>
                <a:buFontTx/>
                <a:buNone/>
              </a:pPr>
              <a:r>
                <a:rPr lang="en-GB" altLang="en-US" sz="2400" b="1">
                  <a:latin typeface="Arial" panose="020B0604020202020204" pitchFamily="34" charset="0"/>
                  <a:cs typeface="msmincho" charset="0"/>
                </a:rPr>
                <a:t>Window</a:t>
              </a:r>
            </a:p>
          </p:txBody>
        </p:sp>
      </p:grpSp>
      <p:grpSp>
        <p:nvGrpSpPr>
          <p:cNvPr id="44087" name="Group 55">
            <a:extLst>
              <a:ext uri="{FF2B5EF4-FFF2-40B4-BE49-F238E27FC236}">
                <a16:creationId xmlns:a16="http://schemas.microsoft.com/office/drawing/2014/main" id="{746240FA-9A79-4757-8696-B06E40FAC987}"/>
              </a:ext>
            </a:extLst>
          </p:cNvPr>
          <p:cNvGrpSpPr>
            <a:grpSpLocks/>
          </p:cNvGrpSpPr>
          <p:nvPr/>
        </p:nvGrpSpPr>
        <p:grpSpPr bwMode="auto">
          <a:xfrm>
            <a:off x="1839914" y="3852864"/>
            <a:ext cx="4238625" cy="452437"/>
            <a:chOff x="199" y="2427"/>
            <a:chExt cx="2670" cy="285"/>
          </a:xfrm>
        </p:grpSpPr>
        <p:sp>
          <p:nvSpPr>
            <p:cNvPr id="44088" name="AutoShape 56">
              <a:extLst>
                <a:ext uri="{FF2B5EF4-FFF2-40B4-BE49-F238E27FC236}">
                  <a16:creationId xmlns:a16="http://schemas.microsoft.com/office/drawing/2014/main" id="{46CCD1DA-36E3-4F8D-AAFB-49DF745DC0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" y="2434"/>
              <a:ext cx="2670" cy="270"/>
            </a:xfrm>
            <a:prstGeom prst="roundRect">
              <a:avLst>
                <a:gd name="adj" fmla="val 366"/>
              </a:avLst>
            </a:prstGeom>
            <a:solidFill>
              <a:srgbClr val="FFFFFF"/>
            </a:solidFill>
            <a:ln w="25560" cap="sq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44089" name="Text Box 57">
              <a:extLst>
                <a:ext uri="{FF2B5EF4-FFF2-40B4-BE49-F238E27FC236}">
                  <a16:creationId xmlns:a16="http://schemas.microsoft.com/office/drawing/2014/main" id="{34692F53-D266-4A88-BFF9-F97CF79984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3" y="2427"/>
              <a:ext cx="1083" cy="285"/>
            </a:xfrm>
            <a:prstGeom prst="rect">
              <a:avLst/>
            </a:prstGeom>
            <a:noFill/>
            <a:ln w="9525" cap="flat">
              <a:solidFill>
                <a:srgbClr val="3465A4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360" tIns="44280" rIns="90360" bIns="44280" anchor="ctr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9pPr>
            </a:lstStyle>
            <a:p>
              <a:pPr algn="ctr">
                <a:lnSpc>
                  <a:spcPct val="96000"/>
                </a:lnSpc>
                <a:buClrTx/>
                <a:buFontTx/>
                <a:buNone/>
              </a:pPr>
              <a:r>
                <a:rPr lang="en-GB" altLang="en-US" sz="2400" b="1">
                  <a:latin typeface="Arial" panose="020B0604020202020204" pitchFamily="34" charset="0"/>
                  <a:cs typeface="msmincho" charset="0"/>
                </a:rPr>
                <a:t>Checksum</a:t>
              </a:r>
            </a:p>
          </p:txBody>
        </p:sp>
      </p:grpSp>
      <p:grpSp>
        <p:nvGrpSpPr>
          <p:cNvPr id="44090" name="Group 58">
            <a:extLst>
              <a:ext uri="{FF2B5EF4-FFF2-40B4-BE49-F238E27FC236}">
                <a16:creationId xmlns:a16="http://schemas.microsoft.com/office/drawing/2014/main" id="{B5EEF9EF-333F-4F59-93EA-8A1D4B7EEB1B}"/>
              </a:ext>
            </a:extLst>
          </p:cNvPr>
          <p:cNvGrpSpPr>
            <a:grpSpLocks/>
          </p:cNvGrpSpPr>
          <p:nvPr/>
        </p:nvGrpSpPr>
        <p:grpSpPr bwMode="auto">
          <a:xfrm>
            <a:off x="6107114" y="3852864"/>
            <a:ext cx="4238625" cy="452437"/>
            <a:chOff x="2887" y="2427"/>
            <a:chExt cx="2670" cy="285"/>
          </a:xfrm>
        </p:grpSpPr>
        <p:sp>
          <p:nvSpPr>
            <p:cNvPr id="44091" name="AutoShape 59">
              <a:extLst>
                <a:ext uri="{FF2B5EF4-FFF2-40B4-BE49-F238E27FC236}">
                  <a16:creationId xmlns:a16="http://schemas.microsoft.com/office/drawing/2014/main" id="{DD36B6E2-387B-4955-BFB7-4A252A9BC4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7" y="2434"/>
              <a:ext cx="2670" cy="270"/>
            </a:xfrm>
            <a:prstGeom prst="roundRect">
              <a:avLst>
                <a:gd name="adj" fmla="val 366"/>
              </a:avLst>
            </a:prstGeom>
            <a:solidFill>
              <a:srgbClr val="FFFFFF"/>
            </a:solidFill>
            <a:ln w="25560" cap="sq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44092" name="Text Box 60">
              <a:extLst>
                <a:ext uri="{FF2B5EF4-FFF2-40B4-BE49-F238E27FC236}">
                  <a16:creationId xmlns:a16="http://schemas.microsoft.com/office/drawing/2014/main" id="{0EFFD1D0-7E68-4ACB-8DA4-D54B08D2EF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9" y="2427"/>
              <a:ext cx="1447" cy="285"/>
            </a:xfrm>
            <a:prstGeom prst="rect">
              <a:avLst/>
            </a:prstGeom>
            <a:noFill/>
            <a:ln w="9525" cap="flat">
              <a:solidFill>
                <a:srgbClr val="3465A4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360" tIns="44280" rIns="90360" bIns="44280" anchor="ctr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9pPr>
            </a:lstStyle>
            <a:p>
              <a:pPr algn="ctr">
                <a:lnSpc>
                  <a:spcPct val="96000"/>
                </a:lnSpc>
                <a:buClrTx/>
                <a:buFontTx/>
                <a:buNone/>
              </a:pPr>
              <a:r>
                <a:rPr lang="en-GB" altLang="en-US" sz="2400" b="1">
                  <a:latin typeface="Arial" panose="020B0604020202020204" pitchFamily="34" charset="0"/>
                  <a:cs typeface="msmincho" charset="0"/>
                </a:rPr>
                <a:t>Urgent Pointer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D622B86-7DCD-4358-A119-34B5CA68A5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1204912"/>
            <a:ext cx="10344150" cy="44481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C018078-2DDB-420B-9078-F39F99DC62D7}"/>
              </a:ext>
            </a:extLst>
          </p:cNvPr>
          <p:cNvSpPr txBox="1"/>
          <p:nvPr/>
        </p:nvSpPr>
        <p:spPr>
          <a:xfrm>
            <a:off x="4876800" y="533400"/>
            <a:ext cx="1919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/>
              <a:t>TCP  Header Fields</a:t>
            </a:r>
          </a:p>
        </p:txBody>
      </p:sp>
    </p:spTree>
    <p:extLst>
      <p:ext uri="{BB962C8B-B14F-4D97-AF65-F5344CB8AC3E}">
        <p14:creationId xmlns:p14="http://schemas.microsoft.com/office/powerpoint/2010/main" val="24409740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ext Box 2">
            <a:extLst>
              <a:ext uri="{FF2B5EF4-FFF2-40B4-BE49-F238E27FC236}">
                <a16:creationId xmlns:a16="http://schemas.microsoft.com/office/drawing/2014/main" id="{22523C56-1721-4E00-85F2-7885BC1F9B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228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4000" u="sng" dirty="0">
                <a:solidFill>
                  <a:srgbClr val="3333CC"/>
                </a:solidFill>
                <a:latin typeface="+mj-lt"/>
              </a:rPr>
              <a:t>TCP Process 1</a:t>
            </a:r>
          </a:p>
        </p:txBody>
      </p:sp>
      <p:sp>
        <p:nvSpPr>
          <p:cNvPr id="47107" name="Text Box 3">
            <a:extLst>
              <a:ext uri="{FF2B5EF4-FFF2-40B4-BE49-F238E27FC236}">
                <a16:creationId xmlns:a16="http://schemas.microsoft.com/office/drawing/2014/main" id="{B97FC32D-E98A-45C6-92CA-0427DE1B5A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1" y="1600200"/>
            <a:ext cx="8386763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t"/>
          <a:lstStyle>
            <a:lvl1pPr marL="3413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 marL="457200" indent="-457200">
              <a:spcBef>
                <a:spcPts val="700"/>
              </a:spcBef>
              <a:buClr>
                <a:srgbClr val="3333CC"/>
              </a:buClr>
              <a:buSzPct val="85000"/>
              <a:buFont typeface="Arial"/>
              <a:buChar char="•"/>
            </a:pPr>
            <a:r>
              <a:rPr lang="en-US" altLang="en-US" sz="2800" dirty="0">
                <a:latin typeface="+mj-lt"/>
              </a:rPr>
              <a:t>When a client requests a connection, it sends a “SYN” segment (a special TCP segment) to the server port.</a:t>
            </a:r>
            <a:endParaRPr lang="en-US" dirty="0"/>
          </a:p>
          <a:p>
            <a:pPr marL="457200" indent="-457200">
              <a:spcBef>
                <a:spcPts val="700"/>
              </a:spcBef>
              <a:buClr>
                <a:srgbClr val="3333CC"/>
              </a:buClr>
              <a:buSzPct val="85000"/>
              <a:buFont typeface="Arial" panose="05000000000000000000" pitchFamily="2" charset="2"/>
              <a:buChar char="•"/>
            </a:pPr>
            <a:endParaRPr lang="en-US" altLang="en-US" sz="2800" dirty="0">
              <a:latin typeface="+mj-lt"/>
              <a:cs typeface="Calibri"/>
            </a:endParaRPr>
          </a:p>
          <a:p>
            <a:pPr marL="457200" indent="-457200">
              <a:spcBef>
                <a:spcPts val="700"/>
              </a:spcBef>
              <a:buClr>
                <a:srgbClr val="3333CC"/>
              </a:buClr>
              <a:buSzPct val="85000"/>
              <a:buFont typeface="Arial"/>
              <a:buChar char="•"/>
            </a:pPr>
            <a:r>
              <a:rPr lang="en-US" altLang="en-US" sz="2800" dirty="0">
                <a:latin typeface="+mj-lt"/>
              </a:rPr>
              <a:t>SYN stands for </a:t>
            </a:r>
            <a:r>
              <a:rPr lang="en-US" altLang="en-US" sz="2800" i="1" dirty="0">
                <a:latin typeface="+mj-lt"/>
              </a:rPr>
              <a:t>synchronize</a:t>
            </a:r>
            <a:r>
              <a:rPr lang="en-US" altLang="en-US" sz="2800" dirty="0">
                <a:latin typeface="+mj-lt"/>
              </a:rPr>
              <a:t>. The SYN message includes the client’s ISN.</a:t>
            </a:r>
            <a:endParaRPr lang="en-US" altLang="en-US" sz="2800" dirty="0">
              <a:latin typeface="+mj-lt"/>
              <a:cs typeface="Calibri"/>
            </a:endParaRPr>
          </a:p>
          <a:p>
            <a:pPr marL="457200" indent="-457200">
              <a:spcBef>
                <a:spcPts val="700"/>
              </a:spcBef>
              <a:buClr>
                <a:srgbClr val="3333CC"/>
              </a:buClr>
              <a:buSzPct val="85000"/>
              <a:buFont typeface="Arial" panose="05000000000000000000" pitchFamily="2" charset="2"/>
              <a:buChar char="•"/>
            </a:pPr>
            <a:endParaRPr lang="en-US" altLang="en-US" sz="2800" dirty="0">
              <a:latin typeface="+mj-lt"/>
              <a:cs typeface="Calibri"/>
            </a:endParaRPr>
          </a:p>
          <a:p>
            <a:pPr marL="457200" indent="-457200">
              <a:spcBef>
                <a:spcPts val="700"/>
              </a:spcBef>
              <a:buClr>
                <a:srgbClr val="3333CC"/>
              </a:buClr>
              <a:buSzPct val="85000"/>
              <a:buFont typeface="Arial"/>
              <a:buChar char="•"/>
            </a:pPr>
            <a:r>
              <a:rPr lang="en-US" altLang="en-US" sz="2800" dirty="0">
                <a:latin typeface="+mj-lt"/>
              </a:rPr>
              <a:t>ISN is Initial Sequence Number.</a:t>
            </a:r>
            <a:endParaRPr lang="en-US" altLang="en-US" sz="2800" dirty="0">
              <a:latin typeface="+mj-lt"/>
              <a:cs typeface="Calibri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ext Box 2">
            <a:extLst>
              <a:ext uri="{FF2B5EF4-FFF2-40B4-BE49-F238E27FC236}">
                <a16:creationId xmlns:a16="http://schemas.microsoft.com/office/drawing/2014/main" id="{7BA750D4-1D57-460A-872A-99DB5A92FB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228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r>
              <a:rPr lang="en-US" sz="4000" u="sng">
                <a:solidFill>
                  <a:srgbClr val="3333CC"/>
                </a:solidFill>
                <a:latin typeface="+mj-lt"/>
              </a:rPr>
              <a:t>TCP Process</a:t>
            </a:r>
            <a:r>
              <a:rPr lang="en-US" sz="4000" u="sng">
                <a:solidFill>
                  <a:srgbClr val="3333CC"/>
                </a:solidFill>
                <a:latin typeface="Calibri"/>
                <a:cs typeface="Calibri"/>
              </a:rPr>
              <a:t> 2</a:t>
            </a:r>
            <a:endParaRPr lang="en-US"/>
          </a:p>
        </p:txBody>
      </p:sp>
      <p:sp>
        <p:nvSpPr>
          <p:cNvPr id="48131" name="Text Box 3">
            <a:extLst>
              <a:ext uri="{FF2B5EF4-FFF2-40B4-BE49-F238E27FC236}">
                <a16:creationId xmlns:a16="http://schemas.microsoft.com/office/drawing/2014/main" id="{8AD49491-43AE-4DF8-AD7A-3202E4980D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1371600"/>
            <a:ext cx="7772400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t"/>
          <a:lstStyle>
            <a:lvl1pPr marL="3413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 marL="741363" indent="-28416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 marL="457200" indent="-457200">
              <a:spcBef>
                <a:spcPts val="700"/>
              </a:spcBef>
              <a:buClr>
                <a:srgbClr val="3333CC"/>
              </a:buClr>
              <a:buSzPct val="85000"/>
              <a:buFont typeface="Arial"/>
              <a:buChar char="•"/>
            </a:pPr>
            <a:r>
              <a:rPr lang="en-US" altLang="en-US" sz="2800" dirty="0">
                <a:latin typeface="+mj-lt"/>
              </a:rPr>
              <a:t>Every TCP segment includes a </a:t>
            </a:r>
            <a:r>
              <a:rPr lang="en-US" altLang="en-US" sz="2800" i="1" dirty="0">
                <a:latin typeface="+mj-lt"/>
              </a:rPr>
              <a:t>Sequence Number</a:t>
            </a:r>
            <a:r>
              <a:rPr lang="en-US" altLang="en-US" sz="2800" dirty="0">
                <a:latin typeface="+mj-lt"/>
              </a:rPr>
              <a:t> that refers to the first byte of </a:t>
            </a:r>
            <a:r>
              <a:rPr lang="en-US" altLang="en-US" sz="2800" i="1" dirty="0">
                <a:latin typeface="+mj-lt"/>
              </a:rPr>
              <a:t>data</a:t>
            </a:r>
            <a:r>
              <a:rPr lang="en-US" altLang="en-US" sz="2800" dirty="0">
                <a:latin typeface="+mj-lt"/>
              </a:rPr>
              <a:t> included in the segment.</a:t>
            </a:r>
            <a:endParaRPr lang="en-US" dirty="0">
              <a:cs typeface="Times New Roman"/>
            </a:endParaRPr>
          </a:p>
          <a:p>
            <a:pPr marL="457200" indent="-457200">
              <a:spcBef>
                <a:spcPts val="700"/>
              </a:spcBef>
              <a:buClr>
                <a:srgbClr val="3333CC"/>
              </a:buClr>
              <a:buSzPct val="85000"/>
              <a:buFont typeface="Arial" panose="05000000000000000000" pitchFamily="2" charset="2"/>
              <a:buChar char="•"/>
            </a:pPr>
            <a:endParaRPr lang="en-US" altLang="en-US" sz="2800" dirty="0">
              <a:latin typeface="+mj-lt"/>
              <a:cs typeface="Calibri"/>
            </a:endParaRPr>
          </a:p>
          <a:p>
            <a:pPr marL="457200" indent="-457200">
              <a:spcBef>
                <a:spcPts val="700"/>
              </a:spcBef>
              <a:buClr>
                <a:srgbClr val="3333CC"/>
              </a:buClr>
              <a:buSzPct val="85000"/>
              <a:buFont typeface="Arial"/>
              <a:buChar char="•"/>
            </a:pPr>
            <a:r>
              <a:rPr lang="en-US" altLang="en-US" sz="2800" dirty="0">
                <a:latin typeface="+mj-lt"/>
              </a:rPr>
              <a:t>Every TCP segment includes a </a:t>
            </a:r>
            <a:r>
              <a:rPr lang="en-US" altLang="en-US" sz="2800" i="1" dirty="0">
                <a:latin typeface="+mj-lt"/>
              </a:rPr>
              <a:t>Request Number</a:t>
            </a:r>
            <a:r>
              <a:rPr lang="en-US" altLang="en-US" sz="2800" dirty="0">
                <a:latin typeface="+mj-lt"/>
              </a:rPr>
              <a:t> (</a:t>
            </a:r>
            <a:r>
              <a:rPr lang="en-US" altLang="en-US" sz="2800" i="1" dirty="0">
                <a:latin typeface="+mj-lt"/>
              </a:rPr>
              <a:t>Acknowledgement Number</a:t>
            </a:r>
            <a:r>
              <a:rPr lang="en-US" altLang="en-US" sz="2800" dirty="0">
                <a:latin typeface="+mj-lt"/>
              </a:rPr>
              <a:t>) that indicates the byte number of the next data that is expected to be received.</a:t>
            </a:r>
            <a:endParaRPr lang="en-US" altLang="en-US" sz="2800" dirty="0">
              <a:latin typeface="+mj-lt"/>
              <a:cs typeface="Calibri"/>
            </a:endParaRPr>
          </a:p>
          <a:p>
            <a:pPr marL="800100" lvl="1" indent="-342900">
              <a:spcBef>
                <a:spcPts val="600"/>
              </a:spcBef>
              <a:buClr>
                <a:srgbClr val="3333CC"/>
              </a:buClr>
              <a:buSzPct val="75000"/>
              <a:buFont typeface="Arial"/>
              <a:buChar char="•"/>
            </a:pPr>
            <a:r>
              <a:rPr lang="en-US" altLang="en-US" sz="2400" dirty="0">
                <a:latin typeface="+mj-lt"/>
              </a:rPr>
              <a:t>All bytes up through this number have already been received.</a:t>
            </a:r>
            <a:endParaRPr lang="en-US" altLang="en-US" sz="2400" dirty="0">
              <a:latin typeface="+mj-lt"/>
              <a:cs typeface="Calibri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 Box 2">
            <a:extLst>
              <a:ext uri="{FF2B5EF4-FFF2-40B4-BE49-F238E27FC236}">
                <a16:creationId xmlns:a16="http://schemas.microsoft.com/office/drawing/2014/main" id="{8D1EFC72-533C-4C4A-94A0-343815D181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228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r>
              <a:rPr lang="en-US" sz="4000" u="sng">
                <a:solidFill>
                  <a:srgbClr val="3333CC"/>
                </a:solidFill>
                <a:latin typeface="+mn-lt"/>
              </a:rPr>
              <a:t>TCP Process</a:t>
            </a:r>
            <a:r>
              <a:rPr lang="en-US" sz="4000" u="sng">
                <a:solidFill>
                  <a:srgbClr val="3333CC"/>
                </a:solidFill>
                <a:latin typeface="Calibri"/>
                <a:cs typeface="Calibri"/>
              </a:rPr>
              <a:t> 3</a:t>
            </a:r>
            <a:endParaRPr lang="en-US"/>
          </a:p>
        </p:txBody>
      </p:sp>
      <p:sp>
        <p:nvSpPr>
          <p:cNvPr id="49155" name="Text Box 3">
            <a:extLst>
              <a:ext uri="{FF2B5EF4-FFF2-40B4-BE49-F238E27FC236}">
                <a16:creationId xmlns:a16="http://schemas.microsoft.com/office/drawing/2014/main" id="{F4BFF4A3-4437-432C-A5B7-D423F7CC84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1600200"/>
            <a:ext cx="7772400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t"/>
          <a:lstStyle>
            <a:lvl1pPr marL="3413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 marL="741363" indent="-28416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 marL="457200" indent="-457200">
              <a:spcBef>
                <a:spcPts val="700"/>
              </a:spcBef>
              <a:buClr>
                <a:srgbClr val="3333CC"/>
              </a:buClr>
              <a:buSzPct val="85000"/>
              <a:buFont typeface="Arial"/>
              <a:buChar char="•"/>
            </a:pPr>
            <a:r>
              <a:rPr lang="en-US" altLang="en-US" sz="2800" dirty="0">
                <a:latin typeface="+mn-lt"/>
              </a:rPr>
              <a:t>There are a bunch of control flags:</a:t>
            </a:r>
            <a:endParaRPr lang="en-US" dirty="0"/>
          </a:p>
          <a:p>
            <a:pPr marL="800100" lvl="1" indent="-342900">
              <a:spcBef>
                <a:spcPts val="600"/>
              </a:spcBef>
              <a:buClr>
                <a:srgbClr val="3333CC"/>
              </a:buClr>
              <a:buSzPct val="75000"/>
              <a:buFont typeface="Arial"/>
              <a:buChar char="•"/>
            </a:pPr>
            <a:r>
              <a:rPr lang="en-US" altLang="en-US" sz="2400" dirty="0">
                <a:latin typeface="+mn-lt"/>
              </a:rPr>
              <a:t>URG: urgent data included.</a:t>
            </a:r>
            <a:endParaRPr lang="en-US" altLang="en-US" sz="2400" dirty="0">
              <a:latin typeface="+mn-lt"/>
              <a:cs typeface="Calibri"/>
            </a:endParaRPr>
          </a:p>
          <a:p>
            <a:pPr marL="800100" lvl="1" indent="-342900">
              <a:spcBef>
                <a:spcPts val="600"/>
              </a:spcBef>
              <a:buClr>
                <a:srgbClr val="3333CC"/>
              </a:buClr>
              <a:buSzPct val="75000"/>
              <a:buFont typeface="Arial"/>
              <a:buChar char="•"/>
            </a:pPr>
            <a:r>
              <a:rPr lang="en-US" altLang="en-US" sz="2400" dirty="0">
                <a:latin typeface="+mn-lt"/>
              </a:rPr>
              <a:t>ACK: this segment is (among other things) an acknowledgement.</a:t>
            </a:r>
            <a:endParaRPr lang="en-US" altLang="en-US" sz="2400" dirty="0">
              <a:latin typeface="+mn-lt"/>
              <a:cs typeface="Calibri"/>
            </a:endParaRPr>
          </a:p>
          <a:p>
            <a:pPr marL="800100" lvl="1" indent="-342900">
              <a:spcBef>
                <a:spcPts val="600"/>
              </a:spcBef>
              <a:buClr>
                <a:srgbClr val="3333CC"/>
              </a:buClr>
              <a:buSzPct val="75000"/>
              <a:buFont typeface="Arial"/>
              <a:buChar char="•"/>
            </a:pPr>
            <a:r>
              <a:rPr lang="en-US" altLang="en-US" sz="2400" dirty="0">
                <a:latin typeface="+mn-lt"/>
              </a:rPr>
              <a:t>RST: error - abort the session.</a:t>
            </a:r>
            <a:endParaRPr lang="en-US" altLang="en-US" sz="2400" dirty="0">
              <a:latin typeface="+mn-lt"/>
              <a:cs typeface="Calibri"/>
            </a:endParaRPr>
          </a:p>
          <a:p>
            <a:pPr marL="800100" lvl="1" indent="-342900">
              <a:spcBef>
                <a:spcPts val="600"/>
              </a:spcBef>
              <a:buClr>
                <a:srgbClr val="3333CC"/>
              </a:buClr>
              <a:buSzPct val="75000"/>
              <a:buFont typeface="Arial"/>
              <a:buChar char="•"/>
            </a:pPr>
            <a:r>
              <a:rPr lang="en-US" altLang="en-US" sz="2400" dirty="0">
                <a:latin typeface="+mn-lt"/>
              </a:rPr>
              <a:t>SYN: synchronize Sequence Numbers (setup)</a:t>
            </a:r>
            <a:endParaRPr lang="en-US" altLang="en-US" sz="2400" dirty="0">
              <a:latin typeface="+mn-lt"/>
              <a:cs typeface="Calibri"/>
            </a:endParaRPr>
          </a:p>
          <a:p>
            <a:pPr marL="800100" lvl="1" indent="-342900">
              <a:spcBef>
                <a:spcPts val="600"/>
              </a:spcBef>
              <a:buClr>
                <a:srgbClr val="3333CC"/>
              </a:buClr>
              <a:buSzPct val="75000"/>
              <a:buFont typeface="Arial"/>
              <a:buChar char="•"/>
            </a:pPr>
            <a:r>
              <a:rPr lang="en-US" altLang="en-US" sz="2400" dirty="0">
                <a:latin typeface="+mn-lt"/>
              </a:rPr>
              <a:t>FIN: polite connection termination.</a:t>
            </a:r>
            <a:endParaRPr lang="en-US" altLang="en-US" sz="2400" dirty="0">
              <a:latin typeface="+mn-lt"/>
              <a:cs typeface="Calibri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ext Box 2">
            <a:extLst>
              <a:ext uri="{FF2B5EF4-FFF2-40B4-BE49-F238E27FC236}">
                <a16:creationId xmlns:a16="http://schemas.microsoft.com/office/drawing/2014/main" id="{3B00C0C0-6FB1-4458-80EC-62FF8DD976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228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r>
              <a:rPr lang="en-US" sz="4000" u="sng">
                <a:solidFill>
                  <a:srgbClr val="3333CC"/>
                </a:solidFill>
                <a:latin typeface="+mj-lt"/>
              </a:rPr>
              <a:t>TCP Process</a:t>
            </a:r>
            <a:r>
              <a:rPr lang="en-US" sz="4000" u="sng">
                <a:solidFill>
                  <a:srgbClr val="3333CC"/>
                </a:solidFill>
                <a:latin typeface="Calibri"/>
                <a:cs typeface="Calibri"/>
              </a:rPr>
              <a:t> 4</a:t>
            </a:r>
            <a:endParaRPr lang="en-US"/>
          </a:p>
        </p:txBody>
      </p:sp>
      <p:sp>
        <p:nvSpPr>
          <p:cNvPr id="50179" name="Text Box 3">
            <a:extLst>
              <a:ext uri="{FF2B5EF4-FFF2-40B4-BE49-F238E27FC236}">
                <a16:creationId xmlns:a16="http://schemas.microsoft.com/office/drawing/2014/main" id="{E91B8548-6C5F-46C9-9C49-F23D5693C8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1600200"/>
            <a:ext cx="8205788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t"/>
          <a:lstStyle>
            <a:lvl1pPr marL="3413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 marL="457200" indent="-457200">
              <a:spcBef>
                <a:spcPts val="700"/>
              </a:spcBef>
              <a:buClr>
                <a:srgbClr val="3333CC"/>
              </a:buClr>
              <a:buSzPct val="85000"/>
              <a:buFont typeface="Arial"/>
              <a:buChar char="•"/>
            </a:pPr>
            <a:r>
              <a:rPr lang="en-US" altLang="en-US" sz="2800" dirty="0">
                <a:latin typeface="+mj-lt"/>
              </a:rPr>
              <a:t>MSS: Maximum segment size (A TCP option)</a:t>
            </a:r>
            <a:endParaRPr lang="en-US" dirty="0">
              <a:cs typeface="Times New Roman"/>
            </a:endParaRPr>
          </a:p>
          <a:p>
            <a:pPr marL="457200" indent="-457200">
              <a:spcBef>
                <a:spcPts val="700"/>
              </a:spcBef>
              <a:buClr>
                <a:srgbClr val="3333CC"/>
              </a:buClr>
              <a:buSzPct val="85000"/>
              <a:buFont typeface="Arial" panose="05000000000000000000" pitchFamily="2" charset="2"/>
              <a:buChar char="•"/>
            </a:pPr>
            <a:endParaRPr lang="en-US" altLang="en-US" sz="2800" dirty="0">
              <a:latin typeface="+mj-lt"/>
              <a:cs typeface="Calibri"/>
            </a:endParaRPr>
          </a:p>
          <a:p>
            <a:pPr marL="457200" indent="-457200">
              <a:spcBef>
                <a:spcPts val="700"/>
              </a:spcBef>
              <a:buClr>
                <a:srgbClr val="3333CC"/>
              </a:buClr>
              <a:buSzPct val="85000"/>
              <a:buFont typeface="Arial"/>
              <a:buChar char="•"/>
            </a:pPr>
            <a:r>
              <a:rPr lang="en-US" altLang="en-US" sz="2800" dirty="0">
                <a:latin typeface="+mj-lt"/>
              </a:rPr>
              <a:t>Window: Every ACK includes a Window field that tells the sender how many bytes it can send before the receiver will have to toss it away (due to fixed buffer size).</a:t>
            </a:r>
            <a:endParaRPr lang="en-US" altLang="en-US" sz="2800" dirty="0">
              <a:latin typeface="+mj-lt"/>
              <a:cs typeface="Calibri"/>
            </a:endParaRPr>
          </a:p>
          <a:p>
            <a:pPr marL="340995" indent="-340995">
              <a:spcBef>
                <a:spcPts val="700"/>
              </a:spcBef>
              <a:buClr>
                <a:srgbClr val="3333CC"/>
              </a:buClr>
              <a:buSzPct val="85000"/>
              <a:buFont typeface="Wingdings" panose="05000000000000000000" pitchFamily="2" charset="2"/>
              <a:buNone/>
            </a:pPr>
            <a:endParaRPr lang="en-US" altLang="en-US" sz="2800" dirty="0">
              <a:latin typeface="+mj-lt"/>
              <a:cs typeface="Calibri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ext Box 2">
            <a:extLst>
              <a:ext uri="{FF2B5EF4-FFF2-40B4-BE49-F238E27FC236}">
                <a16:creationId xmlns:a16="http://schemas.microsoft.com/office/drawing/2014/main" id="{0CCB78F0-2389-4ECB-9FE3-6DCDFC93A0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228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4000" u="sng" dirty="0">
                <a:solidFill>
                  <a:srgbClr val="3333CC"/>
                </a:solidFill>
                <a:latin typeface="+mn-lt"/>
              </a:rPr>
              <a:t>TCP Connection Creation</a:t>
            </a:r>
          </a:p>
        </p:txBody>
      </p:sp>
      <p:sp>
        <p:nvSpPr>
          <p:cNvPr id="51203" name="Text Box 3">
            <a:extLst>
              <a:ext uri="{FF2B5EF4-FFF2-40B4-BE49-F238E27FC236}">
                <a16:creationId xmlns:a16="http://schemas.microsoft.com/office/drawing/2014/main" id="{79440DE1-1888-420F-894D-E98C6E47B7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1600200"/>
            <a:ext cx="7772400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t"/>
          <a:lstStyle>
            <a:lvl1pPr marL="3413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 marL="741363" indent="-28416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 marL="457200" indent="-457200">
              <a:spcBef>
                <a:spcPts val="700"/>
              </a:spcBef>
              <a:buClr>
                <a:srgbClr val="3333CC"/>
              </a:buClr>
              <a:buSzPct val="85000"/>
              <a:buFont typeface="Arial"/>
              <a:buChar char="•"/>
            </a:pPr>
            <a:r>
              <a:rPr lang="en-US" altLang="en-US" sz="2800" dirty="0">
                <a:latin typeface="+mn-lt"/>
              </a:rPr>
              <a:t>Programming details later - for now we are concerned with the actual communication.</a:t>
            </a:r>
            <a:endParaRPr lang="en-US" dirty="0">
              <a:cs typeface="Times New Roman"/>
            </a:endParaRPr>
          </a:p>
          <a:p>
            <a:pPr marL="457200" indent="-457200">
              <a:spcBef>
                <a:spcPts val="700"/>
              </a:spcBef>
              <a:buClr>
                <a:srgbClr val="3333CC"/>
              </a:buClr>
              <a:buSzPct val="85000"/>
              <a:buFont typeface="Arial" panose="05000000000000000000" pitchFamily="2" charset="2"/>
              <a:buChar char="•"/>
            </a:pPr>
            <a:endParaRPr lang="en-US" altLang="en-US" sz="2800" dirty="0">
              <a:latin typeface="+mn-lt"/>
              <a:cs typeface="Calibri"/>
            </a:endParaRPr>
          </a:p>
          <a:p>
            <a:pPr marL="457200" indent="-457200">
              <a:spcBef>
                <a:spcPts val="700"/>
              </a:spcBef>
              <a:buClr>
                <a:srgbClr val="3333CC"/>
              </a:buClr>
              <a:buSzPct val="85000"/>
              <a:buFont typeface="Arial"/>
              <a:buChar char="•"/>
            </a:pPr>
            <a:r>
              <a:rPr lang="en-US" altLang="en-US" sz="2800" dirty="0">
                <a:latin typeface="+mn-lt"/>
              </a:rPr>
              <a:t>A </a:t>
            </a:r>
            <a:r>
              <a:rPr lang="en-US" altLang="en-US" sz="2800" i="1" dirty="0">
                <a:latin typeface="+mn-lt"/>
              </a:rPr>
              <a:t>server</a:t>
            </a:r>
            <a:r>
              <a:rPr lang="en-US" altLang="en-US" sz="2800" dirty="0">
                <a:latin typeface="+mn-lt"/>
              </a:rPr>
              <a:t> accepts a connection.</a:t>
            </a:r>
            <a:endParaRPr lang="en-US" altLang="en-US" sz="2800" dirty="0">
              <a:latin typeface="+mn-lt"/>
              <a:cs typeface="Calibri"/>
            </a:endParaRPr>
          </a:p>
          <a:p>
            <a:pPr marL="800100" lvl="1" indent="-342900">
              <a:spcBef>
                <a:spcPts val="600"/>
              </a:spcBef>
              <a:buClr>
                <a:srgbClr val="3333CC"/>
              </a:buClr>
              <a:buSzPct val="75000"/>
              <a:buFont typeface="Arial"/>
              <a:buChar char="•"/>
            </a:pPr>
            <a:r>
              <a:rPr lang="en-US" altLang="en-US" sz="2400" dirty="0">
                <a:latin typeface="+mn-lt"/>
              </a:rPr>
              <a:t>Must be looking for new connections!</a:t>
            </a:r>
            <a:endParaRPr lang="en-US" altLang="en-US" sz="2400" dirty="0">
              <a:latin typeface="+mn-lt"/>
              <a:cs typeface="Calibri"/>
            </a:endParaRPr>
          </a:p>
          <a:p>
            <a:pPr marL="800100" lvl="1" indent="-342900">
              <a:spcBef>
                <a:spcPts val="600"/>
              </a:spcBef>
              <a:buClr>
                <a:srgbClr val="3333CC"/>
              </a:buClr>
              <a:buSzPct val="75000"/>
              <a:buFont typeface="Arial" panose="05000000000000000000" pitchFamily="2" charset="2"/>
              <a:buChar char="•"/>
            </a:pPr>
            <a:endParaRPr lang="en-US" altLang="en-US" sz="2400" dirty="0">
              <a:latin typeface="+mn-lt"/>
              <a:cs typeface="Calibri"/>
            </a:endParaRPr>
          </a:p>
          <a:p>
            <a:pPr marL="457200" indent="-457200">
              <a:spcBef>
                <a:spcPts val="700"/>
              </a:spcBef>
              <a:buClr>
                <a:srgbClr val="3333CC"/>
              </a:buClr>
              <a:buSzPct val="85000"/>
              <a:buFont typeface="Arial"/>
              <a:buChar char="•"/>
            </a:pPr>
            <a:r>
              <a:rPr lang="en-US" altLang="en-US" sz="2800" dirty="0">
                <a:latin typeface="+mn-lt"/>
              </a:rPr>
              <a:t>A </a:t>
            </a:r>
            <a:r>
              <a:rPr lang="en-US" altLang="en-US" sz="2800" i="1" dirty="0">
                <a:latin typeface="+mn-lt"/>
              </a:rPr>
              <a:t>client</a:t>
            </a:r>
            <a:r>
              <a:rPr lang="en-US" altLang="en-US" sz="2800" dirty="0">
                <a:latin typeface="+mn-lt"/>
              </a:rPr>
              <a:t> requests a connection.</a:t>
            </a:r>
            <a:endParaRPr lang="en-US" altLang="en-US" sz="2800" dirty="0">
              <a:latin typeface="+mn-lt"/>
              <a:cs typeface="Calibri"/>
            </a:endParaRPr>
          </a:p>
          <a:p>
            <a:pPr marL="800100" lvl="1" indent="-342900">
              <a:spcBef>
                <a:spcPts val="600"/>
              </a:spcBef>
              <a:buClr>
                <a:srgbClr val="3333CC"/>
              </a:buClr>
              <a:buSzPct val="75000"/>
              <a:buFont typeface="Arial"/>
              <a:buChar char="•"/>
            </a:pPr>
            <a:r>
              <a:rPr lang="en-US" altLang="en-US" sz="2400" dirty="0">
                <a:latin typeface="+mn-lt"/>
              </a:rPr>
              <a:t>Must </a:t>
            </a:r>
            <a:r>
              <a:rPr lang="en-US" altLang="en-US" sz="2400" i="1" dirty="0">
                <a:latin typeface="+mn-lt"/>
              </a:rPr>
              <a:t>know</a:t>
            </a:r>
            <a:r>
              <a:rPr lang="en-US" altLang="en-US" sz="2400" dirty="0">
                <a:latin typeface="+mn-lt"/>
              </a:rPr>
              <a:t> where the server is!</a:t>
            </a:r>
            <a:endParaRPr lang="en-US" altLang="en-US" sz="2400" dirty="0">
              <a:latin typeface="+mn-lt"/>
              <a:cs typeface="Calibri"/>
            </a:endParaRPr>
          </a:p>
          <a:p>
            <a:pPr marL="340995" indent="-340995">
              <a:spcBef>
                <a:spcPts val="700"/>
              </a:spcBef>
              <a:buClr>
                <a:srgbClr val="3333CC"/>
              </a:buClr>
              <a:buSzPct val="85000"/>
              <a:buFont typeface="Wingdings" panose="05000000000000000000" pitchFamily="2" charset="2"/>
              <a:buNone/>
            </a:pPr>
            <a:endParaRPr lang="en-US" altLang="en-US" sz="2800" dirty="0">
              <a:latin typeface="+mn-lt"/>
              <a:cs typeface="Calibri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ext Box 2">
            <a:extLst>
              <a:ext uri="{FF2B5EF4-FFF2-40B4-BE49-F238E27FC236}">
                <a16:creationId xmlns:a16="http://schemas.microsoft.com/office/drawing/2014/main" id="{274F0DC4-50DA-4260-A7F3-3B28BF11A5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228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4000" u="sng">
                <a:solidFill>
                  <a:srgbClr val="3333CC"/>
                </a:solidFill>
                <a:latin typeface="+mj-lt"/>
              </a:rPr>
              <a:t>Client Starts</a:t>
            </a:r>
          </a:p>
        </p:txBody>
      </p:sp>
      <p:sp>
        <p:nvSpPr>
          <p:cNvPr id="52227" name="Text Box 3">
            <a:extLst>
              <a:ext uri="{FF2B5EF4-FFF2-40B4-BE49-F238E27FC236}">
                <a16:creationId xmlns:a16="http://schemas.microsoft.com/office/drawing/2014/main" id="{01047816-C8B3-4FA3-B76B-77898CF0F7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1" y="1600200"/>
            <a:ext cx="8291513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t"/>
          <a:lstStyle>
            <a:lvl1pPr marL="3413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 marL="741363" indent="-28416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 marL="457200" indent="-457200">
              <a:spcBef>
                <a:spcPts val="1800"/>
              </a:spcBef>
              <a:buClr>
                <a:srgbClr val="3333CC"/>
              </a:buClr>
              <a:buSzPct val="85000"/>
              <a:buFont typeface="Arial"/>
              <a:buChar char="•"/>
            </a:pPr>
            <a:r>
              <a:rPr lang="en-US" altLang="en-US" sz="2800" dirty="0">
                <a:latin typeface="+mj-lt"/>
              </a:rPr>
              <a:t>A client starts by sending a SYN segment with the following information:</a:t>
            </a:r>
            <a:endParaRPr lang="en-US" dirty="0">
              <a:cs typeface="Times New Roman"/>
            </a:endParaRPr>
          </a:p>
          <a:p>
            <a:pPr marL="800100" lvl="1" indent="-342900">
              <a:spcBef>
                <a:spcPts val="1800"/>
              </a:spcBef>
              <a:buClr>
                <a:srgbClr val="3333CC"/>
              </a:buClr>
              <a:buSzPct val="75000"/>
              <a:buFont typeface="Arial"/>
              <a:buChar char="•"/>
            </a:pPr>
            <a:r>
              <a:rPr lang="en-US" altLang="en-US" sz="2400" dirty="0">
                <a:latin typeface="+mj-lt"/>
              </a:rPr>
              <a:t>Client’s ISN (generated pseudo-randomly)</a:t>
            </a:r>
            <a:endParaRPr lang="en-US" altLang="en-US" sz="2400" dirty="0">
              <a:latin typeface="+mj-lt"/>
              <a:cs typeface="Calibri"/>
            </a:endParaRPr>
          </a:p>
          <a:p>
            <a:pPr marL="800100" lvl="1" indent="-342900">
              <a:spcBef>
                <a:spcPts val="1800"/>
              </a:spcBef>
              <a:buClr>
                <a:srgbClr val="3333CC"/>
              </a:buClr>
              <a:buSzPct val="75000"/>
              <a:buFont typeface="Arial"/>
              <a:buChar char="•"/>
            </a:pPr>
            <a:r>
              <a:rPr lang="en-US" altLang="en-US" sz="2400" dirty="0">
                <a:latin typeface="+mj-lt"/>
              </a:rPr>
              <a:t>Maximum Receive Window for client.</a:t>
            </a:r>
            <a:endParaRPr lang="en-US" altLang="en-US" sz="2400" dirty="0">
              <a:latin typeface="+mj-lt"/>
              <a:cs typeface="Calibri"/>
            </a:endParaRPr>
          </a:p>
          <a:p>
            <a:pPr marL="800100" lvl="1" indent="-342900">
              <a:spcBef>
                <a:spcPts val="1800"/>
              </a:spcBef>
              <a:buClr>
                <a:srgbClr val="3333CC"/>
              </a:buClr>
              <a:buSzPct val="75000"/>
              <a:buFont typeface="Arial"/>
              <a:buChar char="•"/>
            </a:pPr>
            <a:r>
              <a:rPr lang="en-US" altLang="en-US" sz="2400" dirty="0">
                <a:latin typeface="+mj-lt"/>
              </a:rPr>
              <a:t>Optionally (but usually) MSS (largest segment accepted).</a:t>
            </a:r>
            <a:endParaRPr lang="en-US" altLang="en-US" sz="2400" dirty="0">
              <a:latin typeface="+mj-lt"/>
              <a:cs typeface="Calibri"/>
            </a:endParaRPr>
          </a:p>
          <a:p>
            <a:pPr marL="800100" lvl="1" indent="-342900">
              <a:spcBef>
                <a:spcPts val="1800"/>
              </a:spcBef>
              <a:buClr>
                <a:srgbClr val="3333CC"/>
              </a:buClr>
              <a:buSzPct val="75000"/>
              <a:buFont typeface="Arial"/>
              <a:buChar char="•"/>
            </a:pPr>
            <a:r>
              <a:rPr lang="en-US" altLang="en-US" sz="2400" dirty="0">
                <a:latin typeface="+mj-lt"/>
              </a:rPr>
              <a:t>No payload! (Only TCP headers)</a:t>
            </a:r>
            <a:endParaRPr lang="en-US" altLang="en-US" sz="2400" dirty="0">
              <a:latin typeface="+mj-lt"/>
              <a:cs typeface="Calibri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2">
            <a:extLst>
              <a:ext uri="{FF2B5EF4-FFF2-40B4-BE49-F238E27FC236}">
                <a16:creationId xmlns:a16="http://schemas.microsoft.com/office/drawing/2014/main" id="{06EDD211-B37C-43E0-AAD6-DCAF6D5368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228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4000" u="sng">
                <a:solidFill>
                  <a:srgbClr val="3333CC"/>
                </a:solidFill>
                <a:latin typeface="+mn-lt"/>
              </a:rPr>
              <a:t>Sever Response</a:t>
            </a:r>
          </a:p>
        </p:txBody>
      </p:sp>
      <p:sp>
        <p:nvSpPr>
          <p:cNvPr id="53251" name="Text Box 3">
            <a:extLst>
              <a:ext uri="{FF2B5EF4-FFF2-40B4-BE49-F238E27FC236}">
                <a16:creationId xmlns:a16="http://schemas.microsoft.com/office/drawing/2014/main" id="{5C4F9391-B5D7-4780-BAE5-9D8FE5B3B0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1295400"/>
            <a:ext cx="8053388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t"/>
          <a:lstStyle>
            <a:lvl1pPr marL="3413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 marL="741363" indent="-28416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 marL="457200" indent="-457200">
              <a:spcBef>
                <a:spcPts val="1800"/>
              </a:spcBef>
              <a:buClr>
                <a:srgbClr val="3333CC"/>
              </a:buClr>
              <a:buSzPct val="85000"/>
              <a:buFont typeface="Arial"/>
              <a:buChar char="•"/>
            </a:pPr>
            <a:r>
              <a:rPr lang="en-US" altLang="en-US" sz="2800" dirty="0">
                <a:latin typeface="+mn-lt"/>
              </a:rPr>
              <a:t>When a waiting server sees a new connection request, the server sends back a SYN segment with:</a:t>
            </a:r>
            <a:endParaRPr lang="en-US" dirty="0">
              <a:cs typeface="Times New Roman"/>
            </a:endParaRPr>
          </a:p>
          <a:p>
            <a:pPr marL="800100" lvl="1" indent="-342900">
              <a:spcBef>
                <a:spcPts val="1800"/>
              </a:spcBef>
              <a:buClr>
                <a:srgbClr val="3333CC"/>
              </a:buClr>
              <a:buSzPct val="75000"/>
              <a:buFont typeface="Arial"/>
              <a:buChar char="•"/>
            </a:pPr>
            <a:r>
              <a:rPr lang="en-US" altLang="en-US" sz="2400" dirty="0">
                <a:latin typeface="+mn-lt"/>
              </a:rPr>
              <a:t>Server’s ISN (generated pseudo-randomly)</a:t>
            </a:r>
            <a:endParaRPr lang="en-US" altLang="en-US" sz="2400" dirty="0">
              <a:latin typeface="+mn-lt"/>
              <a:cs typeface="Calibri"/>
            </a:endParaRPr>
          </a:p>
          <a:p>
            <a:pPr marL="800100" lvl="1" indent="-342900">
              <a:spcBef>
                <a:spcPts val="1800"/>
              </a:spcBef>
              <a:buClr>
                <a:srgbClr val="3333CC"/>
              </a:buClr>
              <a:buSzPct val="75000"/>
              <a:buFont typeface="Arial"/>
              <a:buChar char="•"/>
            </a:pPr>
            <a:r>
              <a:rPr lang="en-US" altLang="en-US" sz="2400" dirty="0">
                <a:latin typeface="+mn-lt"/>
              </a:rPr>
              <a:t>Request Number is Client ISN+1</a:t>
            </a:r>
            <a:endParaRPr lang="en-US" altLang="en-US" sz="2400" dirty="0">
              <a:latin typeface="+mn-lt"/>
              <a:cs typeface="Calibri"/>
            </a:endParaRPr>
          </a:p>
          <a:p>
            <a:pPr marL="800100" lvl="1" indent="-342900">
              <a:spcBef>
                <a:spcPts val="1800"/>
              </a:spcBef>
              <a:buClr>
                <a:srgbClr val="3333CC"/>
              </a:buClr>
              <a:buSzPct val="75000"/>
              <a:buFont typeface="Arial"/>
              <a:buChar char="•"/>
            </a:pPr>
            <a:r>
              <a:rPr lang="en-US" altLang="en-US" sz="2400" dirty="0">
                <a:latin typeface="+mn-lt"/>
              </a:rPr>
              <a:t>Maximum Receive Window for server.</a:t>
            </a:r>
            <a:endParaRPr lang="en-US" altLang="en-US" sz="2400" dirty="0">
              <a:latin typeface="+mn-lt"/>
              <a:cs typeface="Calibri"/>
            </a:endParaRPr>
          </a:p>
          <a:p>
            <a:pPr marL="800100" lvl="1" indent="-342900">
              <a:spcBef>
                <a:spcPts val="1800"/>
              </a:spcBef>
              <a:buClr>
                <a:srgbClr val="3333CC"/>
              </a:buClr>
              <a:buSzPct val="75000"/>
              <a:buFont typeface="Arial"/>
              <a:buChar char="•"/>
            </a:pPr>
            <a:r>
              <a:rPr lang="en-US" altLang="en-US" sz="2400" dirty="0">
                <a:latin typeface="+mn-lt"/>
              </a:rPr>
              <a:t>Optionally (but usually) MSS</a:t>
            </a:r>
            <a:r>
              <a:rPr lang="en-US" altLang="en-US" dirty="0">
                <a:latin typeface="+mn-lt"/>
              </a:rPr>
              <a:t> </a:t>
            </a:r>
            <a:endParaRPr lang="en-US" altLang="en-US" sz="2400" dirty="0">
              <a:latin typeface="+mn-lt"/>
              <a:cs typeface="Calibri"/>
            </a:endParaRPr>
          </a:p>
          <a:p>
            <a:pPr marL="800100" lvl="1" indent="-342900">
              <a:spcBef>
                <a:spcPts val="1800"/>
              </a:spcBef>
              <a:buClr>
                <a:srgbClr val="3333CC"/>
              </a:buClr>
              <a:buSzPct val="75000"/>
              <a:buFont typeface="Arial"/>
              <a:buChar char="•"/>
            </a:pPr>
            <a:r>
              <a:rPr lang="en-US" altLang="en-US" sz="2400" dirty="0">
                <a:latin typeface="+mn-lt"/>
              </a:rPr>
              <a:t>No payload! (Only TCP headers)</a:t>
            </a:r>
            <a:endParaRPr lang="en-US" altLang="en-US" sz="2400" dirty="0">
              <a:latin typeface="+mn-lt"/>
              <a:cs typeface="Calibri"/>
            </a:endParaRPr>
          </a:p>
          <a:p>
            <a:pPr marL="741045" lvl="1" indent="-283845">
              <a:spcBef>
                <a:spcPts val="600"/>
              </a:spcBef>
              <a:buClr>
                <a:srgbClr val="3333CC"/>
              </a:buClr>
              <a:buSzPct val="75000"/>
              <a:buFont typeface="Wingdings" panose="05000000000000000000" pitchFamily="2" charset="2"/>
              <a:buNone/>
            </a:pPr>
            <a:endParaRPr lang="en-US" altLang="en-US" sz="2400" dirty="0">
              <a:latin typeface="+mn-lt"/>
              <a:cs typeface="Calibri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ext Box 2">
            <a:extLst>
              <a:ext uri="{FF2B5EF4-FFF2-40B4-BE49-F238E27FC236}">
                <a16:creationId xmlns:a16="http://schemas.microsoft.com/office/drawing/2014/main" id="{47BA39A3-45C2-42E7-8A94-84A157A874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228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4000" u="sng">
                <a:solidFill>
                  <a:srgbClr val="3333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Finally</a:t>
            </a:r>
          </a:p>
        </p:txBody>
      </p:sp>
      <p:sp>
        <p:nvSpPr>
          <p:cNvPr id="54275" name="Text Box 3">
            <a:extLst>
              <a:ext uri="{FF2B5EF4-FFF2-40B4-BE49-F238E27FC236}">
                <a16:creationId xmlns:a16="http://schemas.microsoft.com/office/drawing/2014/main" id="{66346EDE-6D58-4DED-AD94-88518FCA38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1600200"/>
            <a:ext cx="7772400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t"/>
          <a:lstStyle>
            <a:lvl1pPr marL="3413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 marL="741363" indent="-28416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 marL="457200" indent="-457200">
              <a:spcBef>
                <a:spcPts val="1800"/>
              </a:spcBef>
              <a:buClr>
                <a:srgbClr val="3333CC"/>
              </a:buClr>
              <a:buSzPct val="85000"/>
              <a:buFont typeface="Arial"/>
              <a:buChar char="•"/>
            </a:pPr>
            <a:r>
              <a:rPr lang="en-US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When the Server’s SYN is received, the client sends back an ACK with:</a:t>
            </a:r>
            <a:endParaRPr lang="en-US" dirty="0">
              <a:cs typeface="Times New Roman"/>
            </a:endParaRPr>
          </a:p>
          <a:p>
            <a:pPr marL="800100" lvl="1" indent="-342900">
              <a:spcBef>
                <a:spcPts val="1800"/>
              </a:spcBef>
              <a:buClr>
                <a:srgbClr val="3333CC"/>
              </a:buClr>
              <a:buSzPct val="75000"/>
              <a:buFont typeface="Arial"/>
              <a:buChar char="•"/>
            </a:pP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Request Number is Server’s ISN+1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Line 2">
            <a:extLst>
              <a:ext uri="{FF2B5EF4-FFF2-40B4-BE49-F238E27FC236}">
                <a16:creationId xmlns:a16="http://schemas.microsoft.com/office/drawing/2014/main" id="{50920B45-ED31-45B9-822E-A12A9EBD610A}"/>
              </a:ext>
            </a:extLst>
          </p:cNvPr>
          <p:cNvSpPr>
            <a:spLocks noChangeShapeType="1"/>
          </p:cNvSpPr>
          <p:nvPr/>
        </p:nvSpPr>
        <p:spPr bwMode="auto">
          <a:xfrm>
            <a:off x="2657475" y="1066800"/>
            <a:ext cx="1588" cy="5029200"/>
          </a:xfrm>
          <a:prstGeom prst="line">
            <a:avLst/>
          </a:prstGeom>
          <a:noFill/>
          <a:ln w="381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55299" name="Text Box 3">
            <a:extLst>
              <a:ext uri="{FF2B5EF4-FFF2-40B4-BE49-F238E27FC236}">
                <a16:creationId xmlns:a16="http://schemas.microsoft.com/office/drawing/2014/main" id="{D5726AAD-7311-4B90-A354-ED72E86B17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3925" y="323851"/>
            <a:ext cx="1244600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3200" b="1"/>
              <a:t>Client</a:t>
            </a:r>
          </a:p>
        </p:txBody>
      </p:sp>
      <p:sp>
        <p:nvSpPr>
          <p:cNvPr id="55300" name="Line 4">
            <a:extLst>
              <a:ext uri="{FF2B5EF4-FFF2-40B4-BE49-F238E27FC236}">
                <a16:creationId xmlns:a16="http://schemas.microsoft.com/office/drawing/2014/main" id="{7F75E807-AF2E-45FA-9674-EDE22E3E94E7}"/>
              </a:ext>
            </a:extLst>
          </p:cNvPr>
          <p:cNvSpPr>
            <a:spLocks noChangeShapeType="1"/>
          </p:cNvSpPr>
          <p:nvPr/>
        </p:nvSpPr>
        <p:spPr bwMode="auto">
          <a:xfrm>
            <a:off x="9099550" y="1047750"/>
            <a:ext cx="1588" cy="5029200"/>
          </a:xfrm>
          <a:prstGeom prst="line">
            <a:avLst/>
          </a:prstGeom>
          <a:noFill/>
          <a:ln w="381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55301" name="Text Box 5">
            <a:extLst>
              <a:ext uri="{FF2B5EF4-FFF2-40B4-BE49-F238E27FC236}">
                <a16:creationId xmlns:a16="http://schemas.microsoft.com/office/drawing/2014/main" id="{1A036717-B963-4509-97AC-2351CFE63C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8201" y="304801"/>
            <a:ext cx="1336675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3200" b="1"/>
              <a:t>Server</a:t>
            </a:r>
          </a:p>
        </p:txBody>
      </p:sp>
      <p:grpSp>
        <p:nvGrpSpPr>
          <p:cNvPr id="55302" name="Group 6">
            <a:extLst>
              <a:ext uri="{FF2B5EF4-FFF2-40B4-BE49-F238E27FC236}">
                <a16:creationId xmlns:a16="http://schemas.microsoft.com/office/drawing/2014/main" id="{A1F9C549-E30F-4353-B739-08E39842C0B6}"/>
              </a:ext>
            </a:extLst>
          </p:cNvPr>
          <p:cNvGrpSpPr>
            <a:grpSpLocks/>
          </p:cNvGrpSpPr>
          <p:nvPr/>
        </p:nvGrpSpPr>
        <p:grpSpPr bwMode="auto">
          <a:xfrm>
            <a:off x="2667001" y="1143001"/>
            <a:ext cx="6399213" cy="989013"/>
            <a:chOff x="720" y="720"/>
            <a:chExt cx="4031" cy="623"/>
          </a:xfrm>
        </p:grpSpPr>
        <p:sp>
          <p:nvSpPr>
            <p:cNvPr id="55303" name="Line 7">
              <a:extLst>
                <a:ext uri="{FF2B5EF4-FFF2-40B4-BE49-F238E27FC236}">
                  <a16:creationId xmlns:a16="http://schemas.microsoft.com/office/drawing/2014/main" id="{0E2B38C8-FE04-4C6F-B086-31E6B712CD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768"/>
              <a:ext cx="4031" cy="575"/>
            </a:xfrm>
            <a:prstGeom prst="line">
              <a:avLst/>
            </a:prstGeom>
            <a:noFill/>
            <a:ln w="76320" cap="sq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55304" name="Rectangle 8">
              <a:extLst>
                <a:ext uri="{FF2B5EF4-FFF2-40B4-BE49-F238E27FC236}">
                  <a16:creationId xmlns:a16="http://schemas.microsoft.com/office/drawing/2014/main" id="{57358441-A18F-480D-BFD4-3713756DD3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720"/>
              <a:ext cx="1727" cy="575"/>
            </a:xfrm>
            <a:prstGeom prst="rect">
              <a:avLst/>
            </a:prstGeom>
            <a:solidFill>
              <a:srgbClr val="FFFFFF"/>
            </a:solidFill>
            <a:ln w="38160" cap="sq">
              <a:solidFill>
                <a:srgbClr val="000000"/>
              </a:solidFill>
              <a:miter lim="800000"/>
              <a:headEnd/>
              <a:tailEnd/>
            </a:ln>
            <a:effectLst>
              <a:outerShdw dist="107933" dir="2700000" algn="ctr" rotWithShape="0">
                <a:srgbClr val="808080"/>
              </a:outerShdw>
            </a:effectLst>
          </p:spPr>
          <p:txBody>
            <a:bodyPr wrap="none" lIns="90000" tIns="46800" rIns="90000" bIns="46800" anchor="ctr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US" altLang="en-US" sz="2400"/>
                <a:t>SYN</a:t>
              </a:r>
            </a:p>
            <a:p>
              <a:pPr algn="ctr">
                <a:buClrTx/>
                <a:buFontTx/>
                <a:buNone/>
              </a:pPr>
              <a:r>
                <a:rPr lang="en-US" altLang="en-US" sz="2400"/>
                <a:t>ISN=</a:t>
              </a:r>
              <a:r>
                <a:rPr lang="en-US" altLang="en-US" sz="2400" b="1" i="1"/>
                <a:t>X</a:t>
              </a:r>
            </a:p>
          </p:txBody>
        </p:sp>
        <p:sp>
          <p:nvSpPr>
            <p:cNvPr id="55305" name="Oval 9">
              <a:extLst>
                <a:ext uri="{FF2B5EF4-FFF2-40B4-BE49-F238E27FC236}">
                  <a16:creationId xmlns:a16="http://schemas.microsoft.com/office/drawing/2014/main" id="{DCB42A5A-C7DA-4E8C-B7F6-8F03BCD6FC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768"/>
              <a:ext cx="287" cy="287"/>
            </a:xfrm>
            <a:prstGeom prst="ellipse">
              <a:avLst/>
            </a:prstGeom>
            <a:solidFill>
              <a:srgbClr val="000000"/>
            </a:solidFill>
            <a:ln w="381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US" altLang="en-US" sz="2400" b="1">
                  <a:solidFill>
                    <a:srgbClr val="FFFFFF"/>
                  </a:solidFill>
                </a:rPr>
                <a:t>1</a:t>
              </a:r>
            </a:p>
          </p:txBody>
        </p:sp>
      </p:grpSp>
      <p:grpSp>
        <p:nvGrpSpPr>
          <p:cNvPr id="55306" name="Group 10">
            <a:extLst>
              <a:ext uri="{FF2B5EF4-FFF2-40B4-BE49-F238E27FC236}">
                <a16:creationId xmlns:a16="http://schemas.microsoft.com/office/drawing/2014/main" id="{8C4CF3A1-4E04-4107-A591-02498A5DDF1E}"/>
              </a:ext>
            </a:extLst>
          </p:cNvPr>
          <p:cNvGrpSpPr>
            <a:grpSpLocks/>
          </p:cNvGrpSpPr>
          <p:nvPr/>
        </p:nvGrpSpPr>
        <p:grpSpPr bwMode="auto">
          <a:xfrm>
            <a:off x="2667001" y="2743201"/>
            <a:ext cx="6399213" cy="950913"/>
            <a:chOff x="720" y="1728"/>
            <a:chExt cx="4031" cy="599"/>
          </a:xfrm>
        </p:grpSpPr>
        <p:sp>
          <p:nvSpPr>
            <p:cNvPr id="55307" name="Line 11">
              <a:extLst>
                <a:ext uri="{FF2B5EF4-FFF2-40B4-BE49-F238E27FC236}">
                  <a16:creationId xmlns:a16="http://schemas.microsoft.com/office/drawing/2014/main" id="{ABF5AAF7-236E-490E-BA74-AE31F463D2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19" y="1728"/>
              <a:ext cx="4033" cy="575"/>
            </a:xfrm>
            <a:prstGeom prst="line">
              <a:avLst/>
            </a:prstGeom>
            <a:noFill/>
            <a:ln w="76320" cap="sq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55308" name="Rectangle 12">
              <a:extLst>
                <a:ext uri="{FF2B5EF4-FFF2-40B4-BE49-F238E27FC236}">
                  <a16:creationId xmlns:a16="http://schemas.microsoft.com/office/drawing/2014/main" id="{7C9BD9AB-92AD-4188-A655-042C60AC17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752"/>
              <a:ext cx="1727" cy="575"/>
            </a:xfrm>
            <a:prstGeom prst="rect">
              <a:avLst/>
            </a:prstGeom>
            <a:solidFill>
              <a:srgbClr val="FFFFFF"/>
            </a:solidFill>
            <a:ln w="38160" cap="sq">
              <a:solidFill>
                <a:srgbClr val="000000"/>
              </a:solidFill>
              <a:miter lim="800000"/>
              <a:headEnd/>
              <a:tailEnd/>
            </a:ln>
            <a:effectLst>
              <a:outerShdw dist="107933" dir="2700000" algn="ctr" rotWithShape="0">
                <a:srgbClr val="808080"/>
              </a:outerShdw>
            </a:effectLst>
          </p:spPr>
          <p:txBody>
            <a:bodyPr wrap="none" lIns="90000" tIns="46800" rIns="90000" bIns="46800" anchor="ctr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US" altLang="en-US" sz="2400" dirty="0"/>
                <a:t>SYN</a:t>
              </a:r>
            </a:p>
            <a:p>
              <a:pPr algn="ctr">
                <a:buClrTx/>
                <a:buFontTx/>
                <a:buNone/>
              </a:pPr>
              <a:r>
                <a:rPr lang="en-US" altLang="en-US" sz="2400" dirty="0"/>
                <a:t>ISN=</a:t>
              </a:r>
              <a:r>
                <a:rPr lang="en-US" altLang="en-US" sz="2400" b="1" i="1" dirty="0"/>
                <a:t>Y</a:t>
              </a:r>
              <a:r>
                <a:rPr lang="en-US" altLang="en-US" sz="2400" dirty="0"/>
                <a:t> ACK=</a:t>
              </a:r>
              <a:r>
                <a:rPr lang="en-US" altLang="en-US" sz="2400" b="1" i="1" dirty="0"/>
                <a:t>X</a:t>
              </a:r>
              <a:r>
                <a:rPr lang="en-US" altLang="en-US" sz="2400" dirty="0"/>
                <a:t>+1</a:t>
              </a:r>
            </a:p>
          </p:txBody>
        </p:sp>
        <p:sp>
          <p:nvSpPr>
            <p:cNvPr id="55309" name="Oval 13">
              <a:extLst>
                <a:ext uri="{FF2B5EF4-FFF2-40B4-BE49-F238E27FC236}">
                  <a16:creationId xmlns:a16="http://schemas.microsoft.com/office/drawing/2014/main" id="{09791EC6-F223-485C-9A15-4EEF12F2E5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1776"/>
              <a:ext cx="287" cy="287"/>
            </a:xfrm>
            <a:prstGeom prst="ellipse">
              <a:avLst/>
            </a:prstGeom>
            <a:solidFill>
              <a:srgbClr val="000000"/>
            </a:solidFill>
            <a:ln w="381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US" altLang="en-US" sz="2400" b="1">
                  <a:solidFill>
                    <a:srgbClr val="FFFFFF"/>
                  </a:solidFill>
                </a:rPr>
                <a:t>2</a:t>
              </a:r>
            </a:p>
          </p:txBody>
        </p:sp>
      </p:grpSp>
      <p:grpSp>
        <p:nvGrpSpPr>
          <p:cNvPr id="55310" name="Group 14">
            <a:extLst>
              <a:ext uri="{FF2B5EF4-FFF2-40B4-BE49-F238E27FC236}">
                <a16:creationId xmlns:a16="http://schemas.microsoft.com/office/drawing/2014/main" id="{D645D36C-EBCB-4E05-92E5-EDCB47812C31}"/>
              </a:ext>
            </a:extLst>
          </p:cNvPr>
          <p:cNvGrpSpPr>
            <a:grpSpLocks/>
          </p:cNvGrpSpPr>
          <p:nvPr/>
        </p:nvGrpSpPr>
        <p:grpSpPr bwMode="auto">
          <a:xfrm>
            <a:off x="2667001" y="4267201"/>
            <a:ext cx="6399213" cy="1065213"/>
            <a:chOff x="720" y="2688"/>
            <a:chExt cx="4031" cy="671"/>
          </a:xfrm>
        </p:grpSpPr>
        <p:sp>
          <p:nvSpPr>
            <p:cNvPr id="55311" name="Line 15">
              <a:extLst>
                <a:ext uri="{FF2B5EF4-FFF2-40B4-BE49-F238E27FC236}">
                  <a16:creationId xmlns:a16="http://schemas.microsoft.com/office/drawing/2014/main" id="{CD693200-E499-4E17-86E3-27B2815AD7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2688"/>
              <a:ext cx="4031" cy="575"/>
            </a:xfrm>
            <a:prstGeom prst="line">
              <a:avLst/>
            </a:prstGeom>
            <a:noFill/>
            <a:ln w="76320" cap="sq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55312" name="Rectangle 16">
              <a:extLst>
                <a:ext uri="{FF2B5EF4-FFF2-40B4-BE49-F238E27FC236}">
                  <a16:creationId xmlns:a16="http://schemas.microsoft.com/office/drawing/2014/main" id="{D03DCF98-78BB-47CA-956A-50B20B6BF1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784"/>
              <a:ext cx="1727" cy="575"/>
            </a:xfrm>
            <a:prstGeom prst="rect">
              <a:avLst/>
            </a:prstGeom>
            <a:solidFill>
              <a:srgbClr val="FFFFFF"/>
            </a:solidFill>
            <a:ln w="38160" cap="sq">
              <a:solidFill>
                <a:srgbClr val="000000"/>
              </a:solidFill>
              <a:miter lim="800000"/>
              <a:headEnd/>
              <a:tailEnd/>
            </a:ln>
            <a:effectLst>
              <a:outerShdw dist="107933" dir="2700000" algn="ctr" rotWithShape="0">
                <a:srgbClr val="808080"/>
              </a:outerShdw>
            </a:effectLst>
          </p:spPr>
          <p:txBody>
            <a:bodyPr wrap="none" lIns="90000" tIns="46800" rIns="90000" bIns="46800" anchor="ctr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US" altLang="en-US" sz="2400"/>
                <a:t>ACK=</a:t>
              </a:r>
              <a:r>
                <a:rPr lang="en-US" altLang="en-US" sz="2400" b="1" i="1"/>
                <a:t>Y</a:t>
              </a:r>
              <a:r>
                <a:rPr lang="en-US" altLang="en-US" sz="2400"/>
                <a:t>+1</a:t>
              </a:r>
            </a:p>
          </p:txBody>
        </p:sp>
        <p:sp>
          <p:nvSpPr>
            <p:cNvPr id="55313" name="Oval 17">
              <a:extLst>
                <a:ext uri="{FF2B5EF4-FFF2-40B4-BE49-F238E27FC236}">
                  <a16:creationId xmlns:a16="http://schemas.microsoft.com/office/drawing/2014/main" id="{B66D29C0-76BD-42F3-8CD5-0A7F4DBED4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2832"/>
              <a:ext cx="287" cy="287"/>
            </a:xfrm>
            <a:prstGeom prst="ellipse">
              <a:avLst/>
            </a:prstGeom>
            <a:solidFill>
              <a:srgbClr val="000000"/>
            </a:solidFill>
            <a:ln w="381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US" altLang="en-US" sz="2400" b="1">
                  <a:solidFill>
                    <a:srgbClr val="FFFFFF"/>
                  </a:solidFill>
                </a:rPr>
                <a:t>3</a:t>
              </a:r>
            </a:p>
          </p:txBody>
        </p:sp>
      </p:grpSp>
      <p:sp>
        <p:nvSpPr>
          <p:cNvPr id="55314" name="Text Box 18">
            <a:extLst>
              <a:ext uri="{FF2B5EF4-FFF2-40B4-BE49-F238E27FC236}">
                <a16:creationId xmlns:a16="http://schemas.microsoft.com/office/drawing/2014/main" id="{C32ABE01-9706-4023-892D-457DC6FA8F9E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9605170" y="2740820"/>
            <a:ext cx="801687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2400"/>
              <a:t>time </a:t>
            </a:r>
          </a:p>
        </p:txBody>
      </p:sp>
      <p:sp>
        <p:nvSpPr>
          <p:cNvPr id="55315" name="Line 19">
            <a:extLst>
              <a:ext uri="{FF2B5EF4-FFF2-40B4-BE49-F238E27FC236}">
                <a16:creationId xmlns:a16="http://schemas.microsoft.com/office/drawing/2014/main" id="{B9647623-F679-4B5D-B3D6-A5645858C4A1}"/>
              </a:ext>
            </a:extLst>
          </p:cNvPr>
          <p:cNvSpPr>
            <a:spLocks noChangeShapeType="1"/>
          </p:cNvSpPr>
          <p:nvPr/>
        </p:nvSpPr>
        <p:spPr bwMode="auto">
          <a:xfrm>
            <a:off x="9829800" y="1981200"/>
            <a:ext cx="1588" cy="1981200"/>
          </a:xfrm>
          <a:prstGeom prst="lin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40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ext Box 2">
            <a:extLst>
              <a:ext uri="{FF2B5EF4-FFF2-40B4-BE49-F238E27FC236}">
                <a16:creationId xmlns:a16="http://schemas.microsoft.com/office/drawing/2014/main" id="{885C72A6-A49F-4FF6-AEE9-25781D7A9D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228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4000" u="sng">
                <a:solidFill>
                  <a:srgbClr val="3333CC"/>
                </a:solidFill>
                <a:latin typeface="+mj-lt"/>
              </a:rPr>
              <a:t>TCP Data and ACK</a:t>
            </a:r>
          </a:p>
        </p:txBody>
      </p:sp>
      <p:sp>
        <p:nvSpPr>
          <p:cNvPr id="56323" name="Text Box 3">
            <a:extLst>
              <a:ext uri="{FF2B5EF4-FFF2-40B4-BE49-F238E27FC236}">
                <a16:creationId xmlns:a16="http://schemas.microsoft.com/office/drawing/2014/main" id="{E1BC9F94-4C4E-4F4C-A0C0-08AE7D275B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1600200"/>
            <a:ext cx="8312150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t"/>
          <a:lstStyle>
            <a:lvl1pPr marL="3413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 marL="457200" indent="-457200">
              <a:lnSpc>
                <a:spcPct val="90000"/>
              </a:lnSpc>
              <a:spcBef>
                <a:spcPts val="700"/>
              </a:spcBef>
              <a:buClr>
                <a:srgbClr val="3333CC"/>
              </a:buClr>
              <a:buSzPct val="85000"/>
              <a:buFont typeface="Arial"/>
              <a:buChar char="•"/>
            </a:pPr>
            <a:r>
              <a:rPr lang="en-US" altLang="en-US" sz="2800" dirty="0">
                <a:latin typeface="+mj-lt"/>
              </a:rPr>
              <a:t>Once the connection is established, data can be sent. </a:t>
            </a:r>
            <a:endParaRPr lang="en-US" dirty="0">
              <a:cs typeface="Times New Roman"/>
            </a:endParaRPr>
          </a:p>
          <a:p>
            <a:pPr marL="457200" indent="-457200">
              <a:lnSpc>
                <a:spcPct val="90000"/>
              </a:lnSpc>
              <a:spcBef>
                <a:spcPts val="700"/>
              </a:spcBef>
              <a:buClr>
                <a:srgbClr val="3333CC"/>
              </a:buClr>
              <a:buSzPct val="85000"/>
              <a:buFont typeface="Arial" panose="05000000000000000000" pitchFamily="2" charset="2"/>
              <a:buChar char="•"/>
            </a:pPr>
            <a:endParaRPr lang="en-US" altLang="en-US" sz="2800" dirty="0">
              <a:latin typeface="+mj-lt"/>
              <a:cs typeface="Calibri"/>
            </a:endParaRPr>
          </a:p>
          <a:p>
            <a:pPr marL="457200" indent="-457200">
              <a:lnSpc>
                <a:spcPct val="90000"/>
              </a:lnSpc>
              <a:spcBef>
                <a:spcPts val="700"/>
              </a:spcBef>
              <a:buClr>
                <a:srgbClr val="3333CC"/>
              </a:buClr>
              <a:buSzPct val="85000"/>
              <a:buFont typeface="Arial"/>
              <a:buChar char="•"/>
            </a:pPr>
            <a:r>
              <a:rPr lang="en-US" altLang="en-US" sz="2800" dirty="0">
                <a:latin typeface="+mj-lt"/>
              </a:rPr>
              <a:t>Each data segment includes a sequence number identifying the first byte in the segment.</a:t>
            </a:r>
            <a:endParaRPr lang="en-US" altLang="en-US" sz="2800" dirty="0">
              <a:latin typeface="+mj-lt"/>
              <a:cs typeface="Calibri"/>
            </a:endParaRPr>
          </a:p>
          <a:p>
            <a:pPr marL="457200" indent="-457200">
              <a:lnSpc>
                <a:spcPct val="90000"/>
              </a:lnSpc>
              <a:spcBef>
                <a:spcPts val="700"/>
              </a:spcBef>
              <a:buClr>
                <a:srgbClr val="3333CC"/>
              </a:buClr>
              <a:buSzPct val="85000"/>
              <a:buFont typeface="Arial" panose="05000000000000000000" pitchFamily="2" charset="2"/>
              <a:buChar char="•"/>
            </a:pPr>
            <a:endParaRPr lang="en-US" altLang="en-US" sz="2800" dirty="0">
              <a:latin typeface="+mj-lt"/>
              <a:cs typeface="Calibri"/>
            </a:endParaRPr>
          </a:p>
          <a:p>
            <a:pPr marL="457200" indent="-457200">
              <a:lnSpc>
                <a:spcPct val="90000"/>
              </a:lnSpc>
              <a:spcBef>
                <a:spcPts val="700"/>
              </a:spcBef>
              <a:buClr>
                <a:srgbClr val="3333CC"/>
              </a:buClr>
              <a:buSzPct val="85000"/>
              <a:buFont typeface="Arial"/>
              <a:buChar char="•"/>
            </a:pPr>
            <a:r>
              <a:rPr lang="en-US" altLang="en-US" sz="2800" dirty="0">
                <a:latin typeface="+mj-lt"/>
              </a:rPr>
              <a:t>Each segment (data or empty) includes a request number indicating what data has been received.</a:t>
            </a:r>
            <a:endParaRPr lang="en-US" altLang="en-US" sz="2800" dirty="0">
              <a:latin typeface="+mj-lt"/>
              <a:cs typeface="Calibri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ext Box 2">
            <a:extLst>
              <a:ext uri="{FF2B5EF4-FFF2-40B4-BE49-F238E27FC236}">
                <a16:creationId xmlns:a16="http://schemas.microsoft.com/office/drawing/2014/main" id="{3353AB43-A3CA-426C-9A68-35C02B49E3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6925" y="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4000" u="sng">
                <a:solidFill>
                  <a:srgbClr val="3333CC"/>
                </a:solidFill>
                <a:latin typeface="+mn-lt"/>
              </a:rPr>
              <a:t>TCP Buffers</a:t>
            </a:r>
          </a:p>
        </p:txBody>
      </p:sp>
      <p:sp>
        <p:nvSpPr>
          <p:cNvPr id="57347" name="Text Box 3">
            <a:extLst>
              <a:ext uri="{FF2B5EF4-FFF2-40B4-BE49-F238E27FC236}">
                <a16:creationId xmlns:a16="http://schemas.microsoft.com/office/drawing/2014/main" id="{560F3B03-C782-4DE9-BE0A-3AC6E51A9C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1001714"/>
            <a:ext cx="8280400" cy="5451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t"/>
          <a:lstStyle>
            <a:lvl1pPr marL="3413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 marL="741363" indent="-28416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 marL="457200" indent="-457200">
              <a:spcBef>
                <a:spcPts val="700"/>
              </a:spcBef>
              <a:buClr>
                <a:srgbClr val="3333CC"/>
              </a:buClr>
              <a:buSzPct val="85000"/>
              <a:buFont typeface="Arial"/>
              <a:buChar char="•"/>
            </a:pPr>
            <a:r>
              <a:rPr lang="en-US" altLang="en-US" sz="2800" dirty="0">
                <a:latin typeface="+mn-lt"/>
              </a:rPr>
              <a:t>The TCP layer doesn’t know when the application will ask for any received data.</a:t>
            </a:r>
            <a:endParaRPr lang="en-US" dirty="0">
              <a:cs typeface="Times New Roman"/>
            </a:endParaRPr>
          </a:p>
          <a:p>
            <a:pPr marL="800100" lvl="1" indent="-342900">
              <a:spcBef>
                <a:spcPts val="600"/>
              </a:spcBef>
              <a:buClr>
                <a:srgbClr val="3333CC"/>
              </a:buClr>
              <a:buSzPct val="75000"/>
              <a:buFont typeface="Arial"/>
              <a:buChar char="•"/>
            </a:pPr>
            <a:r>
              <a:rPr lang="en-US" altLang="en-US" sz="2400" dirty="0">
                <a:latin typeface="+mn-lt"/>
              </a:rPr>
              <a:t>TCP buffers incoming data so it’s ready when we ask for it.</a:t>
            </a:r>
            <a:endParaRPr lang="en-US" altLang="en-US" sz="2400" dirty="0">
              <a:latin typeface="+mn-lt"/>
              <a:cs typeface="Calibri"/>
            </a:endParaRPr>
          </a:p>
          <a:p>
            <a:pPr marL="800100" lvl="1" indent="-342900">
              <a:spcBef>
                <a:spcPts val="600"/>
              </a:spcBef>
              <a:buClr>
                <a:srgbClr val="3333CC"/>
              </a:buClr>
              <a:buSzPct val="75000"/>
              <a:buFont typeface="Arial" panose="05000000000000000000" pitchFamily="2" charset="2"/>
              <a:buChar char="•"/>
            </a:pPr>
            <a:endParaRPr lang="en-US" altLang="en-US" sz="2400" dirty="0">
              <a:latin typeface="+mn-lt"/>
              <a:cs typeface="Calibri"/>
            </a:endParaRPr>
          </a:p>
          <a:p>
            <a:pPr marL="457200" indent="-457200">
              <a:spcBef>
                <a:spcPts val="700"/>
              </a:spcBef>
              <a:buClr>
                <a:srgbClr val="3333CC"/>
              </a:buClr>
              <a:buSzPct val="85000"/>
              <a:buFont typeface="Arial"/>
              <a:buChar char="•"/>
            </a:pPr>
            <a:r>
              <a:rPr lang="en-US" altLang="en-US" sz="2800" dirty="0">
                <a:latin typeface="+mn-lt"/>
              </a:rPr>
              <a:t>Both the client and server allocate buffers to hold incoming and outgoing data</a:t>
            </a:r>
            <a:endParaRPr lang="en-US" altLang="en-US" sz="2800" dirty="0">
              <a:latin typeface="+mn-lt"/>
              <a:cs typeface="Calibri"/>
            </a:endParaRPr>
          </a:p>
          <a:p>
            <a:pPr marL="800100" lvl="1" indent="-342900">
              <a:spcBef>
                <a:spcPts val="600"/>
              </a:spcBef>
              <a:buClr>
                <a:srgbClr val="3333CC"/>
              </a:buClr>
              <a:buSzPct val="75000"/>
              <a:buFont typeface="Arial"/>
              <a:buChar char="•"/>
            </a:pPr>
            <a:r>
              <a:rPr lang="en-US" altLang="en-US" sz="2400" dirty="0">
                <a:latin typeface="+mn-lt"/>
              </a:rPr>
              <a:t>The TCP layer does this.</a:t>
            </a:r>
            <a:endParaRPr lang="en-US" altLang="en-US" sz="2400" dirty="0">
              <a:latin typeface="+mn-lt"/>
              <a:cs typeface="Calibri"/>
            </a:endParaRPr>
          </a:p>
          <a:p>
            <a:pPr marL="800100" lvl="1" indent="-342900">
              <a:spcBef>
                <a:spcPts val="600"/>
              </a:spcBef>
              <a:buClr>
                <a:srgbClr val="3333CC"/>
              </a:buClr>
              <a:buSzPct val="75000"/>
              <a:buFont typeface="Arial" panose="05000000000000000000" pitchFamily="2" charset="2"/>
              <a:buChar char="•"/>
            </a:pPr>
            <a:endParaRPr lang="en-US" altLang="en-US" sz="2400" dirty="0">
              <a:latin typeface="+mn-lt"/>
              <a:cs typeface="Calibri"/>
            </a:endParaRPr>
          </a:p>
          <a:p>
            <a:pPr marL="457200" indent="-457200">
              <a:spcBef>
                <a:spcPts val="700"/>
              </a:spcBef>
              <a:buClr>
                <a:srgbClr val="3333CC"/>
              </a:buClr>
              <a:buSzPct val="85000"/>
              <a:buFont typeface="Arial"/>
              <a:buChar char="•"/>
            </a:pPr>
            <a:r>
              <a:rPr lang="en-US" altLang="en-US" sz="2800" dirty="0">
                <a:latin typeface="+mn-lt"/>
              </a:rPr>
              <a:t>Both the client and server announce with every ACK how much buffer space remains (the Window field in a TCP segment).</a:t>
            </a:r>
            <a:endParaRPr lang="en-US" altLang="en-US" sz="2800" dirty="0">
              <a:latin typeface="+mn-lt"/>
              <a:cs typeface="Calibri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ext Box 2">
            <a:extLst>
              <a:ext uri="{FF2B5EF4-FFF2-40B4-BE49-F238E27FC236}">
                <a16:creationId xmlns:a16="http://schemas.microsoft.com/office/drawing/2014/main" id="{73E27874-CD4E-4309-936C-75197EAD9B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228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4000" u="sng" dirty="0">
                <a:solidFill>
                  <a:srgbClr val="3333CC"/>
                </a:solidFill>
                <a:latin typeface="Comic Sans MS" panose="030F0702030302020204" pitchFamily="66" charset="0"/>
              </a:rPr>
              <a:t>Send Buffers</a:t>
            </a:r>
          </a:p>
        </p:txBody>
      </p:sp>
      <p:sp>
        <p:nvSpPr>
          <p:cNvPr id="58371" name="Text Box 3">
            <a:extLst>
              <a:ext uri="{FF2B5EF4-FFF2-40B4-BE49-F238E27FC236}">
                <a16:creationId xmlns:a16="http://schemas.microsoft.com/office/drawing/2014/main" id="{4C16124F-AFF6-480C-B0F8-D3A01AB919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1489076"/>
            <a:ext cx="8440738" cy="4759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t"/>
          <a:lstStyle>
            <a:lvl1pPr marL="3413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 marL="741363" indent="-28416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 marL="457200" indent="-457200">
              <a:spcBef>
                <a:spcPts val="700"/>
              </a:spcBef>
              <a:buClr>
                <a:srgbClr val="3333CC"/>
              </a:buClr>
              <a:buSzPct val="85000"/>
              <a:buFont typeface="Arial"/>
              <a:buChar char="•"/>
            </a:pPr>
            <a:r>
              <a:rPr lang="en-US" altLang="en-US" sz="2800" dirty="0">
                <a:latin typeface="+mj-lt"/>
              </a:rPr>
              <a:t>The application gives the TCP layer some data to send.</a:t>
            </a:r>
            <a:endParaRPr lang="en-US" dirty="0">
              <a:latin typeface="+mj-lt"/>
              <a:cs typeface="Times New Roman"/>
            </a:endParaRPr>
          </a:p>
          <a:p>
            <a:pPr marL="457200" indent="-457200">
              <a:spcBef>
                <a:spcPts val="700"/>
              </a:spcBef>
              <a:buClr>
                <a:srgbClr val="3333CC"/>
              </a:buClr>
              <a:buSzPct val="85000"/>
              <a:buFont typeface="Arial" panose="05000000000000000000" pitchFamily="2" charset="2"/>
              <a:buChar char="•"/>
            </a:pPr>
            <a:endParaRPr lang="en-US" altLang="en-US" sz="2800" dirty="0">
              <a:latin typeface="+mj-lt"/>
            </a:endParaRPr>
          </a:p>
          <a:p>
            <a:pPr marL="457200" indent="-457200">
              <a:spcBef>
                <a:spcPts val="700"/>
              </a:spcBef>
              <a:buClr>
                <a:srgbClr val="3333CC"/>
              </a:buClr>
              <a:buSzPct val="85000"/>
              <a:buFont typeface="Arial"/>
              <a:buChar char="•"/>
            </a:pPr>
            <a:r>
              <a:rPr lang="en-US" altLang="en-US" sz="2800" dirty="0">
                <a:latin typeface="+mj-lt"/>
              </a:rPr>
              <a:t>The data is put in a send buffer, where it stays until the data is </a:t>
            </a:r>
            <a:r>
              <a:rPr lang="en-US" altLang="en-US" sz="2800" dirty="0" err="1">
                <a:latin typeface="+mj-lt"/>
              </a:rPr>
              <a:t>ACK’d</a:t>
            </a:r>
            <a:r>
              <a:rPr lang="en-US" altLang="en-US" sz="2800" dirty="0">
                <a:latin typeface="+mj-lt"/>
              </a:rPr>
              <a:t>.</a:t>
            </a:r>
          </a:p>
          <a:p>
            <a:pPr marL="800100" lvl="1" indent="-342900">
              <a:spcBef>
                <a:spcPts val="600"/>
              </a:spcBef>
              <a:buClr>
                <a:srgbClr val="3333CC"/>
              </a:buClr>
              <a:buSzPct val="75000"/>
              <a:buFont typeface="Arial"/>
              <a:buChar char="•"/>
            </a:pPr>
            <a:r>
              <a:rPr lang="en-US" altLang="en-US" sz="2400" dirty="0">
                <a:latin typeface="+mj-lt"/>
              </a:rPr>
              <a:t>it has to stay, as it might need to be sent again!</a:t>
            </a:r>
          </a:p>
          <a:p>
            <a:pPr marL="800100" lvl="1" indent="-342900">
              <a:spcBef>
                <a:spcPts val="600"/>
              </a:spcBef>
              <a:buClr>
                <a:srgbClr val="3333CC"/>
              </a:buClr>
              <a:buSzPct val="75000"/>
              <a:buFont typeface="Arial" panose="05000000000000000000" pitchFamily="2" charset="2"/>
              <a:buChar char="•"/>
            </a:pPr>
            <a:endParaRPr lang="en-US" altLang="en-US" sz="2400" dirty="0">
              <a:latin typeface="+mj-lt"/>
            </a:endParaRPr>
          </a:p>
          <a:p>
            <a:pPr marL="457200" indent="-457200">
              <a:spcBef>
                <a:spcPts val="700"/>
              </a:spcBef>
              <a:buClr>
                <a:srgbClr val="3333CC"/>
              </a:buClr>
              <a:buSzPct val="85000"/>
              <a:buFont typeface="Arial"/>
              <a:buChar char="•"/>
            </a:pPr>
            <a:r>
              <a:rPr lang="en-US" altLang="en-US" sz="2800" dirty="0">
                <a:latin typeface="+mj-lt"/>
              </a:rPr>
              <a:t>The TCP layer won’t accept data from the application unless (or until) there is buffer space</a:t>
            </a:r>
            <a:r>
              <a:rPr lang="en-US" altLang="en-US" sz="2800" dirty="0">
                <a:latin typeface="Comic Sans MS" panose="030F0702030302020204" pitchFamily="66" charset="0"/>
              </a:rPr>
              <a:t>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Text Box 1">
            <a:extLst>
              <a:ext uri="{FF2B5EF4-FFF2-40B4-BE49-F238E27FC236}">
                <a16:creationId xmlns:a16="http://schemas.microsoft.com/office/drawing/2014/main" id="{4535BE02-D9AD-47B8-9BD2-1BE71D2853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29801" y="6400800"/>
            <a:ext cx="6254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t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 algn="r">
              <a:buClrTx/>
              <a:buFontTx/>
              <a:buNone/>
            </a:pPr>
            <a:endParaRPr lang="en-US" altLang="en-US" sz="1400"/>
          </a:p>
        </p:txBody>
      </p:sp>
      <p:sp>
        <p:nvSpPr>
          <p:cNvPr id="59394" name="Text Box 2">
            <a:extLst>
              <a:ext uri="{FF2B5EF4-FFF2-40B4-BE49-F238E27FC236}">
                <a16:creationId xmlns:a16="http://schemas.microsoft.com/office/drawing/2014/main" id="{70239A0F-85B9-4446-A291-ADB2185E0A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228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4000" u="sng" dirty="0">
                <a:solidFill>
                  <a:srgbClr val="3333CC"/>
                </a:solidFill>
                <a:latin typeface="+mj-lt"/>
              </a:rPr>
              <a:t>ACKs</a:t>
            </a:r>
          </a:p>
        </p:txBody>
      </p:sp>
      <p:sp>
        <p:nvSpPr>
          <p:cNvPr id="59395" name="Text Box 3">
            <a:extLst>
              <a:ext uri="{FF2B5EF4-FFF2-40B4-BE49-F238E27FC236}">
                <a16:creationId xmlns:a16="http://schemas.microsoft.com/office/drawing/2014/main" id="{5D3AFB45-3D66-48B2-A8EF-94057C9B5A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1" y="1600200"/>
            <a:ext cx="8334375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t"/>
          <a:lstStyle>
            <a:lvl1pPr marL="3413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 marL="457200" indent="-457200">
              <a:lnSpc>
                <a:spcPct val="90000"/>
              </a:lnSpc>
              <a:spcBef>
                <a:spcPts val="700"/>
              </a:spcBef>
              <a:buClr>
                <a:srgbClr val="3333CC"/>
              </a:buClr>
              <a:buSzPct val="85000"/>
              <a:buFont typeface="Arial"/>
              <a:buChar char="•"/>
            </a:pPr>
            <a:r>
              <a:rPr lang="en-US" altLang="en-US" sz="2800" dirty="0">
                <a:latin typeface="+mj-lt"/>
              </a:rPr>
              <a:t>A receiver doesn’t have to ACK every segment (it can ACK many segments with a single ACK segment).</a:t>
            </a:r>
            <a:endParaRPr lang="en-US" dirty="0">
              <a:latin typeface="+mj-lt"/>
              <a:cs typeface="Times New Roman"/>
            </a:endParaRPr>
          </a:p>
          <a:p>
            <a:pPr marL="457200" indent="-457200">
              <a:lnSpc>
                <a:spcPct val="90000"/>
              </a:lnSpc>
              <a:spcBef>
                <a:spcPts val="700"/>
              </a:spcBef>
              <a:buClr>
                <a:srgbClr val="3333CC"/>
              </a:buClr>
              <a:buSzPct val="85000"/>
              <a:buFont typeface="Arial" panose="05000000000000000000" pitchFamily="2" charset="2"/>
              <a:buChar char="•"/>
            </a:pPr>
            <a:endParaRPr lang="en-US" altLang="en-US" sz="2800" dirty="0">
              <a:latin typeface="+mj-lt"/>
            </a:endParaRPr>
          </a:p>
          <a:p>
            <a:pPr marL="457200" indent="-457200">
              <a:lnSpc>
                <a:spcPct val="90000"/>
              </a:lnSpc>
              <a:spcBef>
                <a:spcPts val="700"/>
              </a:spcBef>
              <a:buClr>
                <a:srgbClr val="3333CC"/>
              </a:buClr>
              <a:buSzPct val="85000"/>
              <a:buFont typeface="Arial"/>
              <a:buChar char="•"/>
            </a:pPr>
            <a:r>
              <a:rPr lang="en-US" altLang="en-US" sz="2800" dirty="0">
                <a:latin typeface="+mj-lt"/>
              </a:rPr>
              <a:t>Each ACK can also contain outgoing data (piggybacking).</a:t>
            </a:r>
          </a:p>
          <a:p>
            <a:pPr marL="457200" indent="-457200">
              <a:lnSpc>
                <a:spcPct val="90000"/>
              </a:lnSpc>
              <a:spcBef>
                <a:spcPts val="700"/>
              </a:spcBef>
              <a:buClr>
                <a:srgbClr val="3333CC"/>
              </a:buClr>
              <a:buSzPct val="85000"/>
              <a:buFont typeface="Arial" panose="05000000000000000000" pitchFamily="2" charset="2"/>
              <a:buChar char="•"/>
            </a:pPr>
            <a:endParaRPr lang="en-US" altLang="en-US" sz="2800" dirty="0">
              <a:latin typeface="+mj-lt"/>
            </a:endParaRPr>
          </a:p>
          <a:p>
            <a:pPr marL="457200" indent="-457200">
              <a:lnSpc>
                <a:spcPct val="90000"/>
              </a:lnSpc>
              <a:spcBef>
                <a:spcPts val="700"/>
              </a:spcBef>
              <a:buClr>
                <a:srgbClr val="3333CC"/>
              </a:buClr>
              <a:buSzPct val="85000"/>
              <a:buFont typeface="Arial"/>
              <a:buChar char="•"/>
            </a:pPr>
            <a:r>
              <a:rPr lang="en-US" altLang="en-US" sz="2800" dirty="0">
                <a:latin typeface="+mj-lt"/>
              </a:rPr>
              <a:t>If a sender doesn’t get an ACK after some time limit (MSL) it resends the data.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ext Box 2">
            <a:extLst>
              <a:ext uri="{FF2B5EF4-FFF2-40B4-BE49-F238E27FC236}">
                <a16:creationId xmlns:a16="http://schemas.microsoft.com/office/drawing/2014/main" id="{607A8B9E-3C9F-4944-BDAA-9C9E14B9F1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228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4000" u="sng">
                <a:solidFill>
                  <a:srgbClr val="3333CC"/>
                </a:solidFill>
                <a:latin typeface="Comic Sans MS" panose="030F0702030302020204" pitchFamily="66" charset="0"/>
              </a:rPr>
              <a:t>TCP Segment Order</a:t>
            </a:r>
          </a:p>
        </p:txBody>
      </p:sp>
      <p:sp>
        <p:nvSpPr>
          <p:cNvPr id="60419" name="Text Box 3">
            <a:extLst>
              <a:ext uri="{FF2B5EF4-FFF2-40B4-BE49-F238E27FC236}">
                <a16:creationId xmlns:a16="http://schemas.microsoft.com/office/drawing/2014/main" id="{8A42D9BD-9D44-413B-ABE0-A60F3807B2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1600200"/>
            <a:ext cx="8312150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t"/>
          <a:lstStyle>
            <a:lvl1pPr marL="3413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 marL="741363" indent="-28416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 marL="457200" indent="-457200">
              <a:spcBef>
                <a:spcPts val="700"/>
              </a:spcBef>
              <a:buClr>
                <a:srgbClr val="3333CC"/>
              </a:buClr>
              <a:buSzPct val="85000"/>
              <a:buFont typeface="Arial"/>
              <a:buChar char="•"/>
            </a:pPr>
            <a:r>
              <a:rPr lang="en-US" altLang="en-US" sz="2800" dirty="0">
                <a:latin typeface="+mj-lt"/>
              </a:rPr>
              <a:t>Most TCP implementations will accept out-of-order segments (if there is room in the buffer).</a:t>
            </a:r>
            <a:endParaRPr lang="en-US" dirty="0">
              <a:latin typeface="+mj-lt"/>
              <a:cs typeface="Times New Roman"/>
            </a:endParaRPr>
          </a:p>
          <a:p>
            <a:pPr marL="800100" lvl="1" indent="-342900">
              <a:spcBef>
                <a:spcPts val="600"/>
              </a:spcBef>
              <a:buClr>
                <a:srgbClr val="3333CC"/>
              </a:buClr>
              <a:buSzPct val="75000"/>
              <a:buFont typeface="Arial" panose="05000000000000000000" pitchFamily="2" charset="2"/>
              <a:buChar char="•"/>
            </a:pPr>
            <a:endParaRPr lang="en-US" altLang="en-US" sz="2400" dirty="0">
              <a:latin typeface="+mj-lt"/>
            </a:endParaRPr>
          </a:p>
          <a:p>
            <a:pPr marL="457200" indent="-457200">
              <a:spcBef>
                <a:spcPts val="700"/>
              </a:spcBef>
              <a:buClr>
                <a:srgbClr val="3333CC"/>
              </a:buClr>
              <a:buSzPct val="85000"/>
              <a:buFont typeface="Arial"/>
              <a:buChar char="•"/>
            </a:pPr>
            <a:r>
              <a:rPr lang="en-US" altLang="en-US" sz="2800" dirty="0">
                <a:latin typeface="+mj-lt"/>
              </a:rPr>
              <a:t>Once the missing segments arrive, a single ACK can be sent for the whole thing.</a:t>
            </a:r>
          </a:p>
          <a:p>
            <a:pPr marL="800100" lvl="1" indent="-342900">
              <a:spcBef>
                <a:spcPts val="600"/>
              </a:spcBef>
              <a:buClr>
                <a:srgbClr val="3333CC"/>
              </a:buClr>
              <a:buSzPct val="75000"/>
              <a:buFont typeface="Arial" panose="05000000000000000000" pitchFamily="2" charset="2"/>
              <a:buChar char="•"/>
            </a:pPr>
            <a:endParaRPr lang="en-US" altLang="en-US" sz="2400" dirty="0">
              <a:latin typeface="+mj-lt"/>
            </a:endParaRPr>
          </a:p>
          <a:p>
            <a:pPr marL="457200" indent="-457200">
              <a:spcBef>
                <a:spcPts val="700"/>
              </a:spcBef>
              <a:buClr>
                <a:srgbClr val="3333CC"/>
              </a:buClr>
              <a:buSzPct val="85000"/>
              <a:buFont typeface="Arial"/>
              <a:buChar char="•"/>
            </a:pPr>
            <a:r>
              <a:rPr lang="en-US" altLang="en-US" sz="2800" dirty="0">
                <a:latin typeface="+mj-lt"/>
              </a:rPr>
              <a:t>Remember: IP delivers TCP segments, and IP in not reliable - IP datagrams can be lost or arrive out of order.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ext Box 2">
            <a:extLst>
              <a:ext uri="{FF2B5EF4-FFF2-40B4-BE49-F238E27FC236}">
                <a16:creationId xmlns:a16="http://schemas.microsoft.com/office/drawing/2014/main" id="{B2468DAC-CF6F-4AA0-A303-45B1988A2F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228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4000" u="sng">
                <a:solidFill>
                  <a:srgbClr val="3333CC"/>
                </a:solidFill>
                <a:latin typeface="+mn-lt"/>
              </a:rPr>
              <a:t>Termination</a:t>
            </a:r>
          </a:p>
        </p:txBody>
      </p:sp>
      <p:sp>
        <p:nvSpPr>
          <p:cNvPr id="61443" name="Text Box 3">
            <a:extLst>
              <a:ext uri="{FF2B5EF4-FFF2-40B4-BE49-F238E27FC236}">
                <a16:creationId xmlns:a16="http://schemas.microsoft.com/office/drawing/2014/main" id="{8426916D-B192-4E1C-AB65-1DF49C981F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3965" y="1335157"/>
            <a:ext cx="8153400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t"/>
          <a:lstStyle>
            <a:lvl1pPr marL="3413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 marL="457200" indent="-457200">
              <a:spcBef>
                <a:spcPts val="700"/>
              </a:spcBef>
              <a:buClr>
                <a:srgbClr val="3333CC"/>
              </a:buClr>
              <a:buSzPct val="85000"/>
              <a:buFont typeface="Arial"/>
              <a:buChar char="•"/>
            </a:pPr>
            <a:r>
              <a:rPr lang="en-US" altLang="en-US" sz="2800" dirty="0">
                <a:latin typeface="+mn-lt"/>
              </a:rPr>
              <a:t>The TCP layer can send a RST segment that terminates a connection if something is wrong.</a:t>
            </a:r>
            <a:endParaRPr lang="en-US" dirty="0">
              <a:cs typeface="Times New Roman"/>
            </a:endParaRPr>
          </a:p>
          <a:p>
            <a:pPr marL="457200" indent="-457200">
              <a:spcBef>
                <a:spcPts val="700"/>
              </a:spcBef>
              <a:buClr>
                <a:srgbClr val="3333CC"/>
              </a:buClr>
              <a:buSzPct val="85000"/>
              <a:buFont typeface="Arial" panose="05000000000000000000" pitchFamily="2" charset="2"/>
              <a:buChar char="•"/>
            </a:pPr>
            <a:endParaRPr lang="en-US" altLang="en-US" sz="2800" dirty="0">
              <a:latin typeface="+mn-lt"/>
              <a:cs typeface="Calibri"/>
            </a:endParaRPr>
          </a:p>
          <a:p>
            <a:pPr marL="457200" indent="-457200">
              <a:spcBef>
                <a:spcPts val="700"/>
              </a:spcBef>
              <a:buClr>
                <a:srgbClr val="3333CC"/>
              </a:buClr>
              <a:buSzPct val="85000"/>
              <a:buFont typeface="Arial"/>
              <a:buChar char="•"/>
            </a:pPr>
            <a:r>
              <a:rPr lang="en-US" altLang="en-US" sz="2800" dirty="0">
                <a:latin typeface="+mn-lt"/>
              </a:rPr>
              <a:t>Usually the application tells TCP to terminate the connection politely with a FIN segment.</a:t>
            </a:r>
            <a:endParaRPr lang="en-US" altLang="en-US" sz="2800" dirty="0">
              <a:latin typeface="+mn-lt"/>
              <a:cs typeface="Calibri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Text Box 1">
            <a:extLst>
              <a:ext uri="{FF2B5EF4-FFF2-40B4-BE49-F238E27FC236}">
                <a16:creationId xmlns:a16="http://schemas.microsoft.com/office/drawing/2014/main" id="{64D56337-47F3-4050-BD09-CCD916D8EA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29801" y="6400800"/>
            <a:ext cx="6254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t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 algn="r">
              <a:buClrTx/>
              <a:buFontTx/>
              <a:buNone/>
            </a:pPr>
            <a:endParaRPr lang="en-US" altLang="en-US" sz="1400"/>
          </a:p>
        </p:txBody>
      </p:sp>
      <p:sp>
        <p:nvSpPr>
          <p:cNvPr id="62466" name="Text Box 2">
            <a:extLst>
              <a:ext uri="{FF2B5EF4-FFF2-40B4-BE49-F238E27FC236}">
                <a16:creationId xmlns:a16="http://schemas.microsoft.com/office/drawing/2014/main" id="{76A43F0D-491D-4CA1-AC47-127163307E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228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4000" u="sng">
                <a:solidFill>
                  <a:srgbClr val="3333CC"/>
                </a:solidFill>
                <a:latin typeface="+mn-lt"/>
              </a:rPr>
              <a:t>FIN</a:t>
            </a:r>
          </a:p>
        </p:txBody>
      </p:sp>
      <p:sp>
        <p:nvSpPr>
          <p:cNvPr id="62467" name="Text Box 3">
            <a:extLst>
              <a:ext uri="{FF2B5EF4-FFF2-40B4-BE49-F238E27FC236}">
                <a16:creationId xmlns:a16="http://schemas.microsoft.com/office/drawing/2014/main" id="{EC3E2E54-E402-40BB-81D6-D938BDD354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1" y="1600200"/>
            <a:ext cx="8101013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t"/>
          <a:lstStyle>
            <a:lvl1pPr marL="3413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 marL="457200" indent="-457200">
              <a:spcBef>
                <a:spcPts val="1800"/>
              </a:spcBef>
              <a:buClr>
                <a:srgbClr val="3333CC"/>
              </a:buClr>
              <a:buSzPct val="85000"/>
              <a:buFont typeface="Arial"/>
              <a:buChar char="•"/>
            </a:pPr>
            <a:r>
              <a:rPr lang="en-US" altLang="en-US" sz="2800" dirty="0">
                <a:latin typeface="+mn-lt"/>
              </a:rPr>
              <a:t>Either end of the connection can initiate termination.</a:t>
            </a:r>
            <a:endParaRPr lang="en-US">
              <a:cs typeface="Times New Roman"/>
            </a:endParaRPr>
          </a:p>
          <a:p>
            <a:pPr marL="457200" indent="-457200">
              <a:spcBef>
                <a:spcPts val="1800"/>
              </a:spcBef>
              <a:buClr>
                <a:srgbClr val="3333CC"/>
              </a:buClr>
              <a:buSzPct val="85000"/>
              <a:buFont typeface="Arial"/>
              <a:buChar char="•"/>
            </a:pPr>
            <a:r>
              <a:rPr lang="en-US" altLang="en-US" sz="2800" dirty="0">
                <a:latin typeface="+mn-lt"/>
              </a:rPr>
              <a:t>A FIN is sent, which means the application is done sending data.</a:t>
            </a:r>
            <a:endParaRPr lang="en-US" altLang="en-US" sz="2800" dirty="0">
              <a:latin typeface="+mn-lt"/>
              <a:cs typeface="Calibri"/>
            </a:endParaRPr>
          </a:p>
          <a:p>
            <a:pPr marL="457200" indent="-457200">
              <a:spcBef>
                <a:spcPts val="1800"/>
              </a:spcBef>
              <a:buClr>
                <a:srgbClr val="3333CC"/>
              </a:buClr>
              <a:buSzPct val="85000"/>
              <a:buFont typeface="Arial"/>
              <a:buChar char="•"/>
            </a:pPr>
            <a:r>
              <a:rPr lang="en-US" altLang="en-US" sz="2800" dirty="0">
                <a:latin typeface="+mn-lt"/>
              </a:rPr>
              <a:t>The FIN is </a:t>
            </a:r>
            <a:r>
              <a:rPr lang="en-US" altLang="en-US" sz="2800" err="1">
                <a:latin typeface="+mn-lt"/>
              </a:rPr>
              <a:t>ACK’d</a:t>
            </a:r>
            <a:r>
              <a:rPr lang="en-US" altLang="en-US" sz="2800" dirty="0">
                <a:latin typeface="+mn-lt"/>
              </a:rPr>
              <a:t>.</a:t>
            </a:r>
            <a:endParaRPr lang="en-US" altLang="en-US" sz="2800" dirty="0">
              <a:latin typeface="+mn-lt"/>
              <a:cs typeface="Calibri"/>
            </a:endParaRPr>
          </a:p>
          <a:p>
            <a:pPr marL="457200" indent="-457200">
              <a:spcBef>
                <a:spcPts val="1800"/>
              </a:spcBef>
              <a:buClr>
                <a:srgbClr val="3333CC"/>
              </a:buClr>
              <a:buSzPct val="85000"/>
              <a:buFont typeface="Arial"/>
              <a:buChar char="•"/>
            </a:pPr>
            <a:r>
              <a:rPr lang="en-US" altLang="en-US" sz="2800" dirty="0">
                <a:latin typeface="+mn-lt"/>
              </a:rPr>
              <a:t>The other end must now send a FIN.</a:t>
            </a:r>
            <a:endParaRPr lang="en-US" altLang="en-US" sz="2800" dirty="0">
              <a:latin typeface="+mn-lt"/>
              <a:cs typeface="Calibri"/>
            </a:endParaRPr>
          </a:p>
          <a:p>
            <a:pPr marL="457200" indent="-457200">
              <a:spcBef>
                <a:spcPts val="1800"/>
              </a:spcBef>
              <a:buClr>
                <a:srgbClr val="3333CC"/>
              </a:buClr>
              <a:buSzPct val="85000"/>
              <a:buFont typeface="Arial"/>
              <a:buChar char="•"/>
            </a:pPr>
            <a:r>
              <a:rPr lang="en-US" altLang="en-US" sz="2800" dirty="0">
                <a:latin typeface="+mn-lt"/>
              </a:rPr>
              <a:t>That FIN must be </a:t>
            </a:r>
            <a:r>
              <a:rPr lang="en-US" altLang="en-US" sz="2800" err="1">
                <a:latin typeface="+mn-lt"/>
              </a:rPr>
              <a:t>ACK’d</a:t>
            </a:r>
            <a:r>
              <a:rPr lang="en-US" altLang="en-US" sz="2800" dirty="0">
                <a:latin typeface="+mn-lt"/>
              </a:rPr>
              <a:t>.</a:t>
            </a:r>
            <a:endParaRPr lang="en-US" altLang="en-US" sz="2800" dirty="0">
              <a:latin typeface="+mn-lt"/>
              <a:cs typeface="Calibri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Text Box 1">
            <a:extLst>
              <a:ext uri="{FF2B5EF4-FFF2-40B4-BE49-F238E27FC236}">
                <a16:creationId xmlns:a16="http://schemas.microsoft.com/office/drawing/2014/main" id="{EC8777B1-D1C1-4F8F-9BFF-70B15A4522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29801" y="6400800"/>
            <a:ext cx="6254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t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 algn="r">
              <a:buClrTx/>
              <a:buFontTx/>
              <a:buNone/>
            </a:pPr>
            <a:endParaRPr lang="en-US" altLang="en-US" sz="1400"/>
          </a:p>
        </p:txBody>
      </p:sp>
      <p:sp>
        <p:nvSpPr>
          <p:cNvPr id="63490" name="Text Box 2">
            <a:extLst>
              <a:ext uri="{FF2B5EF4-FFF2-40B4-BE49-F238E27FC236}">
                <a16:creationId xmlns:a16="http://schemas.microsoft.com/office/drawing/2014/main" id="{F59ECDF8-F874-44FE-9AA5-422305E125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3926" y="323851"/>
            <a:ext cx="1133475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3200" b="1"/>
              <a:t>App1</a:t>
            </a:r>
          </a:p>
        </p:txBody>
      </p:sp>
      <p:sp>
        <p:nvSpPr>
          <p:cNvPr id="63491" name="Line 3">
            <a:extLst>
              <a:ext uri="{FF2B5EF4-FFF2-40B4-BE49-F238E27FC236}">
                <a16:creationId xmlns:a16="http://schemas.microsoft.com/office/drawing/2014/main" id="{4ABDB243-B143-43EB-A2C7-3FF8AA691086}"/>
              </a:ext>
            </a:extLst>
          </p:cNvPr>
          <p:cNvSpPr>
            <a:spLocks noChangeShapeType="1"/>
          </p:cNvSpPr>
          <p:nvPr/>
        </p:nvSpPr>
        <p:spPr bwMode="auto">
          <a:xfrm>
            <a:off x="9067800" y="1066800"/>
            <a:ext cx="1588" cy="5029200"/>
          </a:xfrm>
          <a:prstGeom prst="line">
            <a:avLst/>
          </a:prstGeom>
          <a:noFill/>
          <a:ln w="38160" cap="sq">
            <a:solidFill>
              <a:srgbClr val="000000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63492" name="Text Box 4">
            <a:extLst>
              <a:ext uri="{FF2B5EF4-FFF2-40B4-BE49-F238E27FC236}">
                <a16:creationId xmlns:a16="http://schemas.microsoft.com/office/drawing/2014/main" id="{7F2B9840-FEBA-44A5-A151-02E2D1BDC2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8201" y="304801"/>
            <a:ext cx="1133475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3200" b="1"/>
              <a:t>App2</a:t>
            </a:r>
          </a:p>
        </p:txBody>
      </p:sp>
      <p:grpSp>
        <p:nvGrpSpPr>
          <p:cNvPr id="63493" name="Group 5">
            <a:extLst>
              <a:ext uri="{FF2B5EF4-FFF2-40B4-BE49-F238E27FC236}">
                <a16:creationId xmlns:a16="http://schemas.microsoft.com/office/drawing/2014/main" id="{2A2E8CCE-CDC2-42C3-AA09-DB597B053482}"/>
              </a:ext>
            </a:extLst>
          </p:cNvPr>
          <p:cNvGrpSpPr>
            <a:grpSpLocks/>
          </p:cNvGrpSpPr>
          <p:nvPr/>
        </p:nvGrpSpPr>
        <p:grpSpPr bwMode="auto">
          <a:xfrm>
            <a:off x="2667001" y="1143001"/>
            <a:ext cx="6399213" cy="989013"/>
            <a:chOff x="720" y="720"/>
            <a:chExt cx="4031" cy="623"/>
          </a:xfrm>
        </p:grpSpPr>
        <p:sp>
          <p:nvSpPr>
            <p:cNvPr id="63494" name="Line 6">
              <a:extLst>
                <a:ext uri="{FF2B5EF4-FFF2-40B4-BE49-F238E27FC236}">
                  <a16:creationId xmlns:a16="http://schemas.microsoft.com/office/drawing/2014/main" id="{8D9A64A8-41DC-4D46-B7E8-24D2AFADCC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768"/>
              <a:ext cx="4031" cy="575"/>
            </a:xfrm>
            <a:prstGeom prst="line">
              <a:avLst/>
            </a:prstGeom>
            <a:noFill/>
            <a:ln w="76320" cap="sq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63495" name="Rectangle 7">
              <a:extLst>
                <a:ext uri="{FF2B5EF4-FFF2-40B4-BE49-F238E27FC236}">
                  <a16:creationId xmlns:a16="http://schemas.microsoft.com/office/drawing/2014/main" id="{E221616B-4D3B-4AE1-A0C0-600296DA31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720"/>
              <a:ext cx="1727" cy="575"/>
            </a:xfrm>
            <a:prstGeom prst="rect">
              <a:avLst/>
            </a:prstGeom>
            <a:solidFill>
              <a:srgbClr val="FFFFFF"/>
            </a:solidFill>
            <a:ln w="38160" cap="sq">
              <a:solidFill>
                <a:srgbClr val="000000"/>
              </a:solidFill>
              <a:miter lim="800000"/>
              <a:headEnd/>
              <a:tailEnd/>
            </a:ln>
            <a:effectLst>
              <a:outerShdw dist="107933" dir="2700000" algn="ctr" rotWithShape="0">
                <a:srgbClr val="808080"/>
              </a:outerShdw>
            </a:effectLst>
          </p:spPr>
          <p:txBody>
            <a:bodyPr wrap="none" lIns="90000" tIns="46800" rIns="90000" bIns="46800" anchor="ctr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US" altLang="en-US" sz="2400"/>
                <a:t>FIN</a:t>
              </a:r>
            </a:p>
            <a:p>
              <a:pPr algn="ctr">
                <a:buClrTx/>
                <a:buFontTx/>
                <a:buNone/>
              </a:pPr>
              <a:r>
                <a:rPr lang="en-US" altLang="en-US" sz="2400"/>
                <a:t>SN=</a:t>
              </a:r>
              <a:r>
                <a:rPr lang="en-US" altLang="en-US" sz="2400" b="1" i="1"/>
                <a:t>X</a:t>
              </a:r>
            </a:p>
          </p:txBody>
        </p:sp>
        <p:sp>
          <p:nvSpPr>
            <p:cNvPr id="63496" name="Oval 8">
              <a:extLst>
                <a:ext uri="{FF2B5EF4-FFF2-40B4-BE49-F238E27FC236}">
                  <a16:creationId xmlns:a16="http://schemas.microsoft.com/office/drawing/2014/main" id="{54B3AE6E-A11C-4581-9864-314D6EB713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768"/>
              <a:ext cx="287" cy="287"/>
            </a:xfrm>
            <a:prstGeom prst="ellipse">
              <a:avLst/>
            </a:prstGeom>
            <a:solidFill>
              <a:srgbClr val="000000"/>
            </a:solidFill>
            <a:ln w="381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US" altLang="en-US" sz="2400" b="1">
                  <a:solidFill>
                    <a:srgbClr val="FFFFFF"/>
                  </a:solidFill>
                </a:rPr>
                <a:t>1</a:t>
              </a:r>
            </a:p>
          </p:txBody>
        </p:sp>
      </p:grpSp>
      <p:grpSp>
        <p:nvGrpSpPr>
          <p:cNvPr id="63497" name="Group 9">
            <a:extLst>
              <a:ext uri="{FF2B5EF4-FFF2-40B4-BE49-F238E27FC236}">
                <a16:creationId xmlns:a16="http://schemas.microsoft.com/office/drawing/2014/main" id="{3DF756EF-04BF-47DD-9263-34C17380E645}"/>
              </a:ext>
            </a:extLst>
          </p:cNvPr>
          <p:cNvGrpSpPr>
            <a:grpSpLocks/>
          </p:cNvGrpSpPr>
          <p:nvPr/>
        </p:nvGrpSpPr>
        <p:grpSpPr bwMode="auto">
          <a:xfrm>
            <a:off x="2667001" y="2362201"/>
            <a:ext cx="6399213" cy="950913"/>
            <a:chOff x="720" y="1488"/>
            <a:chExt cx="4031" cy="599"/>
          </a:xfrm>
        </p:grpSpPr>
        <p:sp>
          <p:nvSpPr>
            <p:cNvPr id="63498" name="Line 10">
              <a:extLst>
                <a:ext uri="{FF2B5EF4-FFF2-40B4-BE49-F238E27FC236}">
                  <a16:creationId xmlns:a16="http://schemas.microsoft.com/office/drawing/2014/main" id="{3CF4531A-CA8D-47BE-96F0-025961A771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19" y="1488"/>
              <a:ext cx="4033" cy="575"/>
            </a:xfrm>
            <a:prstGeom prst="line">
              <a:avLst/>
            </a:prstGeom>
            <a:noFill/>
            <a:ln w="76320" cap="sq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63499" name="Rectangle 11">
              <a:extLst>
                <a:ext uri="{FF2B5EF4-FFF2-40B4-BE49-F238E27FC236}">
                  <a16:creationId xmlns:a16="http://schemas.microsoft.com/office/drawing/2014/main" id="{384C4789-5B74-44C9-BE72-BC69AB6FD7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512"/>
              <a:ext cx="1727" cy="575"/>
            </a:xfrm>
            <a:prstGeom prst="rect">
              <a:avLst/>
            </a:prstGeom>
            <a:solidFill>
              <a:srgbClr val="FFFFFF"/>
            </a:solidFill>
            <a:ln w="38160" cap="sq">
              <a:solidFill>
                <a:srgbClr val="000000"/>
              </a:solidFill>
              <a:miter lim="800000"/>
              <a:headEnd/>
              <a:tailEnd/>
            </a:ln>
            <a:effectLst>
              <a:outerShdw dist="107933" dir="2700000" algn="ctr" rotWithShape="0">
                <a:srgbClr val="808080"/>
              </a:outerShdw>
            </a:effectLst>
          </p:spPr>
          <p:txBody>
            <a:bodyPr wrap="none" lIns="90000" tIns="46800" rIns="90000" bIns="46800" anchor="ctr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US" altLang="en-US" sz="2400"/>
                <a:t>ACK=</a:t>
              </a:r>
              <a:r>
                <a:rPr lang="en-US" altLang="en-US" sz="2400" b="1" i="1"/>
                <a:t>X</a:t>
              </a:r>
              <a:r>
                <a:rPr lang="en-US" altLang="en-US" sz="2400"/>
                <a:t>+1</a:t>
              </a:r>
            </a:p>
          </p:txBody>
        </p:sp>
        <p:sp>
          <p:nvSpPr>
            <p:cNvPr id="63500" name="Oval 12">
              <a:extLst>
                <a:ext uri="{FF2B5EF4-FFF2-40B4-BE49-F238E27FC236}">
                  <a16:creationId xmlns:a16="http://schemas.microsoft.com/office/drawing/2014/main" id="{622CC10A-7EDD-477B-AE2D-6C8545D1B3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1536"/>
              <a:ext cx="287" cy="287"/>
            </a:xfrm>
            <a:prstGeom prst="ellipse">
              <a:avLst/>
            </a:prstGeom>
            <a:solidFill>
              <a:srgbClr val="000000"/>
            </a:solidFill>
            <a:ln w="381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US" altLang="en-US" sz="2400" b="1">
                  <a:solidFill>
                    <a:srgbClr val="FFFFFF"/>
                  </a:solidFill>
                </a:rPr>
                <a:t>2</a:t>
              </a:r>
            </a:p>
          </p:txBody>
        </p:sp>
      </p:grpSp>
      <p:grpSp>
        <p:nvGrpSpPr>
          <p:cNvPr id="63501" name="Group 13">
            <a:extLst>
              <a:ext uri="{FF2B5EF4-FFF2-40B4-BE49-F238E27FC236}">
                <a16:creationId xmlns:a16="http://schemas.microsoft.com/office/drawing/2014/main" id="{BE906821-FE91-461E-ACFF-FF6B02551859}"/>
              </a:ext>
            </a:extLst>
          </p:cNvPr>
          <p:cNvGrpSpPr>
            <a:grpSpLocks/>
          </p:cNvGrpSpPr>
          <p:nvPr/>
        </p:nvGrpSpPr>
        <p:grpSpPr bwMode="auto">
          <a:xfrm>
            <a:off x="2667001" y="5029201"/>
            <a:ext cx="6399213" cy="1065213"/>
            <a:chOff x="720" y="3168"/>
            <a:chExt cx="4031" cy="671"/>
          </a:xfrm>
        </p:grpSpPr>
        <p:sp>
          <p:nvSpPr>
            <p:cNvPr id="63502" name="Line 14">
              <a:extLst>
                <a:ext uri="{FF2B5EF4-FFF2-40B4-BE49-F238E27FC236}">
                  <a16:creationId xmlns:a16="http://schemas.microsoft.com/office/drawing/2014/main" id="{D6283349-1CE8-4F69-9920-E76D9CE7CC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3168"/>
              <a:ext cx="4031" cy="575"/>
            </a:xfrm>
            <a:prstGeom prst="line">
              <a:avLst/>
            </a:prstGeom>
            <a:noFill/>
            <a:ln w="76320" cap="sq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63503" name="Rectangle 15">
              <a:extLst>
                <a:ext uri="{FF2B5EF4-FFF2-40B4-BE49-F238E27FC236}">
                  <a16:creationId xmlns:a16="http://schemas.microsoft.com/office/drawing/2014/main" id="{83C5E733-8CCF-43AF-A241-DC7F3A4D4A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3264"/>
              <a:ext cx="1727" cy="575"/>
            </a:xfrm>
            <a:prstGeom prst="rect">
              <a:avLst/>
            </a:prstGeom>
            <a:solidFill>
              <a:srgbClr val="FFFFFF"/>
            </a:solidFill>
            <a:ln w="38160" cap="sq">
              <a:solidFill>
                <a:srgbClr val="000000"/>
              </a:solidFill>
              <a:miter lim="800000"/>
              <a:headEnd/>
              <a:tailEnd/>
            </a:ln>
            <a:effectLst>
              <a:outerShdw dist="107933" dir="2700000" algn="ctr" rotWithShape="0">
                <a:srgbClr val="808080"/>
              </a:outerShdw>
            </a:effectLst>
          </p:spPr>
          <p:txBody>
            <a:bodyPr wrap="none" lIns="90000" tIns="46800" rIns="90000" bIns="46800" anchor="ctr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US" altLang="en-US" sz="2400"/>
                <a:t>ACK=</a:t>
              </a:r>
              <a:r>
                <a:rPr lang="en-US" altLang="en-US" sz="2400" b="1" i="1"/>
                <a:t>Y</a:t>
              </a:r>
              <a:r>
                <a:rPr lang="en-US" altLang="en-US" sz="2400"/>
                <a:t>+1</a:t>
              </a:r>
            </a:p>
          </p:txBody>
        </p:sp>
        <p:sp>
          <p:nvSpPr>
            <p:cNvPr id="63504" name="Oval 16">
              <a:extLst>
                <a:ext uri="{FF2B5EF4-FFF2-40B4-BE49-F238E27FC236}">
                  <a16:creationId xmlns:a16="http://schemas.microsoft.com/office/drawing/2014/main" id="{E55B7927-E848-4F1B-8C7B-19067069A9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3312"/>
              <a:ext cx="287" cy="287"/>
            </a:xfrm>
            <a:prstGeom prst="ellipse">
              <a:avLst/>
            </a:prstGeom>
            <a:solidFill>
              <a:srgbClr val="000000"/>
            </a:solidFill>
            <a:ln w="381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US" altLang="en-US" sz="2400" b="1">
                  <a:solidFill>
                    <a:srgbClr val="FFFFFF"/>
                  </a:solidFill>
                </a:rPr>
                <a:t>4</a:t>
              </a:r>
            </a:p>
          </p:txBody>
        </p:sp>
      </p:grpSp>
      <p:grpSp>
        <p:nvGrpSpPr>
          <p:cNvPr id="63505" name="Group 17">
            <a:extLst>
              <a:ext uri="{FF2B5EF4-FFF2-40B4-BE49-F238E27FC236}">
                <a16:creationId xmlns:a16="http://schemas.microsoft.com/office/drawing/2014/main" id="{B93CC9B4-F9A7-4A9C-85BE-98F624CD48C4}"/>
              </a:ext>
            </a:extLst>
          </p:cNvPr>
          <p:cNvGrpSpPr>
            <a:grpSpLocks/>
          </p:cNvGrpSpPr>
          <p:nvPr/>
        </p:nvGrpSpPr>
        <p:grpSpPr bwMode="auto">
          <a:xfrm>
            <a:off x="2667001" y="3848101"/>
            <a:ext cx="6399213" cy="950913"/>
            <a:chOff x="720" y="2424"/>
            <a:chExt cx="4031" cy="599"/>
          </a:xfrm>
        </p:grpSpPr>
        <p:sp>
          <p:nvSpPr>
            <p:cNvPr id="63506" name="Line 18">
              <a:extLst>
                <a:ext uri="{FF2B5EF4-FFF2-40B4-BE49-F238E27FC236}">
                  <a16:creationId xmlns:a16="http://schemas.microsoft.com/office/drawing/2014/main" id="{9B933DE4-6B7E-4647-87C5-C9615E8C9F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19" y="2424"/>
              <a:ext cx="4033" cy="575"/>
            </a:xfrm>
            <a:prstGeom prst="line">
              <a:avLst/>
            </a:prstGeom>
            <a:noFill/>
            <a:ln w="76320" cap="sq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63507" name="Rectangle 19">
              <a:extLst>
                <a:ext uri="{FF2B5EF4-FFF2-40B4-BE49-F238E27FC236}">
                  <a16:creationId xmlns:a16="http://schemas.microsoft.com/office/drawing/2014/main" id="{6B5EEDE4-F00B-4F2B-8861-4C98243920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448"/>
              <a:ext cx="1727" cy="575"/>
            </a:xfrm>
            <a:prstGeom prst="rect">
              <a:avLst/>
            </a:prstGeom>
            <a:solidFill>
              <a:srgbClr val="FFFFFF"/>
            </a:solidFill>
            <a:ln w="38160" cap="sq">
              <a:solidFill>
                <a:srgbClr val="000000"/>
              </a:solidFill>
              <a:miter lim="800000"/>
              <a:headEnd/>
              <a:tailEnd/>
            </a:ln>
            <a:effectLst>
              <a:outerShdw dist="107933" dir="2700000" algn="ctr" rotWithShape="0">
                <a:srgbClr val="808080"/>
              </a:outerShdw>
            </a:effectLst>
          </p:spPr>
          <p:txBody>
            <a:bodyPr wrap="none" lIns="90000" tIns="46800" rIns="90000" bIns="46800" anchor="ctr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US" altLang="en-US" sz="2400"/>
                <a:t>FIN</a:t>
              </a:r>
            </a:p>
            <a:p>
              <a:pPr algn="ctr">
                <a:buClrTx/>
                <a:buFontTx/>
                <a:buNone/>
              </a:pPr>
              <a:r>
                <a:rPr lang="en-US" altLang="en-US" sz="2400"/>
                <a:t>SN=</a:t>
              </a:r>
              <a:r>
                <a:rPr lang="en-US" altLang="en-US" sz="2400" b="1" i="1"/>
                <a:t>Y</a:t>
              </a:r>
            </a:p>
          </p:txBody>
        </p:sp>
        <p:sp>
          <p:nvSpPr>
            <p:cNvPr id="63508" name="Oval 20">
              <a:extLst>
                <a:ext uri="{FF2B5EF4-FFF2-40B4-BE49-F238E27FC236}">
                  <a16:creationId xmlns:a16="http://schemas.microsoft.com/office/drawing/2014/main" id="{746AB06D-B55B-421A-9426-3BE8DD1860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472"/>
              <a:ext cx="287" cy="287"/>
            </a:xfrm>
            <a:prstGeom prst="ellipse">
              <a:avLst/>
            </a:prstGeom>
            <a:solidFill>
              <a:srgbClr val="000000"/>
            </a:solidFill>
            <a:ln w="381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  <a:cs typeface="WenQuanYi Micro Hei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US" altLang="en-US" sz="2400" b="1">
                  <a:solidFill>
                    <a:srgbClr val="FFFFFF"/>
                  </a:solidFill>
                </a:rPr>
                <a:t>3</a:t>
              </a:r>
            </a:p>
          </p:txBody>
        </p:sp>
      </p:grpSp>
      <p:sp>
        <p:nvSpPr>
          <p:cNvPr id="63509" name="Text Box 21">
            <a:extLst>
              <a:ext uri="{FF2B5EF4-FFF2-40B4-BE49-F238E27FC236}">
                <a16:creationId xmlns:a16="http://schemas.microsoft.com/office/drawing/2014/main" id="{509BBF89-C7AC-4992-84CD-ABA5890DC73A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5565776" y="3267821"/>
            <a:ext cx="601663" cy="7716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4400" b="1"/>
              <a:t>...</a:t>
            </a:r>
          </a:p>
        </p:txBody>
      </p:sp>
      <p:sp>
        <p:nvSpPr>
          <p:cNvPr id="63510" name="Line 22">
            <a:extLst>
              <a:ext uri="{FF2B5EF4-FFF2-40B4-BE49-F238E27FC236}">
                <a16:creationId xmlns:a16="http://schemas.microsoft.com/office/drawing/2014/main" id="{9BE58852-0152-4FFE-B43E-E0807FD153A4}"/>
              </a:ext>
            </a:extLst>
          </p:cNvPr>
          <p:cNvSpPr>
            <a:spLocks noChangeShapeType="1"/>
          </p:cNvSpPr>
          <p:nvPr/>
        </p:nvSpPr>
        <p:spPr bwMode="auto">
          <a:xfrm>
            <a:off x="9067800" y="1066800"/>
            <a:ext cx="1588" cy="2057400"/>
          </a:xfrm>
          <a:prstGeom prst="line">
            <a:avLst/>
          </a:prstGeom>
          <a:noFill/>
          <a:ln w="381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63511" name="Line 23">
            <a:extLst>
              <a:ext uri="{FF2B5EF4-FFF2-40B4-BE49-F238E27FC236}">
                <a16:creationId xmlns:a16="http://schemas.microsoft.com/office/drawing/2014/main" id="{BBCE6960-96D7-4FAB-90EE-18A237958776}"/>
              </a:ext>
            </a:extLst>
          </p:cNvPr>
          <p:cNvSpPr>
            <a:spLocks noChangeShapeType="1"/>
          </p:cNvSpPr>
          <p:nvPr/>
        </p:nvSpPr>
        <p:spPr bwMode="auto">
          <a:xfrm>
            <a:off x="9067800" y="3733800"/>
            <a:ext cx="1588" cy="2362200"/>
          </a:xfrm>
          <a:prstGeom prst="line">
            <a:avLst/>
          </a:prstGeom>
          <a:noFill/>
          <a:ln w="381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63512" name="Line 24">
            <a:extLst>
              <a:ext uri="{FF2B5EF4-FFF2-40B4-BE49-F238E27FC236}">
                <a16:creationId xmlns:a16="http://schemas.microsoft.com/office/drawing/2014/main" id="{6F3FD070-C277-43D9-ADAA-C5076428C1E6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990600"/>
            <a:ext cx="1588" cy="5029200"/>
          </a:xfrm>
          <a:prstGeom prst="line">
            <a:avLst/>
          </a:prstGeom>
          <a:noFill/>
          <a:ln w="38160" cap="sq">
            <a:solidFill>
              <a:srgbClr val="000000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63513" name="Line 25">
            <a:extLst>
              <a:ext uri="{FF2B5EF4-FFF2-40B4-BE49-F238E27FC236}">
                <a16:creationId xmlns:a16="http://schemas.microsoft.com/office/drawing/2014/main" id="{8C167EE1-D3D6-4676-A575-404ADE61A097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990600"/>
            <a:ext cx="1588" cy="2286000"/>
          </a:xfrm>
          <a:prstGeom prst="line">
            <a:avLst/>
          </a:prstGeom>
          <a:noFill/>
          <a:ln w="381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63514" name="Line 26">
            <a:extLst>
              <a:ext uri="{FF2B5EF4-FFF2-40B4-BE49-F238E27FC236}">
                <a16:creationId xmlns:a16="http://schemas.microsoft.com/office/drawing/2014/main" id="{F8D11482-206D-404C-85AC-EC4A61852924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3962400"/>
            <a:ext cx="1588" cy="2057400"/>
          </a:xfrm>
          <a:prstGeom prst="line">
            <a:avLst/>
          </a:prstGeom>
          <a:noFill/>
          <a:ln w="381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40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5" dur="500"/>
                                        <p:tgtEl>
                                          <p:spTgt spid="63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16AF9981-76E6-46CC-8404-513067FA5D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228600"/>
            <a:ext cx="777240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 sz="4400"/>
              <a:t>TCP Termination</a:t>
            </a:r>
          </a:p>
        </p:txBody>
      </p:sp>
      <p:sp>
        <p:nvSpPr>
          <p:cNvPr id="64515" name="Oval 3">
            <a:extLst>
              <a:ext uri="{FF2B5EF4-FFF2-40B4-BE49-F238E27FC236}">
                <a16:creationId xmlns:a16="http://schemas.microsoft.com/office/drawing/2014/main" id="{1A28A5F0-D684-4815-B818-F1A973C384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1301750"/>
            <a:ext cx="457200" cy="457200"/>
          </a:xfrm>
          <a:prstGeom prst="ellipse">
            <a:avLst/>
          </a:prstGeom>
          <a:solidFill>
            <a:srgbClr val="000000"/>
          </a:solidFill>
          <a:ln w="381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 sz="2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4516" name="Oval 4">
            <a:extLst>
              <a:ext uri="{FF2B5EF4-FFF2-40B4-BE49-F238E27FC236}">
                <a16:creationId xmlns:a16="http://schemas.microsoft.com/office/drawing/2014/main" id="{C96603E3-4351-4D75-B637-033DA56C38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2368550"/>
            <a:ext cx="457200" cy="457200"/>
          </a:xfrm>
          <a:prstGeom prst="ellipse">
            <a:avLst/>
          </a:prstGeom>
          <a:solidFill>
            <a:srgbClr val="000000"/>
          </a:solidFill>
          <a:ln w="381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 sz="2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64517" name="Oval 5">
            <a:extLst>
              <a:ext uri="{FF2B5EF4-FFF2-40B4-BE49-F238E27FC236}">
                <a16:creationId xmlns:a16="http://schemas.microsoft.com/office/drawing/2014/main" id="{5888D406-FF7B-444F-B593-E4A2EA39C6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3892550"/>
            <a:ext cx="457200" cy="457200"/>
          </a:xfrm>
          <a:prstGeom prst="ellipse">
            <a:avLst/>
          </a:prstGeom>
          <a:solidFill>
            <a:srgbClr val="000000"/>
          </a:solidFill>
          <a:ln w="381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 sz="2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64518" name="Oval 6">
            <a:extLst>
              <a:ext uri="{FF2B5EF4-FFF2-40B4-BE49-F238E27FC236}">
                <a16:creationId xmlns:a16="http://schemas.microsoft.com/office/drawing/2014/main" id="{1339900A-C96D-4498-A675-3DDD595B05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4959350"/>
            <a:ext cx="457200" cy="457200"/>
          </a:xfrm>
          <a:prstGeom prst="ellipse">
            <a:avLst/>
          </a:prstGeom>
          <a:solidFill>
            <a:srgbClr val="000000"/>
          </a:solidFill>
          <a:ln w="381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 sz="2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64519" name="Rectangle 7">
            <a:extLst>
              <a:ext uri="{FF2B5EF4-FFF2-40B4-BE49-F238E27FC236}">
                <a16:creationId xmlns:a16="http://schemas.microsoft.com/office/drawing/2014/main" id="{CAC5B080-4462-4377-9EFB-502C38AD9A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1219200"/>
            <a:ext cx="7848600" cy="541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marL="342900" indent="-341313"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>
              <a:spcBef>
                <a:spcPts val="700"/>
              </a:spcBef>
              <a:buClrTx/>
              <a:buFontTx/>
              <a:buNone/>
            </a:pPr>
            <a:r>
              <a:rPr lang="en-US" altLang="en-US" sz="2800"/>
              <a:t>App1: “I have no more data for you”.</a:t>
            </a:r>
          </a:p>
          <a:p>
            <a:pPr>
              <a:spcBef>
                <a:spcPts val="700"/>
              </a:spcBef>
              <a:buClrTx/>
              <a:buFontTx/>
              <a:buNone/>
            </a:pPr>
            <a:endParaRPr lang="en-US" altLang="en-US" sz="2800"/>
          </a:p>
          <a:p>
            <a:pPr>
              <a:spcBef>
                <a:spcPts val="700"/>
              </a:spcBef>
              <a:buClrTx/>
              <a:buFontTx/>
              <a:buNone/>
            </a:pPr>
            <a:r>
              <a:rPr lang="en-US" altLang="en-US" sz="2800"/>
              <a:t>App2: “OK, I understand you are done sending.”</a:t>
            </a:r>
          </a:p>
          <a:p>
            <a:pPr algn="ctr">
              <a:spcBef>
                <a:spcPts val="700"/>
              </a:spcBef>
              <a:buClrTx/>
              <a:buFontTx/>
              <a:buNone/>
            </a:pPr>
            <a:r>
              <a:rPr lang="en-US" altLang="en-US" sz="2800" i="1"/>
              <a:t>dramatic pause…</a:t>
            </a:r>
          </a:p>
          <a:p>
            <a:pPr algn="ctr">
              <a:spcBef>
                <a:spcPts val="700"/>
              </a:spcBef>
              <a:buClrTx/>
              <a:buFontTx/>
              <a:buNone/>
            </a:pPr>
            <a:endParaRPr lang="en-US" altLang="en-US" sz="2800"/>
          </a:p>
          <a:p>
            <a:pPr>
              <a:spcBef>
                <a:spcPts val="700"/>
              </a:spcBef>
              <a:buClrTx/>
              <a:buFontTx/>
              <a:buNone/>
            </a:pPr>
            <a:r>
              <a:rPr lang="en-US" altLang="en-US" sz="2800"/>
              <a:t>App2: “OK - Now I’m also done sending data”.</a:t>
            </a:r>
          </a:p>
          <a:p>
            <a:pPr>
              <a:spcBef>
                <a:spcPts val="700"/>
              </a:spcBef>
              <a:buClrTx/>
              <a:buFontTx/>
              <a:buNone/>
            </a:pPr>
            <a:endParaRPr lang="en-US" altLang="en-US" sz="2800"/>
          </a:p>
          <a:p>
            <a:pPr>
              <a:spcBef>
                <a:spcPts val="700"/>
              </a:spcBef>
              <a:buClrTx/>
              <a:buFontTx/>
              <a:buNone/>
            </a:pPr>
            <a:r>
              <a:rPr lang="en-US" altLang="en-US" sz="2800"/>
              <a:t>App1: “Roger, Over and Out, Goodbye, Astalavista Baby, Adios, It’s been real ...”</a:t>
            </a:r>
          </a:p>
          <a:p>
            <a:pPr algn="ctr">
              <a:spcBef>
                <a:spcPts val="700"/>
              </a:spcBef>
              <a:buClrTx/>
              <a:buFontTx/>
              <a:buNone/>
            </a:pPr>
            <a:r>
              <a:rPr lang="en-US" altLang="en-US" sz="2800" i="1"/>
              <a:t>camera fades to black ...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53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" dur="500" fill="hold"/>
                                        <p:tgtEl>
                                          <p:spTgt spid="645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  <p:tav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500" fill="hold"/>
                                        <p:tgtEl>
                                          <p:spTgt spid="645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  <p:tav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15" dur="500"/>
                                        <p:tgtEl>
                                          <p:spTgt spid="64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8" dur="500" fill="hold"/>
                                        <p:tgtEl>
                                          <p:spTgt spid="645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  <p:tav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9" dur="500" fill="hold"/>
                                        <p:tgtEl>
                                          <p:spTgt spid="645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  <p:tav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20" dur="500"/>
                                        <p:tgtEl>
                                          <p:spTgt spid="64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ext Box 2">
            <a:extLst>
              <a:ext uri="{FF2B5EF4-FFF2-40B4-BE49-F238E27FC236}">
                <a16:creationId xmlns:a16="http://schemas.microsoft.com/office/drawing/2014/main" id="{B0BC7377-B6C1-447D-9814-975CA01972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3048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4000" u="sng" dirty="0">
                <a:solidFill>
                  <a:srgbClr val="3333CC"/>
                </a:solidFill>
                <a:latin typeface="+mj-lt"/>
              </a:rPr>
              <a:t>TCP TIME_WAIT</a:t>
            </a:r>
          </a:p>
        </p:txBody>
      </p:sp>
      <p:sp>
        <p:nvSpPr>
          <p:cNvPr id="65539" name="Text Box 3">
            <a:extLst>
              <a:ext uri="{FF2B5EF4-FFF2-40B4-BE49-F238E27FC236}">
                <a16:creationId xmlns:a16="http://schemas.microsoft.com/office/drawing/2014/main" id="{EC995406-43E3-43FF-8B63-EC97BC4A06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1" y="1371600"/>
            <a:ext cx="8266113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t"/>
          <a:lstStyle>
            <a:lvl1pPr marL="3413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 marL="741363" indent="-28416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 marL="457200" indent="-457200">
              <a:spcBef>
                <a:spcPts val="700"/>
              </a:spcBef>
              <a:buClr>
                <a:srgbClr val="3333CC"/>
              </a:buClr>
              <a:buSzPct val="85000"/>
              <a:buFont typeface="Arial"/>
              <a:buChar char="•"/>
            </a:pPr>
            <a:r>
              <a:rPr lang="en-US" altLang="en-US" sz="2800">
                <a:latin typeface="+mj-lt"/>
              </a:rPr>
              <a:t>Once a TCP connection has been terminated (the last ACK sent) there is some unfinished business:</a:t>
            </a:r>
            <a:endParaRPr lang="en-US">
              <a:cs typeface="Times New Roman"/>
            </a:endParaRPr>
          </a:p>
          <a:p>
            <a:pPr marL="800100" lvl="1" indent="-342900">
              <a:spcBef>
                <a:spcPts val="600"/>
              </a:spcBef>
              <a:buClr>
                <a:srgbClr val="3333CC"/>
              </a:buClr>
              <a:buSzPct val="75000"/>
              <a:buFont typeface="Arial"/>
              <a:buChar char="•"/>
            </a:pPr>
            <a:r>
              <a:rPr lang="en-US" altLang="en-US" sz="2400">
                <a:latin typeface="+mj-lt"/>
              </a:rPr>
              <a:t>What if the ACK is lost? The last FIN will be resent and it must be ACK’d.</a:t>
            </a:r>
            <a:endParaRPr lang="en-US" altLang="en-US" sz="2400">
              <a:latin typeface="+mj-lt"/>
              <a:cs typeface="Calibri"/>
            </a:endParaRPr>
          </a:p>
          <a:p>
            <a:pPr marL="800100" lvl="1" indent="-342900">
              <a:spcBef>
                <a:spcPts val="600"/>
              </a:spcBef>
              <a:buClr>
                <a:srgbClr val="3333CC"/>
              </a:buClr>
              <a:buSzPct val="75000"/>
              <a:buFont typeface="Arial"/>
              <a:buChar char="•"/>
            </a:pPr>
            <a:r>
              <a:rPr lang="en-US" altLang="en-US" sz="2400">
                <a:latin typeface="+mj-lt"/>
              </a:rPr>
              <a:t>What if there are lost or duplicated segments that finally reach the destination after a long delay?</a:t>
            </a:r>
            <a:endParaRPr lang="en-US" altLang="en-US" sz="2400">
              <a:latin typeface="+mj-lt"/>
              <a:cs typeface="Calibri"/>
            </a:endParaRPr>
          </a:p>
          <a:p>
            <a:pPr marL="800100" lvl="1" indent="-342900">
              <a:spcBef>
                <a:spcPts val="600"/>
              </a:spcBef>
              <a:buClr>
                <a:srgbClr val="3333CC"/>
              </a:buClr>
              <a:buSzPct val="75000"/>
              <a:buFont typeface="Arial" panose="05000000000000000000" pitchFamily="2" charset="2"/>
              <a:buChar char="•"/>
            </a:pPr>
            <a:endParaRPr lang="en-US" altLang="en-US" sz="2400">
              <a:latin typeface="+mj-lt"/>
              <a:cs typeface="Calibri"/>
            </a:endParaRPr>
          </a:p>
          <a:p>
            <a:pPr marL="457200" indent="-457200">
              <a:spcBef>
                <a:spcPts val="700"/>
              </a:spcBef>
              <a:buClr>
                <a:srgbClr val="3333CC"/>
              </a:buClr>
              <a:buSzPct val="85000"/>
              <a:buFont typeface="Arial"/>
              <a:buChar char="•"/>
            </a:pPr>
            <a:r>
              <a:rPr lang="en-US" altLang="en-US" sz="2800">
                <a:latin typeface="+mj-lt"/>
              </a:rPr>
              <a:t>TCP hangs out for a while to handle these situations.</a:t>
            </a:r>
            <a:endParaRPr lang="en-US" altLang="en-US" sz="2800">
              <a:latin typeface="+mj-lt"/>
              <a:cs typeface="Calibri"/>
            </a:endParaRPr>
          </a:p>
          <a:p>
            <a:pPr marL="741045" lvl="1" indent="-283845">
              <a:spcBef>
                <a:spcPts val="600"/>
              </a:spcBef>
              <a:buClr>
                <a:srgbClr val="3333CC"/>
              </a:buClr>
              <a:buSzPct val="75000"/>
              <a:buFont typeface="Wingdings" panose="05000000000000000000" pitchFamily="2" charset="2"/>
              <a:buNone/>
            </a:pPr>
            <a:endParaRPr lang="en-US" altLang="en-US" sz="2400">
              <a:latin typeface="+mj-lt"/>
              <a:cs typeface="Calibri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Text Box 1">
            <a:extLst>
              <a:ext uri="{FF2B5EF4-FFF2-40B4-BE49-F238E27FC236}">
                <a16:creationId xmlns:a16="http://schemas.microsoft.com/office/drawing/2014/main" id="{76DDAB92-9A08-4304-AF16-5E77A49250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29801" y="6400800"/>
            <a:ext cx="6254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t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 algn="r">
              <a:buClrTx/>
              <a:buFontTx/>
              <a:buNone/>
            </a:pPr>
            <a:endParaRPr lang="en-US" altLang="en-US" sz="1400"/>
          </a:p>
        </p:txBody>
      </p:sp>
      <p:sp>
        <p:nvSpPr>
          <p:cNvPr id="66562" name="Text Box 2">
            <a:extLst>
              <a:ext uri="{FF2B5EF4-FFF2-40B4-BE49-F238E27FC236}">
                <a16:creationId xmlns:a16="http://schemas.microsoft.com/office/drawing/2014/main" id="{5D7EAC35-A52E-4798-AE96-2C2E4EFE80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9325" y="152400"/>
            <a:ext cx="77724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>
              <a:buClrTx/>
              <a:buNone/>
            </a:pPr>
            <a:r>
              <a:rPr lang="en-US" altLang="en-US" sz="4000" u="sng">
                <a:solidFill>
                  <a:srgbClr val="3333CC"/>
                </a:solidFill>
                <a:latin typeface="+mj-lt"/>
              </a:rPr>
              <a:t>QI</a:t>
            </a:r>
            <a:endParaRPr lang="en-US"/>
          </a:p>
        </p:txBody>
      </p:sp>
      <p:sp>
        <p:nvSpPr>
          <p:cNvPr id="66563" name="Text Box 3">
            <a:extLst>
              <a:ext uri="{FF2B5EF4-FFF2-40B4-BE49-F238E27FC236}">
                <a16:creationId xmlns:a16="http://schemas.microsoft.com/office/drawing/2014/main" id="{DBFE42D9-2395-4D31-8E16-0151B490BE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1028701"/>
            <a:ext cx="8153400" cy="524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t"/>
          <a:lstStyle>
            <a:lvl1pPr marL="3413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1pPr>
            <a:lvl2pPr marL="741363" indent="-28416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2pPr>
            <a:lvl3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3pPr>
            <a:lvl4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4pPr>
            <a:lvl5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WenQuanYi Micro Hei" charset="0"/>
              </a:defRPr>
            </a:lvl9pPr>
          </a:lstStyle>
          <a:p>
            <a:pPr marL="457200" indent="-457200">
              <a:lnSpc>
                <a:spcPct val="90000"/>
              </a:lnSpc>
              <a:spcBef>
                <a:spcPts val="700"/>
              </a:spcBef>
              <a:buClr>
                <a:srgbClr val="3333CC"/>
              </a:buClr>
              <a:buSzPct val="85000"/>
              <a:buFont typeface="Arial"/>
              <a:buChar char="•"/>
            </a:pPr>
            <a:r>
              <a:rPr lang="en-US" altLang="en-US" sz="2800" dirty="0">
                <a:latin typeface="+mj-lt"/>
              </a:rPr>
              <a:t>Why is a 3-way handshake necessary?</a:t>
            </a:r>
            <a:endParaRPr lang="en-US">
              <a:cs typeface="Times New Roman"/>
            </a:endParaRPr>
          </a:p>
          <a:p>
            <a:pPr marL="800100" lvl="1" indent="-342900">
              <a:spcBef>
                <a:spcPts val="600"/>
              </a:spcBef>
              <a:buClr>
                <a:srgbClr val="3333CC"/>
              </a:buClr>
              <a:buSzPct val="75000"/>
              <a:buFont typeface="Arial"/>
              <a:buChar char="•"/>
            </a:pPr>
            <a:r>
              <a:rPr lang="en-US" altLang="en-US" sz="2400" dirty="0">
                <a:latin typeface="+mj-lt"/>
              </a:rPr>
              <a:t>HINTS: TCP is a reliable service, IP delivers each TCP segment, IP is not reliable.</a:t>
            </a:r>
            <a:endParaRPr lang="en-US" altLang="en-US" sz="2400" dirty="0">
              <a:latin typeface="+mj-lt"/>
              <a:cs typeface="Calibri"/>
            </a:endParaRPr>
          </a:p>
          <a:p>
            <a:pPr marL="800100" lvl="1" indent="-342900">
              <a:lnSpc>
                <a:spcPct val="90000"/>
              </a:lnSpc>
              <a:spcBef>
                <a:spcPts val="600"/>
              </a:spcBef>
              <a:buClr>
                <a:srgbClr val="3333CC"/>
              </a:buClr>
              <a:buSzPct val="75000"/>
              <a:buFont typeface="Arial" panose="05000000000000000000" pitchFamily="2" charset="2"/>
              <a:buChar char="•"/>
            </a:pPr>
            <a:endParaRPr lang="en-US" altLang="en-US" sz="2400" dirty="0">
              <a:latin typeface="+mj-lt"/>
              <a:cs typeface="Calibri"/>
            </a:endParaRPr>
          </a:p>
          <a:p>
            <a:pPr marL="457200" indent="-457200">
              <a:lnSpc>
                <a:spcPct val="90000"/>
              </a:lnSpc>
              <a:spcBef>
                <a:spcPts val="700"/>
              </a:spcBef>
              <a:buClr>
                <a:srgbClr val="3333CC"/>
              </a:buClr>
              <a:buSzPct val="85000"/>
              <a:buFont typeface="Arial"/>
              <a:buChar char="•"/>
            </a:pPr>
            <a:r>
              <a:rPr lang="en-US" altLang="en-US" sz="2800" dirty="0">
                <a:latin typeface="+mj-lt"/>
              </a:rPr>
              <a:t>Who sends the first FIN - the server or the client?</a:t>
            </a:r>
            <a:endParaRPr lang="en-US" altLang="en-US" sz="2800" dirty="0">
              <a:latin typeface="+mj-lt"/>
              <a:cs typeface="Calibri"/>
            </a:endParaRPr>
          </a:p>
          <a:p>
            <a:pPr marL="800100" lvl="1" indent="-342900">
              <a:lnSpc>
                <a:spcPct val="90000"/>
              </a:lnSpc>
              <a:spcBef>
                <a:spcPts val="600"/>
              </a:spcBef>
              <a:buClr>
                <a:srgbClr val="3333CC"/>
              </a:buClr>
              <a:buSzPct val="75000"/>
              <a:buFont typeface="Arial" panose="05000000000000000000" pitchFamily="2" charset="2"/>
              <a:buChar char="•"/>
            </a:pPr>
            <a:endParaRPr lang="en-US" altLang="en-US" sz="2400" dirty="0">
              <a:latin typeface="+mj-lt"/>
              <a:cs typeface="Calibri"/>
            </a:endParaRPr>
          </a:p>
          <a:p>
            <a:pPr marL="457200" indent="-457200">
              <a:lnSpc>
                <a:spcPct val="90000"/>
              </a:lnSpc>
              <a:spcBef>
                <a:spcPts val="700"/>
              </a:spcBef>
              <a:buClr>
                <a:srgbClr val="3333CC"/>
              </a:buClr>
              <a:buSzPct val="85000"/>
              <a:buFont typeface="Arial"/>
              <a:buChar char="•"/>
            </a:pPr>
            <a:r>
              <a:rPr lang="en-US" altLang="en-US" sz="2800" dirty="0">
                <a:latin typeface="+mj-lt"/>
              </a:rPr>
              <a:t>Once the connection is established, what is the difference between the operation of the server’s </a:t>
            </a:r>
            <a:r>
              <a:rPr lang="en-US" altLang="en-US" sz="2800">
                <a:latin typeface="+mj-lt"/>
              </a:rPr>
              <a:t>TCP layer and the client’s TCP layer?</a:t>
            </a:r>
            <a:endParaRPr lang="en-US" altLang="en-US" sz="2800" dirty="0">
              <a:latin typeface="+mj-lt"/>
              <a:cs typeface="Calibri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</TotalTime>
  <Words>2060</Words>
  <Application>Microsoft Office PowerPoint</Application>
  <PresentationFormat>Widescreen</PresentationFormat>
  <Paragraphs>330</Paragraphs>
  <Slides>43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9" baseType="lpstr">
      <vt:lpstr>Arial</vt:lpstr>
      <vt:lpstr>Calibri</vt:lpstr>
      <vt:lpstr>Comic Sans MS</vt:lpstr>
      <vt:lpstr>Times New Roman</vt:lpstr>
      <vt:lpstr>Wingdings</vt:lpstr>
      <vt:lpstr>Custom Design</vt:lpstr>
      <vt:lpstr>PowerPoint Presentation</vt:lpstr>
      <vt:lpstr>Recap: Layered Model Network Comms</vt:lpstr>
      <vt:lpstr>Transport Layer Role</vt:lpstr>
      <vt:lpstr>Transport Layer Purpose</vt:lpstr>
      <vt:lpstr>PowerPoint Presentation</vt:lpstr>
      <vt:lpstr>PowerPoint Presentation</vt:lpstr>
      <vt:lpstr>Transmission Control Protocol(TCP)</vt:lpstr>
      <vt:lpstr>Choosing Transport Layer Protocols…</vt:lpstr>
      <vt:lpstr>PowerPoint Presentation</vt:lpstr>
      <vt:lpstr>PowerPoint Presentation</vt:lpstr>
      <vt:lpstr>Ports</vt:lpstr>
      <vt:lpstr>Ports: Multiple communications</vt:lpstr>
      <vt:lpstr>Ports: Socket Pairs</vt:lpstr>
      <vt:lpstr>Ports: Groups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Frank X Walsh</dc:creator>
  <cp:lastModifiedBy>Frank X Walsh</cp:lastModifiedBy>
  <cp:revision>8</cp:revision>
  <dcterms:created xsi:type="dcterms:W3CDTF">2020-10-12T09:47:24Z</dcterms:created>
  <dcterms:modified xsi:type="dcterms:W3CDTF">2021-10-26T10:11:44Z</dcterms:modified>
</cp:coreProperties>
</file>