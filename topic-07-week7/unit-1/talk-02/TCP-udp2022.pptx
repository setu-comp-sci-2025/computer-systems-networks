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531" r:id="rId1"/>
  </p:sldMasterIdLst>
  <p:notesMasterIdLst>
    <p:notesMasterId r:id="rId44"/>
  </p:notesMasterIdLst>
  <p:sldIdLst>
    <p:sldId id="256" r:id="rId2"/>
    <p:sldId id="315" r:id="rId3"/>
    <p:sldId id="319" r:id="rId4"/>
    <p:sldId id="320" r:id="rId5"/>
    <p:sldId id="280" r:id="rId6"/>
    <p:sldId id="281" r:id="rId7"/>
    <p:sldId id="328" r:id="rId8"/>
    <p:sldId id="321" r:id="rId9"/>
    <p:sldId id="294" r:id="rId10"/>
    <p:sldId id="282" r:id="rId11"/>
    <p:sldId id="318" r:id="rId12"/>
    <p:sldId id="323" r:id="rId13"/>
    <p:sldId id="324" r:id="rId14"/>
    <p:sldId id="326" r:id="rId15"/>
    <p:sldId id="327" r:id="rId16"/>
    <p:sldId id="283" r:id="rId17"/>
    <p:sldId id="284" r:id="rId18"/>
    <p:sldId id="285" r:id="rId19"/>
    <p:sldId id="286" r:id="rId20"/>
    <p:sldId id="289" r:id="rId21"/>
    <p:sldId id="288" r:id="rId22"/>
    <p:sldId id="292" r:id="rId23"/>
    <p:sldId id="322" r:id="rId24"/>
    <p:sldId id="297" r:id="rId25"/>
    <p:sldId id="295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76" y="220"/>
      </p:cViewPr>
      <p:guideLst>
        <p:guide orient="horz" pos="2160"/>
        <p:guide pos="384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4T09:21:23.5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 3768 0 0,'0'0'1304'0'0,"24"-4"2686"0"0,23 4-3590 0 0,-45 0-310 0 0,2 0 19 0 0,8 0 212 0 0,0 1-1 0 0,1 1 1 0 0,-1-1-1 0 0,22 8 1 0 0,-31-8-116 0 0,14 2 12 0 0,-9-4-189 0 0,-4 1-13 0 0,-1 0-1 0 0,1 1 1 0 0,0-1-1 0 0,0 1 1 0 0,0-1-1 0 0,-1 1 1 0 0,1 0-1 0 0,4 2 1 0 0,21 2 139 0 0,0-1-1 0 0,47 0 1 0 0,9 2 365 0 0,79 17 574 0 0,-137-18-941 0 0,40 13-1 0 0,-46-13-164 0 0,9 6 81 0 0,56 25 1 0 0,-51-19 58 0 0,11 7 41 0 0,2-3 1 0 0,80 24 0 0 0,-116-41-112 0 0,1 1 1 0 0,23 12-1 0 0,19 7 109 0 0,93 40 232 0 0,-51-20-216 0 0,-69-30-253 0 0,0 0 1 0 0,29 22-1 0 0,14 7-37 0 0,26 19 157 0 0,-27-17-18 0 0,-44-28 24 0 0,28 25 0 0 0,-4-4 31 0 0,-27-20 29 0 0,-2 0 0 0 0,29 32 1 0 0,-5-4-114 0 0,-38-37 4 0 0,0-1 1 0 0,0 2 0 0 0,0-1 0 0 0,4 11 0 0 0,12 16 87 0 0,1 2 173 0 0,-1 2 0 0 0,35 81 0 0 0,-27-52-109 0 0,27 74 225 0 0,-53-126-407 0 0,5 30 0 0 0,2 6-71 0 0,-9-37 108 0 0,0 1 1 0 0,-1-1-1 0 0,0 28 0 0 0,2 18 14 0 0,-1 5-27 0 0,-4-48 0 0 0,5 34 0 0 0,-2-35 0 0 0,-1 0 0 0 0,-1 19 0 0 0,-1-20 0 0 0,2 1 0 0 0,2 18 0 0 0,0 0-4 0 0,-3-26 9 0 0,1-1-1 0 0,0 0 1 0 0,0 1 0 0 0,3 9-1 0 0,6 36 296 0 0,-5-22-257 0 0,2 22-167 0 0,-5-36 61 0 0,1 0 0 0 0,7 28-1 0 0,16 67 292 0 0,26 55-300 0 0,-25-102-60 0 0,14 26 132 0 0,-2-14 124 0 0,2-5-16 0 0,0-18-108 0 0,-36-50 6 0 0,-1-1-1 0 0,0 0 0 0 0,1 0 1 0 0,0 0-1 0 0,7 4 0 0 0,-7-5 1 0 0,0 1-1 0 0,-1-1 0 0 0,1 1 1 0 0,-1-1-1 0 0,7 9 0 0 0,57 76 73 0 0,-20-36 102 0 0,-30-28-227 0 0,2 0 1 0 0,23 22-1 0 0,22 28 189 0 0,-13-14-58 0 0,-35-40-84 0 0,30 27 0 0 0,-11-11 11 0 0,-4-3 122 0 0,1-2-1 0 0,69 51 0 0 0,-77-67-132 0 0,30 14 0 0 0,-33-19 0 0 0,39 18 152 0 0,124 39 0 0 0,-149-59-152 0 0,-21-5 0 0 0,-1 0 0 0 0,0 0 0 0 0,16 8 0 0 0,-5 0 0 0 0,33 10 0 0 0,-26-10 0 0 0,136 58 64 0 0,-125-54-17 0 0,74 17-1 0 0,-52-16-8 0 0,-46-11-7 0 0,14 3 162 0 0,-16-7-66 0 0,0 2 0 0 0,22 8 0 0 0,-6-2-31 0 0,113 32-176 0 0,-24-10 80 0 0,-111-28 13 0 0,-10-2-9 0 0,1-1-1 0 0,0 0 1 0 0,0 0 0 0 0,0-1-1 0 0,0 1 1 0 0,0 0 0 0 0,1-1 0 0 0,-1 1-1 0 0,0-1 1 0 0,4 1 0 0 0,46 5 78 0 0,-19 7-18 0 0,-14-7-54 0 0,-18-5-1 0 0,25 16 36 0 0,-20-13-27 0 0,-1-1-7 0 0,0-1 0 0 0,0 1 1 0 0,0-1-1 0 0,1 0 0 0 0,-1 0 0 0 0,1-1 0 0 0,-1 0 0 0 0,9 1 0 0 0,-9-3-26 0 0,-5 1 16 0 0,1 0 0 0 0,0 0 0 0 0,0-1 1 0 0,-1 1-1 0 0,1 0 0 0 0,0 0 0 0 0,0 0 0 0 0,-1 0 1 0 0,1 0-1 0 0,0 0 0 0 0,0 0 0 0 0,0 0 1 0 0,-1 0-1 0 0,1 1 0 0 0,0-1 0 0 0,0 0 1 0 0,-1 0-1 0 0,1 1 0 0 0,0-1 0 0 0,0 0 1 0 0,-1 1-1 0 0,2 0 0 0 0,2 0 0 0 0,40 11 211 0 0,-43-12-199 0 0,1 0-1 0 0,0 0 0 0 0,-1 0 1 0 0,1 1-1 0 0,0-1 0 0 0,-1 1 1 0 0,1 0-1 0 0,-1-1 0 0 0,1 1 1 0 0,2 1-1 0 0,-2-1-3 0 0,-1 0 0 0 0,1 0 0 0 0,-1 0 1 0 0,1-1-1 0 0,-1 1 0 0 0,1 0 0 0 0,0-1 0 0 0,-1 0 0 0 0,1 1 0 0 0,3-1 0 0 0,-2-1 5 0 0,-2 1-10 0 0,1 0-1 0 0,-1 0 1 0 0,0 0-1 0 0,1 0 0 0 0,-1 0 1 0 0,0 0-1 0 0,0 0 1 0 0,1 0-1 0 0,-1 0 1 0 0,0 0-1 0 0,0 1 1 0 0,1-1-1 0 0,-1 0 0 0 0,0 1 1 0 0,0-1-1 0 0,0 1 1 0 0,1 0-1 0 0,-1-1 1 0 0,1 2-1 0 0,6 0 64 0 0,-7-3-64 0 0,0 1-1 0 0,0 0 0 0 0,0 0 1 0 0,0 0-1 0 0,0 0 0 0 0,0 0 1 0 0,-1 0-1 0 0,1 0 0 0 0,0 0 1 0 0,0 0-1 0 0,0 0 0 0 0,0 0 1 0 0,0 0-1 0 0,0 1 0 0 0,0-1 1 0 0,-1 0-1 0 0,1 1 0 0 0,0-1 1 0 0,0 1-1 0 0,0-1 0 0 0,0 1 1 0 0,34 10 41 0 0,12 6-3 0 0,-18-11 23 0 0,68 25 53 0 0,-50-9-41 0 0,12-2 48 0 0,-47-12-124 0 0,2-6 0 0 0,-4 0 9 0 0,3 1 13 0 0,-9 1-10 0 0,26 10 9 0 0,3 1-21 0 0,-19-12 0 0 0,0-1 5 0 0,-11-1-14 0 0,-2 1 21 0 0,13 6 56 0 0,22 3 64 0 0,-4 2 15 0 0,-30-12 626 0 0,0 0-695 0 0,9 2-12 0 0,-9-2 414 0 0,0 0-426 0 0,6 2-44 0 0,51 19-10 0 0,-23-17 0 0 0,-33-5 0 0 0,18 6 0 0 0,-9-4 0 0 0,15 6 0 0 0,26 5 0 0 0,-37-11 0 0 0,-7-1 0 0 0,-1 1 0 0 0,1 0 0 0 0,-1 1 0 0 0,15 5 0 0 0,33 9 55 0 0,-38-13-9 0 0,33 13 0 0 0,-44-15-51 0 0,1 1 0 0 0,0-1 0 0 0,-1-1 0 0 0,15 2 0 0 0,21 5-45 0 0,47 20 50 0 0,4-5 64 0 0,-50-15-64 0 0,-36-8 0 0 0,0 1 0 0 0,0 0 0 0 0,-1 1 0 0 0,1 0 0 0 0,8 3 0 0 0,-3 0 2 0 0,0-1 0 0 0,0-1 0 0 0,19 3 0 0 0,13 4 54 0 0,59 13-56 0 0,-67-17 36 0 0,49 1 0 0 0,18 3 20 0 0,-78-9-35 0 0,-20-1-6 0 0,0 0 0 0 0,0 0 0 0 0,0 1 0 0 0,10 2 0 0 0,11 1 177 0 0,-20-4-153 0 0,0 1 0 0 0,0 0 0 0 0,-1 0 0 0 0,1 0 0 0 0,-1 1-1 0 0,8 3 1 0 0,-8-4-81 0 0,0 1-1 0 0,0-1 1 0 0,0 0-1 0 0,9 1 0 0 0,28 4-104 0 0,-30-4 179 0 0,0 0 0 0 0,0-1 1 0 0,-1 0-1 0 0,17-2 0 0 0,39 0 26 0 0,-58 1-15 0 0,5-1-34 0 0,-12 1-2 0 0,13 6 62 0 0,-14-5 56 0 0,0-1-65 0 0,7 1-48 0 0,0 1-1 0 0,-8-1-16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4T09:21:24.4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 1 3224 0 0,'3'0'4256'0'0,"6"0"-3728"0"0,0 1-1 0 0,0 0 1 0 0,0 1 0 0 0,-1 0 0 0 0,1 1-1 0 0,0-1 1 0 0,13 8 0 0 0,60 35 520 0 0,-34-17 234 0 0,-43-26-1182 0 0,248 131 1954 0 0,-240-127-2051 0 0,0 1 0 0 0,-1 0-1 0 0,0 1 1 0 0,12 10 0 0 0,-23-16-4 0 0,1-1 1 0 0,-1 1-1 0 0,1-1 1 0 0,-1 1-1 0 0,0 0 1 0 0,0-1-1 0 0,0 1 1 0 0,0 0-1 0 0,0 0 1 0 0,0 0-1 0 0,1 3 1 0 0,0-2 120 0 0,-2 16 76 0 0,0-15-135 0 0,-1 1 0 0 0,1-1 0 0 0,-1 1 0 0 0,0-1-1 0 0,0 1 1 0 0,-1-1 0 0 0,1 0 0 0 0,-1 1 0 0 0,0-1 0 0 0,0 0-1 0 0,0 0 1 0 0,-1 0 0 0 0,-3 4 0 0 0,-4 4 108 0 0,-1 0 0 0 0,-18 14 0 0 0,-7 10 161 0 0,12-11-174 0 0,0-1 0 0 0,-1-2 0 0 0,-2 0 0 0 0,0-1 0 0 0,-1-2 0 0 0,-1-1 0 0 0,-1-1 0 0 0,0-2 0 0 0,-1-1 0 0 0,-1-1 0 0 0,-34 9 0 0 0,57-20-290 0 0,1 0 0 0 0,0 0 0 0 0,-1-1-1 0 0,0 0 1 0 0,1 0 0 0 0,-1-1-1 0 0,1 0 1 0 0,-1-1 0 0 0,0 0 0 0 0,1 0-1 0 0,0-1 1 0 0,-1 0 0 0 0,-14-6-1 0 0,-12-8-1090 0 0,7 2-13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4T09:21:43.7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5623 2560 0 0,'0'0'9774'0'0,"12"0"-9232"0"0,27 5-389 0 0,-32-3-128 0 0,1 0-1 0 0,-1-1 1 0 0,1 0 0 0 0,-1-1 0 0 0,1 0 0 0 0,11-1-1 0 0,0-2 63 0 0,-5 2 49 0 0,-1-1 0 0 0,1-1-1 0 0,-1 0 1 0 0,18-8 0 0 0,-21 7-73 0 0,13-6 194 0 0,1 0-1 0 0,-2-2 1 0 0,41-27 0 0 0,-47 27-113 0 0,0 2 0 0 0,26-14 1 0 0,-27 17-52 0 0,0-1 0 0 0,-1-1 0 0 0,25-20 1 0 0,44-44 38 0 0,-21 19 130 0 0,62-70-1 0 0,-21 8-58 0 0,-85 93-165 0 0,19-27-1 0 0,3-4 25 0 0,101-155 308 0 0,-109 165-330 0 0,-23 32-29 0 0,0 0 0 0 0,-1 0 0 0 0,-1 0 0 0 0,9-18-1 0 0,14-38 228 0 0,12-31 162 0 0,-8 12-542 0 0,10-32 481 0 0,25-129-103 0 0,-46 173-219 0 0,54-166 19 0 0,-43 121-36 0 0,0 2 0 0 0,9-46 0 0 0,-23 77 0 0 0,38-113 0 0 0,-46 158 0 0 0,0-4 0 0 0,20-44 0 0 0,8-28 0 0 0,-16 41 0 0 0,1 12 14 0 0,-12 35 3 0 0,-2-1 0 0 0,14-62-1 0 0,-21 75-16 0 0,0 0 0 0 0,13-30 0 0 0,5-18 0 0 0,-10 26-13 0 0,1 1 0 0 0,1 1-1 0 0,25-45 1 0 0,-29 60 1 0 0,-4 10 13 0 0,0 0-1 0 0,10-15 0 0 0,103-181 0 0 0,-117 205 0 0 0,213-370-64 0 0,-186 331 64 0 0,45-53 0 0 0,-27 31-18 0 0,-33 44-5 0 0,27-32 0 0 0,120-133 23 0 0,-125 143 0 0 0,114-111-65 0 0,-84 90 66 0 0,97-90-1 0 0,97-98 0 0 0,-234 229 0 0 0,1 1 0 0 0,0 1 0 0 0,37-20 0 0 0,-50 33 0 0 0,30-24 1 0 0,13-7-12 0 0,-41 28-33 0 0,-7 6 42 0 0,-1 0 0 0 0,0 1 0 0 0,1-1 0 0 0,10-2 0 0 0,-7 5 2 0 0,-1 0 1 0 0,26-17-12 0 0,-34 17-48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4T09:21:55.3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1 3968 0 0,'0'0'7689'0'0,"3"1"-7594"0"0,41 31 1 0 0,-21-18-33 0 0,2-1 0 0 0,-1-2 1 0 0,1 0-1 0 0,1-1 0 0 0,29 6 1 0 0,-52-15-58 0 0,1-1 1 0 0,-1 1-1 0 0,0 0 1 0 0,0 0-1 0 0,0 0 0 0 0,0 0 1 0 0,0 0-1 0 0,-1 1 1 0 0,1 0-1 0 0,4 2 1 0 0,15 14-2 0 0,-8-10-5 0 0,-3 2 0 0 0,-9-6 6 0 0,0-1 0 0 0,0 1 1 0 0,0 0-1 0 0,-1-1 0 0 0,1 1 1 0 0,-1 0-1 0 0,0 0 0 0 0,0 0 1 0 0,0 0-1 0 0,-1 0 1 0 0,0 0-1 0 0,1 0 0 0 0,-1 0 1 0 0,-1 4-1 0 0,0 0 25 0 0,-1 0 0 0 0,0-1 0 0 0,0 1 1 0 0,0-1-1 0 0,-1 0 0 0 0,-7 13 0 0 0,-3 2 110 0 0,-2 0 1 0 0,0-1-1 0 0,-24 24 0 0 0,3-8 179 0 0,-2-1-1 0 0,-1-3 0 0 0,-58 39 1 0 0,67-43-509 0 0,10-8-1465 0 0,15-16 573 0 0,-8 9-7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4T09:21:36.1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4830 2760 0 0,'0'0'7942'0'0,"2"1"-7820"0"0,22 11-2 0 0,8 7-120 0 0,-21-12 78 0 0,1 0 0 0 0,0-1 0 0 0,0-1 0 0 0,1 0 0 0 0,-1-1 0 0 0,1 0 0 0 0,0 0 0 0 0,0-2 0 0 0,1 0 0 0 0,-1 0 0 0 0,0-1 0 0 0,27-2 0 0 0,3-2 282 0 0,1-3 1 0 0,67-17 0 0 0,-37 4-173 0 0,0-2 1 0 0,-1-4-1 0 0,-1-3 1 0 0,-2-3-1 0 0,-1-3 1 0 0,70-46 0 0 0,-9-1-60 0 0,-65 43-15 0 0,60-48 0 0 0,-60 37-58 0 0,84-70 203 0 0,-113 86-190 0 0,202-186 358 0 0,-13-11 109 0 0,-210 211-465 0 0,0-1 0 0 0,13-24 0 0 0,8-12 75 0 0,39-62 162 0 0,-35 50-136 0 0,-13 20-13 0 0,-2 0 0 0 0,20-62-1 0 0,-17 42-26 0 0,-4 2 16 0 0,-3-1 0 0 0,-3 0 0 0 0,10-75 0 0 0,-5 41-130 0 0,7-48-52 0 0,-11 44 146 0 0,-6 45-64 0 0,24-90-63 0 0,2-16-175 0 0,-25 102 295 0 0,27-77 1 0 0,-21 76-112 0 0,35-75-50 0 0,-16 44-93 0 0,25-84 133 0 0,77-189 173 0 0,-31 179-157 0 0,-90 156 0 0 0,-11 18 0 0 0,20-29 0 0 0,-1 8-15 0 0,22-43 0 0 0,-30 47 1 0 0,1 0 0 0 0,38-43 0 0 0,-31 42 16 0 0,-20 23-4 0 0,1 0-1 0 0,0 0 1 0 0,1 2-1 0 0,17-15 1 0 0,20-16-56 0 0,-32 27 105 0 0,0 0 0 0 0,33-21-1 0 0,31-6-170 0 0,102-35-1 0 0,-28 12-2 0 0,15-18 127 0 0,-150 73 13 0 0,43-15 38 0 0,-21 16-995 0 0,-31 5 524 0 0,1 1 0 0 0,-1-1 0 0 0,13-4 1 0 0,-7 0-253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4T09:21:36.7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248 0 3248 0 0,'0'0'6493'0'0,"2"2"-6368"0"0,5 1-81 0 0,0 0 0 0 0,0-1-1 0 0,0 0 1 0 0,0 0 0 0 0,1 0-1 0 0,-1-1 1 0 0,9 1 0 0 0,-7-1 19 0 0,-2-1-46 0 0,1 1 0 0 0,-1 1 1 0 0,1-1-1 0 0,-1 1 1 0 0,0 0-1 0 0,1 1 1 0 0,10 5-1 0 0,27 19 29 0 0,-34-19-32 0 0,1 0 1 0 0,0-2-1 0 0,0 1 0 0 0,21 6 1 0 0,-12-4-15 0 0,-17-4 0 0 0,-2-2 0 0 0,-1-1 3 0 0,1-1 0 0 0,-1 1 0 0 0,1 0 0 0 0,-1-1 1 0 0,0 1-1 0 0,0 0 0 0 0,0 0 0 0 0,0 0 0 0 0,0 0 1 0 0,0 0-1 0 0,0 0 0 0 0,-1 0 0 0 0,1 0 0 0 0,-1 0 1 0 0,1 0-1 0 0,-1 0 0 0 0,0 1 0 0 0,0-1 0 0 0,0 0 1 0 0,0 0-1 0 0,0 0 0 0 0,-1 4 0 0 0,-1-2 13 0 0,1 0-1 0 0,-1 0 0 0 0,0 0 1 0 0,-1 0-1 0 0,1 0 0 0 0,-1-1 1 0 0,-5 6-1 0 0,0 1 13 0 0,-5 7-16 0 0,-2-1 1 0 0,0-1-1 0 0,-1 0 1 0 0,-1-1-1 0 0,-24 16 1 0 0,-9 7 173 0 0,-38 37 274 0 0,4 4-1 0 0,-81 96 1 0 0,138-145-380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4T09:22:01.9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627 0 4288 0 0,'0'0'1712'0'0,"-24"6"2926"0"0,17-3-4548 0 0,-17 10 462 0 0,23-13-374 0 0,-23 1 1524 0 0,22 0-1633 0 0,0-1 1 0 0,0 1-1 0 0,0-1 1 0 0,0 0-1 0 0,0 0 1 0 0,0 0-1 0 0,0 0 1 0 0,0 0-1 0 0,0-1 1 0 0,0 1-1 0 0,0-1 1 0 0,0 1-1 0 0,0-1 1 0 0,0 0-1 0 0,-2-1 1 0 0,-23 5 520 0 0,2-3-522 0 0,23-1-54 0 0,-1 1-1 0 0,0 0 0 0 0,0 0 0 0 0,1 0 0 0 0,-1 1 0 0 0,0-1 0 0 0,1 1 0 0 0,-1-1 0 0 0,0 1 0 0 0,1 0 0 0 0,-3 1 1 0 0,-41 3 39 0 0,33 0-44 0 0,-7 2 13 0 0,-1 0 0 0 0,-36 6 0 0 0,15 0-22 0 0,29-10 0 0 0,1 4-3 0 0,-16 5 16 0 0,17-8 30 0 0,2 5-32 0 0,3 1-11 0 0,2 0-11 0 0,2-7-32 0 0,-5 9 8 0 0,5 1-1 0 0,2 5 33 0 0,-1-8 3 0 0,-4 6 0 0 0,5-15 0 0 0,1 27 0 0 0,-1 25 0 0 0,-2-40-21 0 0,5-6-18 0 0,1 0 35 0 0,-3-7 4 0 0,0 1 0 0 0,0 0 0 0 0,-1 0 0 0 0,1 0 0 0 0,0 0 0 0 0,-1 0 0 0 0,1 0 0 0 0,-1 0 0 0 0,0 0 0 0 0,1 0 0 0 0,-1 0 0 0 0,0 0 0 0 0,1 0 0 0 0,-1 1 0 0 0,0-1 0 0 0,0 0 0 0 0,0 0 0 0 0,0 0 0 0 0,0 0 0 0 0,0 0 0 0 0,0 1 0 0 0,-1 0 0 0 0,0 5 0 0 0,1 5 0 0 0,1-3 0 0 0,1 0 0 0 0,-1-3 5 0 0,0-1 1 0 0,-1 1-1 0 0,1-1 1 0 0,-1 1-1 0 0,-1-1 1 0 0,0 7-1 0 0,1-8 10 0 0,-1 4-2 0 0,0 0 0 0 0,0 0 1 0 0,-1-1-1 0 0,0 1 0 0 0,-3 8 1 0 0,-1 4 203 0 0,5-17 89 0 0,-1-3-180 0 0,-5 4-100 0 0,0 5-26 0 0,-6 2 0 0 0,7-8 0 0 0,-11 13 0 0 0,3-2 0 0 0,9-8 0 0 0,-2 10-4 0 0,4-12 10 0 0,-5 4 6 0 0,6-6 60 0 0,1-2 7 0 0,-3 3-11 0 0,3-3-24 0 0,2 1-107 0 0,-1-1 57 0 0,0 1 1 0 0,1-1-1 0 0,-1 1 0 0 0,0-1 1 0 0,1 1-1 0 0,-1-1 1 0 0,1 0-1 0 0,-1 1 0 0 0,0-1 1 0 0,1 0-1 0 0,-1 1 0 0 0,1-1 1 0 0,-1 0-1 0 0,1 0 1 0 0,-1 1-1 0 0,1-1 0 0 0,0 0 1 0 0,-1 0-1 0 0,1 0 0 0 0,-1 0 1 0 0,1 0-1 0 0,-1 1 1 0 0,2-2-1 0 0,7 5 152 0 0,-6-1-133 0 0,-2-3-13 0 0,-1 1 0 0 0,1-1 0 0 0,0 0 0 0 0,0 0 0 0 0,0 1 0 0 0,0-1 0 0 0,0 0 1 0 0,0 0-1 0 0,-1 0 0 0 0,1 0 0 0 0,0 0 0 0 0,0 0 0 0 0,0-1 0 0 0,0 1 0 0 0,0 0 0 0 0,1-1 1 0 0,8-2-1 0 0,0 2 0 0 0,-1 1 10 0 0,-5 1 33 0 0,6 3-32 0 0,-2 4-11 0 0,-7-7 0 0 0,1 0 0 0 0,-1 0 0 0 0,0 1 0 0 0,0-1 0 0 0,0 0 0 0 0,0 1 0 0 0,0-1 0 0 0,-1 1 0 0 0,1-1 0 0 0,0 1 0 0 0,-1 0 0 0 0,1-1 0 0 0,-1 1 0 0 0,1-1 0 0 0,-1 1 0 0 0,0 0 0 0 0,0-1 0 0 0,0 4 0 0 0,0 0 0 0 0,1-4 0 0 0,-1 0 0 0 0,1 0 0 0 0,-1 0 0 0 0,0 1 0 0 0,0-1 0 0 0,1 0 0 0 0,-1 0 0 0 0,0 0 0 0 0,0 1 0 0 0,0-1 0 0 0,0 0 0 0 0,-1 0 0 0 0,1 0 0 0 0,0 1 0 0 0,0-1 0 0 0,-1 0 0 0 0,1 0 0 0 0,-1 0 0 0 0,1 0 0 0 0,-2 2 0 0 0,-1 3 0 0 0,3-5 0 0 0,-1 1 0 0 0,1-1 0 0 0,-1 0 0 0 0,1 1 0 0 0,-1-1 0 0 0,0 0 0 0 0,0 0 0 0 0,0 1 0 0 0,0-1 0 0 0,1 0 0 0 0,-1 0 0 0 0,-1 0 0 0 0,1 0 0 0 0,0 0 0 0 0,0 0 0 0 0,-3 1 0 0 0,-8 8 0 0 0,11-10 0 0 0,1 1 0 0 0,-1-1 0 0 0,1 1 0 0 0,-1-1 0 0 0,1 1 0 0 0,-1-1 0 0 0,1 1 0 0 0,-1-1 0 0 0,1 1 0 0 0,0-1 0 0 0,-1 1 0 0 0,1 0 0 0 0,0-1 0 0 0,-1 1 0 0 0,1 0 0 0 0,0-1 0 0 0,0 1 0 0 0,0 0 0 0 0,0-1 0 0 0,0 1 0 0 0,-1 0 0 0 0,1 0 0 0 0,0-1 0 0 0,1 1 0 0 0,-1 1 0 0 0,0 2 0 0 0,-5 7 0 0 0,-4 15 0 0 0,9-21 0 0 0,0-5 0 0 0,-14 26 0 0 0,13-21 0 0 0,-5 12 0 0 0,-23 28 0 0 0,8-15 0 0 0,21-29-2 0 0,-1-1 1 0 0,1 1 0 0 0,-1-1-1 0 0,1 1 1 0 0,-1-1 0 0 0,1 1-1 0 0,-1-1 1 0 0,1 1 0 0 0,0 0-1 0 0,-1-1 1 0 0,1 1 0 0 0,0 0-1 0 0,0 0 1 0 0,-1-1 0 0 0,1 1-1 0 0,0 0 1 0 0,0 0 0 0 0,0-1 0 0 0,0 1-1 0 0,0 0 1 0 0,0 0 0 0 0,0-1-1 0 0,0 1 1 0 0,0 0 0 0 0,0-1-1 0 0,1 1 1 0 0,-1 0 0 0 0,0 0-1 0 0,0-1 1 0 0,1 1 0 0 0,-1 0-1 0 0,0-1 1 0 0,1 1 0 0 0,-1 0-1 0 0,1 0 1 0 0,3 5-103 0 0,-1-2 69 0 0,-2-2 24 0 0,0-1 1 0 0,1 1-1 0 0,-1 0 1 0 0,0 0 0 0 0,-1-1-1 0 0,1 1 1 0 0,0 0-1 0 0,0 0 1 0 0,-1 0-1 0 0,1 0 1 0 0,-1 3 0 0 0,7 10-65 0 0,8 9 54 0 0,-11-16 31 0 0,-3-7-7 0 0,-1-1-1 0 0,1 1 1 0 0,-1 0 0 0 0,1-1-1 0 0,0 1 1 0 0,-1 0-1 0 0,1-1 1 0 0,0 1 0 0 0,0-1-1 0 0,-1 1 1 0 0,1-1-1 0 0,0 0 1 0 0,0 1 0 0 0,0-1-1 0 0,0 0 1 0 0,0 1-1 0 0,-1-1 1 0 0,1 0 0 0 0,0 0-1 0 0,2 0 1 0 0,9 5 10 0 0,-11-5 125 0 0,21-6-10 0 0,-10 5-118 0 0,-8 1-28 0 0,-1 0 0 0 0,1 0 0 0 0,-1 0 0 0 0,1 1 0 0 0,-1-1 1 0 0,1 1-1 0 0,-1 0 0 0 0,0 0 0 0 0,1 0 0 0 0,-1 1 0 0 0,0-1 0 0 0,0 1 0 0 0,6 3 0 0 0,2 2-69 0 0,-3-3-1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AutoShape 1">
            <a:extLst>
              <a:ext uri="{FF2B5EF4-FFF2-40B4-BE49-F238E27FC236}">
                <a16:creationId xmlns:a16="http://schemas.microsoft.com/office/drawing/2014/main" id="{B50194A5-DBED-4DC8-9F3C-54B109617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008813" cy="9294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6" name="Text Box 2">
            <a:extLst>
              <a:ext uri="{FF2B5EF4-FFF2-40B4-BE49-F238E27FC236}">
                <a16:creationId xmlns:a16="http://schemas.microsoft.com/office/drawing/2014/main" id="{283ADD90-89F2-4AB1-A2BC-9D0325E71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5BF2848C-700B-4C96-A7DF-25CC18466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3CB6E874-6752-433A-9436-EBE44CD4AAA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81100" y="698500"/>
            <a:ext cx="4646613" cy="3484563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57D4AB12-05E1-4A8A-BF89-6E10AB7FE935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933450" y="4416425"/>
            <a:ext cx="5141913" cy="417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240" tIns="46440" rIns="93240" bIns="4644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6150" name="Text Box 6">
            <a:extLst>
              <a:ext uri="{FF2B5EF4-FFF2-40B4-BE49-F238E27FC236}">
                <a16:creationId xmlns:a16="http://schemas.microsoft.com/office/drawing/2014/main" id="{A70B56C8-61E5-4CF8-A049-FC0CED401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1AAC8988-D24C-4363-9970-C31C61DDB66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971925" y="8832850"/>
            <a:ext cx="3036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240" tIns="46440" rIns="93240" bIns="46440" numCol="1" anchor="b" anchorCtr="0" compatLnSpc="1">
            <a:prstTxWarp prst="textNoShape">
              <a:avLst/>
            </a:prstTxWarp>
          </a:bodyPr>
          <a:lstStyle>
            <a:lvl1pPr marL="215900" indent="-215900" algn="r" eaLnBrk="1">
              <a:buSzPct val="45000"/>
              <a:buFont typeface="Wingdings" panose="05000000000000000000" pitchFamily="2" charset="2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300">
                <a:solidFill>
                  <a:srgbClr val="000000"/>
                </a:solidFill>
                <a:cs typeface="DejaVu Sans" charset="0"/>
              </a:defRPr>
            </a:lvl1pPr>
          </a:lstStyle>
          <a:p>
            <a:fld id="{52500AFF-4DA7-4A44-AA70-D3A9CA10689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2D69819-C15E-4209-BDC9-5FEAFA6B8C3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1C10F6F-17EB-49A8-84DC-EA4EF5A9FB4A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67585" name="Text Box 1">
            <a:extLst>
              <a:ext uri="{FF2B5EF4-FFF2-40B4-BE49-F238E27FC236}">
                <a16:creationId xmlns:a16="http://schemas.microsoft.com/office/drawing/2014/main" id="{8C30EBA5-2E3A-4110-B3A6-4B22E49A2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3240" tIns="46440" rIns="93240" bIns="4644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r">
              <a:buClrTx/>
              <a:buFontTx/>
              <a:buNone/>
            </a:pPr>
            <a:fld id="{08E0FC45-D1F7-47A4-83B0-909044E611CD}" type="slidenum">
              <a:rPr lang="en-US" altLang="en-US" sz="1300"/>
              <a:pPr algn="r">
                <a:buClrTx/>
                <a:buFontTx/>
                <a:buNone/>
              </a:pPr>
              <a:t>1</a:t>
            </a:fld>
            <a:endParaRPr lang="en-US" altLang="en-US" sz="1300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E0DCB8B5-ABA1-4BC5-A9D1-A33227DFE4F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7587" name="Text Box 3">
            <a:extLst>
              <a:ext uri="{FF2B5EF4-FFF2-40B4-BE49-F238E27FC236}">
                <a16:creationId xmlns:a16="http://schemas.microsoft.com/office/drawing/2014/main" id="{1431A753-C842-4206-B778-24521DD38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39059EE6-8B01-4F35-9DC4-9347CC3A279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8C39580-F0F2-42C0-ACDE-F72DB237FC57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92161" name="Rectangle 1">
            <a:extLst>
              <a:ext uri="{FF2B5EF4-FFF2-40B4-BE49-F238E27FC236}">
                <a16:creationId xmlns:a16="http://schemas.microsoft.com/office/drawing/2014/main" id="{014E2627-5964-4F2C-A6D6-3DA3CA17CC3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2FCCB787-CF10-4C7E-A1D6-2AD93E605B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789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F9BEC0A3-5B50-4CC2-AB4B-F5E12ABC334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D7BB1A9-97B6-42CF-92BA-FB1D05CAF4B5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93185" name="Rectangle 1">
            <a:extLst>
              <a:ext uri="{FF2B5EF4-FFF2-40B4-BE49-F238E27FC236}">
                <a16:creationId xmlns:a16="http://schemas.microsoft.com/office/drawing/2014/main" id="{F6B44AE6-F376-4DE3-9601-646D42511BD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3186" name="Text Box 2">
            <a:extLst>
              <a:ext uri="{FF2B5EF4-FFF2-40B4-BE49-F238E27FC236}">
                <a16:creationId xmlns:a16="http://schemas.microsoft.com/office/drawing/2014/main" id="{FA89D86A-AF69-40AF-8A1B-FDA0300E7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A8575E37-46A2-4903-A4BE-C402057045F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1E87E5F-6E4B-49CC-8EDB-5EF5D894BF85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06497" name="Rectangle 1">
            <a:extLst>
              <a:ext uri="{FF2B5EF4-FFF2-40B4-BE49-F238E27FC236}">
                <a16:creationId xmlns:a16="http://schemas.microsoft.com/office/drawing/2014/main" id="{D317A643-0002-44B0-9C85-3203EA7A7AE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6498" name="Text Box 2">
            <a:extLst>
              <a:ext uri="{FF2B5EF4-FFF2-40B4-BE49-F238E27FC236}">
                <a16:creationId xmlns:a16="http://schemas.microsoft.com/office/drawing/2014/main" id="{7B35D056-7397-482C-B272-8634937CD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3B5A79D8-AF79-4490-96A9-9EA54FC35C5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1D39D00-3733-4A6D-9AE4-CD98D1950026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94209" name="Rectangle 1">
            <a:extLst>
              <a:ext uri="{FF2B5EF4-FFF2-40B4-BE49-F238E27FC236}">
                <a16:creationId xmlns:a16="http://schemas.microsoft.com/office/drawing/2014/main" id="{AF172318-BE2C-4C51-B5C9-60327278622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0" name="Text Box 2">
            <a:extLst>
              <a:ext uri="{FF2B5EF4-FFF2-40B4-BE49-F238E27FC236}">
                <a16:creationId xmlns:a16="http://schemas.microsoft.com/office/drawing/2014/main" id="{C690E234-E899-49AE-9DCC-841304404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34685C5D-B404-4EB0-AF0B-BF78640EF48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95145D8-8ACF-45B8-B622-CA7AFA462C58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95233" name="Rectangle 1">
            <a:extLst>
              <a:ext uri="{FF2B5EF4-FFF2-40B4-BE49-F238E27FC236}">
                <a16:creationId xmlns:a16="http://schemas.microsoft.com/office/drawing/2014/main" id="{7CF4A4AF-1DBC-4BDC-8368-ADEDAB2F352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5234" name="Text Box 2">
            <a:extLst>
              <a:ext uri="{FF2B5EF4-FFF2-40B4-BE49-F238E27FC236}">
                <a16:creationId xmlns:a16="http://schemas.microsoft.com/office/drawing/2014/main" id="{2A946927-D731-4864-A678-1ECC76328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652D5C9F-2DE3-4551-B151-251F0056DD0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6445CAF-ED60-493D-8117-B80C40AFAB40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96257" name="Rectangle 1">
            <a:extLst>
              <a:ext uri="{FF2B5EF4-FFF2-40B4-BE49-F238E27FC236}">
                <a16:creationId xmlns:a16="http://schemas.microsoft.com/office/drawing/2014/main" id="{A436CF42-18A2-4FD9-B863-7BC3FEC1AAB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6258" name="Text Box 2">
            <a:extLst>
              <a:ext uri="{FF2B5EF4-FFF2-40B4-BE49-F238E27FC236}">
                <a16:creationId xmlns:a16="http://schemas.microsoft.com/office/drawing/2014/main" id="{2E9971DE-229A-4815-B8E8-BEB6FE25C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DBE4DA5B-7329-466D-BF5E-DB67BF3B61A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EE8D41C-6C96-42D8-8065-ED549892983F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97281" name="Rectangle 1">
            <a:extLst>
              <a:ext uri="{FF2B5EF4-FFF2-40B4-BE49-F238E27FC236}">
                <a16:creationId xmlns:a16="http://schemas.microsoft.com/office/drawing/2014/main" id="{EFFE105B-1A7D-4944-BC2B-CEBBBF813A4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7282" name="Text Box 2">
            <a:extLst>
              <a:ext uri="{FF2B5EF4-FFF2-40B4-BE49-F238E27FC236}">
                <a16:creationId xmlns:a16="http://schemas.microsoft.com/office/drawing/2014/main" id="{AE441206-676F-4EE2-8441-0F75B7893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92DEFA3E-D0C2-4904-914C-A6B163A82D1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C1080E8-6F80-4208-81D4-A7AA2E543585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98305" name="Rectangle 1">
            <a:extLst>
              <a:ext uri="{FF2B5EF4-FFF2-40B4-BE49-F238E27FC236}">
                <a16:creationId xmlns:a16="http://schemas.microsoft.com/office/drawing/2014/main" id="{C271D77A-A0D7-4E27-9305-F5CE504E40A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8306" name="Text Box 2">
            <a:extLst>
              <a:ext uri="{FF2B5EF4-FFF2-40B4-BE49-F238E27FC236}">
                <a16:creationId xmlns:a16="http://schemas.microsoft.com/office/drawing/2014/main" id="{1AC00B82-102A-4A9E-8424-9AA8595A4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927B4CFD-FDFD-4B6D-8C5C-7FBA3F89FB7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6D06BEC-6ACC-44D1-B6BD-AE2F638058F2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01377" name="Rectangle 1">
            <a:extLst>
              <a:ext uri="{FF2B5EF4-FFF2-40B4-BE49-F238E27FC236}">
                <a16:creationId xmlns:a16="http://schemas.microsoft.com/office/drawing/2014/main" id="{4A1CDEDD-EADB-4FEF-9F46-4F8893BAC0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1378" name="Text Box 2">
            <a:extLst>
              <a:ext uri="{FF2B5EF4-FFF2-40B4-BE49-F238E27FC236}">
                <a16:creationId xmlns:a16="http://schemas.microsoft.com/office/drawing/2014/main" id="{48331DB8-D540-4D2B-BE17-64E57EE39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A7BDFE1F-0B21-45D7-B176-54C665F2FA0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6B5CBE7-E4F3-4842-B26F-EE0AC97811FC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00353" name="Rectangle 1">
            <a:extLst>
              <a:ext uri="{FF2B5EF4-FFF2-40B4-BE49-F238E27FC236}">
                <a16:creationId xmlns:a16="http://schemas.microsoft.com/office/drawing/2014/main" id="{14799743-062D-4642-B3E2-7A0D4E9FD25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0354" name="Text Box 2">
            <a:extLst>
              <a:ext uri="{FF2B5EF4-FFF2-40B4-BE49-F238E27FC236}">
                <a16:creationId xmlns:a16="http://schemas.microsoft.com/office/drawing/2014/main" id="{374427FD-0F98-469D-B15F-C9295F7CF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F0573521-713D-4513-B2EC-408B47915B3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7761BB0-D900-4AD6-B244-3D4D2B20CCA9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04449" name="Rectangle 1">
            <a:extLst>
              <a:ext uri="{FF2B5EF4-FFF2-40B4-BE49-F238E27FC236}">
                <a16:creationId xmlns:a16="http://schemas.microsoft.com/office/drawing/2014/main" id="{318D82E3-0903-4D83-9F4C-4850BB6D3DCF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4450" name="Text Box 2">
            <a:extLst>
              <a:ext uri="{FF2B5EF4-FFF2-40B4-BE49-F238E27FC236}">
                <a16:creationId xmlns:a16="http://schemas.microsoft.com/office/drawing/2014/main" id="{7BD5E491-E967-4437-90F6-C4D682EEB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8E656F47-C1DB-4850-A87F-BE4A7861750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E2F3579-19C9-43C8-AE58-40C0C5E729F4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09569" name="Rectangle 1">
            <a:extLst>
              <a:ext uri="{FF2B5EF4-FFF2-40B4-BE49-F238E27FC236}">
                <a16:creationId xmlns:a16="http://schemas.microsoft.com/office/drawing/2014/main" id="{41A864A2-2028-4335-A5AD-245C5B36F46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97AFA580-A0E5-4AC1-8599-C4C58ECCBE9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D96BF500-4562-4B13-8114-91927184C2D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111E45D-7356-44FE-AE69-0E07EDF36B4C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07521" name="Rectangle 1">
            <a:extLst>
              <a:ext uri="{FF2B5EF4-FFF2-40B4-BE49-F238E27FC236}">
                <a16:creationId xmlns:a16="http://schemas.microsoft.com/office/drawing/2014/main" id="{76C6F50B-83A7-40D8-8FE7-C44D398A203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273A516D-E324-41D1-B4F7-6D94DDC132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8DC44450-FFDD-49F0-985E-1FAF6B59F3F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018C4FA-10E9-4288-8887-043287E072A4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10593" name="Rectangle 1">
            <a:extLst>
              <a:ext uri="{FF2B5EF4-FFF2-40B4-BE49-F238E27FC236}">
                <a16:creationId xmlns:a16="http://schemas.microsoft.com/office/drawing/2014/main" id="{DE0D8403-6FDC-4F07-9250-6938CAF45BB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92B63D2D-1C15-45AB-A863-10CD101087F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768D4767-C68B-487B-B4BA-296587565BA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EFBE788-7BCF-4201-B5C8-4E37909701AE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11617" name="Rectangle 1">
            <a:extLst>
              <a:ext uri="{FF2B5EF4-FFF2-40B4-BE49-F238E27FC236}">
                <a16:creationId xmlns:a16="http://schemas.microsoft.com/office/drawing/2014/main" id="{F56EB2D3-F7B2-4FE6-A7F4-F4558BEF505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E78793D2-98A3-414C-949C-628CC5B0610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672961A3-30AA-4181-86A2-CE41C484729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5C9AA42-F7A2-4561-A505-B1B1B6047F79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12641" name="Rectangle 1">
            <a:extLst>
              <a:ext uri="{FF2B5EF4-FFF2-40B4-BE49-F238E27FC236}">
                <a16:creationId xmlns:a16="http://schemas.microsoft.com/office/drawing/2014/main" id="{94F1332B-F33A-420E-B9E2-B08FAEB0A91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295DB199-99F2-4F35-9453-EADCBA5340C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87C2C580-CD04-4057-BE65-D17FEF59CD7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DACCE3A-B55F-4213-952F-9B09B0003A42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13665" name="Rectangle 1">
            <a:extLst>
              <a:ext uri="{FF2B5EF4-FFF2-40B4-BE49-F238E27FC236}">
                <a16:creationId xmlns:a16="http://schemas.microsoft.com/office/drawing/2014/main" id="{CA057D4B-AF51-4281-BC7E-2AD2236932D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DB3E140D-E3E5-466E-B3CB-3F62AAF422E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63B375A7-2A75-4352-A61E-76AE7D04414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F3DDE69-9C09-4C4A-A951-D817DC6DE697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114689" name="Rectangle 1">
            <a:extLst>
              <a:ext uri="{FF2B5EF4-FFF2-40B4-BE49-F238E27FC236}">
                <a16:creationId xmlns:a16="http://schemas.microsoft.com/office/drawing/2014/main" id="{51ABF3AC-C06C-4F5F-BE61-02C4CB86870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FC3884A6-7663-424A-A505-DD6CADE73B7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F87A7315-3026-4A6A-9BF9-AA71D3ACE60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E0389BF-55A5-446C-8B34-88DD48694FC6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115713" name="Rectangle 1">
            <a:extLst>
              <a:ext uri="{FF2B5EF4-FFF2-40B4-BE49-F238E27FC236}">
                <a16:creationId xmlns:a16="http://schemas.microsoft.com/office/drawing/2014/main" id="{AEA8E716-F781-4DBB-A10E-B6A1A0C7D36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32E954F1-A920-4F89-AD85-A87F7BEF812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6B4245DA-4944-4CCA-9662-ACB103975F7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DA3C08F-C687-42A4-B3B6-85D2BCF42204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116737" name="Rectangle 1">
            <a:extLst>
              <a:ext uri="{FF2B5EF4-FFF2-40B4-BE49-F238E27FC236}">
                <a16:creationId xmlns:a16="http://schemas.microsoft.com/office/drawing/2014/main" id="{895FF3EF-DEC2-4E26-9257-9B959D20587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6738" name="Rectangle 2">
            <a:extLst>
              <a:ext uri="{FF2B5EF4-FFF2-40B4-BE49-F238E27FC236}">
                <a16:creationId xmlns:a16="http://schemas.microsoft.com/office/drawing/2014/main" id="{AF1DBF11-024A-4268-A709-4DFBD8D1C73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C25FBA9F-920D-4BEF-B047-1C0A30327B3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31FA584-3B5D-4F68-B97A-F25EEC5F463B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117761" name="Rectangle 1">
            <a:extLst>
              <a:ext uri="{FF2B5EF4-FFF2-40B4-BE49-F238E27FC236}">
                <a16:creationId xmlns:a16="http://schemas.microsoft.com/office/drawing/2014/main" id="{B9D66AAC-ADC5-4D02-9449-19632EC6B5F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7762" name="Rectangle 2">
            <a:extLst>
              <a:ext uri="{FF2B5EF4-FFF2-40B4-BE49-F238E27FC236}">
                <a16:creationId xmlns:a16="http://schemas.microsoft.com/office/drawing/2014/main" id="{2DA83D03-9E91-4983-BDB5-9DDCFD24B42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A49E8C00-5487-4DAE-AD5E-5BD93A33184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ECD4BE6-28C0-41D8-93F8-99550BB75C27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18785" name="Rectangle 1">
            <a:extLst>
              <a:ext uri="{FF2B5EF4-FFF2-40B4-BE49-F238E27FC236}">
                <a16:creationId xmlns:a16="http://schemas.microsoft.com/office/drawing/2014/main" id="{03530A26-B506-4EDC-AAAC-9539AC956AC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8786" name="Rectangle 2">
            <a:extLst>
              <a:ext uri="{FF2B5EF4-FFF2-40B4-BE49-F238E27FC236}">
                <a16:creationId xmlns:a16="http://schemas.microsoft.com/office/drawing/2014/main" id="{A00CAC1C-EAE9-43AE-B5AC-C0968CF4807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02A92C7F-5E7E-4A93-8DA2-F81B803CE6E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BB228CE-234F-41DD-BA5B-7C6CEE07237A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119809" name="Rectangle 1">
            <a:extLst>
              <a:ext uri="{FF2B5EF4-FFF2-40B4-BE49-F238E27FC236}">
                <a16:creationId xmlns:a16="http://schemas.microsoft.com/office/drawing/2014/main" id="{EDDC7F8E-3646-4DB6-A44F-8F850E4DD1EF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9810" name="Rectangle 2">
            <a:extLst>
              <a:ext uri="{FF2B5EF4-FFF2-40B4-BE49-F238E27FC236}">
                <a16:creationId xmlns:a16="http://schemas.microsoft.com/office/drawing/2014/main" id="{44E182EA-A7DC-4643-B083-3BA524B1A1F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96F5B634-D03F-442E-9927-AE4AC5ADFF9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2A2A095-4D30-4CA0-822E-594A2E094DD4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120833" name="Rectangle 1">
            <a:extLst>
              <a:ext uri="{FF2B5EF4-FFF2-40B4-BE49-F238E27FC236}">
                <a16:creationId xmlns:a16="http://schemas.microsoft.com/office/drawing/2014/main" id="{75625062-0EF0-48A7-9ED9-34F3CFE7B12B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0834" name="Rectangle 2">
            <a:extLst>
              <a:ext uri="{FF2B5EF4-FFF2-40B4-BE49-F238E27FC236}">
                <a16:creationId xmlns:a16="http://schemas.microsoft.com/office/drawing/2014/main" id="{C8AE2F3F-ABAF-43EA-96CB-468B57E7EAC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3E8DA9FE-4959-4B2C-B612-FB9D062A58C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4624DEB-070B-476A-84AE-F46D2B91D52F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121857" name="Rectangle 1">
            <a:extLst>
              <a:ext uri="{FF2B5EF4-FFF2-40B4-BE49-F238E27FC236}">
                <a16:creationId xmlns:a16="http://schemas.microsoft.com/office/drawing/2014/main" id="{1C52B6A0-FE4C-4585-8E73-54BD713DD8FB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1858" name="Rectangle 2">
            <a:extLst>
              <a:ext uri="{FF2B5EF4-FFF2-40B4-BE49-F238E27FC236}">
                <a16:creationId xmlns:a16="http://schemas.microsoft.com/office/drawing/2014/main" id="{F563FB84-111A-477C-BF96-021ABFD489B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C71CE91A-0698-49B7-8733-9C24FF6B2C2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C05D4DB-5C8F-4B47-B7E2-689C1089A82D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122881" name="Rectangle 1">
            <a:extLst>
              <a:ext uri="{FF2B5EF4-FFF2-40B4-BE49-F238E27FC236}">
                <a16:creationId xmlns:a16="http://schemas.microsoft.com/office/drawing/2014/main" id="{813DC69F-61E3-4F59-AE06-F4DDB15E75B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83178DDF-5F11-4AC3-B989-CFED2F01071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21AD9456-4A9B-42B0-9C2F-24AD9D1D615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A2F5C1C-58FE-4DDB-BA85-1D87E15E3321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123905" name="Rectangle 1">
            <a:extLst>
              <a:ext uri="{FF2B5EF4-FFF2-40B4-BE49-F238E27FC236}">
                <a16:creationId xmlns:a16="http://schemas.microsoft.com/office/drawing/2014/main" id="{2B94DDEB-A6C6-409A-B14A-B88674EEC5F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3906" name="Rectangle 2">
            <a:extLst>
              <a:ext uri="{FF2B5EF4-FFF2-40B4-BE49-F238E27FC236}">
                <a16:creationId xmlns:a16="http://schemas.microsoft.com/office/drawing/2014/main" id="{99CECEF2-04C4-4F0E-88EC-6EF6F1851E2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450D1B5C-A952-45AF-BB9E-8BFAE298AD7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587F3A3-B271-4BBB-BC78-CC1840129426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124929" name="Rectangle 1">
            <a:extLst>
              <a:ext uri="{FF2B5EF4-FFF2-40B4-BE49-F238E27FC236}">
                <a16:creationId xmlns:a16="http://schemas.microsoft.com/office/drawing/2014/main" id="{A5332F44-2096-4192-9A1C-FDBC64938670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2EB93DB7-B481-4275-A5EE-42C127B13A5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5C053159-75CB-4F49-84F1-0EAD009C0CC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3F98AFE-869F-435B-BD6B-0BB089E58C3A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125953" name="Rectangle 1">
            <a:extLst>
              <a:ext uri="{FF2B5EF4-FFF2-40B4-BE49-F238E27FC236}">
                <a16:creationId xmlns:a16="http://schemas.microsoft.com/office/drawing/2014/main" id="{02017019-A3F9-4E1F-AE12-85C670071E7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6B951036-CEB4-4C03-81B7-DA70C170434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0C678B77-FFAE-4245-9BAA-1E9FE0EBDD9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ECA29AE-EAF6-4E6A-A463-C5DDEA2ECC30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126977" name="Rectangle 1">
            <a:extLst>
              <a:ext uri="{FF2B5EF4-FFF2-40B4-BE49-F238E27FC236}">
                <a16:creationId xmlns:a16="http://schemas.microsoft.com/office/drawing/2014/main" id="{8F503739-C119-4899-8A67-3D51C611D62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6978" name="Rectangle 2">
            <a:extLst>
              <a:ext uri="{FF2B5EF4-FFF2-40B4-BE49-F238E27FC236}">
                <a16:creationId xmlns:a16="http://schemas.microsoft.com/office/drawing/2014/main" id="{1B2700E4-2771-43CC-AAD7-B3AF3DCFD2D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04E8-B30E-4818-9514-082745BD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E38FB-F4EA-48F5-9BB3-703644F51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0550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03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BF4029-6F67-4287-BC32-CC9DC623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08FFA-1D3C-4BB1-B3A1-CA8D3FF97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27201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33" r:id="rId1"/>
    <p:sldLayoutId id="214748453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://superuser.com/questions/1076255/what-layer-of-the-tcp-ip-do-mac-addresses-and-ip-addresses-belong-to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en.wikibooks.org/wiki/Communication_Networks/TCP_and_UDP_Protocols/UDP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robinchen.me/tech/2017/02/14/intro-to-tcp-and-udp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etworkinterview.com/tcp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190.png"/><Relationship Id="rId12" Type="http://schemas.openxmlformats.org/officeDocument/2006/relationships/customXml" Target="../ink/ink5.xml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21.png"/><Relationship Id="rId5" Type="http://schemas.openxmlformats.org/officeDocument/2006/relationships/image" Target="../media/image180.png"/><Relationship Id="rId15" Type="http://schemas.openxmlformats.org/officeDocument/2006/relationships/image" Target="../media/image23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20.png"/><Relationship Id="rId14" Type="http://schemas.openxmlformats.org/officeDocument/2006/relationships/customXml" Target="../ink/ink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Freeform: Shape 71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174" name="Freeform: Shape 73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169" name="Text Box 1">
            <a:extLst>
              <a:ext uri="{FF2B5EF4-FFF2-40B4-BE49-F238E27FC236}">
                <a16:creationId xmlns:a16="http://schemas.microsoft.com/office/drawing/2014/main" id="{21DD95E0-F7CE-4871-A23D-01393976B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631" y="1441938"/>
            <a:ext cx="7080738" cy="3974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5400" dirty="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Transport Layer</a:t>
            </a:r>
            <a:br>
              <a:rPr lang="en-US" altLang="en-US" sz="5400" dirty="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altLang="en-US" sz="5400" dirty="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TCP/UDP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92916D8-D3AB-4655-9F05-0FD93E286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576" y="2641601"/>
            <a:ext cx="4989513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A093-C837-4306-B2CF-B82847E40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Recap: Layered Model Network Comms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855F37C-A427-4321-8B64-B7AF99786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6606" y="1825625"/>
            <a:ext cx="4978787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695EBF-CDC0-4540-B2BF-CC743E81F720}"/>
              </a:ext>
            </a:extLst>
          </p:cNvPr>
          <p:cNvSpPr txBox="1"/>
          <p:nvPr/>
        </p:nvSpPr>
        <p:spPr>
          <a:xfrm>
            <a:off x="673260" y="1632994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Web Server</a:t>
            </a:r>
            <a:endParaRPr lang="en-US">
              <a:cs typeface="Calibri"/>
            </a:endParaRPr>
          </a:p>
        </p:txBody>
      </p:sp>
      <p:pic>
        <p:nvPicPr>
          <p:cNvPr id="7" name="Picture 7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3F942EE-9D69-443E-890C-D132CEE58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515" y="1512991"/>
            <a:ext cx="5289629" cy="2867458"/>
          </a:xfrm>
          <a:prstGeom prst="rect">
            <a:avLst/>
          </a:prstGeom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EACD298C-FE89-47D0-A8E6-CF1AA6EDD8BE}"/>
              </a:ext>
            </a:extLst>
          </p:cNvPr>
          <p:cNvSpPr/>
          <p:nvPr/>
        </p:nvSpPr>
        <p:spPr>
          <a:xfrm>
            <a:off x="3597237" y="1905964"/>
            <a:ext cx="666662" cy="2419108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5707D4-6290-413D-8EE1-5564116E1ADD}"/>
              </a:ext>
            </a:extLst>
          </p:cNvPr>
          <p:cNvSpPr/>
          <p:nvPr/>
        </p:nvSpPr>
        <p:spPr>
          <a:xfrm>
            <a:off x="9834622" y="1848091"/>
            <a:ext cx="1329159" cy="644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cs typeface="Calibri"/>
              </a:rPr>
              <a:t>Application</a:t>
            </a:r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A29F07-5587-4BBB-8089-D21B07A10A6D}"/>
              </a:ext>
            </a:extLst>
          </p:cNvPr>
          <p:cNvSpPr/>
          <p:nvPr/>
        </p:nvSpPr>
        <p:spPr>
          <a:xfrm>
            <a:off x="9834621" y="2484698"/>
            <a:ext cx="1329159" cy="644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cs typeface="Calibri"/>
              </a:rPr>
              <a:t>Transport</a:t>
            </a:r>
            <a:endParaRPr lang="en-US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9DDD51-A37A-43F2-9441-86A052C38C64}"/>
              </a:ext>
            </a:extLst>
          </p:cNvPr>
          <p:cNvSpPr/>
          <p:nvPr/>
        </p:nvSpPr>
        <p:spPr>
          <a:xfrm>
            <a:off x="9834622" y="3121306"/>
            <a:ext cx="1329159" cy="644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cs typeface="Calibri"/>
              </a:rPr>
              <a:t>Network</a:t>
            </a:r>
            <a:endParaRPr lang="en-US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13B173-3E54-4173-AECE-B8D3DD55145A}"/>
              </a:ext>
            </a:extLst>
          </p:cNvPr>
          <p:cNvSpPr/>
          <p:nvPr/>
        </p:nvSpPr>
        <p:spPr>
          <a:xfrm>
            <a:off x="9834621" y="3757913"/>
            <a:ext cx="1329159" cy="644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cs typeface="Calibri"/>
              </a:rPr>
              <a:t>Data Link/ Physical</a:t>
            </a:r>
            <a:endParaRPr 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05180C-DA66-4BF7-B153-C590609935D7}"/>
              </a:ext>
            </a:extLst>
          </p:cNvPr>
          <p:cNvSpPr txBox="1"/>
          <p:nvPr/>
        </p:nvSpPr>
        <p:spPr>
          <a:xfrm>
            <a:off x="9084197" y="1440083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solidFill>
                  <a:schemeClr val="tx1"/>
                </a:solidFill>
              </a:rPr>
              <a:t>Layers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D3E33D-BE95-4A09-9480-818693B740EC}"/>
              </a:ext>
            </a:extLst>
          </p:cNvPr>
          <p:cNvSpPr txBox="1"/>
          <p:nvPr/>
        </p:nvSpPr>
        <p:spPr>
          <a:xfrm>
            <a:off x="846881" y="4391627"/>
            <a:ext cx="2743200" cy="181588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 Benefits of Layered Model: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assists in protocol design</a:t>
            </a:r>
            <a:endParaRPr lang="en-US" sz="1600" dirty="0">
              <a:solidFill>
                <a:srgbClr val="000000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fosters competition</a:t>
            </a:r>
            <a:endParaRPr lang="en-US" sz="1600" dirty="0">
              <a:solidFill>
                <a:srgbClr val="000000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changes in one layer do not affect other layers</a:t>
            </a:r>
            <a:endParaRPr lang="en-US" sz="1600" dirty="0">
              <a:solidFill>
                <a:srgbClr val="000000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provides a common language </a:t>
            </a:r>
            <a:endParaRPr lang="en-US" sz="1600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52FB38-6BBB-4A9C-8661-328D98021679}"/>
              </a:ext>
            </a:extLst>
          </p:cNvPr>
          <p:cNvSpPr/>
          <p:nvPr/>
        </p:nvSpPr>
        <p:spPr>
          <a:xfrm>
            <a:off x="4223656" y="2391228"/>
            <a:ext cx="5558971" cy="914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4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3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70F4-45DB-4B96-A707-81767AE6D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r>
              <a:rPr lang="en-US">
                <a:cs typeface="Calibri"/>
              </a:rPr>
              <a:t>Transport Layer Role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AC26A-459E-4A78-89E9-43F006034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Provides logical communications between applications running on different hosts.</a:t>
            </a:r>
          </a:p>
          <a:p>
            <a:r>
              <a:rPr lang="en-US" sz="2800" dirty="0">
                <a:solidFill>
                  <a:srgbClr val="000000"/>
                </a:solidFill>
              </a:rPr>
              <a:t>Provides the link between the application layer and the lower layers that are responsible for network transmission.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Prepares application data for transport over a network</a:t>
            </a:r>
          </a:p>
          <a:p>
            <a:pPr lvl="1"/>
            <a:r>
              <a:rPr lang="en-US" dirty="0">
                <a:cs typeface="Calibri"/>
              </a:rPr>
              <a:t>Processes network data for use by apps</a:t>
            </a:r>
          </a:p>
          <a:p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pic>
        <p:nvPicPr>
          <p:cNvPr id="4" name="Picture 4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70E59038-AA60-4B8E-8985-156B110BE2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446"/>
          <a:stretch/>
        </p:blipFill>
        <p:spPr>
          <a:xfrm>
            <a:off x="5763384" y="1514257"/>
            <a:ext cx="4061539" cy="4093389"/>
          </a:xfrm>
          <a:prstGeom prst="rect">
            <a:avLst/>
          </a:prstGeom>
          <a:effectLst/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7349C49F-009D-42E9-A333-7C7F6E492382}"/>
              </a:ext>
            </a:extLst>
          </p:cNvPr>
          <p:cNvSpPr/>
          <p:nvPr/>
        </p:nvSpPr>
        <p:spPr>
          <a:xfrm>
            <a:off x="5486400" y="2666475"/>
            <a:ext cx="978408" cy="8384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70136DA2-AA93-4290-9FD7-0FC68DAA82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909213" y="1143000"/>
            <a:ext cx="3962400" cy="3266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3C1B92-50BC-4C87-A2D7-2CA5A5C1BB17}"/>
              </a:ext>
            </a:extLst>
          </p:cNvPr>
          <p:cNvSpPr txBox="1"/>
          <p:nvPr/>
        </p:nvSpPr>
        <p:spPr>
          <a:xfrm>
            <a:off x="10058401" y="5238314"/>
            <a:ext cx="2684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900">
                <a:hlinkClick r:id="rId4" tooltip="http://superuser.com/questions/1076255/what-layer-of-the-tcp-ip-do-mac-addresses-and-ip-addresses-belong-to"/>
              </a:rPr>
              <a:t>This Photo</a:t>
            </a:r>
            <a:r>
              <a:rPr lang="en-IE" sz="900"/>
              <a:t> by Unknown Author is licensed under </a:t>
            </a:r>
            <a:r>
              <a:rPr lang="en-IE" sz="900">
                <a:hlinkClick r:id="rId5" tooltip="https://creativecommons.org/licenses/by-sa/3.0/"/>
              </a:rPr>
              <a:t>CC BY-SA</a:t>
            </a:r>
            <a:endParaRPr lang="en-IE" sz="900"/>
          </a:p>
        </p:txBody>
      </p:sp>
    </p:spTree>
    <p:extLst>
      <p:ext uri="{BB962C8B-B14F-4D97-AF65-F5344CB8AC3E}">
        <p14:creationId xmlns:p14="http://schemas.microsoft.com/office/powerpoint/2010/main" val="2626861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BD9A77-932C-4965-88C8-37A897167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Transport Layer Purpose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751E5-7620-49E4-88F4-3FE5F9237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2774" cy="43034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300" dirty="0">
                <a:cs typeface="Calibri"/>
              </a:rPr>
              <a:t>Segments data and reassembles segments into various communication streams:</a:t>
            </a:r>
          </a:p>
          <a:p>
            <a:pPr lvl="1"/>
            <a:r>
              <a:rPr lang="en-US" sz="1300" b="1" dirty="0">
                <a:cs typeface="Calibri"/>
              </a:rPr>
              <a:t>Tracks individual communication between apps on source and destination  hosts</a:t>
            </a:r>
          </a:p>
          <a:p>
            <a:pPr lvl="2"/>
            <a:r>
              <a:rPr lang="en-US" sz="1300" dirty="0">
                <a:cs typeface="Calibri"/>
              </a:rPr>
              <a:t>A host can have multiple simultaneous networked apps (e.g. browser, slack etc. </a:t>
            </a:r>
          </a:p>
          <a:p>
            <a:pPr lvl="1"/>
            <a:r>
              <a:rPr lang="en-US" sz="1300" b="1" dirty="0">
                <a:cs typeface="Calibri"/>
              </a:rPr>
              <a:t>Segments data  and manages each piece</a:t>
            </a:r>
          </a:p>
          <a:p>
            <a:pPr lvl="2"/>
            <a:r>
              <a:rPr lang="en-US" sz="1300" dirty="0">
                <a:cs typeface="Calibri"/>
              </a:rPr>
              <a:t>The Transport layer segments data from the Application layer</a:t>
            </a:r>
          </a:p>
          <a:p>
            <a:pPr lvl="2"/>
            <a:r>
              <a:rPr lang="en-US" sz="1300" dirty="0">
                <a:cs typeface="Calibri"/>
              </a:rPr>
              <a:t>Each piece of application data requires headers to indicate to which communication it is associated with</a:t>
            </a:r>
          </a:p>
          <a:p>
            <a:pPr lvl="1"/>
            <a:r>
              <a:rPr lang="en-US" sz="1300" b="1" dirty="0">
                <a:cs typeface="Calibri"/>
              </a:rPr>
              <a:t>Reassembles segments into application data</a:t>
            </a:r>
          </a:p>
          <a:p>
            <a:pPr lvl="2"/>
            <a:r>
              <a:rPr lang="en-US" sz="1300" dirty="0">
                <a:cs typeface="Calibri"/>
              </a:rPr>
              <a:t>At a receiving host, individual pieces of data must also be reconstructed into a complete data stream that is useful to the Application layer.</a:t>
            </a:r>
          </a:p>
          <a:p>
            <a:pPr lvl="1"/>
            <a:r>
              <a:rPr lang="en-US" sz="1300" b="1" dirty="0">
                <a:cs typeface="Calibri"/>
              </a:rPr>
              <a:t>Identifies different applications</a:t>
            </a:r>
          </a:p>
          <a:p>
            <a:pPr lvl="2"/>
            <a:r>
              <a:rPr lang="en-US" sz="1300" dirty="0">
                <a:cs typeface="Calibri"/>
              </a:rPr>
              <a:t>Transport layer must be able to identify target apps: Uses Port Numbers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65F73E-D882-45B0-A1F8-33DB2775A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600200"/>
            <a:ext cx="7778092" cy="5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12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1">
            <a:extLst>
              <a:ext uri="{FF2B5EF4-FFF2-40B4-BE49-F238E27FC236}">
                <a16:creationId xmlns:a16="http://schemas.microsoft.com/office/drawing/2014/main" id="{0D22FB00-7C10-4444-9E34-BD0807618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4" y="1211264"/>
            <a:ext cx="7997825" cy="537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746" name="Text Box 2">
            <a:extLst>
              <a:ext uri="{FF2B5EF4-FFF2-40B4-BE49-F238E27FC236}">
                <a16:creationId xmlns:a16="http://schemas.microsoft.com/office/drawing/2014/main" id="{BA69EDA7-DE75-49EF-9FE0-373A81AC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2013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endParaRPr lang="en-US" altLang="en-US" sz="4000" u="sng" dirty="0">
              <a:solidFill>
                <a:srgbClr val="3333CC"/>
              </a:solidFill>
              <a:latin typeface="Comic Sans MS" panose="030F0702030302020204" pitchFamily="66" charset="0"/>
            </a:endParaRPr>
          </a:p>
        </p:txBody>
      </p:sp>
      <p:sp>
        <p:nvSpPr>
          <p:cNvPr id="31747" name="Text Box 3">
            <a:extLst>
              <a:ext uri="{FF2B5EF4-FFF2-40B4-BE49-F238E27FC236}">
                <a16:creationId xmlns:a16="http://schemas.microsoft.com/office/drawing/2014/main" id="{069F200C-4FCC-447D-BF03-88B6392AF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7700" y="4268789"/>
            <a:ext cx="3295650" cy="798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ctr">
              <a:lnSpc>
                <a:spcPct val="96000"/>
              </a:lnSpc>
              <a:buClrTx/>
              <a:buFontTx/>
              <a:buNone/>
            </a:pPr>
            <a:r>
              <a:rPr lang="en-GB" altLang="en-US" sz="2400" dirty="0">
                <a:solidFill>
                  <a:srgbClr val="FF0000"/>
                </a:solidFill>
                <a:latin typeface="Arial" panose="020B0604020202020204" pitchFamily="34" charset="0"/>
                <a:cs typeface="msmincho" charset="0"/>
              </a:rPr>
              <a:t>ICMP(ping), ARP &amp; RARP</a:t>
            </a:r>
          </a:p>
        </p:txBody>
      </p:sp>
      <p:sp>
        <p:nvSpPr>
          <p:cNvPr id="31748" name="Text Box 4">
            <a:extLst>
              <a:ext uri="{FF2B5EF4-FFF2-40B4-BE49-F238E27FC236}">
                <a16:creationId xmlns:a16="http://schemas.microsoft.com/office/drawing/2014/main" id="{5A0B0AAF-CDFE-4ED9-8FD3-DD8B6C1E5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1" y="6129339"/>
            <a:ext cx="16478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ctr">
              <a:lnSpc>
                <a:spcPct val="96000"/>
              </a:lnSpc>
              <a:buClrTx/>
              <a:buFontTx/>
              <a:buNone/>
            </a:pPr>
            <a:r>
              <a:rPr lang="en-GB" altLang="en-US" sz="2400" dirty="0">
                <a:solidFill>
                  <a:srgbClr val="FF0000"/>
                </a:solidFill>
                <a:latin typeface="Arial" panose="020B0604020202020204" pitchFamily="34" charset="0"/>
                <a:cs typeface="msmincho" charset="0"/>
              </a:rPr>
              <a:t>802.3</a:t>
            </a:r>
          </a:p>
        </p:txBody>
      </p:sp>
      <p:sp>
        <p:nvSpPr>
          <p:cNvPr id="31749" name="Text Box 5">
            <a:extLst>
              <a:ext uri="{FF2B5EF4-FFF2-40B4-BE49-F238E27FC236}">
                <a16:creationId xmlns:a16="http://schemas.microsoft.com/office/drawing/2014/main" id="{2FEE24E9-6BA6-432F-8C08-F721A6C42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r">
              <a:buClrTx/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 TCP/IP</a:t>
            </a:r>
          </a:p>
        </p:txBody>
      </p:sp>
      <p:sp>
        <p:nvSpPr>
          <p:cNvPr id="31750" name="Text Box 6">
            <a:extLst>
              <a:ext uri="{FF2B5EF4-FFF2-40B4-BE49-F238E27FC236}">
                <a16:creationId xmlns:a16="http://schemas.microsoft.com/office/drawing/2014/main" id="{87CF9A0F-B005-4E89-9C65-FEA2D0C81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9801" y="6400800"/>
            <a:ext cx="62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r">
              <a:buClrTx/>
              <a:buFontTx/>
              <a:buNone/>
            </a:pPr>
            <a:fld id="{A8713C7E-897E-405E-8A14-1BFD4AF8A0CF}" type="slidenum">
              <a:rPr lang="en-US" altLang="en-US" sz="1400"/>
              <a:pPr algn="r">
                <a:buClr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98F7842A-3BA4-4CA7-9720-9FD79CA0B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0113" y="6155981"/>
            <a:ext cx="16478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ctr">
              <a:lnSpc>
                <a:spcPct val="96000"/>
              </a:lnSpc>
              <a:buClrTx/>
              <a:buFontTx/>
              <a:buNone/>
            </a:pPr>
            <a:r>
              <a:rPr lang="en-GB" alt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msmincho" charset="0"/>
              </a:rPr>
              <a:t>WiFi</a:t>
            </a:r>
            <a:endParaRPr lang="en-GB" altLang="en-US" sz="2400" dirty="0">
              <a:solidFill>
                <a:srgbClr val="FF0000"/>
              </a:solidFill>
              <a:latin typeface="Arial" panose="020B0604020202020204" pitchFamily="34" charset="0"/>
              <a:cs typeface="msmincho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20F6E4-7F49-48D9-A34D-92FE4E685ACC}"/>
              </a:ext>
            </a:extLst>
          </p:cNvPr>
          <p:cNvSpPr/>
          <p:nvPr/>
        </p:nvSpPr>
        <p:spPr>
          <a:xfrm>
            <a:off x="3733800" y="2590800"/>
            <a:ext cx="5334000" cy="12192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Callout: Line 1">
            <a:extLst>
              <a:ext uri="{FF2B5EF4-FFF2-40B4-BE49-F238E27FC236}">
                <a16:creationId xmlns:a16="http://schemas.microsoft.com/office/drawing/2014/main" id="{5A7FDBF4-76DE-4748-BFA1-9270AE2F7AAB}"/>
              </a:ext>
            </a:extLst>
          </p:cNvPr>
          <p:cNvSpPr/>
          <p:nvPr/>
        </p:nvSpPr>
        <p:spPr>
          <a:xfrm>
            <a:off x="9829800" y="3581400"/>
            <a:ext cx="2359025" cy="1676400"/>
          </a:xfrm>
          <a:prstGeom prst="borderCallout1">
            <a:avLst>
              <a:gd name="adj1" fmla="val 18750"/>
              <a:gd name="adj2" fmla="val -8333"/>
              <a:gd name="adj3" fmla="val -8241"/>
              <a:gd name="adj4" fmla="val -3118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TCP only part of the Transport layer</a:t>
            </a:r>
          </a:p>
        </p:txBody>
      </p:sp>
    </p:spTree>
    <p:extLst>
      <p:ext uri="{BB962C8B-B14F-4D97-AF65-F5344CB8AC3E}">
        <p14:creationId xmlns:p14="http://schemas.microsoft.com/office/powerpoint/2010/main" val="34940639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/>
      <p:bldP spid="31748" grpId="0"/>
      <p:bldP spid="10" grpId="0"/>
      <p:bldP spid="4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1">
            <a:extLst>
              <a:ext uri="{FF2B5EF4-FFF2-40B4-BE49-F238E27FC236}">
                <a16:creationId xmlns:a16="http://schemas.microsoft.com/office/drawing/2014/main" id="{70CF868E-D51C-4094-B70D-71EF6BC20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29" y="629266"/>
            <a:ext cx="3846871" cy="16223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UDP - User Datagram Protocol</a:t>
            </a:r>
          </a:p>
        </p:txBody>
      </p:sp>
      <p:sp>
        <p:nvSpPr>
          <p:cNvPr id="32770" name="Text Box 2">
            <a:extLst>
              <a:ext uri="{FF2B5EF4-FFF2-40B4-BE49-F238E27FC236}">
                <a16:creationId xmlns:a16="http://schemas.microsoft.com/office/drawing/2014/main" id="{0FDCB61C-A12D-402C-8B51-6378C2DA8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31" y="2438400"/>
            <a:ext cx="3505494" cy="37854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+mn-lt"/>
                <a:cs typeface="+mn-cs"/>
              </a:rPr>
              <a:t>UDP is a transport protocol, that provides the basic functions for delivering datagrams between the appropriate applications,</a:t>
            </a:r>
            <a:endParaRPr lang="en-US" sz="160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+mn-lt"/>
                <a:cs typeface="+mn-cs"/>
              </a:rPr>
              <a:t>communication between </a:t>
            </a:r>
            <a:r>
              <a:rPr lang="en-US" altLang="en-US" sz="1600" b="1" u="sng" dirty="0">
                <a:solidFill>
                  <a:schemeClr val="tx1"/>
                </a:solidFill>
                <a:latin typeface="+mn-lt"/>
                <a:cs typeface="+mn-cs"/>
              </a:rPr>
              <a:t>processes</a:t>
            </a:r>
            <a:endParaRPr lang="en-US" altLang="en-US" sz="1600" b="1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+mn-lt"/>
                <a:cs typeface="+mn-cs"/>
              </a:rPr>
              <a:t>UDP is a connectionless best-effort delivery </a:t>
            </a:r>
          </a:p>
          <a:p>
            <a:pPr marL="857250" lvl="1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+mn-lt"/>
                <a:cs typeface="+mn-cs"/>
              </a:rPr>
              <a:t>there is no acknowledgment that the data is received at the destination.</a:t>
            </a: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+mn-lt"/>
                <a:cs typeface="+mn-cs"/>
              </a:rPr>
              <a:t>UDP uses </a:t>
            </a:r>
            <a:r>
              <a:rPr lang="en-US" altLang="en-US" sz="1600" b="1" i="1" dirty="0">
                <a:solidFill>
                  <a:schemeClr val="tx1"/>
                </a:solidFill>
                <a:latin typeface="+mn-lt"/>
                <a:cs typeface="+mn-cs"/>
              </a:rPr>
              <a:t>ports</a:t>
            </a:r>
            <a:r>
              <a:rPr lang="en-US" altLang="en-US" sz="1600" dirty="0">
                <a:solidFill>
                  <a:schemeClr val="tx1"/>
                </a:solidFill>
                <a:latin typeface="+mn-lt"/>
                <a:cs typeface="+mn-cs"/>
              </a:rPr>
              <a:t> to provide communication services to individual apps/processes.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icture containing diagram&#10;&#10;Description automatically generated">
            <a:extLst>
              <a:ext uri="{FF2B5EF4-FFF2-40B4-BE49-F238E27FC236}">
                <a16:creationId xmlns:a16="http://schemas.microsoft.com/office/drawing/2014/main" id="{E56E3EDB-A6A3-4A9B-829E-38A3397C5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405862" y="1937593"/>
            <a:ext cx="6019331" cy="2979568"/>
          </a:xfrm>
          <a:prstGeom prst="rect">
            <a:avLst/>
          </a:prstGeom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373586-4676-476F-ACB4-F7975DEDC71C}"/>
              </a:ext>
            </a:extLst>
          </p:cNvPr>
          <p:cNvSpPr txBox="1"/>
          <p:nvPr/>
        </p:nvSpPr>
        <p:spPr>
          <a:xfrm>
            <a:off x="9118151" y="4717106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4" tooltip="https://en.wikibooks.org/wiki/Communication_Networks/TCP_and_UDP_Protocols/UD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BEBBF-4BD4-4EB8-B2AB-D6EA86CC2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 dirty="0"/>
              <a:t>Transmission Control Protocol(TCP)</a:t>
            </a:r>
            <a:endParaRPr lang="en-I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6D12E-3CEC-4F43-80BD-62F7733C3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2774" cy="4303464"/>
          </a:xfrm>
        </p:spPr>
        <p:txBody>
          <a:bodyPr>
            <a:normAutofit/>
          </a:bodyPr>
          <a:lstStyle/>
          <a:p>
            <a:pPr marL="0" indent="0"/>
            <a:r>
              <a:rPr lang="en-US" sz="2000" dirty="0"/>
              <a:t>TCP provides reliability and flow control. TCP basic operations:</a:t>
            </a:r>
          </a:p>
          <a:p>
            <a:pPr marL="457200" lvl="1" indent="0"/>
            <a:r>
              <a:rPr lang="en-US" sz="1600" dirty="0"/>
              <a:t>Number and track data segments transmitted to a specific host from a specific application</a:t>
            </a:r>
          </a:p>
          <a:p>
            <a:pPr marL="457200" lvl="1" indent="0"/>
            <a:r>
              <a:rPr lang="en-US" sz="2000" dirty="0"/>
              <a:t>Acknowledge received data</a:t>
            </a:r>
          </a:p>
          <a:p>
            <a:pPr marL="457200" lvl="1" indent="0"/>
            <a:r>
              <a:rPr lang="en-US" sz="2000" dirty="0"/>
              <a:t>Retransmit any unacknowledged data after a certain amount of time</a:t>
            </a:r>
          </a:p>
          <a:p>
            <a:pPr marL="457200" lvl="1" indent="0"/>
            <a:r>
              <a:rPr lang="en-US" sz="2000" dirty="0"/>
              <a:t>Sequence data that might arrive in wrong order</a:t>
            </a:r>
          </a:p>
          <a:p>
            <a:pPr marL="457200" lvl="1" indent="0"/>
            <a:r>
              <a:rPr lang="en-US" sz="2000" dirty="0"/>
              <a:t>Send data at an efficient rate that is acceptable by the receiver</a:t>
            </a:r>
          </a:p>
          <a:p>
            <a:endParaRPr lang="en-IE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62D660-6159-4AA0-8DC5-FA2FF3768E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452" b="3"/>
          <a:stretch/>
        </p:blipFill>
        <p:spPr>
          <a:xfrm>
            <a:off x="5183500" y="1904282"/>
            <a:ext cx="6170299" cy="422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25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F751F-8001-4AD8-92B1-7B7C15012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Choosing Transport Layer Protocols…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0D716-C4E2-4689-B352-9B544BFB4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Application developers choose based on the nature of the app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56032-4C63-4EE6-93DA-89D46686CF7C}"/>
              </a:ext>
            </a:extLst>
          </p:cNvPr>
          <p:cNvSpPr txBox="1"/>
          <p:nvPr/>
        </p:nvSpPr>
        <p:spPr>
          <a:xfrm>
            <a:off x="1231898" y="2774042"/>
            <a:ext cx="4025901" cy="120032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IP Telephony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Video Streaming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Frequent Sensor data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Online Gaming(Fortnite/Call of Duty)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CC2917E-347B-4884-ADF6-A300CABDA49E}"/>
              </a:ext>
            </a:extLst>
          </p:cNvPr>
          <p:cNvSpPr/>
          <p:nvPr/>
        </p:nvSpPr>
        <p:spPr>
          <a:xfrm>
            <a:off x="1302657" y="3897085"/>
            <a:ext cx="4161970" cy="18850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cs typeface="Calibri"/>
              </a:rPr>
              <a:t>Requirements: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Fast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Low overhead</a:t>
            </a: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No need for acknowedgements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No need to resend lost data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Delivers data as it arrives.</a:t>
            </a:r>
            <a:endParaRPr lang="en-US" dirty="0"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B2189B-7A9A-445E-A9F0-711200DBA156}"/>
              </a:ext>
            </a:extLst>
          </p:cNvPr>
          <p:cNvSpPr txBox="1"/>
          <p:nvPr/>
        </p:nvSpPr>
        <p:spPr>
          <a:xfrm>
            <a:off x="6529612" y="2719613"/>
            <a:ext cx="3528788" cy="92333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Email(SMTP/POP)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Web Pages(HTTP)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Command data(turn on Heating)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FFD6F3-7783-483F-B431-35FEA9AE73A9}"/>
              </a:ext>
            </a:extLst>
          </p:cNvPr>
          <p:cNvSpPr/>
          <p:nvPr/>
        </p:nvSpPr>
        <p:spPr>
          <a:xfrm>
            <a:off x="6600370" y="3842656"/>
            <a:ext cx="4161970" cy="18850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cs typeface="Calibri"/>
              </a:rPr>
              <a:t>Requirements: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Reliable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cs typeface="Calibri"/>
              </a:rPr>
              <a:t>Acknowedge</a:t>
            </a:r>
            <a:r>
              <a:rPr lang="en-US" dirty="0">
                <a:cs typeface="Calibri"/>
              </a:rPr>
              <a:t> data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Resend lost data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Delivers data in order sent.</a:t>
            </a:r>
          </a:p>
        </p:txBody>
      </p:sp>
    </p:spTree>
    <p:extLst>
      <p:ext uri="{BB962C8B-B14F-4D97-AF65-F5344CB8AC3E}">
        <p14:creationId xmlns:p14="http://schemas.microsoft.com/office/powerpoint/2010/main" val="253064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>
            <a:extLst>
              <a:ext uri="{FF2B5EF4-FFF2-40B4-BE49-F238E27FC236}">
                <a16:creationId xmlns:a16="http://schemas.microsoft.com/office/drawing/2014/main" id="{E91F5B95-DE26-4AFA-8008-902612C2B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1901" y="1444625"/>
            <a:ext cx="5854699" cy="4592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2900" indent="-341313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1905" indent="0">
              <a:lnSpc>
                <a:spcPct val="96000"/>
              </a:lnSpc>
              <a:spcBef>
                <a:spcPts val="688"/>
              </a:spcBef>
              <a:buClrTx/>
              <a:buSzPct val="148000"/>
            </a:pPr>
            <a:r>
              <a:rPr lang="en-GB" altLang="en-US" sz="2800" dirty="0">
                <a:latin typeface="+mj-lt"/>
              </a:rPr>
              <a:t>Q: Which protocol is better ?</a:t>
            </a:r>
            <a:endParaRPr lang="en-US" dirty="0"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CDCC5E-C77D-477E-256C-52F0F527C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286000" y="2057400"/>
            <a:ext cx="7086600" cy="43642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61EB78-F471-5A26-C03B-DBCD9C890CCF}"/>
              </a:ext>
            </a:extLst>
          </p:cNvPr>
          <p:cNvSpPr txBox="1"/>
          <p:nvPr/>
        </p:nvSpPr>
        <p:spPr>
          <a:xfrm>
            <a:off x="8714479" y="6736080"/>
            <a:ext cx="245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900">
                <a:hlinkClick r:id="rId4" tooltip="https://robinchen.me/tech/2017/02/14/intro-to-tcp-and-udp.html"/>
              </a:rPr>
              <a:t>This Photo</a:t>
            </a:r>
            <a:r>
              <a:rPr lang="en-IE" sz="900"/>
              <a:t> by Unknown Author is licensed under </a:t>
            </a:r>
            <a:r>
              <a:rPr lang="en-IE" sz="900">
                <a:hlinkClick r:id="rId5" tooltip="https://creativecommons.org/licenses/by-nc-sa/3.0/"/>
              </a:rPr>
              <a:t>CC BY-SA-NC</a:t>
            </a:r>
            <a:endParaRPr lang="en-IE" sz="90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D2D1D08-2DA7-2518-0B81-6ABC6B037EC6}"/>
              </a:ext>
            </a:extLst>
          </p:cNvPr>
          <p:cNvSpPr txBox="1">
            <a:spLocks/>
          </p:cNvSpPr>
          <p:nvPr/>
        </p:nvSpPr>
        <p:spPr>
          <a:xfrm>
            <a:off x="1447800" y="54117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cs typeface="Calibri"/>
              </a:rPr>
              <a:t>Choosing Transport Layer Protocols…</a:t>
            </a:r>
            <a:endParaRPr 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1B7B59E9-4032-4BBC-B843-B501B7762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429994"/>
            <a:ext cx="7120056" cy="4894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r>
              <a:rPr lang="en-GB" altLang="en-US" sz="2800" dirty="0">
                <a:latin typeface="+mn-lt"/>
              </a:rPr>
              <a:t>TCP/IP uses an abstract destination point called a protocol port.</a:t>
            </a:r>
            <a:endParaRPr lang="en-US" dirty="0">
              <a:cs typeface="Times New Roman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r>
              <a:rPr lang="en-GB" altLang="en-US" sz="2800" dirty="0">
                <a:latin typeface="+mn-lt"/>
              </a:rPr>
              <a:t>Ports are identified by a positive integer.</a:t>
            </a:r>
            <a:endParaRPr lang="en-GB" altLang="en-US" sz="2800" dirty="0">
              <a:latin typeface="+mn-lt"/>
              <a:cs typeface="Calibri"/>
            </a:endParaRPr>
          </a:p>
          <a:p>
            <a:pPr marL="689610" lvl="1" indent="-457200"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r>
              <a:rPr lang="en-GB" sz="2800" b="1" dirty="0">
                <a:latin typeface="+mn-lt"/>
                <a:cs typeface="Calibri"/>
              </a:rPr>
              <a:t>Port number &amp; IP address allow any process/application in any computer on Internet to be uniquely identified</a:t>
            </a:r>
            <a:endParaRPr lang="en-GB" altLang="en-US" sz="2800" b="1" dirty="0">
              <a:latin typeface="+mn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r>
              <a:rPr lang="en-GB" altLang="en-US" sz="2800" dirty="0">
                <a:latin typeface="+mn-lt"/>
              </a:rPr>
              <a:t>Operating systems provide a mechanism that apps &amp; processes use to specify a port. </a:t>
            </a:r>
            <a:endParaRPr lang="en-GB" altLang="en-US" sz="2800" dirty="0">
              <a:latin typeface="+mn-lt"/>
              <a:cs typeface="Calibri"/>
            </a:endParaRPr>
          </a:p>
        </p:txBody>
      </p:sp>
      <p:grpSp>
        <p:nvGrpSpPr>
          <p:cNvPr id="33795" name="Group 3">
            <a:extLst>
              <a:ext uri="{FF2B5EF4-FFF2-40B4-BE49-F238E27FC236}">
                <a16:creationId xmlns:a16="http://schemas.microsoft.com/office/drawing/2014/main" id="{C2F7CA13-8AAF-468F-94CD-C053A9D09E22}"/>
              </a:ext>
            </a:extLst>
          </p:cNvPr>
          <p:cNvGrpSpPr>
            <a:grpSpLocks/>
          </p:cNvGrpSpPr>
          <p:nvPr/>
        </p:nvGrpSpPr>
        <p:grpSpPr bwMode="auto">
          <a:xfrm>
            <a:off x="10688562" y="1591951"/>
            <a:ext cx="1217840" cy="2905353"/>
            <a:chOff x="3021" y="2110"/>
            <a:chExt cx="1110" cy="2093"/>
          </a:xfrm>
        </p:grpSpPr>
        <p:sp>
          <p:nvSpPr>
            <p:cNvPr id="33796" name="AutoShape 4">
              <a:extLst>
                <a:ext uri="{FF2B5EF4-FFF2-40B4-BE49-F238E27FC236}">
                  <a16:creationId xmlns:a16="http://schemas.microsoft.com/office/drawing/2014/main" id="{5A78CA77-B28F-40AD-A662-C476D0FEA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" y="2387"/>
              <a:ext cx="1043" cy="1816"/>
            </a:xfrm>
            <a:prstGeom prst="roundRect">
              <a:avLst>
                <a:gd name="adj" fmla="val 56"/>
              </a:avLst>
            </a:prstGeom>
            <a:solidFill>
              <a:srgbClr val="777777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>
              <a:outerShdw dist="107933" dir="2700000" algn="ctr" rotWithShape="0">
                <a:srgbClr val="000000"/>
              </a:outerShdw>
            </a:effec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797" name="Text Box 5">
              <a:extLst>
                <a:ext uri="{FF2B5EF4-FFF2-40B4-BE49-F238E27FC236}">
                  <a16:creationId xmlns:a16="http://schemas.microsoft.com/office/drawing/2014/main" id="{543D1559-6794-45D1-BBD6-54FA0CB9AE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8" y="2110"/>
              <a:ext cx="1033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cs typeface="msmincho" charset="0"/>
                </a:rPr>
                <a:t>Host B</a:t>
              </a:r>
            </a:p>
          </p:txBody>
        </p:sp>
        <p:grpSp>
          <p:nvGrpSpPr>
            <p:cNvPr id="33798" name="Group 6">
              <a:extLst>
                <a:ext uri="{FF2B5EF4-FFF2-40B4-BE49-F238E27FC236}">
                  <a16:creationId xmlns:a16="http://schemas.microsoft.com/office/drawing/2014/main" id="{F2D4EA2A-C347-48D0-AF01-53C2E9F5B4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5" y="2502"/>
              <a:ext cx="633" cy="268"/>
              <a:chOff x="3315" y="2502"/>
              <a:chExt cx="633" cy="268"/>
            </a:xfrm>
          </p:grpSpPr>
          <p:sp>
            <p:nvSpPr>
              <p:cNvPr id="33799" name="Oval 7">
                <a:extLst>
                  <a:ext uri="{FF2B5EF4-FFF2-40B4-BE49-F238E27FC236}">
                    <a16:creationId xmlns:a16="http://schemas.microsoft.com/office/drawing/2014/main" id="{BCAF41C3-516B-4985-9DC3-89FE9796B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7" y="2502"/>
                <a:ext cx="541" cy="268"/>
              </a:xfrm>
              <a:prstGeom prst="ellipse">
                <a:avLst/>
              </a:prstGeom>
              <a:solidFill>
                <a:srgbClr val="00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3800" name="Text Box 8">
                <a:extLst>
                  <a:ext uri="{FF2B5EF4-FFF2-40B4-BE49-F238E27FC236}">
                    <a16:creationId xmlns:a16="http://schemas.microsoft.com/office/drawing/2014/main" id="{E4494DB9-121E-4B22-862E-235507EB0B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5" y="2516"/>
                <a:ext cx="633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FontTx/>
                  <a:buNone/>
                </a:pPr>
                <a:r>
                  <a:rPr lang="en-GB" altLang="en-US" sz="1800">
                    <a:latin typeface="Arial" panose="020B0604020202020204" pitchFamily="34" charset="0"/>
                    <a:cs typeface="msmincho" charset="0"/>
                  </a:rPr>
                  <a:t>Process</a:t>
                </a:r>
              </a:p>
            </p:txBody>
          </p:sp>
        </p:grpSp>
        <p:grpSp>
          <p:nvGrpSpPr>
            <p:cNvPr id="33801" name="Group 9">
              <a:extLst>
                <a:ext uri="{FF2B5EF4-FFF2-40B4-BE49-F238E27FC236}">
                  <a16:creationId xmlns:a16="http://schemas.microsoft.com/office/drawing/2014/main" id="{BAAF3A30-A253-4654-955C-6D80272176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5" y="3101"/>
              <a:ext cx="633" cy="268"/>
              <a:chOff x="3315" y="3101"/>
              <a:chExt cx="633" cy="268"/>
            </a:xfrm>
          </p:grpSpPr>
          <p:sp>
            <p:nvSpPr>
              <p:cNvPr id="33802" name="Oval 10">
                <a:extLst>
                  <a:ext uri="{FF2B5EF4-FFF2-40B4-BE49-F238E27FC236}">
                    <a16:creationId xmlns:a16="http://schemas.microsoft.com/office/drawing/2014/main" id="{1E3CBE3D-2A7C-4496-9844-DF8AC952D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7" y="3101"/>
                <a:ext cx="541" cy="268"/>
              </a:xfrm>
              <a:prstGeom prst="ellipse">
                <a:avLst/>
              </a:prstGeom>
              <a:solidFill>
                <a:srgbClr val="FAFD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3803" name="Text Box 11">
                <a:extLst>
                  <a:ext uri="{FF2B5EF4-FFF2-40B4-BE49-F238E27FC236}">
                    <a16:creationId xmlns:a16="http://schemas.microsoft.com/office/drawing/2014/main" id="{D6EE3214-EAE1-4160-BEEB-63935E55D1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5" y="3115"/>
                <a:ext cx="633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FontTx/>
                  <a:buNone/>
                </a:pPr>
                <a:r>
                  <a:rPr lang="en-GB" altLang="en-US" sz="1800">
                    <a:latin typeface="Arial" panose="020B0604020202020204" pitchFamily="34" charset="0"/>
                    <a:cs typeface="msmincho" charset="0"/>
                  </a:rPr>
                  <a:t>Process</a:t>
                </a:r>
              </a:p>
            </p:txBody>
          </p:sp>
        </p:grpSp>
        <p:grpSp>
          <p:nvGrpSpPr>
            <p:cNvPr id="33804" name="Group 12">
              <a:extLst>
                <a:ext uri="{FF2B5EF4-FFF2-40B4-BE49-F238E27FC236}">
                  <a16:creationId xmlns:a16="http://schemas.microsoft.com/office/drawing/2014/main" id="{07C79D79-26A8-4E94-96E6-3F047C108B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5" y="3640"/>
              <a:ext cx="633" cy="268"/>
              <a:chOff x="3315" y="3640"/>
              <a:chExt cx="633" cy="268"/>
            </a:xfrm>
          </p:grpSpPr>
          <p:sp>
            <p:nvSpPr>
              <p:cNvPr id="33805" name="Oval 13">
                <a:extLst>
                  <a:ext uri="{FF2B5EF4-FFF2-40B4-BE49-F238E27FC236}">
                    <a16:creationId xmlns:a16="http://schemas.microsoft.com/office/drawing/2014/main" id="{3D300055-8F63-441E-808C-C93EA68B96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7" y="3640"/>
                <a:ext cx="541" cy="268"/>
              </a:xfrm>
              <a:prstGeom prst="ellipse">
                <a:avLst/>
              </a:prstGeom>
              <a:solidFill>
                <a:srgbClr val="00B7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3806" name="Text Box 14">
                <a:extLst>
                  <a:ext uri="{FF2B5EF4-FFF2-40B4-BE49-F238E27FC236}">
                    <a16:creationId xmlns:a16="http://schemas.microsoft.com/office/drawing/2014/main" id="{BBB8E8C8-A5CF-4B12-B75C-8B24B22449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5" y="3654"/>
                <a:ext cx="633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FontTx/>
                  <a:buNone/>
                </a:pPr>
                <a:r>
                  <a:rPr lang="en-GB" altLang="en-US" sz="1800">
                    <a:latin typeface="Arial" panose="020B0604020202020204" pitchFamily="34" charset="0"/>
                    <a:cs typeface="msmincho" charset="0"/>
                  </a:rPr>
                  <a:t>Process</a:t>
                </a:r>
              </a:p>
            </p:txBody>
          </p:sp>
        </p:grpSp>
        <p:sp>
          <p:nvSpPr>
            <p:cNvPr id="33807" name="Line 15">
              <a:extLst>
                <a:ext uri="{FF2B5EF4-FFF2-40B4-BE49-F238E27FC236}">
                  <a16:creationId xmlns:a16="http://schemas.microsoft.com/office/drawing/2014/main" id="{FDE5ED6C-A0A8-4B52-A48E-ED1EB00E73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6" y="3620"/>
              <a:ext cx="340" cy="99"/>
            </a:xfrm>
            <a:prstGeom prst="line">
              <a:avLst/>
            </a:prstGeom>
            <a:noFill/>
            <a:ln w="50760" cap="sq">
              <a:solidFill>
                <a:srgbClr val="00B7A5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808" name="Line 16">
              <a:extLst>
                <a:ext uri="{FF2B5EF4-FFF2-40B4-BE49-F238E27FC236}">
                  <a16:creationId xmlns:a16="http://schemas.microsoft.com/office/drawing/2014/main" id="{62D8B95F-E5D2-4949-BA35-3E1856C0F2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6" y="2602"/>
              <a:ext cx="461" cy="518"/>
            </a:xfrm>
            <a:prstGeom prst="line">
              <a:avLst/>
            </a:prstGeom>
            <a:noFill/>
            <a:ln w="50760" cap="sq">
              <a:solidFill>
                <a:srgbClr val="FAFD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809" name="Line 17">
              <a:extLst>
                <a:ext uri="{FF2B5EF4-FFF2-40B4-BE49-F238E27FC236}">
                  <a16:creationId xmlns:a16="http://schemas.microsoft.com/office/drawing/2014/main" id="{8CEB8D5B-286E-4FEC-B3D4-588F524C35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4" y="2751"/>
              <a:ext cx="414" cy="518"/>
            </a:xfrm>
            <a:prstGeom prst="line">
              <a:avLst/>
            </a:prstGeom>
            <a:noFill/>
            <a:ln w="50760" cap="sq">
              <a:solidFill>
                <a:srgbClr val="00FF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810" name="Line 18">
              <a:extLst>
                <a:ext uri="{FF2B5EF4-FFF2-40B4-BE49-F238E27FC236}">
                  <a16:creationId xmlns:a16="http://schemas.microsoft.com/office/drawing/2014/main" id="{CCD17643-5825-4347-A5A9-CAA956CCA0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6" y="2961"/>
              <a:ext cx="400" cy="698"/>
            </a:xfrm>
            <a:prstGeom prst="line">
              <a:avLst/>
            </a:prstGeom>
            <a:noFill/>
            <a:ln w="50760" cap="sq">
              <a:solidFill>
                <a:srgbClr val="00B7A5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811" name="Oval 19">
              <a:extLst>
                <a:ext uri="{FF2B5EF4-FFF2-40B4-BE49-F238E27FC236}">
                  <a16:creationId xmlns:a16="http://schemas.microsoft.com/office/drawing/2014/main" id="{42029FEC-A13E-480F-8BEA-4FBAFE1F0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" y="2567"/>
              <a:ext cx="79" cy="79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812" name="Oval 20">
              <a:extLst>
                <a:ext uri="{FF2B5EF4-FFF2-40B4-BE49-F238E27FC236}">
                  <a16:creationId xmlns:a16="http://schemas.microsoft.com/office/drawing/2014/main" id="{2FF583B2-1EB5-4C99-B3AE-910C5AAB0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" y="2896"/>
              <a:ext cx="79" cy="79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813" name="Oval 21">
              <a:extLst>
                <a:ext uri="{FF2B5EF4-FFF2-40B4-BE49-F238E27FC236}">
                  <a16:creationId xmlns:a16="http://schemas.microsoft.com/office/drawing/2014/main" id="{DFC053C0-6C7C-45CA-B003-5A3677C98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" y="3226"/>
              <a:ext cx="79" cy="79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814" name="Oval 22">
              <a:extLst>
                <a:ext uri="{FF2B5EF4-FFF2-40B4-BE49-F238E27FC236}">
                  <a16:creationId xmlns:a16="http://schemas.microsoft.com/office/drawing/2014/main" id="{3539683B-A798-4D17-9189-ABCA8E852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" y="3555"/>
              <a:ext cx="79" cy="79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815" name="Oval 23">
              <a:extLst>
                <a:ext uri="{FF2B5EF4-FFF2-40B4-BE49-F238E27FC236}">
                  <a16:creationId xmlns:a16="http://schemas.microsoft.com/office/drawing/2014/main" id="{B1BEDB0F-1ED9-456B-A589-FD8D02D51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" y="3885"/>
              <a:ext cx="79" cy="79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33816" name="Group 24">
            <a:extLst>
              <a:ext uri="{FF2B5EF4-FFF2-40B4-BE49-F238E27FC236}">
                <a16:creationId xmlns:a16="http://schemas.microsoft.com/office/drawing/2014/main" id="{624F9E57-1CC6-410E-B519-31492681C3C7}"/>
              </a:ext>
            </a:extLst>
          </p:cNvPr>
          <p:cNvGrpSpPr>
            <a:grpSpLocks/>
          </p:cNvGrpSpPr>
          <p:nvPr/>
        </p:nvGrpSpPr>
        <p:grpSpPr bwMode="auto">
          <a:xfrm>
            <a:off x="8194144" y="1579034"/>
            <a:ext cx="1296535" cy="2999015"/>
            <a:chOff x="1286" y="2137"/>
            <a:chExt cx="1091" cy="2072"/>
          </a:xfrm>
        </p:grpSpPr>
        <p:sp>
          <p:nvSpPr>
            <p:cNvPr id="33817" name="AutoShape 25">
              <a:extLst>
                <a:ext uri="{FF2B5EF4-FFF2-40B4-BE49-F238E27FC236}">
                  <a16:creationId xmlns:a16="http://schemas.microsoft.com/office/drawing/2014/main" id="{08229556-6D5C-44BE-A076-8967B267A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6" y="2411"/>
              <a:ext cx="1031" cy="1798"/>
            </a:xfrm>
            <a:prstGeom prst="roundRect">
              <a:avLst>
                <a:gd name="adj" fmla="val 56"/>
              </a:avLst>
            </a:prstGeom>
            <a:solidFill>
              <a:srgbClr val="777777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>
              <a:outerShdw dist="107933" dir="2700000" algn="ctr" rotWithShape="0">
                <a:srgbClr val="000000"/>
              </a:outerShdw>
            </a:effec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818" name="Text Box 26">
              <a:extLst>
                <a:ext uri="{FF2B5EF4-FFF2-40B4-BE49-F238E27FC236}">
                  <a16:creationId xmlns:a16="http://schemas.microsoft.com/office/drawing/2014/main" id="{055891BF-BC13-448B-98D2-2C4DAAB66B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3" y="2137"/>
              <a:ext cx="1021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8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cs typeface="msmincho" charset="0"/>
                </a:rPr>
                <a:t>Host A</a:t>
              </a:r>
            </a:p>
          </p:txBody>
        </p:sp>
        <p:grpSp>
          <p:nvGrpSpPr>
            <p:cNvPr id="33819" name="Group 27">
              <a:extLst>
                <a:ext uri="{FF2B5EF4-FFF2-40B4-BE49-F238E27FC236}">
                  <a16:creationId xmlns:a16="http://schemas.microsoft.com/office/drawing/2014/main" id="{5365F93D-6E0F-48F1-9817-DDE2858C46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9" y="2525"/>
              <a:ext cx="633" cy="266"/>
              <a:chOff x="1399" y="2525"/>
              <a:chExt cx="633" cy="266"/>
            </a:xfrm>
          </p:grpSpPr>
          <p:sp>
            <p:nvSpPr>
              <p:cNvPr id="33820" name="Oval 28">
                <a:extLst>
                  <a:ext uri="{FF2B5EF4-FFF2-40B4-BE49-F238E27FC236}">
                    <a16:creationId xmlns:a16="http://schemas.microsoft.com/office/drawing/2014/main" id="{874D531F-4D74-4B25-98BA-62A38CC696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0" y="2525"/>
                <a:ext cx="535" cy="266"/>
              </a:xfrm>
              <a:prstGeom prst="ellipse">
                <a:avLst/>
              </a:prstGeom>
              <a:solidFill>
                <a:srgbClr val="00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3821" name="Text Box 29">
                <a:extLst>
                  <a:ext uri="{FF2B5EF4-FFF2-40B4-BE49-F238E27FC236}">
                    <a16:creationId xmlns:a16="http://schemas.microsoft.com/office/drawing/2014/main" id="{228A5057-CE89-40E7-A93A-8749D37A07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9" y="2543"/>
                <a:ext cx="633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FontTx/>
                  <a:buNone/>
                </a:pPr>
                <a:r>
                  <a:rPr lang="en-GB" altLang="en-US" sz="1800">
                    <a:latin typeface="Arial" panose="020B0604020202020204" pitchFamily="34" charset="0"/>
                    <a:cs typeface="msmincho" charset="0"/>
                  </a:rPr>
                  <a:t>Process</a:t>
                </a:r>
              </a:p>
            </p:txBody>
          </p:sp>
        </p:grpSp>
        <p:grpSp>
          <p:nvGrpSpPr>
            <p:cNvPr id="33822" name="Group 30">
              <a:extLst>
                <a:ext uri="{FF2B5EF4-FFF2-40B4-BE49-F238E27FC236}">
                  <a16:creationId xmlns:a16="http://schemas.microsoft.com/office/drawing/2014/main" id="{79DC8818-1148-4CDE-B1DF-B99E472FB7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9" y="3118"/>
              <a:ext cx="633" cy="266"/>
              <a:chOff x="1399" y="3118"/>
              <a:chExt cx="633" cy="266"/>
            </a:xfrm>
          </p:grpSpPr>
          <p:sp>
            <p:nvSpPr>
              <p:cNvPr id="33823" name="Oval 31">
                <a:extLst>
                  <a:ext uri="{FF2B5EF4-FFF2-40B4-BE49-F238E27FC236}">
                    <a16:creationId xmlns:a16="http://schemas.microsoft.com/office/drawing/2014/main" id="{080A70F1-6BA5-4A2F-BEF1-FD5B51476C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0" y="3118"/>
                <a:ext cx="535" cy="266"/>
              </a:xfrm>
              <a:prstGeom prst="ellipse">
                <a:avLst/>
              </a:prstGeom>
              <a:solidFill>
                <a:srgbClr val="FAFD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3824" name="Text Box 32">
                <a:extLst>
                  <a:ext uri="{FF2B5EF4-FFF2-40B4-BE49-F238E27FC236}">
                    <a16:creationId xmlns:a16="http://schemas.microsoft.com/office/drawing/2014/main" id="{0959065B-63EB-4988-95E0-F22B3C6036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9" y="3136"/>
                <a:ext cx="633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FontTx/>
                  <a:buNone/>
                </a:pPr>
                <a:r>
                  <a:rPr lang="en-GB" altLang="en-US" sz="1800">
                    <a:latin typeface="Arial" panose="020B0604020202020204" pitchFamily="34" charset="0"/>
                    <a:cs typeface="msmincho" charset="0"/>
                  </a:rPr>
                  <a:t>Process</a:t>
                </a:r>
              </a:p>
            </p:txBody>
          </p:sp>
        </p:grpSp>
        <p:grpSp>
          <p:nvGrpSpPr>
            <p:cNvPr id="33825" name="Group 33">
              <a:extLst>
                <a:ext uri="{FF2B5EF4-FFF2-40B4-BE49-F238E27FC236}">
                  <a16:creationId xmlns:a16="http://schemas.microsoft.com/office/drawing/2014/main" id="{32A7FB9A-2E24-4C0E-BAD4-A7CCDCD214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9" y="3652"/>
              <a:ext cx="633" cy="266"/>
              <a:chOff x="1399" y="3652"/>
              <a:chExt cx="633" cy="266"/>
            </a:xfrm>
          </p:grpSpPr>
          <p:sp>
            <p:nvSpPr>
              <p:cNvPr id="33826" name="Oval 34">
                <a:extLst>
                  <a:ext uri="{FF2B5EF4-FFF2-40B4-BE49-F238E27FC236}">
                    <a16:creationId xmlns:a16="http://schemas.microsoft.com/office/drawing/2014/main" id="{1291CDF6-A522-494F-95E6-EDED04BF4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0" y="3652"/>
                <a:ext cx="535" cy="266"/>
              </a:xfrm>
              <a:prstGeom prst="ellipse">
                <a:avLst/>
              </a:prstGeom>
              <a:solidFill>
                <a:srgbClr val="00B7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3827" name="Text Box 35">
                <a:extLst>
                  <a:ext uri="{FF2B5EF4-FFF2-40B4-BE49-F238E27FC236}">
                    <a16:creationId xmlns:a16="http://schemas.microsoft.com/office/drawing/2014/main" id="{306F6549-9F62-4C26-9E08-24BCF49573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9" y="3670"/>
                <a:ext cx="633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FontTx/>
                  <a:buNone/>
                </a:pPr>
                <a:r>
                  <a:rPr lang="en-GB" altLang="en-US" sz="1800">
                    <a:latin typeface="Arial" panose="020B0604020202020204" pitchFamily="34" charset="0"/>
                    <a:cs typeface="msmincho" charset="0"/>
                  </a:rPr>
                  <a:t>Process</a:t>
                </a:r>
              </a:p>
            </p:txBody>
          </p:sp>
        </p:grpSp>
        <p:sp>
          <p:nvSpPr>
            <p:cNvPr id="33828" name="Line 36">
              <a:extLst>
                <a:ext uri="{FF2B5EF4-FFF2-40B4-BE49-F238E27FC236}">
                  <a16:creationId xmlns:a16="http://schemas.microsoft.com/office/drawing/2014/main" id="{3D33DAD9-9867-4521-9DCF-C3BF662A91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6" y="2713"/>
              <a:ext cx="366" cy="246"/>
            </a:xfrm>
            <a:prstGeom prst="line">
              <a:avLst/>
            </a:prstGeom>
            <a:noFill/>
            <a:ln w="50760" cap="sq">
              <a:solidFill>
                <a:srgbClr val="00FF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829" name="Line 37">
              <a:extLst>
                <a:ext uri="{FF2B5EF4-FFF2-40B4-BE49-F238E27FC236}">
                  <a16:creationId xmlns:a16="http://schemas.microsoft.com/office/drawing/2014/main" id="{B200E460-2529-411D-B230-17FB441C8F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6" y="3335"/>
              <a:ext cx="366" cy="246"/>
            </a:xfrm>
            <a:prstGeom prst="line">
              <a:avLst/>
            </a:prstGeom>
            <a:noFill/>
            <a:ln w="50760" cap="sq">
              <a:solidFill>
                <a:srgbClr val="FAFD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830" name="Line 38">
              <a:extLst>
                <a:ext uri="{FF2B5EF4-FFF2-40B4-BE49-F238E27FC236}">
                  <a16:creationId xmlns:a16="http://schemas.microsoft.com/office/drawing/2014/main" id="{723697E5-B11B-42C2-AD25-2A864BC9CE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5" y="2624"/>
              <a:ext cx="409" cy="543"/>
            </a:xfrm>
            <a:prstGeom prst="line">
              <a:avLst/>
            </a:prstGeom>
            <a:noFill/>
            <a:ln w="50760" cap="sq">
              <a:solidFill>
                <a:srgbClr val="FAFD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831" name="Line 39">
              <a:extLst>
                <a:ext uri="{FF2B5EF4-FFF2-40B4-BE49-F238E27FC236}">
                  <a16:creationId xmlns:a16="http://schemas.microsoft.com/office/drawing/2014/main" id="{DEBA6CED-061E-4CBC-A016-E3C135E8CA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6" y="3810"/>
              <a:ext cx="307" cy="98"/>
            </a:xfrm>
            <a:prstGeom prst="line">
              <a:avLst/>
            </a:prstGeom>
            <a:noFill/>
            <a:ln w="50760" cap="sq">
              <a:solidFill>
                <a:srgbClr val="00B7A5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832" name="Oval 40">
              <a:extLst>
                <a:ext uri="{FF2B5EF4-FFF2-40B4-BE49-F238E27FC236}">
                  <a16:creationId xmlns:a16="http://schemas.microsoft.com/office/drawing/2014/main" id="{34E9B230-D662-4972-BABC-E9D21633F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9" y="2589"/>
              <a:ext cx="78" cy="78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833" name="Oval 41">
              <a:extLst>
                <a:ext uri="{FF2B5EF4-FFF2-40B4-BE49-F238E27FC236}">
                  <a16:creationId xmlns:a16="http://schemas.microsoft.com/office/drawing/2014/main" id="{B0137B54-2DED-477A-B076-112939DA6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9" y="2915"/>
              <a:ext cx="78" cy="78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834" name="Oval 42">
              <a:extLst>
                <a:ext uri="{FF2B5EF4-FFF2-40B4-BE49-F238E27FC236}">
                  <a16:creationId xmlns:a16="http://schemas.microsoft.com/office/drawing/2014/main" id="{97336AFA-A6B4-449A-AE9A-9B3A64B46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9" y="3241"/>
              <a:ext cx="78" cy="78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835" name="Oval 43">
              <a:extLst>
                <a:ext uri="{FF2B5EF4-FFF2-40B4-BE49-F238E27FC236}">
                  <a16:creationId xmlns:a16="http://schemas.microsoft.com/office/drawing/2014/main" id="{55DF034B-6CF0-4453-B3AB-414E590EF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9" y="3568"/>
              <a:ext cx="78" cy="78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836" name="Oval 44">
              <a:extLst>
                <a:ext uri="{FF2B5EF4-FFF2-40B4-BE49-F238E27FC236}">
                  <a16:creationId xmlns:a16="http://schemas.microsoft.com/office/drawing/2014/main" id="{11DBAFE8-CA33-4E3A-BCA6-F930AB67F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9" y="3894"/>
              <a:ext cx="78" cy="78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70F9246-3D2D-2D45-C676-1D6466480C0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cs typeface="Calibri"/>
              </a:rPr>
              <a:t>Ports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D1579-0294-4B6B-8AF8-88FD22FC2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Ports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D5DC6-EAF2-4746-A27F-072B86289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Source/destination port: port numbers identify sending &amp; receiving processes</a:t>
            </a:r>
          </a:p>
          <a:p>
            <a:r>
              <a:rPr lang="en-US" dirty="0">
                <a:cs typeface="Calibri"/>
              </a:rPr>
              <a:t>Ports can be static or dynamic</a:t>
            </a:r>
            <a:endParaRPr lang="en-US" dirty="0"/>
          </a:p>
          <a:p>
            <a:pPr lvl="1"/>
            <a:r>
              <a:rPr lang="en-US" dirty="0">
                <a:cs typeface="Calibri"/>
              </a:rPr>
              <a:t>Static (&lt; 1024) assigned centrally, known as well known ports</a:t>
            </a:r>
          </a:p>
          <a:p>
            <a:pPr lvl="1"/>
            <a:r>
              <a:rPr lang="en-US" dirty="0">
                <a:cs typeface="Calibri"/>
              </a:rPr>
              <a:t>Dynamic (can be used by any computer application program to communicate with any other application program, 49152-65535 for Windows) </a:t>
            </a:r>
          </a:p>
        </p:txBody>
      </p:sp>
    </p:spTree>
    <p:extLst>
      <p:ext uri="{BB962C8B-B14F-4D97-AF65-F5344CB8AC3E}">
        <p14:creationId xmlns:p14="http://schemas.microsoft.com/office/powerpoint/2010/main" val="2799638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8B7C3-388C-4BD0-B1A0-77A40ECF5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Ports: Multiple communications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CBDDD-E555-4C4F-88C6-1E6433D2A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Port numbers used in TCP and UDP to manage multiple, simultaneous conversations.</a:t>
            </a:r>
          </a:p>
          <a:p>
            <a:r>
              <a:rPr lang="en-GB" dirty="0"/>
              <a:t>The </a:t>
            </a:r>
            <a:r>
              <a:rPr lang="en-GB" b="1" dirty="0"/>
              <a:t>source port number </a:t>
            </a:r>
            <a:r>
              <a:rPr lang="en-GB" dirty="0"/>
              <a:t>is associated with the </a:t>
            </a:r>
            <a:r>
              <a:rPr lang="en-GB" b="1" dirty="0"/>
              <a:t>originating application </a:t>
            </a:r>
            <a:r>
              <a:rPr lang="en-GB" dirty="0"/>
              <a:t>on the local host whereas the </a:t>
            </a:r>
            <a:r>
              <a:rPr lang="en-GB" b="1" dirty="0"/>
              <a:t>destination port number </a:t>
            </a:r>
            <a:r>
              <a:rPr lang="en-GB" dirty="0"/>
              <a:t>is associated with the </a:t>
            </a:r>
            <a:r>
              <a:rPr lang="en-GB" b="1" dirty="0"/>
              <a:t>destination application </a:t>
            </a:r>
            <a:r>
              <a:rPr lang="en-GB" dirty="0"/>
              <a:t>on the remote host.</a:t>
            </a:r>
          </a:p>
          <a:p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1712BE-425B-468A-9840-CA0161D62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696" y="4572000"/>
            <a:ext cx="7832608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211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2E7C9E-66CC-4F1F-9EB7-97F0A4DC6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IE" sz="4000"/>
              <a:t>Ports: Socket Pairs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48119-8A50-4B89-8FD4-CD2260FF9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2774" cy="4303464"/>
          </a:xfrm>
        </p:spPr>
        <p:txBody>
          <a:bodyPr>
            <a:normAutofit/>
          </a:bodyPr>
          <a:lstStyle/>
          <a:p>
            <a:r>
              <a:rPr lang="en-US" sz="1700" dirty="0"/>
              <a:t>The source and destination ports are placed within the segment</a:t>
            </a:r>
          </a:p>
          <a:p>
            <a:r>
              <a:rPr lang="en-US" sz="1700" dirty="0"/>
              <a:t>The segments are then encapsulated within an IP packet.</a:t>
            </a:r>
          </a:p>
          <a:p>
            <a:r>
              <a:rPr lang="en-US" sz="1700" dirty="0"/>
              <a:t>The combination of the source IP address and source port number, or the destination IP address and destination port number is known as a </a:t>
            </a:r>
            <a:r>
              <a:rPr lang="en-US" sz="1700" b="1" dirty="0"/>
              <a:t>socket</a:t>
            </a:r>
            <a:r>
              <a:rPr lang="en-US" sz="1700" dirty="0"/>
              <a:t>.</a:t>
            </a:r>
          </a:p>
          <a:p>
            <a:r>
              <a:rPr lang="en-US" sz="1700" dirty="0"/>
              <a:t>Sockets enable multiple processes, running on a client, to distinguish themselves from each other, and multiple connections to a server process to be distinguished from each other</a:t>
            </a:r>
          </a:p>
          <a:p>
            <a:endParaRPr lang="en-IE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35C01A-D969-437E-A54C-4277C8E6F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2" r="2" b="2114"/>
          <a:stretch/>
        </p:blipFill>
        <p:spPr>
          <a:xfrm>
            <a:off x="5183500" y="1904282"/>
            <a:ext cx="6170299" cy="422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956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533A5-62A7-4407-8E45-5651BB7AF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Ports: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4AC56-2CA1-4A38-867D-6BCEEECC8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1A0C98-779D-4F6C-B910-868515AA0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60894"/>
            <a:ext cx="9991725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42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93FCD6-A2DE-4DE4-B63F-B239DDFA2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776287"/>
            <a:ext cx="10106025" cy="5305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1F508B-919F-4ABF-88F8-3E57F712EDBB}"/>
              </a:ext>
            </a:extLst>
          </p:cNvPr>
          <p:cNvSpPr txBox="1"/>
          <p:nvPr/>
        </p:nvSpPr>
        <p:spPr>
          <a:xfrm>
            <a:off x="5181600" y="381000"/>
            <a:ext cx="2676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Well-Known Port Numbers</a:t>
            </a:r>
          </a:p>
        </p:txBody>
      </p:sp>
    </p:spTree>
    <p:extLst>
      <p:ext uri="{BB962C8B-B14F-4D97-AF65-F5344CB8AC3E}">
        <p14:creationId xmlns:p14="http://schemas.microsoft.com/office/powerpoint/2010/main" val="2460556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ext Box 1">
            <a:extLst>
              <a:ext uri="{FF2B5EF4-FFF2-40B4-BE49-F238E27FC236}">
                <a16:creationId xmlns:a16="http://schemas.microsoft.com/office/drawing/2014/main" id="{AC0AC88A-25CF-4F33-8F3A-6F95EC113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7" y="213877"/>
            <a:ext cx="82931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4000" dirty="0">
                <a:solidFill>
                  <a:schemeClr val="tx1"/>
                </a:solidFill>
                <a:latin typeface="+mn-lt"/>
              </a:rPr>
              <a:t>UDP Datagram Format</a:t>
            </a:r>
          </a:p>
        </p:txBody>
      </p:sp>
      <p:grpSp>
        <p:nvGrpSpPr>
          <p:cNvPr id="34819" name="Group 3">
            <a:extLst>
              <a:ext uri="{FF2B5EF4-FFF2-40B4-BE49-F238E27FC236}">
                <a16:creationId xmlns:a16="http://schemas.microsoft.com/office/drawing/2014/main" id="{5164DFC0-9158-44B6-96E7-408709E29123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676400"/>
            <a:ext cx="8124827" cy="3276600"/>
            <a:chOff x="2683" y="2189"/>
            <a:chExt cx="2766" cy="1374"/>
          </a:xfrm>
        </p:grpSpPr>
        <p:grpSp>
          <p:nvGrpSpPr>
            <p:cNvPr id="34820" name="Group 4">
              <a:extLst>
                <a:ext uri="{FF2B5EF4-FFF2-40B4-BE49-F238E27FC236}">
                  <a16:creationId xmlns:a16="http://schemas.microsoft.com/office/drawing/2014/main" id="{EF594CC5-A4FF-449F-92AD-ECD5953ED7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3" y="2189"/>
              <a:ext cx="1374" cy="270"/>
              <a:chOff x="2683" y="2189"/>
              <a:chExt cx="1374" cy="270"/>
            </a:xfrm>
          </p:grpSpPr>
          <p:sp>
            <p:nvSpPr>
              <p:cNvPr id="34821" name="AutoShape 5">
                <a:extLst>
                  <a:ext uri="{FF2B5EF4-FFF2-40B4-BE49-F238E27FC236}">
                    <a16:creationId xmlns:a16="http://schemas.microsoft.com/office/drawing/2014/main" id="{E945677B-514B-4209-A8FB-1B9C2D6E8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3" y="2189"/>
                <a:ext cx="1374" cy="270"/>
              </a:xfrm>
              <a:prstGeom prst="roundRect">
                <a:avLst>
                  <a:gd name="adj" fmla="val 366"/>
                </a:avLst>
              </a:prstGeom>
              <a:solidFill>
                <a:srgbClr val="FFFFFF"/>
              </a:solidFill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4822" name="Text Box 6">
                <a:extLst>
                  <a:ext uri="{FF2B5EF4-FFF2-40B4-BE49-F238E27FC236}">
                    <a16:creationId xmlns:a16="http://schemas.microsoft.com/office/drawing/2014/main" id="{31490DA2-18DD-43E3-885C-C19219A309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0" y="2200"/>
                <a:ext cx="960" cy="2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SzPct val="83000"/>
                  <a:buFontTx/>
                  <a:buNone/>
                </a:pPr>
                <a:r>
                  <a:rPr lang="en-GB" altLang="en-US" sz="2000" dirty="0">
                    <a:latin typeface="Arial" panose="020B0604020202020204" pitchFamily="34" charset="0"/>
                    <a:cs typeface="msmincho" charset="0"/>
                  </a:rPr>
                  <a:t>Source Port</a:t>
                </a:r>
              </a:p>
            </p:txBody>
          </p:sp>
        </p:grpSp>
        <p:grpSp>
          <p:nvGrpSpPr>
            <p:cNvPr id="34823" name="Group 7">
              <a:extLst>
                <a:ext uri="{FF2B5EF4-FFF2-40B4-BE49-F238E27FC236}">
                  <a16:creationId xmlns:a16="http://schemas.microsoft.com/office/drawing/2014/main" id="{E61C9ABE-27CD-4D64-83CC-458487E4C8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5" y="2189"/>
              <a:ext cx="1374" cy="270"/>
              <a:chOff x="4075" y="2189"/>
              <a:chExt cx="1374" cy="270"/>
            </a:xfrm>
          </p:grpSpPr>
          <p:sp>
            <p:nvSpPr>
              <p:cNvPr id="34824" name="AutoShape 8">
                <a:extLst>
                  <a:ext uri="{FF2B5EF4-FFF2-40B4-BE49-F238E27FC236}">
                    <a16:creationId xmlns:a16="http://schemas.microsoft.com/office/drawing/2014/main" id="{32E8C18F-7DD8-42D8-AE24-9D281E3EF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5" y="2189"/>
                <a:ext cx="1374" cy="270"/>
              </a:xfrm>
              <a:prstGeom prst="roundRect">
                <a:avLst>
                  <a:gd name="adj" fmla="val 366"/>
                </a:avLst>
              </a:prstGeom>
              <a:solidFill>
                <a:srgbClr val="FFFFFF"/>
              </a:solidFill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4825" name="Text Box 9">
                <a:extLst>
                  <a:ext uri="{FF2B5EF4-FFF2-40B4-BE49-F238E27FC236}">
                    <a16:creationId xmlns:a16="http://schemas.microsoft.com/office/drawing/2014/main" id="{ACEA61E0-BE8B-4BB4-98D2-01DF625D28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5" y="2200"/>
                <a:ext cx="1254" cy="2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SzPct val="83000"/>
                  <a:buFontTx/>
                  <a:buNone/>
                </a:pPr>
                <a:r>
                  <a:rPr lang="en-GB" altLang="en-US" sz="2000">
                    <a:latin typeface="Arial" panose="020B0604020202020204" pitchFamily="34" charset="0"/>
                    <a:cs typeface="msmincho" charset="0"/>
                  </a:rPr>
                  <a:t>Destination Port</a:t>
                </a:r>
              </a:p>
            </p:txBody>
          </p:sp>
        </p:grpSp>
        <p:grpSp>
          <p:nvGrpSpPr>
            <p:cNvPr id="34826" name="Group 10">
              <a:extLst>
                <a:ext uri="{FF2B5EF4-FFF2-40B4-BE49-F238E27FC236}">
                  <a16:creationId xmlns:a16="http://schemas.microsoft.com/office/drawing/2014/main" id="{DD168946-34D5-4F30-903D-B98902C4B6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3" y="2477"/>
              <a:ext cx="1374" cy="270"/>
              <a:chOff x="2683" y="2477"/>
              <a:chExt cx="1374" cy="270"/>
            </a:xfrm>
          </p:grpSpPr>
          <p:sp>
            <p:nvSpPr>
              <p:cNvPr id="34827" name="AutoShape 11">
                <a:extLst>
                  <a:ext uri="{FF2B5EF4-FFF2-40B4-BE49-F238E27FC236}">
                    <a16:creationId xmlns:a16="http://schemas.microsoft.com/office/drawing/2014/main" id="{0BC32155-75B3-436F-B24A-4768280E76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3" y="2477"/>
                <a:ext cx="1374" cy="270"/>
              </a:xfrm>
              <a:prstGeom prst="roundRect">
                <a:avLst>
                  <a:gd name="adj" fmla="val 366"/>
                </a:avLst>
              </a:prstGeom>
              <a:solidFill>
                <a:srgbClr val="FFFFFF"/>
              </a:solidFill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4828" name="Text Box 12">
                <a:extLst>
                  <a:ext uri="{FF2B5EF4-FFF2-40B4-BE49-F238E27FC236}">
                    <a16:creationId xmlns:a16="http://schemas.microsoft.com/office/drawing/2014/main" id="{65D90ECC-63A4-451F-842E-EC7D964CD0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8" y="2488"/>
                <a:ext cx="604" cy="2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SzPct val="83000"/>
                  <a:buFontTx/>
                  <a:buNone/>
                </a:pPr>
                <a:r>
                  <a:rPr lang="en-GB" altLang="en-US" sz="2000">
                    <a:latin typeface="Arial" panose="020B0604020202020204" pitchFamily="34" charset="0"/>
                    <a:cs typeface="msmincho" charset="0"/>
                  </a:rPr>
                  <a:t>Length</a:t>
                </a:r>
              </a:p>
            </p:txBody>
          </p:sp>
        </p:grpSp>
        <p:grpSp>
          <p:nvGrpSpPr>
            <p:cNvPr id="34829" name="Group 13">
              <a:extLst>
                <a:ext uri="{FF2B5EF4-FFF2-40B4-BE49-F238E27FC236}">
                  <a16:creationId xmlns:a16="http://schemas.microsoft.com/office/drawing/2014/main" id="{D317DFB9-4D58-4262-BD01-A54DA8E140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5" y="2477"/>
              <a:ext cx="1374" cy="270"/>
              <a:chOff x="4075" y="2477"/>
              <a:chExt cx="1374" cy="270"/>
            </a:xfrm>
          </p:grpSpPr>
          <p:sp>
            <p:nvSpPr>
              <p:cNvPr id="34830" name="AutoShape 14">
                <a:extLst>
                  <a:ext uri="{FF2B5EF4-FFF2-40B4-BE49-F238E27FC236}">
                    <a16:creationId xmlns:a16="http://schemas.microsoft.com/office/drawing/2014/main" id="{CF75E2B2-C391-4823-80F2-4E9025E36E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5" y="2477"/>
                <a:ext cx="1374" cy="270"/>
              </a:xfrm>
              <a:prstGeom prst="roundRect">
                <a:avLst>
                  <a:gd name="adj" fmla="val 366"/>
                </a:avLst>
              </a:prstGeom>
              <a:solidFill>
                <a:srgbClr val="FFFFFF"/>
              </a:solidFill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4831" name="Text Box 15">
                <a:extLst>
                  <a:ext uri="{FF2B5EF4-FFF2-40B4-BE49-F238E27FC236}">
                    <a16:creationId xmlns:a16="http://schemas.microsoft.com/office/drawing/2014/main" id="{60B5C3C8-7BDA-47A9-B7D4-C6EA1DB873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5" y="2488"/>
                <a:ext cx="873" cy="2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SzPct val="83000"/>
                  <a:buFontTx/>
                  <a:buNone/>
                </a:pPr>
                <a:r>
                  <a:rPr lang="en-GB" altLang="en-US" sz="2000">
                    <a:latin typeface="Arial" panose="020B0604020202020204" pitchFamily="34" charset="0"/>
                    <a:cs typeface="msmincho" charset="0"/>
                  </a:rPr>
                  <a:t>Checksum</a:t>
                </a:r>
              </a:p>
            </p:txBody>
          </p:sp>
        </p:grpSp>
        <p:grpSp>
          <p:nvGrpSpPr>
            <p:cNvPr id="34832" name="Group 16">
              <a:extLst>
                <a:ext uri="{FF2B5EF4-FFF2-40B4-BE49-F238E27FC236}">
                  <a16:creationId xmlns:a16="http://schemas.microsoft.com/office/drawing/2014/main" id="{22E487A9-7053-452B-B986-20A47B5997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3" y="2765"/>
              <a:ext cx="2766" cy="798"/>
              <a:chOff x="2683" y="2765"/>
              <a:chExt cx="2766" cy="798"/>
            </a:xfrm>
          </p:grpSpPr>
          <p:sp>
            <p:nvSpPr>
              <p:cNvPr id="34833" name="AutoShape 17">
                <a:extLst>
                  <a:ext uri="{FF2B5EF4-FFF2-40B4-BE49-F238E27FC236}">
                    <a16:creationId xmlns:a16="http://schemas.microsoft.com/office/drawing/2014/main" id="{3AC6EA6D-8862-45D9-B80B-C75DBF5B0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3" y="2765"/>
                <a:ext cx="2766" cy="798"/>
              </a:xfrm>
              <a:prstGeom prst="roundRect">
                <a:avLst>
                  <a:gd name="adj" fmla="val 125"/>
                </a:avLst>
              </a:prstGeom>
              <a:solidFill>
                <a:srgbClr val="FFFFFF"/>
              </a:solidFill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4834" name="Text Box 18">
                <a:extLst>
                  <a:ext uri="{FF2B5EF4-FFF2-40B4-BE49-F238E27FC236}">
                    <a16:creationId xmlns:a16="http://schemas.microsoft.com/office/drawing/2014/main" id="{A7E6D1A1-EBA4-48F5-A9E8-CC90047418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0" y="3040"/>
                <a:ext cx="452" cy="2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SzPct val="83000"/>
                  <a:buFontTx/>
                  <a:buNone/>
                </a:pPr>
                <a:r>
                  <a:rPr lang="en-GB" altLang="en-US" sz="2000">
                    <a:latin typeface="Arial" panose="020B0604020202020204" pitchFamily="34" charset="0"/>
                    <a:cs typeface="msmincho" charset="0"/>
                  </a:rPr>
                  <a:t>Data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847" name="Rectangle 3584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41" name="Text Box 1">
            <a:extLst>
              <a:ext uri="{FF2B5EF4-FFF2-40B4-BE49-F238E27FC236}">
                <a16:creationId xmlns:a16="http://schemas.microsoft.com/office/drawing/2014/main" id="{B68802B1-233A-4C03-A462-E032CE9F7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936" y="639520"/>
            <a:ext cx="3429000" cy="17190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38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TCP</a:t>
            </a:r>
            <a:br>
              <a:rPr lang="en-US" altLang="en-US" sz="38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en-US" sz="3800" i="1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Transmission Control Protocol</a:t>
            </a:r>
          </a:p>
        </p:txBody>
      </p:sp>
      <p:sp>
        <p:nvSpPr>
          <p:cNvPr id="3584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42" name="Text Box 2">
            <a:extLst>
              <a:ext uri="{FF2B5EF4-FFF2-40B4-BE49-F238E27FC236}">
                <a16:creationId xmlns:a16="http://schemas.microsoft.com/office/drawing/2014/main" id="{099A815E-7142-4944-968E-9D92D877D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936" y="2807208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+mn-lt"/>
                <a:cs typeface="+mn-cs"/>
              </a:rPr>
              <a:t>TCP is a transport layer protocol supported by TCP/IP stack.</a:t>
            </a:r>
            <a:endParaRPr lang="en-US" sz="20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endParaRPr lang="en-US" altLang="en-US" sz="20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+mn-lt"/>
                <a:cs typeface="+mn-cs"/>
              </a:rPr>
              <a:t>TCP provides:</a:t>
            </a:r>
          </a:p>
          <a:p>
            <a:pPr marL="914400" lvl="1" indent="-228600">
              <a:lnSpc>
                <a:spcPct val="90000"/>
              </a:lnSpc>
              <a:spcBef>
                <a:spcPts val="788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+mn-lt"/>
                <a:cs typeface="+mn-cs"/>
              </a:rPr>
              <a:t>Connection-oriented</a:t>
            </a:r>
          </a:p>
          <a:p>
            <a:pPr marL="914400" lvl="1" indent="-228600">
              <a:lnSpc>
                <a:spcPct val="90000"/>
              </a:lnSpc>
              <a:spcBef>
                <a:spcPts val="788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+mn-lt"/>
                <a:cs typeface="+mn-cs"/>
              </a:rPr>
              <a:t>Reliable</a:t>
            </a:r>
          </a:p>
          <a:p>
            <a:pPr marL="914400" lvl="1" indent="-228600">
              <a:lnSpc>
                <a:spcPct val="90000"/>
              </a:lnSpc>
              <a:spcBef>
                <a:spcPts val="788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+mn-lt"/>
                <a:cs typeface="+mn-cs"/>
              </a:rPr>
              <a:t>Full-duplex</a:t>
            </a:r>
          </a:p>
          <a:p>
            <a:pPr marL="914400" lvl="1" indent="-228600">
              <a:lnSpc>
                <a:spcPct val="90000"/>
              </a:lnSpc>
              <a:spcBef>
                <a:spcPts val="788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+mn-lt"/>
                <a:cs typeface="+mn-cs"/>
              </a:rPr>
              <a:t>Byte-Stream</a:t>
            </a:r>
          </a:p>
        </p:txBody>
      </p:sp>
      <p:pic>
        <p:nvPicPr>
          <p:cNvPr id="3" name="Picture 2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C9AEC9B3-FADB-5A26-4307-1E5038073E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4438" t="18625" r="761" b="14118"/>
          <a:stretch/>
        </p:blipFill>
        <p:spPr>
          <a:xfrm>
            <a:off x="4654296" y="1882186"/>
            <a:ext cx="6903720" cy="309362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872" name="Rectangle 3687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65" name="Text Box 1">
            <a:extLst>
              <a:ext uri="{FF2B5EF4-FFF2-40B4-BE49-F238E27FC236}">
                <a16:creationId xmlns:a16="http://schemas.microsoft.com/office/drawing/2014/main" id="{1F092B47-829A-4CF5-8AC7-EDC07D58E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" y="325369"/>
            <a:ext cx="4368602" cy="19568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5400" u="sng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Connection-Oriented</a:t>
            </a:r>
          </a:p>
        </p:txBody>
      </p:sp>
      <p:sp>
        <p:nvSpPr>
          <p:cNvPr id="3687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66" name="Text Box 2">
            <a:extLst>
              <a:ext uri="{FF2B5EF4-FFF2-40B4-BE49-F238E27FC236}">
                <a16:creationId xmlns:a16="http://schemas.microsoft.com/office/drawing/2014/main" id="{7306F5D7-5598-4B98-B035-17376D1E7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" y="2872899"/>
            <a:ext cx="4243589" cy="33206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900" i="1">
                <a:solidFill>
                  <a:schemeClr val="tx1"/>
                </a:solidFill>
                <a:latin typeface="+mn-lt"/>
                <a:cs typeface="+mn-cs"/>
              </a:rPr>
              <a:t>Connection oriented </a:t>
            </a:r>
            <a:r>
              <a:rPr lang="en-US" altLang="en-US" sz="1900">
                <a:solidFill>
                  <a:schemeClr val="tx1"/>
                </a:solidFill>
                <a:latin typeface="+mn-lt"/>
                <a:cs typeface="+mn-cs"/>
              </a:rPr>
              <a:t>means that a virtual connection is established before any user data is transferred.</a:t>
            </a:r>
            <a:endParaRPr lang="en-US" sz="1900">
              <a:solidFill>
                <a:schemeClr val="tx1"/>
              </a:solidFill>
              <a:latin typeface="+mn-lt"/>
              <a:cs typeface="+mn-cs"/>
            </a:endParaRP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endParaRPr lang="en-US" altLang="en-US" sz="19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900">
                <a:solidFill>
                  <a:schemeClr val="tx1"/>
                </a:solidFill>
                <a:latin typeface="+mn-lt"/>
                <a:cs typeface="+mn-cs"/>
              </a:rPr>
              <a:t>If the connection cannot be established, the user program is notified (finds out). 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endParaRPr lang="en-US" altLang="en-US" sz="19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900">
                <a:solidFill>
                  <a:schemeClr val="tx1"/>
                </a:solidFill>
                <a:latin typeface="+mn-lt"/>
                <a:cs typeface="+mn-cs"/>
              </a:rPr>
              <a:t>If the connection is ever interrupted,     the user program(s) is finds out there is a problem.</a:t>
            </a:r>
          </a:p>
        </p:txBody>
      </p:sp>
      <p:pic>
        <p:nvPicPr>
          <p:cNvPr id="36868" name="Picture 36867" descr="A 3D pattern of ring shapes connected by lines">
            <a:extLst>
              <a:ext uri="{FF2B5EF4-FFF2-40B4-BE49-F238E27FC236}">
                <a16:creationId xmlns:a16="http://schemas.microsoft.com/office/drawing/2014/main" id="{4089E716-BF84-1CDE-1BC2-AD9CC06F67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28" r="3815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895" name="Rectangle 37894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89" name="Text Box 1">
            <a:extLst>
              <a:ext uri="{FF2B5EF4-FFF2-40B4-BE49-F238E27FC236}">
                <a16:creationId xmlns:a16="http://schemas.microsoft.com/office/drawing/2014/main" id="{89741B4E-C739-429D-AE10-E70004954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248" y="548640"/>
            <a:ext cx="3600860" cy="54315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54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Reliable</a:t>
            </a:r>
          </a:p>
        </p:txBody>
      </p:sp>
      <p:sp>
        <p:nvSpPr>
          <p:cNvPr id="37897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0" name="Text Box 2">
            <a:extLst>
              <a:ext uri="{FF2B5EF4-FFF2-40B4-BE49-F238E27FC236}">
                <a16:creationId xmlns:a16="http://schemas.microsoft.com/office/drawing/2014/main" id="{E1116236-3BE7-4FF5-9AF4-CCA3F8DD5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6418" y="552091"/>
            <a:ext cx="6224335" cy="54315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 i="1">
                <a:solidFill>
                  <a:schemeClr val="tx1"/>
                </a:solidFill>
                <a:latin typeface="+mn-lt"/>
                <a:cs typeface="+mn-cs"/>
              </a:rPr>
              <a:t>Reliable</a:t>
            </a: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 means that every transmission of data is acknowledged by the receiver.</a:t>
            </a:r>
            <a:endParaRPr lang="en-US" sz="2200">
              <a:solidFill>
                <a:schemeClr val="tx1"/>
              </a:solidFill>
              <a:latin typeface="+mn-lt"/>
              <a:cs typeface="+mn-cs"/>
            </a:endParaRP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endParaRPr lang="en-US" altLang="en-US" sz="22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Reliable does not mean that things don't go wrong, it means that we find out when things go wrong.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endParaRPr lang="en-US" altLang="en-US" sz="22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If the sender does not receive acknowledgement within a specified amount of time, the sender retransmits the data. 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967" name="Rectangle 4096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61" name="Text Box 1">
            <a:extLst>
              <a:ext uri="{FF2B5EF4-FFF2-40B4-BE49-F238E27FC236}">
                <a16:creationId xmlns:a16="http://schemas.microsoft.com/office/drawing/2014/main" id="{4B40AA8C-D1A3-4D3B-88C7-17C190FD8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248" y="548640"/>
            <a:ext cx="3600860" cy="54315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54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Full Duplex</a:t>
            </a:r>
          </a:p>
        </p:txBody>
      </p:sp>
      <p:sp>
        <p:nvSpPr>
          <p:cNvPr id="4096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62" name="Text Box 2">
            <a:extLst>
              <a:ext uri="{FF2B5EF4-FFF2-40B4-BE49-F238E27FC236}">
                <a16:creationId xmlns:a16="http://schemas.microsoft.com/office/drawing/2014/main" id="{31AB5210-7B16-4F0F-B462-918E78506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6418" y="552091"/>
            <a:ext cx="6224335" cy="54315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TCP provides transfer in both directions  (over a single virtual connection).</a:t>
            </a:r>
            <a:endParaRPr lang="en-US" sz="2200">
              <a:solidFill>
                <a:schemeClr val="tx1"/>
              </a:solidFill>
              <a:latin typeface="+mn-lt"/>
              <a:cs typeface="+mn-cs"/>
            </a:endParaRPr>
          </a:p>
          <a:p>
            <a:pPr marL="459105" indent="-228600">
              <a:lnSpc>
                <a:spcPct val="90000"/>
              </a:lnSpc>
              <a:spcBef>
                <a:spcPts val="700"/>
              </a:spcBef>
              <a:buClrTx/>
              <a:buSzPct val="85000"/>
              <a:buFont typeface="Arial" panose="020B0604020202020204" pitchFamily="34" charset="0"/>
              <a:buChar char="•"/>
            </a:pPr>
            <a:endParaRPr lang="en-US" altLang="en-US" sz="22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To the application program these appear as 2 unrelated data streams, although TCP can piggyback control and data communication by providing control information (such as an ACK) along with user data.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943" name="Rectangle 39942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37" name="Text Box 1">
            <a:extLst>
              <a:ext uri="{FF2B5EF4-FFF2-40B4-BE49-F238E27FC236}">
                <a16:creationId xmlns:a16="http://schemas.microsoft.com/office/drawing/2014/main" id="{3B9FF8DE-5047-451C-9C9C-476BF9427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248" y="548640"/>
            <a:ext cx="3600860" cy="54315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54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Buffering</a:t>
            </a:r>
          </a:p>
        </p:txBody>
      </p:sp>
      <p:sp>
        <p:nvSpPr>
          <p:cNvPr id="39945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38" name="Text Box 2">
            <a:extLst>
              <a:ext uri="{FF2B5EF4-FFF2-40B4-BE49-F238E27FC236}">
                <a16:creationId xmlns:a16="http://schemas.microsoft.com/office/drawing/2014/main" id="{0F7115F0-CFD3-465D-A052-63EF9E744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6418" y="552091"/>
            <a:ext cx="6224335" cy="54315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TCP is responsible for buffering data and determining when it is time to send a datagram. </a:t>
            </a:r>
          </a:p>
          <a:p>
            <a:pPr marL="342900" indent="-228600">
              <a:lnSpc>
                <a:spcPct val="90000"/>
              </a:lnSpc>
              <a:spcBef>
                <a:spcPts val="700"/>
              </a:spcBef>
              <a:buClrTx/>
              <a:buSzPct val="85000"/>
              <a:buFont typeface="Arial" panose="020B0604020202020204" pitchFamily="34" charset="0"/>
              <a:buChar char="•"/>
            </a:pPr>
            <a:endParaRPr lang="en-US" altLang="en-US" sz="2200">
              <a:solidFill>
                <a:schemeClr val="tx1"/>
              </a:solidFill>
              <a:latin typeface="+mn-lt"/>
              <a:cs typeface="+mn-cs"/>
            </a:endParaRPr>
          </a:p>
          <a:p>
            <a:pPr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It is possible for an application to tell TCP to send the data it has buffered without waiting for a buffer to fill up.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ext Box 1">
            <a:extLst>
              <a:ext uri="{FF2B5EF4-FFF2-40B4-BE49-F238E27FC236}">
                <a16:creationId xmlns:a16="http://schemas.microsoft.com/office/drawing/2014/main" id="{C0A7025D-F86C-4EC1-B0C6-0B0B91C25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159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4000" u="sng" dirty="0">
                <a:solidFill>
                  <a:srgbClr val="3333CC"/>
                </a:solidFill>
                <a:latin typeface="+mn-lt"/>
              </a:rPr>
              <a:t>TCP Segment Format </a:t>
            </a:r>
          </a:p>
        </p:txBody>
      </p:sp>
      <p:sp>
        <p:nvSpPr>
          <p:cNvPr id="44034" name="AutoShape 2">
            <a:extLst>
              <a:ext uri="{FF2B5EF4-FFF2-40B4-BE49-F238E27FC236}">
                <a16:creationId xmlns:a16="http://schemas.microsoft.com/office/drawing/2014/main" id="{4228E584-F6E3-4566-B841-535249E79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200" y="2047875"/>
            <a:ext cx="8483600" cy="3987800"/>
          </a:xfrm>
          <a:prstGeom prst="roundRect">
            <a:avLst>
              <a:gd name="adj" fmla="val 37"/>
            </a:avLst>
          </a:prstGeom>
          <a:solidFill>
            <a:srgbClr val="FFFFFF"/>
          </a:solidFill>
          <a:ln w="50760" cap="sq">
            <a:solidFill>
              <a:schemeClr val="tx1"/>
            </a:solidFill>
            <a:miter lim="800000"/>
            <a:headEnd/>
            <a:tailEnd/>
          </a:ln>
          <a:effectLst>
            <a:outerShdw dist="107933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 sz="2400"/>
          </a:p>
        </p:txBody>
      </p:sp>
      <p:grpSp>
        <p:nvGrpSpPr>
          <p:cNvPr id="44035" name="Group 3">
            <a:extLst>
              <a:ext uri="{FF2B5EF4-FFF2-40B4-BE49-F238E27FC236}">
                <a16:creationId xmlns:a16="http://schemas.microsoft.com/office/drawing/2014/main" id="{27A1FE93-AD2B-421E-9835-C7A064980BF2}"/>
              </a:ext>
            </a:extLst>
          </p:cNvPr>
          <p:cNvGrpSpPr>
            <a:grpSpLocks/>
          </p:cNvGrpSpPr>
          <p:nvPr/>
        </p:nvGrpSpPr>
        <p:grpSpPr bwMode="auto">
          <a:xfrm>
            <a:off x="6108701" y="2024064"/>
            <a:ext cx="4238625" cy="452437"/>
            <a:chOff x="2888" y="1275"/>
            <a:chExt cx="2670" cy="285"/>
          </a:xfrm>
        </p:grpSpPr>
        <p:sp>
          <p:nvSpPr>
            <p:cNvPr id="44036" name="AutoShape 4">
              <a:extLst>
                <a:ext uri="{FF2B5EF4-FFF2-40B4-BE49-F238E27FC236}">
                  <a16:creationId xmlns:a16="http://schemas.microsoft.com/office/drawing/2014/main" id="{8F8B94F1-E5E0-4F99-B3C8-39147E415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8" y="1282"/>
              <a:ext cx="2670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37" name="Text Box 5">
              <a:extLst>
                <a:ext uri="{FF2B5EF4-FFF2-40B4-BE49-F238E27FC236}">
                  <a16:creationId xmlns:a16="http://schemas.microsoft.com/office/drawing/2014/main" id="{222CD687-1B1D-4A5D-9570-5B0ABD9D61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5" y="1275"/>
              <a:ext cx="1597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Destination Port</a:t>
              </a:r>
            </a:p>
          </p:txBody>
        </p:sp>
      </p:grpSp>
      <p:grpSp>
        <p:nvGrpSpPr>
          <p:cNvPr id="44038" name="Group 6">
            <a:extLst>
              <a:ext uri="{FF2B5EF4-FFF2-40B4-BE49-F238E27FC236}">
                <a16:creationId xmlns:a16="http://schemas.microsoft.com/office/drawing/2014/main" id="{8421A85F-806A-4F82-8B8E-5541EC76220A}"/>
              </a:ext>
            </a:extLst>
          </p:cNvPr>
          <p:cNvGrpSpPr>
            <a:grpSpLocks/>
          </p:cNvGrpSpPr>
          <p:nvPr/>
        </p:nvGrpSpPr>
        <p:grpSpPr bwMode="auto">
          <a:xfrm>
            <a:off x="1839913" y="4310064"/>
            <a:ext cx="8507412" cy="452437"/>
            <a:chOff x="199" y="2715"/>
            <a:chExt cx="5359" cy="285"/>
          </a:xfrm>
        </p:grpSpPr>
        <p:sp>
          <p:nvSpPr>
            <p:cNvPr id="44039" name="AutoShape 7">
              <a:extLst>
                <a:ext uri="{FF2B5EF4-FFF2-40B4-BE49-F238E27FC236}">
                  <a16:creationId xmlns:a16="http://schemas.microsoft.com/office/drawing/2014/main" id="{0F5757FB-52D6-4A47-9526-9DB692159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" y="2722"/>
              <a:ext cx="5359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40" name="Text Box 8">
              <a:extLst>
                <a:ext uri="{FF2B5EF4-FFF2-40B4-BE49-F238E27FC236}">
                  <a16:creationId xmlns:a16="http://schemas.microsoft.com/office/drawing/2014/main" id="{0A05F23F-9E54-4444-B18F-F730B6A4FC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7" y="2715"/>
              <a:ext cx="1524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Options (if any)</a:t>
              </a:r>
            </a:p>
          </p:txBody>
        </p:sp>
      </p:grpSp>
      <p:grpSp>
        <p:nvGrpSpPr>
          <p:cNvPr id="44041" name="Group 9">
            <a:extLst>
              <a:ext uri="{FF2B5EF4-FFF2-40B4-BE49-F238E27FC236}">
                <a16:creationId xmlns:a16="http://schemas.microsoft.com/office/drawing/2014/main" id="{C8E532CD-7E59-4C87-A75A-E50EAC5092F8}"/>
              </a:ext>
            </a:extLst>
          </p:cNvPr>
          <p:cNvGrpSpPr>
            <a:grpSpLocks/>
          </p:cNvGrpSpPr>
          <p:nvPr/>
        </p:nvGrpSpPr>
        <p:grpSpPr bwMode="auto">
          <a:xfrm>
            <a:off x="1839913" y="4778376"/>
            <a:ext cx="8507412" cy="1266825"/>
            <a:chOff x="199" y="3010"/>
            <a:chExt cx="5359" cy="798"/>
          </a:xfrm>
        </p:grpSpPr>
        <p:sp>
          <p:nvSpPr>
            <p:cNvPr id="44042" name="AutoShape 10">
              <a:extLst>
                <a:ext uri="{FF2B5EF4-FFF2-40B4-BE49-F238E27FC236}">
                  <a16:creationId xmlns:a16="http://schemas.microsoft.com/office/drawing/2014/main" id="{99FBD54D-427F-4911-ACB7-8BB92BA10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" y="3010"/>
              <a:ext cx="5359" cy="798"/>
            </a:xfrm>
            <a:prstGeom prst="roundRect">
              <a:avLst>
                <a:gd name="adj" fmla="val 125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43" name="Text Box 11">
              <a:extLst>
                <a:ext uri="{FF2B5EF4-FFF2-40B4-BE49-F238E27FC236}">
                  <a16:creationId xmlns:a16="http://schemas.microsoft.com/office/drawing/2014/main" id="{CBFCF6E6-B984-4003-B242-6E77ACA72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4" y="3266"/>
              <a:ext cx="529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Data</a:t>
              </a:r>
            </a:p>
          </p:txBody>
        </p:sp>
      </p:grpSp>
      <p:sp>
        <p:nvSpPr>
          <p:cNvPr id="44044" name="Line 12">
            <a:extLst>
              <a:ext uri="{FF2B5EF4-FFF2-40B4-BE49-F238E27FC236}">
                <a16:creationId xmlns:a16="http://schemas.microsoft.com/office/drawing/2014/main" id="{B386C0C8-9FDC-489D-886A-C01AAC01B03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1577975"/>
            <a:ext cx="1588" cy="431800"/>
          </a:xfrm>
          <a:prstGeom prst="line">
            <a:avLst/>
          </a:prstGeom>
          <a:noFill/>
          <a:ln w="25560" cap="sq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45" name="Line 13">
            <a:extLst>
              <a:ext uri="{FF2B5EF4-FFF2-40B4-BE49-F238E27FC236}">
                <a16:creationId xmlns:a16="http://schemas.microsoft.com/office/drawing/2014/main" id="{14D61F3A-BB1D-4CDD-9071-BA10079C02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1577975"/>
            <a:ext cx="1588" cy="431800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46" name="Line 14">
            <a:extLst>
              <a:ext uri="{FF2B5EF4-FFF2-40B4-BE49-F238E27FC236}">
                <a16:creationId xmlns:a16="http://schemas.microsoft.com/office/drawing/2014/main" id="{DE57606E-A132-4607-8B6E-7EB0A9B5922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1577975"/>
            <a:ext cx="1588" cy="431800"/>
          </a:xfrm>
          <a:prstGeom prst="line">
            <a:avLst/>
          </a:prstGeom>
          <a:noFill/>
          <a:ln w="25560" cap="sq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47" name="Line 15">
            <a:extLst>
              <a:ext uri="{FF2B5EF4-FFF2-40B4-BE49-F238E27FC236}">
                <a16:creationId xmlns:a16="http://schemas.microsoft.com/office/drawing/2014/main" id="{CC3BF782-D809-42CE-A9F9-5C49EEC95D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1577975"/>
            <a:ext cx="1588" cy="431800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48" name="Line 16">
            <a:extLst>
              <a:ext uri="{FF2B5EF4-FFF2-40B4-BE49-F238E27FC236}">
                <a16:creationId xmlns:a16="http://schemas.microsoft.com/office/drawing/2014/main" id="{1EDBCF22-5F34-4790-9F97-8297226265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01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49" name="Line 17">
            <a:extLst>
              <a:ext uri="{FF2B5EF4-FFF2-40B4-BE49-F238E27FC236}">
                <a16:creationId xmlns:a16="http://schemas.microsoft.com/office/drawing/2014/main" id="{C7465E1D-9189-4EDC-A038-821EC3769E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65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50" name="Text Box 18">
            <a:extLst>
              <a:ext uri="{FF2B5EF4-FFF2-40B4-BE49-F238E27FC236}">
                <a16:creationId xmlns:a16="http://schemas.microsoft.com/office/drawing/2014/main" id="{1833EAD9-E7F1-4E21-AE23-C34B7F09C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964" y="1544639"/>
            <a:ext cx="1011237" cy="454025"/>
          </a:xfrm>
          <a:prstGeom prst="rect">
            <a:avLst/>
          </a:prstGeom>
          <a:noFill/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2400">
                <a:latin typeface="Arial" panose="020B0604020202020204" pitchFamily="34" charset="0"/>
                <a:cs typeface="msmincho" charset="0"/>
              </a:rPr>
              <a:t>1 byte</a:t>
            </a:r>
          </a:p>
        </p:txBody>
      </p:sp>
      <p:sp>
        <p:nvSpPr>
          <p:cNvPr id="44051" name="Line 19">
            <a:extLst>
              <a:ext uri="{FF2B5EF4-FFF2-40B4-BE49-F238E27FC236}">
                <a16:creationId xmlns:a16="http://schemas.microsoft.com/office/drawing/2014/main" id="{C52E23BD-3C97-401C-8E1D-6228424A68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63200" y="1577975"/>
            <a:ext cx="1588" cy="431800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52" name="Line 20">
            <a:extLst>
              <a:ext uri="{FF2B5EF4-FFF2-40B4-BE49-F238E27FC236}">
                <a16:creationId xmlns:a16="http://schemas.microsoft.com/office/drawing/2014/main" id="{8B2C8A26-B336-4921-9804-2CA4A18D955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1577975"/>
            <a:ext cx="1588" cy="431800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53" name="Line 21">
            <a:extLst>
              <a:ext uri="{FF2B5EF4-FFF2-40B4-BE49-F238E27FC236}">
                <a16:creationId xmlns:a16="http://schemas.microsoft.com/office/drawing/2014/main" id="{9239E702-A335-4443-A8E2-2CE4781DD5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37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54" name="Line 22">
            <a:extLst>
              <a:ext uri="{FF2B5EF4-FFF2-40B4-BE49-F238E27FC236}">
                <a16:creationId xmlns:a16="http://schemas.microsoft.com/office/drawing/2014/main" id="{5CA879A6-C0A9-4398-9DA2-C2CFDAF372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8901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55" name="Text Box 23">
            <a:extLst>
              <a:ext uri="{FF2B5EF4-FFF2-40B4-BE49-F238E27FC236}">
                <a16:creationId xmlns:a16="http://schemas.microsoft.com/office/drawing/2014/main" id="{E651AD15-7123-4030-A341-9AB3E1AB5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8564" y="1544639"/>
            <a:ext cx="1011237" cy="454025"/>
          </a:xfrm>
          <a:prstGeom prst="rect">
            <a:avLst/>
          </a:prstGeom>
          <a:noFill/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2400">
                <a:latin typeface="Arial" panose="020B0604020202020204" pitchFamily="34" charset="0"/>
                <a:cs typeface="msmincho" charset="0"/>
              </a:rPr>
              <a:t>1 byte</a:t>
            </a:r>
          </a:p>
        </p:txBody>
      </p:sp>
      <p:grpSp>
        <p:nvGrpSpPr>
          <p:cNvPr id="44056" name="Group 24">
            <a:extLst>
              <a:ext uri="{FF2B5EF4-FFF2-40B4-BE49-F238E27FC236}">
                <a16:creationId xmlns:a16="http://schemas.microsoft.com/office/drawing/2014/main" id="{A999977C-8E66-4598-9DE6-D75FD7F5D18D}"/>
              </a:ext>
            </a:extLst>
          </p:cNvPr>
          <p:cNvGrpSpPr>
            <a:grpSpLocks/>
          </p:cNvGrpSpPr>
          <p:nvPr/>
        </p:nvGrpSpPr>
        <p:grpSpPr bwMode="auto">
          <a:xfrm>
            <a:off x="1839914" y="2024064"/>
            <a:ext cx="4238625" cy="452437"/>
            <a:chOff x="199" y="1275"/>
            <a:chExt cx="2670" cy="285"/>
          </a:xfrm>
        </p:grpSpPr>
        <p:sp>
          <p:nvSpPr>
            <p:cNvPr id="44057" name="AutoShape 25">
              <a:extLst>
                <a:ext uri="{FF2B5EF4-FFF2-40B4-BE49-F238E27FC236}">
                  <a16:creationId xmlns:a16="http://schemas.microsoft.com/office/drawing/2014/main" id="{34332BAD-AD3C-4082-8974-8434040BF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" y="1282"/>
              <a:ext cx="2670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58" name="Text Box 26">
              <a:extLst>
                <a:ext uri="{FF2B5EF4-FFF2-40B4-BE49-F238E27FC236}">
                  <a16:creationId xmlns:a16="http://schemas.microsoft.com/office/drawing/2014/main" id="{7334AD97-8D07-440B-B383-E83E5F64F5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" y="1275"/>
              <a:ext cx="1201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Source Port</a:t>
              </a:r>
            </a:p>
          </p:txBody>
        </p:sp>
      </p:grpSp>
      <p:grpSp>
        <p:nvGrpSpPr>
          <p:cNvPr id="44059" name="Group 27">
            <a:extLst>
              <a:ext uri="{FF2B5EF4-FFF2-40B4-BE49-F238E27FC236}">
                <a16:creationId xmlns:a16="http://schemas.microsoft.com/office/drawing/2014/main" id="{05D6EE72-12F0-471C-95E1-E28FEFEC33F2}"/>
              </a:ext>
            </a:extLst>
          </p:cNvPr>
          <p:cNvGrpSpPr>
            <a:grpSpLocks/>
          </p:cNvGrpSpPr>
          <p:nvPr/>
        </p:nvGrpSpPr>
        <p:grpSpPr bwMode="auto">
          <a:xfrm>
            <a:off x="1839913" y="2481264"/>
            <a:ext cx="8507412" cy="452437"/>
            <a:chOff x="199" y="1563"/>
            <a:chExt cx="5359" cy="285"/>
          </a:xfrm>
        </p:grpSpPr>
        <p:sp>
          <p:nvSpPr>
            <p:cNvPr id="44060" name="AutoShape 28">
              <a:extLst>
                <a:ext uri="{FF2B5EF4-FFF2-40B4-BE49-F238E27FC236}">
                  <a16:creationId xmlns:a16="http://schemas.microsoft.com/office/drawing/2014/main" id="{C15E339A-D64B-4869-A30B-12D81F693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" y="1570"/>
              <a:ext cx="5359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61" name="Text Box 29">
              <a:extLst>
                <a:ext uri="{FF2B5EF4-FFF2-40B4-BE49-F238E27FC236}">
                  <a16:creationId xmlns:a16="http://schemas.microsoft.com/office/drawing/2014/main" id="{840029B2-305A-491E-B8FB-75B546768E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0" y="1563"/>
              <a:ext cx="1797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Sequence Number</a:t>
              </a:r>
            </a:p>
          </p:txBody>
        </p:sp>
      </p:grpSp>
      <p:grpSp>
        <p:nvGrpSpPr>
          <p:cNvPr id="44062" name="Group 30">
            <a:extLst>
              <a:ext uri="{FF2B5EF4-FFF2-40B4-BE49-F238E27FC236}">
                <a16:creationId xmlns:a16="http://schemas.microsoft.com/office/drawing/2014/main" id="{1D46B5BE-6E5D-48B4-9995-18821605CC09}"/>
              </a:ext>
            </a:extLst>
          </p:cNvPr>
          <p:cNvGrpSpPr>
            <a:grpSpLocks/>
          </p:cNvGrpSpPr>
          <p:nvPr/>
        </p:nvGrpSpPr>
        <p:grpSpPr bwMode="auto">
          <a:xfrm>
            <a:off x="1839913" y="2943230"/>
            <a:ext cx="8507412" cy="444500"/>
            <a:chOff x="199" y="1854"/>
            <a:chExt cx="5359" cy="280"/>
          </a:xfrm>
        </p:grpSpPr>
        <p:sp>
          <p:nvSpPr>
            <p:cNvPr id="44063" name="AutoShape 31">
              <a:extLst>
                <a:ext uri="{FF2B5EF4-FFF2-40B4-BE49-F238E27FC236}">
                  <a16:creationId xmlns:a16="http://schemas.microsoft.com/office/drawing/2014/main" id="{3A7A5528-853F-436C-8ED9-816D2DDDB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" y="1858"/>
              <a:ext cx="5359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64" name="Text Box 32">
              <a:extLst>
                <a:ext uri="{FF2B5EF4-FFF2-40B4-BE49-F238E27FC236}">
                  <a16:creationId xmlns:a16="http://schemas.microsoft.com/office/drawing/2014/main" id="{CBC7414E-8645-45DD-918B-8F24F72512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2" y="1854"/>
              <a:ext cx="3433" cy="280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 dirty="0">
                  <a:latin typeface="Arial" panose="020B0604020202020204" pitchFamily="34" charset="0"/>
                  <a:cs typeface="msmincho" charset="0"/>
                </a:rPr>
                <a:t>Request/Acknowledgement Number</a:t>
              </a:r>
            </a:p>
          </p:txBody>
        </p:sp>
      </p:grpSp>
      <p:sp>
        <p:nvSpPr>
          <p:cNvPr id="44065" name="Line 33">
            <a:extLst>
              <a:ext uri="{FF2B5EF4-FFF2-40B4-BE49-F238E27FC236}">
                <a16:creationId xmlns:a16="http://schemas.microsoft.com/office/drawing/2014/main" id="{B228A41C-DF58-486C-B283-25127F7239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129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66" name="Line 34">
            <a:extLst>
              <a:ext uri="{FF2B5EF4-FFF2-40B4-BE49-F238E27FC236}">
                <a16:creationId xmlns:a16="http://schemas.microsoft.com/office/drawing/2014/main" id="{402BB9F2-B7CD-4527-9928-2FB9682368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93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67" name="Line 35">
            <a:extLst>
              <a:ext uri="{FF2B5EF4-FFF2-40B4-BE49-F238E27FC236}">
                <a16:creationId xmlns:a16="http://schemas.microsoft.com/office/drawing/2014/main" id="{D00D8819-45F0-433F-BF5A-F050C0EAD9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65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68" name="Line 36">
            <a:extLst>
              <a:ext uri="{FF2B5EF4-FFF2-40B4-BE49-F238E27FC236}">
                <a16:creationId xmlns:a16="http://schemas.microsoft.com/office/drawing/2014/main" id="{F3AC88FC-C83B-4252-BD85-3987C71413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229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69" name="Line 37">
            <a:extLst>
              <a:ext uri="{FF2B5EF4-FFF2-40B4-BE49-F238E27FC236}">
                <a16:creationId xmlns:a16="http://schemas.microsoft.com/office/drawing/2014/main" id="{72BEC856-D0D0-44D5-92F6-B2C2836942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1577975"/>
            <a:ext cx="1588" cy="431800"/>
          </a:xfrm>
          <a:prstGeom prst="line">
            <a:avLst/>
          </a:prstGeom>
          <a:noFill/>
          <a:ln w="25560" cap="sq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70" name="Line 38">
            <a:extLst>
              <a:ext uri="{FF2B5EF4-FFF2-40B4-BE49-F238E27FC236}">
                <a16:creationId xmlns:a16="http://schemas.microsoft.com/office/drawing/2014/main" id="{24A6BE93-8863-47AF-A2DA-F750DBE93E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93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71" name="Text Box 39">
            <a:extLst>
              <a:ext uri="{FF2B5EF4-FFF2-40B4-BE49-F238E27FC236}">
                <a16:creationId xmlns:a16="http://schemas.microsoft.com/office/drawing/2014/main" id="{70195521-111B-4BA6-9B0F-B91DBFCBB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7764" y="1544639"/>
            <a:ext cx="1011237" cy="454025"/>
          </a:xfrm>
          <a:prstGeom prst="rect">
            <a:avLst/>
          </a:prstGeom>
          <a:noFill/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2400">
                <a:latin typeface="Arial" panose="020B0604020202020204" pitchFamily="34" charset="0"/>
                <a:cs typeface="msmincho" charset="0"/>
              </a:rPr>
              <a:t>1 byte</a:t>
            </a:r>
          </a:p>
        </p:txBody>
      </p:sp>
      <p:sp>
        <p:nvSpPr>
          <p:cNvPr id="44072" name="Line 40">
            <a:extLst>
              <a:ext uri="{FF2B5EF4-FFF2-40B4-BE49-F238E27FC236}">
                <a16:creationId xmlns:a16="http://schemas.microsoft.com/office/drawing/2014/main" id="{01046189-C964-400F-8826-50E3187DE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1577975"/>
            <a:ext cx="1588" cy="431800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73" name="Line 41">
            <a:extLst>
              <a:ext uri="{FF2B5EF4-FFF2-40B4-BE49-F238E27FC236}">
                <a16:creationId xmlns:a16="http://schemas.microsoft.com/office/drawing/2014/main" id="{F8FF8295-37BE-4D62-A442-8287AE479B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65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74" name="Text Box 42">
            <a:extLst>
              <a:ext uri="{FF2B5EF4-FFF2-40B4-BE49-F238E27FC236}">
                <a16:creationId xmlns:a16="http://schemas.microsoft.com/office/drawing/2014/main" id="{4EDFF53F-1DC0-4D3D-A9F5-2E825D4C3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1364" y="1544639"/>
            <a:ext cx="1011237" cy="454025"/>
          </a:xfrm>
          <a:prstGeom prst="rect">
            <a:avLst/>
          </a:prstGeom>
          <a:noFill/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2400">
                <a:latin typeface="Arial" panose="020B0604020202020204" pitchFamily="34" charset="0"/>
                <a:cs typeface="msmincho" charset="0"/>
              </a:rPr>
              <a:t>1 byte</a:t>
            </a:r>
          </a:p>
        </p:txBody>
      </p:sp>
      <p:grpSp>
        <p:nvGrpSpPr>
          <p:cNvPr id="44075" name="Group 43">
            <a:extLst>
              <a:ext uri="{FF2B5EF4-FFF2-40B4-BE49-F238E27FC236}">
                <a16:creationId xmlns:a16="http://schemas.microsoft.com/office/drawing/2014/main" id="{9EA0F75A-0519-4FF8-ACBA-C8485B5E37E7}"/>
              </a:ext>
            </a:extLst>
          </p:cNvPr>
          <p:cNvGrpSpPr>
            <a:grpSpLocks/>
          </p:cNvGrpSpPr>
          <p:nvPr/>
        </p:nvGrpSpPr>
        <p:grpSpPr bwMode="auto">
          <a:xfrm>
            <a:off x="1841501" y="3395664"/>
            <a:ext cx="1038225" cy="452437"/>
            <a:chOff x="200" y="2139"/>
            <a:chExt cx="654" cy="285"/>
          </a:xfrm>
        </p:grpSpPr>
        <p:sp>
          <p:nvSpPr>
            <p:cNvPr id="44076" name="AutoShape 44">
              <a:extLst>
                <a:ext uri="{FF2B5EF4-FFF2-40B4-BE49-F238E27FC236}">
                  <a16:creationId xmlns:a16="http://schemas.microsoft.com/office/drawing/2014/main" id="{C5D2F7C4-A3F5-450B-86B9-C84015039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" y="2146"/>
              <a:ext cx="654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77" name="Text Box 45">
              <a:extLst>
                <a:ext uri="{FF2B5EF4-FFF2-40B4-BE49-F238E27FC236}">
                  <a16:creationId xmlns:a16="http://schemas.microsoft.com/office/drawing/2014/main" id="{CBC2AD0C-CBD7-4AC9-ACE5-C9AC656E5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" y="2139"/>
              <a:ext cx="636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offset</a:t>
              </a:r>
            </a:p>
          </p:txBody>
        </p:sp>
      </p:grpSp>
      <p:grpSp>
        <p:nvGrpSpPr>
          <p:cNvPr id="44078" name="Group 46">
            <a:extLst>
              <a:ext uri="{FF2B5EF4-FFF2-40B4-BE49-F238E27FC236}">
                <a16:creationId xmlns:a16="http://schemas.microsoft.com/office/drawing/2014/main" id="{ACE6F01B-817A-4C8E-B20E-F96237AD6ECE}"/>
              </a:ext>
            </a:extLst>
          </p:cNvPr>
          <p:cNvGrpSpPr>
            <a:grpSpLocks/>
          </p:cNvGrpSpPr>
          <p:nvPr/>
        </p:nvGrpSpPr>
        <p:grpSpPr bwMode="auto">
          <a:xfrm>
            <a:off x="2881313" y="3395664"/>
            <a:ext cx="1092200" cy="452437"/>
            <a:chOff x="855" y="2139"/>
            <a:chExt cx="688" cy="285"/>
          </a:xfrm>
        </p:grpSpPr>
        <p:sp>
          <p:nvSpPr>
            <p:cNvPr id="44079" name="AutoShape 47">
              <a:extLst>
                <a:ext uri="{FF2B5EF4-FFF2-40B4-BE49-F238E27FC236}">
                  <a16:creationId xmlns:a16="http://schemas.microsoft.com/office/drawing/2014/main" id="{0586BD38-3738-46D5-BBBF-E92ED369B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" y="2146"/>
              <a:ext cx="654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80" name="Text Box 48">
              <a:extLst>
                <a:ext uri="{FF2B5EF4-FFF2-40B4-BE49-F238E27FC236}">
                  <a16:creationId xmlns:a16="http://schemas.microsoft.com/office/drawing/2014/main" id="{8E69AEA9-2184-4258-A4F4-AD37A5930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5" y="2139"/>
              <a:ext cx="688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Reser.</a:t>
              </a:r>
            </a:p>
          </p:txBody>
        </p:sp>
      </p:grpSp>
      <p:grpSp>
        <p:nvGrpSpPr>
          <p:cNvPr id="44081" name="Group 49">
            <a:extLst>
              <a:ext uri="{FF2B5EF4-FFF2-40B4-BE49-F238E27FC236}">
                <a16:creationId xmlns:a16="http://schemas.microsoft.com/office/drawing/2014/main" id="{A3E71989-28C3-49D0-95BB-406A07C7838A}"/>
              </a:ext>
            </a:extLst>
          </p:cNvPr>
          <p:cNvGrpSpPr>
            <a:grpSpLocks/>
          </p:cNvGrpSpPr>
          <p:nvPr/>
        </p:nvGrpSpPr>
        <p:grpSpPr bwMode="auto">
          <a:xfrm>
            <a:off x="3975101" y="3395664"/>
            <a:ext cx="2105025" cy="452437"/>
            <a:chOff x="1544" y="2139"/>
            <a:chExt cx="1326" cy="285"/>
          </a:xfrm>
        </p:grpSpPr>
        <p:sp>
          <p:nvSpPr>
            <p:cNvPr id="44082" name="AutoShape 50">
              <a:extLst>
                <a:ext uri="{FF2B5EF4-FFF2-40B4-BE49-F238E27FC236}">
                  <a16:creationId xmlns:a16="http://schemas.microsoft.com/office/drawing/2014/main" id="{BEE0AD3A-46C2-4A96-AF16-F91865EFF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4" y="2146"/>
              <a:ext cx="1326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83" name="Text Box 51">
              <a:extLst>
                <a:ext uri="{FF2B5EF4-FFF2-40B4-BE49-F238E27FC236}">
                  <a16:creationId xmlns:a16="http://schemas.microsoft.com/office/drawing/2014/main" id="{0D5698B2-6D4D-4487-AC21-E986ADB03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9" y="2139"/>
              <a:ext cx="796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 dirty="0">
                  <a:latin typeface="Arial" panose="020B0604020202020204" pitchFamily="34" charset="0"/>
                  <a:cs typeface="msmincho" charset="0"/>
                </a:rPr>
                <a:t>Control</a:t>
              </a:r>
            </a:p>
          </p:txBody>
        </p:sp>
      </p:grpSp>
      <p:grpSp>
        <p:nvGrpSpPr>
          <p:cNvPr id="44084" name="Group 52">
            <a:extLst>
              <a:ext uri="{FF2B5EF4-FFF2-40B4-BE49-F238E27FC236}">
                <a16:creationId xmlns:a16="http://schemas.microsoft.com/office/drawing/2014/main" id="{D3DA34AC-F6CA-41D3-A19F-C53D63084C6A}"/>
              </a:ext>
            </a:extLst>
          </p:cNvPr>
          <p:cNvGrpSpPr>
            <a:grpSpLocks/>
          </p:cNvGrpSpPr>
          <p:nvPr/>
        </p:nvGrpSpPr>
        <p:grpSpPr bwMode="auto">
          <a:xfrm>
            <a:off x="6107114" y="3395664"/>
            <a:ext cx="4238625" cy="452437"/>
            <a:chOff x="2887" y="2139"/>
            <a:chExt cx="2670" cy="285"/>
          </a:xfrm>
        </p:grpSpPr>
        <p:sp>
          <p:nvSpPr>
            <p:cNvPr id="44085" name="AutoShape 53">
              <a:extLst>
                <a:ext uri="{FF2B5EF4-FFF2-40B4-BE49-F238E27FC236}">
                  <a16:creationId xmlns:a16="http://schemas.microsoft.com/office/drawing/2014/main" id="{CC9CDA07-C6FB-43C5-AA32-54167707E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7" y="2146"/>
              <a:ext cx="2670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86" name="Text Box 54">
              <a:extLst>
                <a:ext uri="{FF2B5EF4-FFF2-40B4-BE49-F238E27FC236}">
                  <a16:creationId xmlns:a16="http://schemas.microsoft.com/office/drawing/2014/main" id="{05C75C75-C824-42B2-86CB-8ED1D280B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8" y="2139"/>
              <a:ext cx="848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Window</a:t>
              </a:r>
            </a:p>
          </p:txBody>
        </p:sp>
      </p:grpSp>
      <p:grpSp>
        <p:nvGrpSpPr>
          <p:cNvPr id="44087" name="Group 55">
            <a:extLst>
              <a:ext uri="{FF2B5EF4-FFF2-40B4-BE49-F238E27FC236}">
                <a16:creationId xmlns:a16="http://schemas.microsoft.com/office/drawing/2014/main" id="{746240FA-9A79-4757-8696-B06E40FAC987}"/>
              </a:ext>
            </a:extLst>
          </p:cNvPr>
          <p:cNvGrpSpPr>
            <a:grpSpLocks/>
          </p:cNvGrpSpPr>
          <p:nvPr/>
        </p:nvGrpSpPr>
        <p:grpSpPr bwMode="auto">
          <a:xfrm>
            <a:off x="1839914" y="3852864"/>
            <a:ext cx="4238625" cy="452437"/>
            <a:chOff x="199" y="2427"/>
            <a:chExt cx="2670" cy="285"/>
          </a:xfrm>
        </p:grpSpPr>
        <p:sp>
          <p:nvSpPr>
            <p:cNvPr id="44088" name="AutoShape 56">
              <a:extLst>
                <a:ext uri="{FF2B5EF4-FFF2-40B4-BE49-F238E27FC236}">
                  <a16:creationId xmlns:a16="http://schemas.microsoft.com/office/drawing/2014/main" id="{46CCD1DA-36E3-4F8D-AAFB-49DF745DC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" y="2434"/>
              <a:ext cx="2670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89" name="Text Box 57">
              <a:extLst>
                <a:ext uri="{FF2B5EF4-FFF2-40B4-BE49-F238E27FC236}">
                  <a16:creationId xmlns:a16="http://schemas.microsoft.com/office/drawing/2014/main" id="{34692F53-D266-4A88-BFF9-F97CF7998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3" y="2427"/>
              <a:ext cx="1083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Checksum</a:t>
              </a:r>
            </a:p>
          </p:txBody>
        </p:sp>
      </p:grpSp>
      <p:grpSp>
        <p:nvGrpSpPr>
          <p:cNvPr id="44090" name="Group 58">
            <a:extLst>
              <a:ext uri="{FF2B5EF4-FFF2-40B4-BE49-F238E27FC236}">
                <a16:creationId xmlns:a16="http://schemas.microsoft.com/office/drawing/2014/main" id="{B5EEF9EF-333F-4F59-93EA-8A1D4B7EEB1B}"/>
              </a:ext>
            </a:extLst>
          </p:cNvPr>
          <p:cNvGrpSpPr>
            <a:grpSpLocks/>
          </p:cNvGrpSpPr>
          <p:nvPr/>
        </p:nvGrpSpPr>
        <p:grpSpPr bwMode="auto">
          <a:xfrm>
            <a:off x="6107114" y="3852864"/>
            <a:ext cx="4238625" cy="452437"/>
            <a:chOff x="2887" y="2427"/>
            <a:chExt cx="2670" cy="285"/>
          </a:xfrm>
        </p:grpSpPr>
        <p:sp>
          <p:nvSpPr>
            <p:cNvPr id="44091" name="AutoShape 59">
              <a:extLst>
                <a:ext uri="{FF2B5EF4-FFF2-40B4-BE49-F238E27FC236}">
                  <a16:creationId xmlns:a16="http://schemas.microsoft.com/office/drawing/2014/main" id="{DD36B6E2-387B-4955-BFB7-4A252A9BC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7" y="2434"/>
              <a:ext cx="2670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92" name="Text Box 60">
              <a:extLst>
                <a:ext uri="{FF2B5EF4-FFF2-40B4-BE49-F238E27FC236}">
                  <a16:creationId xmlns:a16="http://schemas.microsoft.com/office/drawing/2014/main" id="{0EFFD1D0-7E68-4ACB-8DA4-D54B08D2E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9" y="2427"/>
              <a:ext cx="1447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Urgent Pointer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622B86-7DCD-4358-A119-34B5CA68A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204912"/>
            <a:ext cx="10344150" cy="44481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018078-2DDB-420B-9078-F39F99DC62D7}"/>
              </a:ext>
            </a:extLst>
          </p:cNvPr>
          <p:cNvSpPr txBox="1"/>
          <p:nvPr/>
        </p:nvSpPr>
        <p:spPr>
          <a:xfrm>
            <a:off x="4876800" y="533400"/>
            <a:ext cx="1919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TCP  Header Fields</a:t>
            </a:r>
          </a:p>
        </p:txBody>
      </p:sp>
    </p:spTree>
    <p:extLst>
      <p:ext uri="{BB962C8B-B14F-4D97-AF65-F5344CB8AC3E}">
        <p14:creationId xmlns:p14="http://schemas.microsoft.com/office/powerpoint/2010/main" val="2440974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183" name="Rectangle 49182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54" name="Text Box 2">
            <a:extLst>
              <a:ext uri="{FF2B5EF4-FFF2-40B4-BE49-F238E27FC236}">
                <a16:creationId xmlns:a16="http://schemas.microsoft.com/office/drawing/2014/main" id="{8D1EFC72-533C-4C4A-94A0-343815D18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560" y="856180"/>
            <a:ext cx="5279408" cy="11280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u="sng">
                <a:solidFill>
                  <a:schemeClr val="tx1"/>
                </a:solidFill>
                <a:latin typeface="+mj-lt"/>
                <a:ea typeface="+mj-ea"/>
                <a:cs typeface="+mj-cs"/>
              </a:rPr>
              <a:t>TCP Control Flags</a:t>
            </a:r>
            <a:endParaRPr lang="en-US" sz="40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9185" name="Group 49184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49186" name="Rectangle 4918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187" name="Rectangle 4918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189" name="Rectangle 4918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F4BFF4A3-4437-432C-A5B7-D423F7CC8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719" y="2330505"/>
            <a:ext cx="5278066" cy="3979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+mn-lt"/>
                <a:cs typeface="+mn-cs"/>
              </a:rPr>
              <a:t>There are a bunch of control flags:</a:t>
            </a:r>
            <a:endParaRPr lang="en-US" sz="2000">
              <a:solidFill>
                <a:schemeClr val="tx1"/>
              </a:solidFill>
              <a:latin typeface="+mn-lt"/>
              <a:cs typeface="+mn-cs"/>
            </a:endParaRP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+mn-lt"/>
                <a:cs typeface="+mn-cs"/>
              </a:rPr>
              <a:t>URG: urgent data included.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+mn-lt"/>
                <a:cs typeface="+mn-cs"/>
              </a:rPr>
              <a:t>ACK: this segment is (among other things) an acknowledgement.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+mn-lt"/>
                <a:cs typeface="+mn-cs"/>
              </a:rPr>
              <a:t>RST: error - abort the session.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+mn-lt"/>
                <a:cs typeface="+mn-cs"/>
              </a:rPr>
              <a:t>SYN: synchronize Sequence Numbers (setup)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+mn-lt"/>
                <a:cs typeface="+mn-cs"/>
              </a:rPr>
              <a:t>FIN: polite connection termination.</a:t>
            </a:r>
          </a:p>
        </p:txBody>
      </p:sp>
      <p:sp>
        <p:nvSpPr>
          <p:cNvPr id="49191" name="Rectangle 49190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93" name="Rectangle 4919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BB7ABE-FAA1-5408-7930-E5C30B153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423" y="895822"/>
            <a:ext cx="4397433" cy="1890895"/>
          </a:xfrm>
          <a:prstGeom prst="rect">
            <a:avLst/>
          </a:prstGeom>
        </p:spPr>
      </p:pic>
      <p:sp>
        <p:nvSpPr>
          <p:cNvPr id="49195" name="Rectangle 49194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51DBAD-B5C1-0146-9A0A-AD78918A4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103" y="3707894"/>
            <a:ext cx="3462208" cy="2518756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>
            <a:extLst>
              <a:ext uri="{FF2B5EF4-FFF2-40B4-BE49-F238E27FC236}">
                <a16:creationId xmlns:a16="http://schemas.microsoft.com/office/drawing/2014/main" id="{22523C56-1721-4E00-85F2-7885BC1F9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29" y="629266"/>
            <a:ext cx="3505495" cy="16223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44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TCP Segment:</a:t>
            </a:r>
            <a:br>
              <a:rPr lang="en-US" altLang="en-US" sz="44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en-US" sz="4400" u="sng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Synchronise</a:t>
            </a:r>
            <a:endParaRPr lang="en-US" altLang="en-US" sz="4400" u="sng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7107" name="Text Box 3">
            <a:extLst>
              <a:ext uri="{FF2B5EF4-FFF2-40B4-BE49-F238E27FC236}">
                <a16:creationId xmlns:a16="http://schemas.microsoft.com/office/drawing/2014/main" id="{B97FC32D-E98A-45C6-92CA-0427DE1B5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31" y="2438400"/>
            <a:ext cx="3505494" cy="37854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latin typeface="+mn-lt"/>
                <a:cs typeface="+mn-cs"/>
              </a:rPr>
              <a:t>When a client requests a connection, it sends a “SYN” segment (a special TCP segment) to the server port.</a:t>
            </a:r>
          </a:p>
          <a:p>
            <a:pPr marL="1030287" lvl="2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latin typeface="+mn-lt"/>
                <a:cs typeface="+mn-cs"/>
              </a:rPr>
              <a:t>SYN stands for </a:t>
            </a:r>
            <a:r>
              <a:rPr lang="en-US" altLang="en-US" sz="1400" i="1" dirty="0">
                <a:solidFill>
                  <a:schemeClr val="tx1"/>
                </a:solidFill>
                <a:latin typeface="+mn-lt"/>
                <a:cs typeface="+mn-cs"/>
              </a:rPr>
              <a:t>synchronize</a:t>
            </a:r>
            <a:r>
              <a:rPr lang="en-US" altLang="en-US" sz="1400" dirty="0">
                <a:solidFill>
                  <a:schemeClr val="tx1"/>
                </a:solidFill>
                <a:latin typeface="+mn-lt"/>
                <a:cs typeface="+mn-cs"/>
              </a:rPr>
              <a:t>. The SYN message includes the client’s ISN. ISN is Initial Sequence Number.</a:t>
            </a: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latin typeface="+mn-lt"/>
                <a:cs typeface="+mn-cs"/>
              </a:rPr>
              <a:t>Every TCP segment includes a </a:t>
            </a:r>
            <a:r>
              <a:rPr lang="en-US" altLang="en-US" sz="1400" i="1" dirty="0">
                <a:solidFill>
                  <a:schemeClr val="tx1"/>
                </a:solidFill>
                <a:latin typeface="+mn-lt"/>
                <a:cs typeface="+mn-cs"/>
              </a:rPr>
              <a:t>Sequence Number</a:t>
            </a:r>
            <a:r>
              <a:rPr lang="en-US" altLang="en-US" sz="1400" dirty="0">
                <a:solidFill>
                  <a:schemeClr val="tx1"/>
                </a:solidFill>
                <a:latin typeface="+mn-lt"/>
                <a:cs typeface="+mn-cs"/>
              </a:rPr>
              <a:t> that refers to the first byte of </a:t>
            </a:r>
            <a:r>
              <a:rPr lang="en-US" altLang="en-US" sz="1400" i="1" dirty="0">
                <a:solidFill>
                  <a:schemeClr val="tx1"/>
                </a:solidFill>
                <a:latin typeface="+mn-lt"/>
                <a:cs typeface="+mn-cs"/>
              </a:rPr>
              <a:t>data</a:t>
            </a:r>
            <a:r>
              <a:rPr lang="en-US" altLang="en-US" sz="1400" dirty="0">
                <a:solidFill>
                  <a:schemeClr val="tx1"/>
                </a:solidFill>
                <a:latin typeface="+mn-lt"/>
                <a:cs typeface="+mn-cs"/>
              </a:rPr>
              <a:t> included in the segment.</a:t>
            </a: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latin typeface="+mn-lt"/>
                <a:cs typeface="+mn-cs"/>
              </a:rPr>
              <a:t>Every TCP segment includes a </a:t>
            </a:r>
            <a:r>
              <a:rPr lang="en-US" altLang="en-US" sz="1400" i="1" dirty="0">
                <a:solidFill>
                  <a:schemeClr val="tx1"/>
                </a:solidFill>
                <a:latin typeface="+mn-lt"/>
                <a:cs typeface="+mn-cs"/>
              </a:rPr>
              <a:t>Request Number</a:t>
            </a:r>
            <a:r>
              <a:rPr lang="en-US" altLang="en-US" sz="1400" dirty="0">
                <a:solidFill>
                  <a:schemeClr val="tx1"/>
                </a:solidFill>
                <a:latin typeface="+mn-lt"/>
                <a:cs typeface="+mn-cs"/>
              </a:rPr>
              <a:t> (</a:t>
            </a:r>
            <a:r>
              <a:rPr lang="en-US" altLang="en-US" sz="1400" i="1" dirty="0">
                <a:solidFill>
                  <a:schemeClr val="tx1"/>
                </a:solidFill>
                <a:latin typeface="+mn-lt"/>
                <a:cs typeface="+mn-cs"/>
              </a:rPr>
              <a:t>Acknowledgement Number</a:t>
            </a:r>
            <a:r>
              <a:rPr lang="en-US" altLang="en-US" sz="1400" dirty="0">
                <a:solidFill>
                  <a:schemeClr val="tx1"/>
                </a:solidFill>
                <a:latin typeface="+mn-lt"/>
                <a:cs typeface="+mn-cs"/>
              </a:rPr>
              <a:t>) that indicates the byte number of the next data that is expected to be received.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latin typeface="+mn-lt"/>
                <a:cs typeface="+mn-cs"/>
              </a:rPr>
              <a:t>All bytes up through this number have already been received.</a:t>
            </a:r>
          </a:p>
          <a:p>
            <a:pPr marL="573087" lvl="1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chemeClr val="tx1"/>
              </a:solidFill>
              <a:latin typeface="+mn-lt"/>
              <a:cs typeface="+mn-cs"/>
            </a:endParaRPr>
          </a:p>
        </p:txBody>
      </p:sp>
      <p:sp>
        <p:nvSpPr>
          <p:cNvPr id="47119" name="Rectangle 47118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21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C49A6E-AA46-7CED-050D-8F82D73E2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862" y="1313087"/>
            <a:ext cx="6019331" cy="4228579"/>
          </a:xfrm>
          <a:prstGeom prst="rect">
            <a:avLst/>
          </a:prstGeom>
          <a:effectLst/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3800461-4CC6-5FAF-E146-6CE1DE7006AB}"/>
              </a:ext>
            </a:extLst>
          </p:cNvPr>
          <p:cNvGrpSpPr/>
          <p:nvPr/>
        </p:nvGrpSpPr>
        <p:grpSpPr>
          <a:xfrm>
            <a:off x="3552449" y="3366443"/>
            <a:ext cx="2813760" cy="1852200"/>
            <a:chOff x="3552449" y="3366443"/>
            <a:chExt cx="2813760" cy="185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EEF88F7-4650-8C3B-3751-3B8950E2AD1A}"/>
                    </a:ext>
                  </a:extLst>
                </p14:cNvPr>
                <p14:cNvContentPartPr/>
                <p14:nvPr/>
              </p14:nvContentPartPr>
              <p14:xfrm>
                <a:off x="3552449" y="3366443"/>
                <a:ext cx="2661120" cy="1695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EEF88F7-4650-8C3B-3751-3B8950E2AD1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34809" y="3348443"/>
                  <a:ext cx="2696760" cy="173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618E4A3-1C3A-1EC4-65D5-50ACD3281BB3}"/>
                    </a:ext>
                  </a:extLst>
                </p14:cNvPr>
                <p14:cNvContentPartPr/>
                <p14:nvPr/>
              </p14:nvContentPartPr>
              <p14:xfrm>
                <a:off x="6121049" y="4961963"/>
                <a:ext cx="245160" cy="256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618E4A3-1C3A-1EC4-65D5-50ACD3281B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03409" y="4944323"/>
                  <a:ext cx="280800" cy="29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6360589-93E1-A5CF-7E14-C80AE2F43A7E}"/>
                  </a:ext>
                </a:extLst>
              </p14:cNvPr>
              <p14:cNvContentPartPr/>
              <p14:nvPr/>
            </p14:nvContentPartPr>
            <p14:xfrm>
              <a:off x="4115489" y="3174563"/>
              <a:ext cx="1382760" cy="2028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6360589-93E1-A5CF-7E14-C80AE2F43A7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97849" y="3156563"/>
                <a:ext cx="1418400" cy="20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1F5A29E-4A0D-7704-7BE1-26A9DEE3C230}"/>
                  </a:ext>
                </a:extLst>
              </p14:cNvPr>
              <p14:cNvContentPartPr/>
              <p14:nvPr/>
            </p14:nvContentPartPr>
            <p14:xfrm>
              <a:off x="5435249" y="3075203"/>
              <a:ext cx="137880" cy="231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1F5A29E-4A0D-7704-7BE1-26A9DEE3C23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17249" y="3057563"/>
                <a:ext cx="173520" cy="26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3E0D0A6B-1CCE-0773-EB47-FE6EF8D6B498}"/>
              </a:ext>
            </a:extLst>
          </p:cNvPr>
          <p:cNvGrpSpPr/>
          <p:nvPr/>
        </p:nvGrpSpPr>
        <p:grpSpPr>
          <a:xfrm>
            <a:off x="3790409" y="2395570"/>
            <a:ext cx="2049891" cy="2062393"/>
            <a:chOff x="3790409" y="2395570"/>
            <a:chExt cx="2049891" cy="206239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7EFD790-EAA9-D38C-766F-15DBEC6704D2}"/>
                    </a:ext>
                  </a:extLst>
                </p14:cNvPr>
                <p14:cNvContentPartPr/>
                <p14:nvPr/>
              </p14:nvContentPartPr>
              <p14:xfrm>
                <a:off x="3790409" y="2689643"/>
                <a:ext cx="1562040" cy="1768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7EFD790-EAA9-D38C-766F-15DBEC6704D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72769" y="2671643"/>
                  <a:ext cx="1597680" cy="180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49A93BD-D212-BCEC-1B82-A464748923F4}"/>
                    </a:ext>
                  </a:extLst>
                </p14:cNvPr>
                <p14:cNvContentPartPr/>
                <p14:nvPr/>
              </p14:nvContentPartPr>
              <p14:xfrm>
                <a:off x="5253809" y="2587043"/>
                <a:ext cx="203040" cy="259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49A93BD-D212-BCEC-1B82-A464748923F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35809" y="2569043"/>
                  <a:ext cx="2386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FF713A1-C4DC-CE96-EEA6-40C84520587A}"/>
                    </a:ext>
                  </a:extLst>
                </p14:cNvPr>
                <p14:cNvContentPartPr/>
                <p14:nvPr/>
              </p14:nvContentPartPr>
              <p14:xfrm>
                <a:off x="5614580" y="2395570"/>
                <a:ext cx="225720" cy="376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FF713A1-C4DC-CE96-EEA6-40C84520587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596940" y="2377570"/>
                  <a:ext cx="261360" cy="412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184" name="Rectangle 5018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178" name="Text Box 2">
            <a:extLst>
              <a:ext uri="{FF2B5EF4-FFF2-40B4-BE49-F238E27FC236}">
                <a16:creationId xmlns:a16="http://schemas.microsoft.com/office/drawing/2014/main" id="{3B00C0C0-6FB1-4458-80EC-62FF8DD97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65125"/>
            <a:ext cx="10515600" cy="13255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 fontScale="92500"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TCP Segment:  Segment Size &amp; Window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018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179" name="Text Box 3">
            <a:extLst>
              <a:ext uri="{FF2B5EF4-FFF2-40B4-BE49-F238E27FC236}">
                <a16:creationId xmlns:a16="http://schemas.microsoft.com/office/drawing/2014/main" id="{E91B8548-6C5F-46C9-9C49-F23D5693C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+mn-lt"/>
                <a:cs typeface="+mn-cs"/>
              </a:rPr>
              <a:t>MSS: Maximum segment size (A TCP option)</a:t>
            </a:r>
            <a:r>
              <a:rPr lang="en-GB" altLang="en-US" sz="2200" dirty="0">
                <a:solidFill>
                  <a:schemeClr val="tx1"/>
                </a:solidFill>
                <a:latin typeface="+mn-lt"/>
                <a:cs typeface="+mn-cs"/>
              </a:rPr>
              <a:t> is the largest amount of data, in bytes, that a device can receive in a single TCP segment, not including the TCP header or the IP header</a:t>
            </a:r>
            <a:r>
              <a:rPr lang="en-US" altLang="en-US" sz="2200" dirty="0">
                <a:solidFill>
                  <a:schemeClr val="tx1"/>
                </a:solidFill>
                <a:latin typeface="+mn-lt"/>
                <a:cs typeface="+mn-cs"/>
              </a:rPr>
              <a:t> </a:t>
            </a:r>
          </a:p>
          <a:p>
            <a:pPr marL="1030287" lvl="2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GB" altLang="en-US" sz="2200" dirty="0">
                <a:solidFill>
                  <a:schemeClr val="tx1"/>
                </a:solidFill>
                <a:latin typeface="+mn-lt"/>
                <a:cs typeface="+mn-cs"/>
              </a:rPr>
              <a:t>The default TCP Maximum Segment Size is 536</a:t>
            </a:r>
          </a:p>
          <a:p>
            <a:pPr marL="1030287" lvl="2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GB" altLang="en-US" sz="2200" dirty="0">
                <a:solidFill>
                  <a:schemeClr val="tx1"/>
                </a:solidFill>
                <a:latin typeface="+mn-lt"/>
                <a:cs typeface="+mn-cs"/>
              </a:rPr>
              <a:t>A host can set the MSS to a value other than the default in the TCP SYN . The value cannot be changed after the connection is established</a:t>
            </a:r>
            <a:endParaRPr lang="en-US" altLang="en-US" sz="220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+mn-lt"/>
                <a:cs typeface="+mn-cs"/>
              </a:rPr>
              <a:t>Window: Window Size</a:t>
            </a:r>
          </a:p>
          <a:p>
            <a:pPr marL="1030287" lvl="2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+mn-lt"/>
                <a:cs typeface="+mn-cs"/>
              </a:rPr>
              <a:t>tells the sender how many bytes it can send before the receiver will have to toss it away (due to the buffer </a:t>
            </a:r>
            <a:r>
              <a:rPr lang="en-US" altLang="en-US" sz="2200" dirty="0" err="1">
                <a:solidFill>
                  <a:schemeClr val="tx1"/>
                </a:solidFill>
                <a:latin typeface="+mn-lt"/>
                <a:cs typeface="+mn-cs"/>
              </a:rPr>
              <a:t>bing</a:t>
            </a:r>
            <a:r>
              <a:rPr lang="en-US" altLang="en-US" sz="2200" dirty="0">
                <a:solidFill>
                  <a:schemeClr val="tx1"/>
                </a:solidFill>
                <a:latin typeface="+mn-lt"/>
                <a:cs typeface="+mn-cs"/>
              </a:rPr>
              <a:t> full).</a:t>
            </a:r>
          </a:p>
          <a:p>
            <a:pPr marL="1030287" lvl="2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GB" altLang="en-US" sz="2200" dirty="0">
                <a:solidFill>
                  <a:schemeClr val="tx1"/>
                </a:solidFill>
                <a:latin typeface="+mn-lt"/>
                <a:cs typeface="+mn-cs"/>
              </a:rPr>
              <a:t>used by the receiver to indicate to the sender, the amount of data that it can accept</a:t>
            </a:r>
            <a:endParaRPr lang="en-US" altLang="en-US" sz="220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340995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endParaRPr lang="en-US" altLang="en-US" sz="2200" dirty="0">
              <a:solidFill>
                <a:schemeClr val="tx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08" name="Rectangle 5120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02" name="Text Box 2">
            <a:extLst>
              <a:ext uri="{FF2B5EF4-FFF2-40B4-BE49-F238E27FC236}">
                <a16:creationId xmlns:a16="http://schemas.microsoft.com/office/drawing/2014/main" id="{0CCB78F0-2389-4ECB-9FE3-6DCDFC93A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65125"/>
            <a:ext cx="10515600" cy="13255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54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TCP Connection Creation</a:t>
            </a:r>
          </a:p>
        </p:txBody>
      </p:sp>
      <p:sp>
        <p:nvSpPr>
          <p:cNvPr id="512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03" name="Text Box 3">
            <a:extLst>
              <a:ext uri="{FF2B5EF4-FFF2-40B4-BE49-F238E27FC236}">
                <a16:creationId xmlns:a16="http://schemas.microsoft.com/office/drawing/2014/main" id="{79440DE1-1888-420F-894D-E98C6E47B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Programming details later - for now we are concerned with the actual communication.</a:t>
            </a:r>
            <a:endParaRPr lang="en-US" sz="22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endParaRPr lang="en-US" altLang="en-US" sz="22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A </a:t>
            </a:r>
            <a:r>
              <a:rPr lang="en-US" altLang="en-US" sz="2200" i="1">
                <a:solidFill>
                  <a:schemeClr val="tx1"/>
                </a:solidFill>
                <a:latin typeface="+mn-lt"/>
                <a:cs typeface="+mn-cs"/>
              </a:rPr>
              <a:t>server</a:t>
            </a: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 accepts a connection.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Must be looking for new connections!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endParaRPr lang="en-US" altLang="en-US" sz="22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A </a:t>
            </a:r>
            <a:r>
              <a:rPr lang="en-US" altLang="en-US" sz="2200" i="1">
                <a:solidFill>
                  <a:schemeClr val="tx1"/>
                </a:solidFill>
                <a:latin typeface="+mn-lt"/>
                <a:cs typeface="+mn-cs"/>
              </a:rPr>
              <a:t>client</a:t>
            </a: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 requests a connection.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Must </a:t>
            </a:r>
            <a:r>
              <a:rPr lang="en-US" altLang="en-US" sz="2200" i="1">
                <a:solidFill>
                  <a:schemeClr val="tx1"/>
                </a:solidFill>
                <a:latin typeface="+mn-lt"/>
                <a:cs typeface="+mn-cs"/>
              </a:rPr>
              <a:t>know</a:t>
            </a: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 where the server is!</a:t>
            </a:r>
          </a:p>
          <a:p>
            <a:pPr marL="340995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endParaRPr lang="en-US" altLang="en-US" sz="2200">
              <a:solidFill>
                <a:schemeClr val="tx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232" name="Rectangle 5223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26" name="Text Box 2">
            <a:extLst>
              <a:ext uri="{FF2B5EF4-FFF2-40B4-BE49-F238E27FC236}">
                <a16:creationId xmlns:a16="http://schemas.microsoft.com/office/drawing/2014/main" id="{274F0DC4-50DA-4260-A7F3-3B28BF11A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65125"/>
            <a:ext cx="10515600" cy="13255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54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Client Starts</a:t>
            </a:r>
          </a:p>
        </p:txBody>
      </p:sp>
      <p:sp>
        <p:nvSpPr>
          <p:cNvPr id="5223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27" name="Text Box 3">
            <a:extLst>
              <a:ext uri="{FF2B5EF4-FFF2-40B4-BE49-F238E27FC236}">
                <a16:creationId xmlns:a16="http://schemas.microsoft.com/office/drawing/2014/main" id="{01047816-C8B3-4FA3-B76B-77898CF0F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18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A client starts by sending a SYN segment with the following information:</a:t>
            </a:r>
            <a:endParaRPr lang="en-US" sz="2200">
              <a:solidFill>
                <a:schemeClr val="tx1"/>
              </a:solidFill>
              <a:latin typeface="+mn-lt"/>
              <a:cs typeface="+mn-cs"/>
            </a:endParaRPr>
          </a:p>
          <a:p>
            <a:pPr marL="800100" lvl="1" indent="-228600">
              <a:lnSpc>
                <a:spcPct val="90000"/>
              </a:lnSpc>
              <a:spcBef>
                <a:spcPts val="18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Client’s ISN (generated pseudo-randomly)</a:t>
            </a:r>
          </a:p>
          <a:p>
            <a:pPr marL="800100" lvl="1" indent="-228600">
              <a:lnSpc>
                <a:spcPct val="90000"/>
              </a:lnSpc>
              <a:spcBef>
                <a:spcPts val="18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Maximum Receive Window for client.</a:t>
            </a:r>
          </a:p>
          <a:p>
            <a:pPr marL="800100" lvl="1" indent="-228600">
              <a:lnSpc>
                <a:spcPct val="90000"/>
              </a:lnSpc>
              <a:spcBef>
                <a:spcPts val="18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Optionally (but usually) MSS (largest segment accepted).</a:t>
            </a:r>
          </a:p>
          <a:p>
            <a:pPr marL="800100" lvl="1" indent="-228600">
              <a:lnSpc>
                <a:spcPct val="90000"/>
              </a:lnSpc>
              <a:spcBef>
                <a:spcPts val="18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No payload! (Only TCP headers)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256" name="Rectangle 5325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250" name="Text Box 2">
            <a:extLst>
              <a:ext uri="{FF2B5EF4-FFF2-40B4-BE49-F238E27FC236}">
                <a16:creationId xmlns:a16="http://schemas.microsoft.com/office/drawing/2014/main" id="{06EDD211-B37C-43E0-AAD6-DCAF6D536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65125"/>
            <a:ext cx="10515600" cy="13255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54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Sever Response</a:t>
            </a:r>
          </a:p>
        </p:txBody>
      </p:sp>
      <p:sp>
        <p:nvSpPr>
          <p:cNvPr id="5325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251" name="Text Box 3">
            <a:extLst>
              <a:ext uri="{FF2B5EF4-FFF2-40B4-BE49-F238E27FC236}">
                <a16:creationId xmlns:a16="http://schemas.microsoft.com/office/drawing/2014/main" id="{5C4F9391-B5D7-4780-BAE5-9D8FE5B3B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18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+mn-lt"/>
                <a:cs typeface="+mn-cs"/>
              </a:rPr>
              <a:t>When a waiting server sees a new connection request, the server sends back a SYN segment with:</a:t>
            </a:r>
            <a:endParaRPr lang="en-US" sz="220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800100" lvl="1" indent="-228600">
              <a:lnSpc>
                <a:spcPct val="90000"/>
              </a:lnSpc>
              <a:spcBef>
                <a:spcPts val="18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+mn-lt"/>
                <a:cs typeface="+mn-cs"/>
              </a:rPr>
              <a:t>Server’s ISN (generated pseudo-randomly)</a:t>
            </a:r>
          </a:p>
          <a:p>
            <a:pPr marL="800100" lvl="1" indent="-228600">
              <a:lnSpc>
                <a:spcPct val="90000"/>
              </a:lnSpc>
              <a:spcBef>
                <a:spcPts val="18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+mn-lt"/>
                <a:cs typeface="+mn-cs"/>
              </a:rPr>
              <a:t>Acknowledgement Number is Client ISN+1</a:t>
            </a:r>
          </a:p>
          <a:p>
            <a:pPr marL="800100" lvl="1" indent="-228600">
              <a:lnSpc>
                <a:spcPct val="90000"/>
              </a:lnSpc>
              <a:spcBef>
                <a:spcPts val="18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+mn-lt"/>
                <a:cs typeface="+mn-cs"/>
              </a:rPr>
              <a:t>Maximum Receive Window for server.</a:t>
            </a:r>
          </a:p>
          <a:p>
            <a:pPr marL="800100" lvl="1" indent="-228600">
              <a:lnSpc>
                <a:spcPct val="90000"/>
              </a:lnSpc>
              <a:spcBef>
                <a:spcPts val="18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+mn-lt"/>
                <a:cs typeface="+mn-cs"/>
              </a:rPr>
              <a:t>Optionally (but usually) MSS </a:t>
            </a:r>
          </a:p>
          <a:p>
            <a:pPr marL="800100" lvl="1" indent="-228600">
              <a:lnSpc>
                <a:spcPct val="90000"/>
              </a:lnSpc>
              <a:spcBef>
                <a:spcPts val="18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+mn-lt"/>
                <a:cs typeface="+mn-cs"/>
              </a:rPr>
              <a:t>No payload! (Only TCP headers)</a:t>
            </a:r>
          </a:p>
          <a:p>
            <a:pPr marL="741045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endParaRPr lang="en-US" altLang="en-US" sz="2200" dirty="0">
              <a:solidFill>
                <a:schemeClr val="tx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280" name="Rectangle 5427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274" name="Text Box 2">
            <a:extLst>
              <a:ext uri="{FF2B5EF4-FFF2-40B4-BE49-F238E27FC236}">
                <a16:creationId xmlns:a16="http://schemas.microsoft.com/office/drawing/2014/main" id="{47BA39A3-45C2-42E7-8A94-84A157A87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65125"/>
            <a:ext cx="10515600" cy="13255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54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Finally</a:t>
            </a:r>
          </a:p>
        </p:txBody>
      </p:sp>
      <p:sp>
        <p:nvSpPr>
          <p:cNvPr id="5428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275" name="Text Box 3">
            <a:extLst>
              <a:ext uri="{FF2B5EF4-FFF2-40B4-BE49-F238E27FC236}">
                <a16:creationId xmlns:a16="http://schemas.microsoft.com/office/drawing/2014/main" id="{66346EDE-6D58-4DED-AD94-88518FCA3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18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+mn-lt"/>
                <a:cs typeface="+mn-cs"/>
              </a:rPr>
              <a:t>When the Server’s SYN is received, the client sends back an ACK with:</a:t>
            </a:r>
            <a:endParaRPr lang="en-US" sz="220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800100" lvl="1" indent="-228600">
              <a:lnSpc>
                <a:spcPct val="90000"/>
              </a:lnSpc>
              <a:spcBef>
                <a:spcPts val="18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+mn-lt"/>
                <a:cs typeface="+mn-cs"/>
              </a:rPr>
              <a:t>Acknowledgement Number is Server’s ISN+1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Line 2">
            <a:extLst>
              <a:ext uri="{FF2B5EF4-FFF2-40B4-BE49-F238E27FC236}">
                <a16:creationId xmlns:a16="http://schemas.microsoft.com/office/drawing/2014/main" id="{50920B45-ED31-45B9-822E-A12A9EBD61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7475" y="1066800"/>
            <a:ext cx="1588" cy="5029200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55299" name="Text Box 3">
            <a:extLst>
              <a:ext uri="{FF2B5EF4-FFF2-40B4-BE49-F238E27FC236}">
                <a16:creationId xmlns:a16="http://schemas.microsoft.com/office/drawing/2014/main" id="{D5726AAD-7311-4B90-A354-ED72E86B1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323851"/>
            <a:ext cx="12446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/>
              <a:t>Client</a:t>
            </a:r>
          </a:p>
        </p:txBody>
      </p:sp>
      <p:sp>
        <p:nvSpPr>
          <p:cNvPr id="55300" name="Line 4">
            <a:extLst>
              <a:ext uri="{FF2B5EF4-FFF2-40B4-BE49-F238E27FC236}">
                <a16:creationId xmlns:a16="http://schemas.microsoft.com/office/drawing/2014/main" id="{7F75E807-AF2E-45FA-9674-EDE22E3E9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9550" y="1047750"/>
            <a:ext cx="1588" cy="5029200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55301" name="Text Box 5">
            <a:extLst>
              <a:ext uri="{FF2B5EF4-FFF2-40B4-BE49-F238E27FC236}">
                <a16:creationId xmlns:a16="http://schemas.microsoft.com/office/drawing/2014/main" id="{1A036717-B963-4509-97AC-2351CFE63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1" y="304801"/>
            <a:ext cx="133667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/>
              <a:t>Server</a:t>
            </a:r>
          </a:p>
        </p:txBody>
      </p:sp>
      <p:grpSp>
        <p:nvGrpSpPr>
          <p:cNvPr id="55302" name="Group 6">
            <a:extLst>
              <a:ext uri="{FF2B5EF4-FFF2-40B4-BE49-F238E27FC236}">
                <a16:creationId xmlns:a16="http://schemas.microsoft.com/office/drawing/2014/main" id="{A1F9C549-E30F-4353-B739-08E39842C0B6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1143001"/>
            <a:ext cx="6399213" cy="989013"/>
            <a:chOff x="720" y="720"/>
            <a:chExt cx="4031" cy="623"/>
          </a:xfrm>
        </p:grpSpPr>
        <p:sp>
          <p:nvSpPr>
            <p:cNvPr id="55303" name="Line 7">
              <a:extLst>
                <a:ext uri="{FF2B5EF4-FFF2-40B4-BE49-F238E27FC236}">
                  <a16:creationId xmlns:a16="http://schemas.microsoft.com/office/drawing/2014/main" id="{0E2B38C8-FE04-4C6F-B086-31E6B712C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768"/>
              <a:ext cx="4031" cy="575"/>
            </a:xfrm>
            <a:prstGeom prst="line">
              <a:avLst/>
            </a:prstGeom>
            <a:noFill/>
            <a:ln w="7632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5304" name="Rectangle 8">
              <a:extLst>
                <a:ext uri="{FF2B5EF4-FFF2-40B4-BE49-F238E27FC236}">
                  <a16:creationId xmlns:a16="http://schemas.microsoft.com/office/drawing/2014/main" id="{57358441-A18F-480D-BFD4-3713756D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720"/>
              <a:ext cx="1727" cy="575"/>
            </a:xfrm>
            <a:prstGeom prst="rect">
              <a:avLst/>
            </a:prstGeom>
            <a:solidFill>
              <a:srgbClr val="FFFFFF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>
              <a:outerShdw dist="107933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/>
                <a:t>SYN</a:t>
              </a:r>
            </a:p>
            <a:p>
              <a:pPr algn="ctr">
                <a:buClrTx/>
                <a:buFontTx/>
                <a:buNone/>
              </a:pPr>
              <a:r>
                <a:rPr lang="en-US" altLang="en-US" sz="2400"/>
                <a:t>ISN=</a:t>
              </a:r>
              <a:r>
                <a:rPr lang="en-US" altLang="en-US" sz="2400" b="1" i="1"/>
                <a:t>X</a:t>
              </a:r>
            </a:p>
          </p:txBody>
        </p:sp>
        <p:sp>
          <p:nvSpPr>
            <p:cNvPr id="55305" name="Oval 9">
              <a:extLst>
                <a:ext uri="{FF2B5EF4-FFF2-40B4-BE49-F238E27FC236}">
                  <a16:creationId xmlns:a16="http://schemas.microsoft.com/office/drawing/2014/main" id="{DCB42A5A-C7DA-4E8C-B7F6-8F03BCD6F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68"/>
              <a:ext cx="287" cy="287"/>
            </a:xfrm>
            <a:prstGeom prst="ellipse">
              <a:avLst/>
            </a:prstGeom>
            <a:solidFill>
              <a:srgbClr val="000000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 b="1">
                  <a:solidFill>
                    <a:srgbClr val="FFFFFF"/>
                  </a:solidFill>
                </a:rPr>
                <a:t>1</a:t>
              </a:r>
            </a:p>
          </p:txBody>
        </p:sp>
      </p:grpSp>
      <p:grpSp>
        <p:nvGrpSpPr>
          <p:cNvPr id="55306" name="Group 10">
            <a:extLst>
              <a:ext uri="{FF2B5EF4-FFF2-40B4-BE49-F238E27FC236}">
                <a16:creationId xmlns:a16="http://schemas.microsoft.com/office/drawing/2014/main" id="{8C4CF3A1-4E04-4107-A591-02498A5DDF1E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2743201"/>
            <a:ext cx="6399213" cy="950913"/>
            <a:chOff x="720" y="1728"/>
            <a:chExt cx="4031" cy="599"/>
          </a:xfrm>
        </p:grpSpPr>
        <p:sp>
          <p:nvSpPr>
            <p:cNvPr id="55307" name="Line 11">
              <a:extLst>
                <a:ext uri="{FF2B5EF4-FFF2-40B4-BE49-F238E27FC236}">
                  <a16:creationId xmlns:a16="http://schemas.microsoft.com/office/drawing/2014/main" id="{ABF5AAF7-236E-490E-BA74-AE31F463D2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9" y="1728"/>
              <a:ext cx="4033" cy="575"/>
            </a:xfrm>
            <a:prstGeom prst="line">
              <a:avLst/>
            </a:prstGeom>
            <a:noFill/>
            <a:ln w="7632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5308" name="Rectangle 12">
              <a:extLst>
                <a:ext uri="{FF2B5EF4-FFF2-40B4-BE49-F238E27FC236}">
                  <a16:creationId xmlns:a16="http://schemas.microsoft.com/office/drawing/2014/main" id="{7C9BD9AB-92AD-4188-A655-042C60AC1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52"/>
              <a:ext cx="1727" cy="575"/>
            </a:xfrm>
            <a:prstGeom prst="rect">
              <a:avLst/>
            </a:prstGeom>
            <a:solidFill>
              <a:srgbClr val="FFFFFF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>
              <a:outerShdw dist="107933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 dirty="0"/>
                <a:t>SYN</a:t>
              </a:r>
            </a:p>
            <a:p>
              <a:pPr algn="ctr">
                <a:buClrTx/>
                <a:buFontTx/>
                <a:buNone/>
              </a:pPr>
              <a:r>
                <a:rPr lang="en-US" altLang="en-US" sz="2400" dirty="0"/>
                <a:t>ISN=</a:t>
              </a:r>
              <a:r>
                <a:rPr lang="en-US" altLang="en-US" sz="2400" b="1" i="1" dirty="0"/>
                <a:t>Y</a:t>
              </a:r>
              <a:r>
                <a:rPr lang="en-US" altLang="en-US" sz="2400" dirty="0"/>
                <a:t> ACK=</a:t>
              </a:r>
              <a:r>
                <a:rPr lang="en-US" altLang="en-US" sz="2400" b="1" i="1" dirty="0"/>
                <a:t>X</a:t>
              </a:r>
              <a:r>
                <a:rPr lang="en-US" altLang="en-US" sz="2400" dirty="0"/>
                <a:t>+1</a:t>
              </a:r>
            </a:p>
          </p:txBody>
        </p:sp>
        <p:sp>
          <p:nvSpPr>
            <p:cNvPr id="55309" name="Oval 13">
              <a:extLst>
                <a:ext uri="{FF2B5EF4-FFF2-40B4-BE49-F238E27FC236}">
                  <a16:creationId xmlns:a16="http://schemas.microsoft.com/office/drawing/2014/main" id="{09791EC6-F223-485C-9A15-4EEF12F2E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776"/>
              <a:ext cx="287" cy="287"/>
            </a:xfrm>
            <a:prstGeom prst="ellipse">
              <a:avLst/>
            </a:prstGeom>
            <a:solidFill>
              <a:srgbClr val="000000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 b="1">
                  <a:solidFill>
                    <a:srgbClr val="FFFFFF"/>
                  </a:solidFill>
                </a:rPr>
                <a:t>2</a:t>
              </a:r>
            </a:p>
          </p:txBody>
        </p:sp>
      </p:grpSp>
      <p:grpSp>
        <p:nvGrpSpPr>
          <p:cNvPr id="55310" name="Group 14">
            <a:extLst>
              <a:ext uri="{FF2B5EF4-FFF2-40B4-BE49-F238E27FC236}">
                <a16:creationId xmlns:a16="http://schemas.microsoft.com/office/drawing/2014/main" id="{D645D36C-EBCB-4E05-92E5-EDCB47812C31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4267201"/>
            <a:ext cx="6399213" cy="1065213"/>
            <a:chOff x="720" y="2688"/>
            <a:chExt cx="4031" cy="671"/>
          </a:xfrm>
        </p:grpSpPr>
        <p:sp>
          <p:nvSpPr>
            <p:cNvPr id="55311" name="Line 15">
              <a:extLst>
                <a:ext uri="{FF2B5EF4-FFF2-40B4-BE49-F238E27FC236}">
                  <a16:creationId xmlns:a16="http://schemas.microsoft.com/office/drawing/2014/main" id="{CD693200-E499-4E17-86E3-27B2815AD7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688"/>
              <a:ext cx="4031" cy="575"/>
            </a:xfrm>
            <a:prstGeom prst="line">
              <a:avLst/>
            </a:prstGeom>
            <a:noFill/>
            <a:ln w="7632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5312" name="Rectangle 16">
              <a:extLst>
                <a:ext uri="{FF2B5EF4-FFF2-40B4-BE49-F238E27FC236}">
                  <a16:creationId xmlns:a16="http://schemas.microsoft.com/office/drawing/2014/main" id="{D03DCF98-78BB-47CA-956A-50B20B6BF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784"/>
              <a:ext cx="1727" cy="575"/>
            </a:xfrm>
            <a:prstGeom prst="rect">
              <a:avLst/>
            </a:prstGeom>
            <a:solidFill>
              <a:srgbClr val="FFFFFF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>
              <a:outerShdw dist="107933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/>
                <a:t>ACK=</a:t>
              </a:r>
              <a:r>
                <a:rPr lang="en-US" altLang="en-US" sz="2400" b="1" i="1"/>
                <a:t>Y</a:t>
              </a:r>
              <a:r>
                <a:rPr lang="en-US" altLang="en-US" sz="2400"/>
                <a:t>+1</a:t>
              </a:r>
            </a:p>
          </p:txBody>
        </p:sp>
        <p:sp>
          <p:nvSpPr>
            <p:cNvPr id="55313" name="Oval 17">
              <a:extLst>
                <a:ext uri="{FF2B5EF4-FFF2-40B4-BE49-F238E27FC236}">
                  <a16:creationId xmlns:a16="http://schemas.microsoft.com/office/drawing/2014/main" id="{B66D29C0-76BD-42F3-8CD5-0A7F4DBED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832"/>
              <a:ext cx="287" cy="287"/>
            </a:xfrm>
            <a:prstGeom prst="ellipse">
              <a:avLst/>
            </a:prstGeom>
            <a:solidFill>
              <a:srgbClr val="000000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 b="1">
                  <a:solidFill>
                    <a:srgbClr val="FFFFFF"/>
                  </a:solidFill>
                </a:rPr>
                <a:t>3</a:t>
              </a:r>
            </a:p>
          </p:txBody>
        </p:sp>
      </p:grpSp>
      <p:sp>
        <p:nvSpPr>
          <p:cNvPr id="55314" name="Text Box 18">
            <a:extLst>
              <a:ext uri="{FF2B5EF4-FFF2-40B4-BE49-F238E27FC236}">
                <a16:creationId xmlns:a16="http://schemas.microsoft.com/office/drawing/2014/main" id="{C32ABE01-9706-4023-892D-457DC6FA8F9E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9605170" y="2740820"/>
            <a:ext cx="80168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/>
              <a:t>time </a:t>
            </a:r>
          </a:p>
        </p:txBody>
      </p:sp>
      <p:sp>
        <p:nvSpPr>
          <p:cNvPr id="55315" name="Line 19">
            <a:extLst>
              <a:ext uri="{FF2B5EF4-FFF2-40B4-BE49-F238E27FC236}">
                <a16:creationId xmlns:a16="http://schemas.microsoft.com/office/drawing/2014/main" id="{B9647623-F679-4B5D-B3D6-A5645858C4A1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9800" y="1981200"/>
            <a:ext cx="1588" cy="19812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328" name="Rectangle 5632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322" name="Text Box 2">
            <a:extLst>
              <a:ext uri="{FF2B5EF4-FFF2-40B4-BE49-F238E27FC236}">
                <a16:creationId xmlns:a16="http://schemas.microsoft.com/office/drawing/2014/main" id="{885C72A6-A49F-4FF6-AEE9-25781D7A9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65125"/>
            <a:ext cx="10515600" cy="13255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54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TCP Data and ACK</a:t>
            </a:r>
          </a:p>
        </p:txBody>
      </p:sp>
      <p:sp>
        <p:nvSpPr>
          <p:cNvPr id="5633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323" name="Text Box 3">
            <a:extLst>
              <a:ext uri="{FF2B5EF4-FFF2-40B4-BE49-F238E27FC236}">
                <a16:creationId xmlns:a16="http://schemas.microsoft.com/office/drawing/2014/main" id="{E1BC9F94-4C4E-4F4C-A0C0-08AE7D275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Once the connection is established, data can be sent. </a:t>
            </a:r>
            <a:endParaRPr lang="en-US" sz="22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endParaRPr lang="en-US" altLang="en-US" sz="22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Each data segment includes a sequence number identifying the first byte in the segment.</a:t>
            </a: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endParaRPr lang="en-US" altLang="en-US" sz="22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Each segment (data or empty) includes a request number indicating what data has been received.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>
            <a:extLst>
              <a:ext uri="{FF2B5EF4-FFF2-40B4-BE49-F238E27FC236}">
                <a16:creationId xmlns:a16="http://schemas.microsoft.com/office/drawing/2014/main" id="{3353AB43-A3CA-426C-9A68-35C02B49E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29" y="629266"/>
            <a:ext cx="3505495" cy="16223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44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TCP Buffers</a:t>
            </a:r>
          </a:p>
        </p:txBody>
      </p:sp>
      <p:sp>
        <p:nvSpPr>
          <p:cNvPr id="57347" name="Text Box 3">
            <a:extLst>
              <a:ext uri="{FF2B5EF4-FFF2-40B4-BE49-F238E27FC236}">
                <a16:creationId xmlns:a16="http://schemas.microsoft.com/office/drawing/2014/main" id="{560F3B03-C782-4DE9-BE0A-3AC6E51A9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31" y="2438400"/>
            <a:ext cx="3505494" cy="37854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tx1"/>
                </a:solidFill>
                <a:latin typeface="+mn-lt"/>
                <a:cs typeface="+mn-cs"/>
              </a:rPr>
              <a:t>The TCP layer doesn’t know when the application will ask for any received data.</a:t>
            </a:r>
            <a:endParaRPr lang="en-US" sz="1400">
              <a:solidFill>
                <a:schemeClr val="tx1"/>
              </a:solidFill>
              <a:latin typeface="+mn-lt"/>
              <a:cs typeface="+mn-cs"/>
            </a:endParaRP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tx1"/>
                </a:solidFill>
                <a:latin typeface="+mn-lt"/>
                <a:cs typeface="+mn-cs"/>
              </a:rPr>
              <a:t>TCP buffers incoming data so it’s ready when we ask for it.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endParaRPr lang="en-US" altLang="en-US" sz="14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tx1"/>
                </a:solidFill>
                <a:latin typeface="+mn-lt"/>
                <a:cs typeface="+mn-cs"/>
              </a:rPr>
              <a:t>Both the client and server allocate buffers to hold incoming and outgoing data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tx1"/>
                </a:solidFill>
                <a:latin typeface="+mn-lt"/>
                <a:cs typeface="+mn-cs"/>
              </a:rPr>
              <a:t>The TCP layer does this.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endParaRPr lang="en-US" altLang="en-US" sz="14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tx1"/>
                </a:solidFill>
                <a:latin typeface="+mn-lt"/>
                <a:cs typeface="+mn-cs"/>
              </a:rPr>
              <a:t>Both the client and server announce with every ACK how much buffer space remains (the Window field in a TCP segment).</a:t>
            </a:r>
          </a:p>
        </p:txBody>
      </p:sp>
      <p:sp>
        <p:nvSpPr>
          <p:cNvPr id="57359" name="Rectangle 57358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61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F68143-6AF8-67EC-E53E-CD706C9ED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862" y="1644151"/>
            <a:ext cx="6019331" cy="3566452"/>
          </a:xfrm>
          <a:prstGeom prst="rect">
            <a:avLst/>
          </a:prstGeom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>
            <a:extLst>
              <a:ext uri="{FF2B5EF4-FFF2-40B4-BE49-F238E27FC236}">
                <a16:creationId xmlns:a16="http://schemas.microsoft.com/office/drawing/2014/main" id="{73E27874-CD4E-4309-936C-75197EAD9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29" y="629266"/>
            <a:ext cx="3505495" cy="16223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44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TCP Send Buffers</a:t>
            </a:r>
          </a:p>
        </p:txBody>
      </p:sp>
      <p:sp>
        <p:nvSpPr>
          <p:cNvPr id="58371" name="Text Box 3">
            <a:extLst>
              <a:ext uri="{FF2B5EF4-FFF2-40B4-BE49-F238E27FC236}">
                <a16:creationId xmlns:a16="http://schemas.microsoft.com/office/drawing/2014/main" id="{4C16124F-AFF6-480C-B0F8-D3A01AB91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31" y="2438400"/>
            <a:ext cx="3505494" cy="37854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700">
                <a:solidFill>
                  <a:schemeClr val="tx1"/>
                </a:solidFill>
                <a:latin typeface="+mn-lt"/>
                <a:cs typeface="+mn-cs"/>
              </a:rPr>
              <a:t>The application gives the TCP layer some data to send.</a:t>
            </a:r>
            <a:endParaRPr lang="en-US" sz="17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endParaRPr lang="en-US" altLang="en-US" sz="17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700">
                <a:solidFill>
                  <a:schemeClr val="tx1"/>
                </a:solidFill>
                <a:latin typeface="+mn-lt"/>
                <a:cs typeface="+mn-cs"/>
              </a:rPr>
              <a:t>The data is put in a send buffer, where it stays until the data is ACK’d.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1700">
                <a:solidFill>
                  <a:schemeClr val="tx1"/>
                </a:solidFill>
                <a:latin typeface="+mn-lt"/>
                <a:cs typeface="+mn-cs"/>
              </a:rPr>
              <a:t>it has to stay, as it might need to be sent again!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endParaRPr lang="en-US" altLang="en-US" sz="17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700">
                <a:solidFill>
                  <a:schemeClr val="tx1"/>
                </a:solidFill>
                <a:latin typeface="+mn-lt"/>
                <a:cs typeface="+mn-cs"/>
              </a:rPr>
              <a:t>The TCP layer won’t accept data from the application unless (or until) there is buffer space.</a:t>
            </a:r>
          </a:p>
        </p:txBody>
      </p:sp>
      <p:sp>
        <p:nvSpPr>
          <p:cNvPr id="58376" name="Rectangle 58375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37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5F97B9-CAAA-D9C2-DDF5-03C83D491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011" y="807593"/>
            <a:ext cx="5227033" cy="5239568"/>
          </a:xfrm>
          <a:prstGeom prst="rect">
            <a:avLst/>
          </a:prstGeom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>
            <a:extLst>
              <a:ext uri="{FF2B5EF4-FFF2-40B4-BE49-F238E27FC236}">
                <a16:creationId xmlns:a16="http://schemas.microsoft.com/office/drawing/2014/main" id="{70239A0F-85B9-4446-A291-ADB2185E0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29" y="629266"/>
            <a:ext cx="3505495" cy="16223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44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Acknowledgements</a:t>
            </a:r>
          </a:p>
        </p:txBody>
      </p:sp>
      <p:sp>
        <p:nvSpPr>
          <p:cNvPr id="59395" name="Text Box 3">
            <a:extLst>
              <a:ext uri="{FF2B5EF4-FFF2-40B4-BE49-F238E27FC236}">
                <a16:creationId xmlns:a16="http://schemas.microsoft.com/office/drawing/2014/main" id="{5D3AFB45-3D66-48B2-A8EF-94057C9B5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31" y="2438400"/>
            <a:ext cx="3505494" cy="37854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+mn-lt"/>
                <a:cs typeface="+mn-cs"/>
              </a:rPr>
              <a:t>A receiver doesn’t have to ACK every segment (it can ACK many segments with a single ACK segment).</a:t>
            </a:r>
            <a:endParaRPr lang="en-US" sz="20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endParaRPr lang="en-US" altLang="en-US" sz="20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+mn-lt"/>
                <a:cs typeface="+mn-cs"/>
              </a:rPr>
              <a:t>Each ACK can also contain outgoing data (piggybacking).</a:t>
            </a: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endParaRPr lang="en-US" altLang="en-US" sz="20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+mn-lt"/>
                <a:cs typeface="+mn-cs"/>
              </a:rPr>
              <a:t>If a sender doesn’t get an ACK after some time limit (MSL) it resends the data.</a:t>
            </a:r>
          </a:p>
        </p:txBody>
      </p:sp>
      <p:sp>
        <p:nvSpPr>
          <p:cNvPr id="59400" name="Rectangle 5939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40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96810A-D336-B3DD-1B83-34B6C413F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862" y="2065504"/>
            <a:ext cx="6019331" cy="2723746"/>
          </a:xfrm>
          <a:prstGeom prst="rect">
            <a:avLst/>
          </a:prstGeom>
          <a:effectLst/>
        </p:spPr>
      </p:pic>
      <p:sp>
        <p:nvSpPr>
          <p:cNvPr id="59393" name="Text Box 1">
            <a:extLst>
              <a:ext uri="{FF2B5EF4-FFF2-40B4-BE49-F238E27FC236}">
                <a16:creationId xmlns:a16="http://schemas.microsoft.com/office/drawing/2014/main" id="{4535BE02-D9AD-47B8-9BD2-1BE71D285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9801" y="6400800"/>
            <a:ext cx="62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t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r">
              <a:buClrTx/>
              <a:buFontTx/>
              <a:buNone/>
            </a:pPr>
            <a:endParaRPr lang="en-US" altLang="en-US" sz="14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>
            <a:extLst>
              <a:ext uri="{FF2B5EF4-FFF2-40B4-BE49-F238E27FC236}">
                <a16:creationId xmlns:a16="http://schemas.microsoft.com/office/drawing/2014/main" id="{607A8B9E-3C9F-4944-BDAA-9C9E14B9F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4000" u="sng">
                <a:solidFill>
                  <a:srgbClr val="3333CC"/>
                </a:solidFill>
                <a:latin typeface="Comic Sans MS" panose="030F0702030302020204" pitchFamily="66" charset="0"/>
              </a:rPr>
              <a:t>TCP Segment Order</a:t>
            </a:r>
          </a:p>
        </p:txBody>
      </p:sp>
      <p:sp>
        <p:nvSpPr>
          <p:cNvPr id="60419" name="Text Box 3">
            <a:extLst>
              <a:ext uri="{FF2B5EF4-FFF2-40B4-BE49-F238E27FC236}">
                <a16:creationId xmlns:a16="http://schemas.microsoft.com/office/drawing/2014/main" id="{8A42D9BD-9D44-413B-ABE0-A60F3807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600200"/>
            <a:ext cx="831215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Most TCP implementations will accept out-of-order segments (if there is room in the buffer).</a:t>
            </a:r>
            <a:endParaRPr lang="en-US" dirty="0">
              <a:latin typeface="+mj-lt"/>
              <a:cs typeface="Times New Roman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 panose="05000000000000000000" pitchFamily="2" charset="2"/>
              <a:buChar char="•"/>
            </a:pPr>
            <a:endParaRPr lang="en-US" altLang="en-US" sz="2400" dirty="0">
              <a:latin typeface="+mj-lt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Once the missing segments arrive, a single ACK can be sent for the whole thing.</a:t>
            </a: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 panose="05000000000000000000" pitchFamily="2" charset="2"/>
              <a:buChar char="•"/>
            </a:pPr>
            <a:endParaRPr lang="en-US" altLang="en-US" sz="2400" dirty="0">
              <a:latin typeface="+mj-lt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Remember: IP delivers TCP segments, and IP in not reliable - IP datagrams can be lost or arrive out of order.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extLst>
              <a:ext uri="{FF2B5EF4-FFF2-40B4-BE49-F238E27FC236}">
                <a16:creationId xmlns:a16="http://schemas.microsoft.com/office/drawing/2014/main" id="{B2468DAC-CF6F-4AA0-A303-45B1988A2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4000" u="sng">
                <a:solidFill>
                  <a:srgbClr val="3333CC"/>
                </a:solidFill>
                <a:latin typeface="+mn-lt"/>
              </a:rPr>
              <a:t>Termination</a:t>
            </a:r>
          </a:p>
        </p:txBody>
      </p:sp>
      <p:sp>
        <p:nvSpPr>
          <p:cNvPr id="61443" name="Text Box 3">
            <a:extLst>
              <a:ext uri="{FF2B5EF4-FFF2-40B4-BE49-F238E27FC236}">
                <a16:creationId xmlns:a16="http://schemas.microsoft.com/office/drawing/2014/main" id="{8426916D-B192-4E1C-AB65-1DF49C981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3965" y="1335157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The TCP layer can send a RST segment that terminates a connection if something is wrong.</a:t>
            </a:r>
          </a:p>
          <a:p>
            <a:pPr marL="1030287" lvl="2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GB" dirty="0">
                <a:cs typeface="Times New Roman"/>
              </a:rPr>
              <a:t>When a non-SYN segment was received for a non-existing TCP connection. </a:t>
            </a:r>
          </a:p>
          <a:p>
            <a:pPr marL="1030287" lvl="2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GB" dirty="0">
                <a:cs typeface="Times New Roman"/>
              </a:rPr>
              <a:t>An invalid header is received. This will prevent attacks by closing the corresponding connection. </a:t>
            </a:r>
          </a:p>
          <a:p>
            <a:pPr marL="1030287" lvl="2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Lack of resources to support the connection</a:t>
            </a:r>
            <a:endParaRPr lang="en-US" altLang="en-US" sz="2800" dirty="0">
              <a:latin typeface="+mn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Usually the application tells TCP to terminate the connection politely with a FIN segment.</a:t>
            </a:r>
            <a:endParaRPr lang="en-US" altLang="en-US" sz="2800" dirty="0">
              <a:latin typeface="+mn-lt"/>
              <a:cs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64D56337-47F3-4050-BD09-CCD916D8E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9801" y="6400800"/>
            <a:ext cx="62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t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r">
              <a:buClrTx/>
              <a:buFontTx/>
              <a:buNone/>
            </a:pPr>
            <a:endParaRPr lang="en-US" altLang="en-US" sz="1400"/>
          </a:p>
        </p:txBody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76A43F0D-491D-4CA1-AC47-127163307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4000" u="sng">
                <a:solidFill>
                  <a:srgbClr val="3333CC"/>
                </a:solidFill>
                <a:latin typeface="+mn-lt"/>
              </a:rPr>
              <a:t>FIN</a:t>
            </a:r>
          </a:p>
        </p:txBody>
      </p:sp>
      <p:sp>
        <p:nvSpPr>
          <p:cNvPr id="62467" name="Text Box 3">
            <a:extLst>
              <a:ext uri="{FF2B5EF4-FFF2-40B4-BE49-F238E27FC236}">
                <a16:creationId xmlns:a16="http://schemas.microsoft.com/office/drawing/2014/main" id="{EC3E2E54-E402-40BB-81D6-D938BDD35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600200"/>
            <a:ext cx="8101013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18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Either end of the connection can initiate termination.</a:t>
            </a:r>
            <a:endParaRPr lang="en-US">
              <a:cs typeface="Times New Roman"/>
            </a:endParaRPr>
          </a:p>
          <a:p>
            <a:pPr marL="457200" indent="-457200">
              <a:spcBef>
                <a:spcPts val="18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A FIN is sent, which means the application is done sending data.</a:t>
            </a:r>
            <a:endParaRPr lang="en-US" altLang="en-US" sz="2800" dirty="0">
              <a:latin typeface="+mn-lt"/>
              <a:cs typeface="Calibri"/>
            </a:endParaRPr>
          </a:p>
          <a:p>
            <a:pPr marL="457200" indent="-457200">
              <a:spcBef>
                <a:spcPts val="18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The FIN is </a:t>
            </a:r>
            <a:r>
              <a:rPr lang="en-US" altLang="en-US" sz="2800" err="1">
                <a:latin typeface="+mn-lt"/>
              </a:rPr>
              <a:t>ACK’d</a:t>
            </a:r>
            <a:r>
              <a:rPr lang="en-US" altLang="en-US" sz="2800" dirty="0">
                <a:latin typeface="+mn-lt"/>
              </a:rPr>
              <a:t>.</a:t>
            </a:r>
            <a:endParaRPr lang="en-US" altLang="en-US" sz="2800" dirty="0">
              <a:latin typeface="+mn-lt"/>
              <a:cs typeface="Calibri"/>
            </a:endParaRPr>
          </a:p>
          <a:p>
            <a:pPr marL="457200" indent="-457200">
              <a:spcBef>
                <a:spcPts val="18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The other end must now send a FIN.</a:t>
            </a:r>
            <a:endParaRPr lang="en-US" altLang="en-US" sz="2800" dirty="0">
              <a:latin typeface="+mn-lt"/>
              <a:cs typeface="Calibri"/>
            </a:endParaRPr>
          </a:p>
          <a:p>
            <a:pPr marL="457200" indent="-457200">
              <a:spcBef>
                <a:spcPts val="18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That FIN must be </a:t>
            </a:r>
            <a:r>
              <a:rPr lang="en-US" altLang="en-US" sz="2800" err="1">
                <a:latin typeface="+mn-lt"/>
              </a:rPr>
              <a:t>ACK’d</a:t>
            </a:r>
            <a:r>
              <a:rPr lang="en-US" altLang="en-US" sz="2800" dirty="0">
                <a:latin typeface="+mn-lt"/>
              </a:rPr>
              <a:t>.</a:t>
            </a:r>
            <a:endParaRPr lang="en-US" altLang="en-US" sz="2800" dirty="0">
              <a:latin typeface="+mn-lt"/>
              <a:cs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ext Box 1">
            <a:extLst>
              <a:ext uri="{FF2B5EF4-FFF2-40B4-BE49-F238E27FC236}">
                <a16:creationId xmlns:a16="http://schemas.microsoft.com/office/drawing/2014/main" id="{EC8777B1-D1C1-4F8F-9BFF-70B15A452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9801" y="6400800"/>
            <a:ext cx="62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t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r">
              <a:buClrTx/>
              <a:buFontTx/>
              <a:buNone/>
            </a:pPr>
            <a:endParaRPr lang="en-US" altLang="en-US" sz="1400"/>
          </a:p>
        </p:txBody>
      </p:sp>
      <p:sp>
        <p:nvSpPr>
          <p:cNvPr id="63490" name="Text Box 2">
            <a:extLst>
              <a:ext uri="{FF2B5EF4-FFF2-40B4-BE49-F238E27FC236}">
                <a16:creationId xmlns:a16="http://schemas.microsoft.com/office/drawing/2014/main" id="{F59ECDF8-F874-44FE-9AA5-422305E12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6" y="323851"/>
            <a:ext cx="113347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/>
              <a:t>App1</a:t>
            </a:r>
          </a:p>
        </p:txBody>
      </p:sp>
      <p:sp>
        <p:nvSpPr>
          <p:cNvPr id="63491" name="Line 3">
            <a:extLst>
              <a:ext uri="{FF2B5EF4-FFF2-40B4-BE49-F238E27FC236}">
                <a16:creationId xmlns:a16="http://schemas.microsoft.com/office/drawing/2014/main" id="{4ABDB243-B143-43EB-A2C7-3FF8AA691086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1066800"/>
            <a:ext cx="1588" cy="5029200"/>
          </a:xfrm>
          <a:prstGeom prst="line">
            <a:avLst/>
          </a:prstGeom>
          <a:noFill/>
          <a:ln w="38160" cap="sq">
            <a:solidFill>
              <a:srgbClr val="00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7F2B9840-FEBA-44A5-A151-02E2D1BDC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1" y="304801"/>
            <a:ext cx="113347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/>
              <a:t>App2</a:t>
            </a:r>
          </a:p>
        </p:txBody>
      </p:sp>
      <p:grpSp>
        <p:nvGrpSpPr>
          <p:cNvPr id="63493" name="Group 5">
            <a:extLst>
              <a:ext uri="{FF2B5EF4-FFF2-40B4-BE49-F238E27FC236}">
                <a16:creationId xmlns:a16="http://schemas.microsoft.com/office/drawing/2014/main" id="{2A2E8CCE-CDC2-42C3-AA09-DB597B053482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1143001"/>
            <a:ext cx="6399213" cy="989013"/>
            <a:chOff x="720" y="720"/>
            <a:chExt cx="4031" cy="623"/>
          </a:xfrm>
        </p:grpSpPr>
        <p:sp>
          <p:nvSpPr>
            <p:cNvPr id="63494" name="Line 6">
              <a:extLst>
                <a:ext uri="{FF2B5EF4-FFF2-40B4-BE49-F238E27FC236}">
                  <a16:creationId xmlns:a16="http://schemas.microsoft.com/office/drawing/2014/main" id="{8D9A64A8-41DC-4D46-B7E8-24D2AFADCC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768"/>
              <a:ext cx="4031" cy="575"/>
            </a:xfrm>
            <a:prstGeom prst="line">
              <a:avLst/>
            </a:prstGeom>
            <a:noFill/>
            <a:ln w="7632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3495" name="Rectangle 7">
              <a:extLst>
                <a:ext uri="{FF2B5EF4-FFF2-40B4-BE49-F238E27FC236}">
                  <a16:creationId xmlns:a16="http://schemas.microsoft.com/office/drawing/2014/main" id="{E221616B-4D3B-4AE1-A0C0-600296DA3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720"/>
              <a:ext cx="1727" cy="575"/>
            </a:xfrm>
            <a:prstGeom prst="rect">
              <a:avLst/>
            </a:prstGeom>
            <a:solidFill>
              <a:srgbClr val="FFFFFF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>
              <a:outerShdw dist="107933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/>
                <a:t>FIN</a:t>
              </a:r>
            </a:p>
            <a:p>
              <a:pPr algn="ctr">
                <a:buClrTx/>
                <a:buFontTx/>
                <a:buNone/>
              </a:pPr>
              <a:r>
                <a:rPr lang="en-US" altLang="en-US" sz="2400"/>
                <a:t>SN=</a:t>
              </a:r>
              <a:r>
                <a:rPr lang="en-US" altLang="en-US" sz="2400" b="1" i="1"/>
                <a:t>X</a:t>
              </a:r>
            </a:p>
          </p:txBody>
        </p:sp>
        <p:sp>
          <p:nvSpPr>
            <p:cNvPr id="63496" name="Oval 8">
              <a:extLst>
                <a:ext uri="{FF2B5EF4-FFF2-40B4-BE49-F238E27FC236}">
                  <a16:creationId xmlns:a16="http://schemas.microsoft.com/office/drawing/2014/main" id="{54B3AE6E-A11C-4581-9864-314D6EB71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68"/>
              <a:ext cx="287" cy="287"/>
            </a:xfrm>
            <a:prstGeom prst="ellipse">
              <a:avLst/>
            </a:prstGeom>
            <a:solidFill>
              <a:srgbClr val="000000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 b="1">
                  <a:solidFill>
                    <a:srgbClr val="FFFFFF"/>
                  </a:solidFill>
                </a:rPr>
                <a:t>1</a:t>
              </a:r>
            </a:p>
          </p:txBody>
        </p:sp>
      </p:grpSp>
      <p:grpSp>
        <p:nvGrpSpPr>
          <p:cNvPr id="63497" name="Group 9">
            <a:extLst>
              <a:ext uri="{FF2B5EF4-FFF2-40B4-BE49-F238E27FC236}">
                <a16:creationId xmlns:a16="http://schemas.microsoft.com/office/drawing/2014/main" id="{3DF756EF-04BF-47DD-9263-34C17380E645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2362201"/>
            <a:ext cx="6399213" cy="950913"/>
            <a:chOff x="720" y="1488"/>
            <a:chExt cx="4031" cy="599"/>
          </a:xfrm>
        </p:grpSpPr>
        <p:sp>
          <p:nvSpPr>
            <p:cNvPr id="63498" name="Line 10">
              <a:extLst>
                <a:ext uri="{FF2B5EF4-FFF2-40B4-BE49-F238E27FC236}">
                  <a16:creationId xmlns:a16="http://schemas.microsoft.com/office/drawing/2014/main" id="{3CF4531A-CA8D-47BE-96F0-025961A771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9" y="1488"/>
              <a:ext cx="4033" cy="575"/>
            </a:xfrm>
            <a:prstGeom prst="line">
              <a:avLst/>
            </a:prstGeom>
            <a:noFill/>
            <a:ln w="7632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3499" name="Rectangle 11">
              <a:extLst>
                <a:ext uri="{FF2B5EF4-FFF2-40B4-BE49-F238E27FC236}">
                  <a16:creationId xmlns:a16="http://schemas.microsoft.com/office/drawing/2014/main" id="{384C4789-5B74-44C9-BE72-BC69AB6FD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12"/>
              <a:ext cx="1727" cy="575"/>
            </a:xfrm>
            <a:prstGeom prst="rect">
              <a:avLst/>
            </a:prstGeom>
            <a:solidFill>
              <a:srgbClr val="FFFFFF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>
              <a:outerShdw dist="107933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/>
                <a:t>ACK=</a:t>
              </a:r>
              <a:r>
                <a:rPr lang="en-US" altLang="en-US" sz="2400" b="1" i="1"/>
                <a:t>X</a:t>
              </a:r>
              <a:r>
                <a:rPr lang="en-US" altLang="en-US" sz="2400"/>
                <a:t>+1</a:t>
              </a:r>
            </a:p>
          </p:txBody>
        </p:sp>
        <p:sp>
          <p:nvSpPr>
            <p:cNvPr id="63500" name="Oval 12">
              <a:extLst>
                <a:ext uri="{FF2B5EF4-FFF2-40B4-BE49-F238E27FC236}">
                  <a16:creationId xmlns:a16="http://schemas.microsoft.com/office/drawing/2014/main" id="{622CC10A-7EDD-477B-AE2D-6C8545D1B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536"/>
              <a:ext cx="287" cy="287"/>
            </a:xfrm>
            <a:prstGeom prst="ellipse">
              <a:avLst/>
            </a:prstGeom>
            <a:solidFill>
              <a:srgbClr val="000000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 b="1">
                  <a:solidFill>
                    <a:srgbClr val="FFFFFF"/>
                  </a:solidFill>
                </a:rPr>
                <a:t>2</a:t>
              </a:r>
            </a:p>
          </p:txBody>
        </p:sp>
      </p:grpSp>
      <p:grpSp>
        <p:nvGrpSpPr>
          <p:cNvPr id="63501" name="Group 13">
            <a:extLst>
              <a:ext uri="{FF2B5EF4-FFF2-40B4-BE49-F238E27FC236}">
                <a16:creationId xmlns:a16="http://schemas.microsoft.com/office/drawing/2014/main" id="{BE906821-FE91-461E-ACFF-FF6B02551859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5029201"/>
            <a:ext cx="6399213" cy="1065213"/>
            <a:chOff x="720" y="3168"/>
            <a:chExt cx="4031" cy="671"/>
          </a:xfrm>
        </p:grpSpPr>
        <p:sp>
          <p:nvSpPr>
            <p:cNvPr id="63502" name="Line 14">
              <a:extLst>
                <a:ext uri="{FF2B5EF4-FFF2-40B4-BE49-F238E27FC236}">
                  <a16:creationId xmlns:a16="http://schemas.microsoft.com/office/drawing/2014/main" id="{D6283349-1CE8-4F69-9920-E76D9CE7C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168"/>
              <a:ext cx="4031" cy="575"/>
            </a:xfrm>
            <a:prstGeom prst="line">
              <a:avLst/>
            </a:prstGeom>
            <a:noFill/>
            <a:ln w="7632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3503" name="Rectangle 15">
              <a:extLst>
                <a:ext uri="{FF2B5EF4-FFF2-40B4-BE49-F238E27FC236}">
                  <a16:creationId xmlns:a16="http://schemas.microsoft.com/office/drawing/2014/main" id="{83C5E733-8CCF-43AF-A241-DC7F3A4D4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264"/>
              <a:ext cx="1727" cy="575"/>
            </a:xfrm>
            <a:prstGeom prst="rect">
              <a:avLst/>
            </a:prstGeom>
            <a:solidFill>
              <a:srgbClr val="FFFFFF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>
              <a:outerShdw dist="107933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/>
                <a:t>ACK=</a:t>
              </a:r>
              <a:r>
                <a:rPr lang="en-US" altLang="en-US" sz="2400" b="1" i="1"/>
                <a:t>Y</a:t>
              </a:r>
              <a:r>
                <a:rPr lang="en-US" altLang="en-US" sz="2400"/>
                <a:t>+1</a:t>
              </a:r>
            </a:p>
          </p:txBody>
        </p:sp>
        <p:sp>
          <p:nvSpPr>
            <p:cNvPr id="63504" name="Oval 16">
              <a:extLst>
                <a:ext uri="{FF2B5EF4-FFF2-40B4-BE49-F238E27FC236}">
                  <a16:creationId xmlns:a16="http://schemas.microsoft.com/office/drawing/2014/main" id="{E55B7927-E848-4F1B-8C7B-19067069A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312"/>
              <a:ext cx="287" cy="287"/>
            </a:xfrm>
            <a:prstGeom prst="ellipse">
              <a:avLst/>
            </a:prstGeom>
            <a:solidFill>
              <a:srgbClr val="000000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 b="1">
                  <a:solidFill>
                    <a:srgbClr val="FFFFFF"/>
                  </a:solidFill>
                </a:rPr>
                <a:t>4</a:t>
              </a:r>
            </a:p>
          </p:txBody>
        </p:sp>
      </p:grpSp>
      <p:grpSp>
        <p:nvGrpSpPr>
          <p:cNvPr id="63505" name="Group 17">
            <a:extLst>
              <a:ext uri="{FF2B5EF4-FFF2-40B4-BE49-F238E27FC236}">
                <a16:creationId xmlns:a16="http://schemas.microsoft.com/office/drawing/2014/main" id="{B93CC9B4-F9A7-4A9C-85BE-98F624CD48C4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3848101"/>
            <a:ext cx="6399213" cy="950913"/>
            <a:chOff x="720" y="2424"/>
            <a:chExt cx="4031" cy="599"/>
          </a:xfrm>
        </p:grpSpPr>
        <p:sp>
          <p:nvSpPr>
            <p:cNvPr id="63506" name="Line 18">
              <a:extLst>
                <a:ext uri="{FF2B5EF4-FFF2-40B4-BE49-F238E27FC236}">
                  <a16:creationId xmlns:a16="http://schemas.microsoft.com/office/drawing/2014/main" id="{9B933DE4-6B7E-4647-87C5-C9615E8C9F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9" y="2424"/>
              <a:ext cx="4033" cy="575"/>
            </a:xfrm>
            <a:prstGeom prst="line">
              <a:avLst/>
            </a:prstGeom>
            <a:noFill/>
            <a:ln w="7632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3507" name="Rectangle 19">
              <a:extLst>
                <a:ext uri="{FF2B5EF4-FFF2-40B4-BE49-F238E27FC236}">
                  <a16:creationId xmlns:a16="http://schemas.microsoft.com/office/drawing/2014/main" id="{6B5EEDE4-F00B-4F2B-8861-4C9824392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448"/>
              <a:ext cx="1727" cy="575"/>
            </a:xfrm>
            <a:prstGeom prst="rect">
              <a:avLst/>
            </a:prstGeom>
            <a:solidFill>
              <a:srgbClr val="FFFFFF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>
              <a:outerShdw dist="107933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/>
                <a:t>FIN</a:t>
              </a:r>
            </a:p>
            <a:p>
              <a:pPr algn="ctr">
                <a:buClrTx/>
                <a:buFontTx/>
                <a:buNone/>
              </a:pPr>
              <a:r>
                <a:rPr lang="en-US" altLang="en-US" sz="2400"/>
                <a:t>SN=</a:t>
              </a:r>
              <a:r>
                <a:rPr lang="en-US" altLang="en-US" sz="2400" b="1" i="1"/>
                <a:t>Y</a:t>
              </a:r>
            </a:p>
          </p:txBody>
        </p:sp>
        <p:sp>
          <p:nvSpPr>
            <p:cNvPr id="63508" name="Oval 20">
              <a:extLst>
                <a:ext uri="{FF2B5EF4-FFF2-40B4-BE49-F238E27FC236}">
                  <a16:creationId xmlns:a16="http://schemas.microsoft.com/office/drawing/2014/main" id="{746AB06D-B55B-421A-9426-3BE8DD186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472"/>
              <a:ext cx="287" cy="287"/>
            </a:xfrm>
            <a:prstGeom prst="ellipse">
              <a:avLst/>
            </a:prstGeom>
            <a:solidFill>
              <a:srgbClr val="000000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 b="1">
                  <a:solidFill>
                    <a:srgbClr val="FFFFFF"/>
                  </a:solidFill>
                </a:rPr>
                <a:t>3</a:t>
              </a:r>
            </a:p>
          </p:txBody>
        </p:sp>
      </p:grpSp>
      <p:sp>
        <p:nvSpPr>
          <p:cNvPr id="63509" name="Text Box 21">
            <a:extLst>
              <a:ext uri="{FF2B5EF4-FFF2-40B4-BE49-F238E27FC236}">
                <a16:creationId xmlns:a16="http://schemas.microsoft.com/office/drawing/2014/main" id="{509BBF89-C7AC-4992-84CD-ABA5890DC73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565776" y="3267821"/>
            <a:ext cx="601663" cy="771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4400" b="1"/>
              <a:t>...</a:t>
            </a:r>
          </a:p>
        </p:txBody>
      </p:sp>
      <p:sp>
        <p:nvSpPr>
          <p:cNvPr id="63510" name="Line 22">
            <a:extLst>
              <a:ext uri="{FF2B5EF4-FFF2-40B4-BE49-F238E27FC236}">
                <a16:creationId xmlns:a16="http://schemas.microsoft.com/office/drawing/2014/main" id="{9BE58852-0152-4FFE-B43E-E0807FD153A4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1066800"/>
            <a:ext cx="1588" cy="2057400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3511" name="Line 23">
            <a:extLst>
              <a:ext uri="{FF2B5EF4-FFF2-40B4-BE49-F238E27FC236}">
                <a16:creationId xmlns:a16="http://schemas.microsoft.com/office/drawing/2014/main" id="{BBCE6960-96D7-4FAB-90EE-18A237958776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3733800"/>
            <a:ext cx="1588" cy="2362200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3512" name="Line 24">
            <a:extLst>
              <a:ext uri="{FF2B5EF4-FFF2-40B4-BE49-F238E27FC236}">
                <a16:creationId xmlns:a16="http://schemas.microsoft.com/office/drawing/2014/main" id="{6F3FD070-C277-43D9-ADAA-C5076428C1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990600"/>
            <a:ext cx="1588" cy="5029200"/>
          </a:xfrm>
          <a:prstGeom prst="line">
            <a:avLst/>
          </a:prstGeom>
          <a:noFill/>
          <a:ln w="38160" cap="sq">
            <a:solidFill>
              <a:srgbClr val="00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3513" name="Line 25">
            <a:extLst>
              <a:ext uri="{FF2B5EF4-FFF2-40B4-BE49-F238E27FC236}">
                <a16:creationId xmlns:a16="http://schemas.microsoft.com/office/drawing/2014/main" id="{8C167EE1-D3D6-4676-A575-404ADE61A0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990600"/>
            <a:ext cx="1588" cy="2286000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3514" name="Line 26">
            <a:extLst>
              <a:ext uri="{FF2B5EF4-FFF2-40B4-BE49-F238E27FC236}">
                <a16:creationId xmlns:a16="http://schemas.microsoft.com/office/drawing/2014/main" id="{F8D11482-206D-404C-85AC-EC4A618529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962400"/>
            <a:ext cx="1588" cy="2057400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" dur="500"/>
                                        <p:tgtEl>
                                          <p:spTgt spid="6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6AF9981-76E6-46CC-8404-513067FA5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28600"/>
            <a:ext cx="7772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/>
              <a:t>TCP Termination</a:t>
            </a:r>
          </a:p>
        </p:txBody>
      </p:sp>
      <p:sp>
        <p:nvSpPr>
          <p:cNvPr id="64515" name="Oval 3">
            <a:extLst>
              <a:ext uri="{FF2B5EF4-FFF2-40B4-BE49-F238E27FC236}">
                <a16:creationId xmlns:a16="http://schemas.microsoft.com/office/drawing/2014/main" id="{1A28A5F0-D684-4815-B818-F1A973C38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301750"/>
            <a:ext cx="457200" cy="457200"/>
          </a:xfrm>
          <a:prstGeom prst="ellipse">
            <a:avLst/>
          </a:prstGeom>
          <a:solidFill>
            <a:srgbClr val="000000"/>
          </a:solidFill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4516" name="Oval 4">
            <a:extLst>
              <a:ext uri="{FF2B5EF4-FFF2-40B4-BE49-F238E27FC236}">
                <a16:creationId xmlns:a16="http://schemas.microsoft.com/office/drawing/2014/main" id="{C96603E3-4351-4D75-B637-033DA56C3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368550"/>
            <a:ext cx="457200" cy="457200"/>
          </a:xfrm>
          <a:prstGeom prst="ellipse">
            <a:avLst/>
          </a:prstGeom>
          <a:solidFill>
            <a:srgbClr val="000000"/>
          </a:solidFill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4517" name="Oval 5">
            <a:extLst>
              <a:ext uri="{FF2B5EF4-FFF2-40B4-BE49-F238E27FC236}">
                <a16:creationId xmlns:a16="http://schemas.microsoft.com/office/drawing/2014/main" id="{5888D406-FF7B-444F-B593-E4A2EA39C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892550"/>
            <a:ext cx="457200" cy="457200"/>
          </a:xfrm>
          <a:prstGeom prst="ellipse">
            <a:avLst/>
          </a:prstGeom>
          <a:solidFill>
            <a:srgbClr val="000000"/>
          </a:solidFill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4518" name="Oval 6">
            <a:extLst>
              <a:ext uri="{FF2B5EF4-FFF2-40B4-BE49-F238E27FC236}">
                <a16:creationId xmlns:a16="http://schemas.microsoft.com/office/drawing/2014/main" id="{1339900A-C96D-4498-A675-3DDD595B0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959350"/>
            <a:ext cx="457200" cy="457200"/>
          </a:xfrm>
          <a:prstGeom prst="ellipse">
            <a:avLst/>
          </a:prstGeom>
          <a:solidFill>
            <a:srgbClr val="000000"/>
          </a:solidFill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CAC5B080-4462-4377-9EFB-502C38AD9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219200"/>
            <a:ext cx="78486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2900" indent="-341313"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spcBef>
                <a:spcPts val="700"/>
              </a:spcBef>
              <a:buClrTx/>
              <a:buFontTx/>
              <a:buNone/>
            </a:pPr>
            <a:r>
              <a:rPr lang="en-US" altLang="en-US" sz="2800"/>
              <a:t>App1: “I have no more data for you”.</a:t>
            </a:r>
          </a:p>
          <a:p>
            <a:pPr>
              <a:spcBef>
                <a:spcPts val="700"/>
              </a:spcBef>
              <a:buClrTx/>
              <a:buFontTx/>
              <a:buNone/>
            </a:pPr>
            <a:endParaRPr lang="en-US" altLang="en-US" sz="2800"/>
          </a:p>
          <a:p>
            <a:pPr>
              <a:spcBef>
                <a:spcPts val="700"/>
              </a:spcBef>
              <a:buClrTx/>
              <a:buFontTx/>
              <a:buNone/>
            </a:pPr>
            <a:r>
              <a:rPr lang="en-US" altLang="en-US" sz="2800"/>
              <a:t>App2: “OK, I understand you are done sending.”</a:t>
            </a:r>
          </a:p>
          <a:p>
            <a:pPr algn="ctr">
              <a:spcBef>
                <a:spcPts val="700"/>
              </a:spcBef>
              <a:buClrTx/>
              <a:buFontTx/>
              <a:buNone/>
            </a:pPr>
            <a:r>
              <a:rPr lang="en-US" altLang="en-US" sz="2800" i="1"/>
              <a:t>dramatic pause…</a:t>
            </a:r>
          </a:p>
          <a:p>
            <a:pPr algn="ctr">
              <a:spcBef>
                <a:spcPts val="700"/>
              </a:spcBef>
              <a:buClrTx/>
              <a:buFontTx/>
              <a:buNone/>
            </a:pPr>
            <a:endParaRPr lang="en-US" altLang="en-US" sz="2800"/>
          </a:p>
          <a:p>
            <a:pPr>
              <a:spcBef>
                <a:spcPts val="700"/>
              </a:spcBef>
              <a:buClrTx/>
              <a:buFontTx/>
              <a:buNone/>
            </a:pPr>
            <a:r>
              <a:rPr lang="en-US" altLang="en-US" sz="2800"/>
              <a:t>App2: “OK - Now I’m also done sending data”.</a:t>
            </a:r>
          </a:p>
          <a:p>
            <a:pPr>
              <a:spcBef>
                <a:spcPts val="700"/>
              </a:spcBef>
              <a:buClrTx/>
              <a:buFontTx/>
              <a:buNone/>
            </a:pPr>
            <a:endParaRPr lang="en-US" altLang="en-US" sz="2800"/>
          </a:p>
          <a:p>
            <a:pPr>
              <a:spcBef>
                <a:spcPts val="700"/>
              </a:spcBef>
              <a:buClrTx/>
              <a:buFontTx/>
              <a:buNone/>
            </a:pPr>
            <a:r>
              <a:rPr lang="en-US" altLang="en-US" sz="2800"/>
              <a:t>App1: “Roger, Over and Out, Goodbye, Astalavista Baby, Adios, It’s been real ...”</a:t>
            </a:r>
          </a:p>
          <a:p>
            <a:pPr algn="ctr">
              <a:spcBef>
                <a:spcPts val="700"/>
              </a:spcBef>
              <a:buClrTx/>
              <a:buFontTx/>
              <a:buNone/>
            </a:pPr>
            <a:r>
              <a:rPr lang="en-US" altLang="en-US" sz="2800" i="1"/>
              <a:t>camera fades to black ...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53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5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0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544" name="Rectangle 6554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538" name="Text Box 2">
            <a:extLst>
              <a:ext uri="{FF2B5EF4-FFF2-40B4-BE49-F238E27FC236}">
                <a16:creationId xmlns:a16="http://schemas.microsoft.com/office/drawing/2014/main" id="{B0BC7377-B6C1-447D-9814-975CA0197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65125"/>
            <a:ext cx="10515600" cy="13255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54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TCP TIME_WAIT</a:t>
            </a:r>
          </a:p>
        </p:txBody>
      </p:sp>
      <p:sp>
        <p:nvSpPr>
          <p:cNvPr id="6554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539" name="Text Box 3">
            <a:extLst>
              <a:ext uri="{FF2B5EF4-FFF2-40B4-BE49-F238E27FC236}">
                <a16:creationId xmlns:a16="http://schemas.microsoft.com/office/drawing/2014/main" id="{EC995406-43E3-43FF-8B63-EC97BC4A0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Once a TCP connection has been terminated (the last ACK sent) there is some unfinished business:</a:t>
            </a:r>
            <a:endParaRPr lang="en-US" sz="2200">
              <a:solidFill>
                <a:schemeClr val="tx1"/>
              </a:solidFill>
              <a:latin typeface="+mn-lt"/>
              <a:cs typeface="+mn-cs"/>
            </a:endParaRP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What if the ACK is lost? The last FIN will be resent and it must be ACK’d.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What if there are lost or duplicated segments that finally reach the destination after a long delay?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endParaRPr lang="en-US" altLang="en-US" sz="22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TCP hangs out for a while to handle these situations.</a:t>
            </a:r>
          </a:p>
          <a:p>
            <a:pPr marL="741045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endParaRPr lang="en-US" altLang="en-US" sz="2200">
              <a:solidFill>
                <a:schemeClr val="tx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568" name="Rectangle 6656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62" name="Text Box 2">
            <a:extLst>
              <a:ext uri="{FF2B5EF4-FFF2-40B4-BE49-F238E27FC236}">
                <a16:creationId xmlns:a16="http://schemas.microsoft.com/office/drawing/2014/main" id="{5D7EAC35-A52E-4798-AE96-2C2E4EFE8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65125"/>
            <a:ext cx="10515600" cy="13255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54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QI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657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63" name="Text Box 3">
            <a:extLst>
              <a:ext uri="{FF2B5EF4-FFF2-40B4-BE49-F238E27FC236}">
                <a16:creationId xmlns:a16="http://schemas.microsoft.com/office/drawing/2014/main" id="{DBFE42D9-2395-4D31-8E16-0151B490B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Why is a 3-way handshake necessary?</a:t>
            </a:r>
            <a:endParaRPr lang="en-US" sz="2200">
              <a:solidFill>
                <a:schemeClr val="tx1"/>
              </a:solidFill>
              <a:latin typeface="+mn-lt"/>
              <a:cs typeface="+mn-cs"/>
            </a:endParaRP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HINTS: TCP is a reliable service, IP delivers each TCP segment, IP is not reliable.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endParaRPr lang="en-US" altLang="en-US" sz="22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Who sends the first FIN - the server or the client?</a:t>
            </a: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endParaRPr lang="en-US" altLang="en-US" sz="220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latin typeface="+mn-lt"/>
                <a:cs typeface="+mn-cs"/>
              </a:rPr>
              <a:t>Once the connection is established, what is the difference between the operation of the server’s TCP layer and the client’s TCP layer?</a:t>
            </a:r>
          </a:p>
        </p:txBody>
      </p:sp>
      <p:sp>
        <p:nvSpPr>
          <p:cNvPr id="66561" name="Text Box 1">
            <a:extLst>
              <a:ext uri="{FF2B5EF4-FFF2-40B4-BE49-F238E27FC236}">
                <a16:creationId xmlns:a16="http://schemas.microsoft.com/office/drawing/2014/main" id="{76DDAB92-9A08-4304-AF16-5E77A4925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9801" y="6400800"/>
            <a:ext cx="62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t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r">
              <a:buClrTx/>
              <a:buFontTx/>
              <a:buNone/>
            </a:pPr>
            <a:endParaRPr lang="en-US" altLang="en-US" sz="14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1493</TotalTime>
  <Words>2158</Words>
  <Application>Microsoft Office PowerPoint</Application>
  <PresentationFormat>Widescreen</PresentationFormat>
  <Paragraphs>325</Paragraphs>
  <Slides>42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Comic Sans MS</vt:lpstr>
      <vt:lpstr>Times New Roman</vt:lpstr>
      <vt:lpstr>urw-din</vt:lpstr>
      <vt:lpstr>Wingdings</vt:lpstr>
      <vt:lpstr>Custom Design</vt:lpstr>
      <vt:lpstr>PowerPoint Presentation</vt:lpstr>
      <vt:lpstr>Recap: Layered Model Network Comms</vt:lpstr>
      <vt:lpstr>Transport Layer Role</vt:lpstr>
      <vt:lpstr>Transport Layer Purpose</vt:lpstr>
      <vt:lpstr>PowerPoint Presentation</vt:lpstr>
      <vt:lpstr>PowerPoint Presentation</vt:lpstr>
      <vt:lpstr>Transmission Control Protocol(TCP)</vt:lpstr>
      <vt:lpstr>Choosing Transport Layer Protocols…</vt:lpstr>
      <vt:lpstr>PowerPoint Presentation</vt:lpstr>
      <vt:lpstr>PowerPoint Presentation</vt:lpstr>
      <vt:lpstr>Ports</vt:lpstr>
      <vt:lpstr>Ports: Multiple communications</vt:lpstr>
      <vt:lpstr>Ports: Socket Pairs</vt:lpstr>
      <vt:lpstr>Ports: Groups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 Walsh</dc:creator>
  <cp:lastModifiedBy>Frank X Walsh</cp:lastModifiedBy>
  <cp:revision>14</cp:revision>
  <dcterms:created xsi:type="dcterms:W3CDTF">2020-10-12T09:47:24Z</dcterms:created>
  <dcterms:modified xsi:type="dcterms:W3CDTF">2023-11-01T10:37:36Z</dcterms:modified>
</cp:coreProperties>
</file>