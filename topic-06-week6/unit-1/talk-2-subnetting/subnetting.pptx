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513" r:id="rId2"/>
    <p:sldId id="305" r:id="rId3"/>
    <p:sldId id="298" r:id="rId4"/>
    <p:sldId id="306" r:id="rId5"/>
    <p:sldId id="308" r:id="rId6"/>
    <p:sldId id="309" r:id="rId7"/>
    <p:sldId id="312" r:id="rId8"/>
    <p:sldId id="299" r:id="rId9"/>
    <p:sldId id="300" r:id="rId10"/>
    <p:sldId id="310" r:id="rId11"/>
    <p:sldId id="301" r:id="rId12"/>
    <p:sldId id="302" r:id="rId13"/>
    <p:sldId id="303" r:id="rId14"/>
    <p:sldId id="304" r:id="rId15"/>
    <p:sldId id="307" r:id="rId16"/>
    <p:sldId id="283" r:id="rId17"/>
    <p:sldId id="313" r:id="rId18"/>
    <p:sldId id="31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2" autoAdjust="0"/>
    <p:restoredTop sz="66904" autoAdjust="0"/>
  </p:normalViewPr>
  <p:slideViewPr>
    <p:cSldViewPr snapToGrid="0">
      <p:cViewPr varScale="1">
        <p:scale>
          <a:sx n="74" d="100"/>
          <a:sy n="74" d="100"/>
        </p:scale>
        <p:origin x="1704" y="6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8C4193-BEF1-424E-A687-E394BEF15677}" type="datetimeFigureOut">
              <a:rPr lang="en-GB" smtClean="0"/>
              <a:t>04/03/2026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01AE8C-9D10-46CB-AEB5-A7A3C988DEDD}" type="slidenum">
              <a:rPr lang="en-GB" smtClean="0"/>
              <a:t>‹#›</a:t>
            </a:fld>
            <a:endParaRPr lang="en-GB"/>
          </a:p>
        </p:txBody>
      </p:sp>
    </p:spTree>
    <p:extLst>
      <p:ext uri="{BB962C8B-B14F-4D97-AF65-F5344CB8AC3E}">
        <p14:creationId xmlns:p14="http://schemas.microsoft.com/office/powerpoint/2010/main" val="3312419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58585B"/>
                </a:solidFill>
                <a:effectLst/>
                <a:latin typeface="CiscoSans"/>
              </a:rPr>
              <a:t>A collection of interconnected switches forms a single broadcast domain. Only a network layer device, such as a router, can divide a Layer 2 broadcast domain. Routers are used to segment broadcast domains, but will also segment a collision domain.</a:t>
            </a:r>
          </a:p>
          <a:p>
            <a:pPr algn="l"/>
            <a:r>
              <a:rPr lang="en-US" b="0" i="0" dirty="0">
                <a:solidFill>
                  <a:srgbClr val="58585B"/>
                </a:solidFill>
                <a:effectLst/>
                <a:latin typeface="CiscoSans"/>
              </a:rPr>
              <a:t>When a device sends a Layer 2 broadcast, the destination MAC address in the frame is set to all binary ones.</a:t>
            </a:r>
          </a:p>
          <a:p>
            <a:pPr algn="l"/>
            <a:r>
              <a:rPr lang="en-US" b="0" i="0" dirty="0">
                <a:solidFill>
                  <a:srgbClr val="58585B"/>
                </a:solidFill>
                <a:effectLst/>
                <a:latin typeface="CiscoSans"/>
              </a:rPr>
              <a:t>The Layer 2 broadcast domain is referred to as the MAC broadcast domain. The MAC broadcast domain consists of all devices on the LAN that receive broadcast frames from a host.</a:t>
            </a:r>
          </a:p>
          <a:p>
            <a:pPr algn="l"/>
            <a:endParaRPr lang="en-US" b="0" i="0" dirty="0">
              <a:solidFill>
                <a:srgbClr val="58585B"/>
              </a:solidFill>
              <a:effectLst/>
              <a:latin typeface="CiscoSans"/>
            </a:endParaRPr>
          </a:p>
          <a:p>
            <a:pPr algn="l"/>
            <a:r>
              <a:rPr lang="en-US" b="0" i="0" dirty="0">
                <a:solidFill>
                  <a:srgbClr val="58585B"/>
                </a:solidFill>
                <a:effectLst/>
                <a:latin typeface="CiscoSans"/>
              </a:rPr>
              <a:t>When a switch receives a broadcast frame, it forwards the frame out each of its ports, except the ingress port where the broadcast frame was received. Each device connected to the switch receives a copy of the broadcast frame and processes it.</a:t>
            </a:r>
          </a:p>
          <a:p>
            <a:pPr algn="l"/>
            <a:r>
              <a:rPr lang="en-US" b="0" i="0" dirty="0">
                <a:solidFill>
                  <a:srgbClr val="58585B"/>
                </a:solidFill>
                <a:effectLst/>
                <a:latin typeface="CiscoSans"/>
              </a:rPr>
              <a:t>Broadcasts are sometimes necessary for initially locating other devices and network services, but they also reduce network efficiency. Network bandwidth is used to propagate the broadcast traffic. Too many broadcasts and a heavy traffic load on a network can result in congestion, which slows down network performance.</a:t>
            </a:r>
          </a:p>
          <a:p>
            <a:pPr algn="l"/>
            <a:r>
              <a:rPr lang="en-US" b="0" i="0" dirty="0">
                <a:solidFill>
                  <a:srgbClr val="58585B"/>
                </a:solidFill>
                <a:effectLst/>
                <a:latin typeface="CiscoSans"/>
              </a:rPr>
              <a:t>When two switches are connected together, the broadcast domain is increased, as seen in the second half of the animation. In this case, a broadcast frame is forwarded to all connected ports on switch S1. Switch S1 is connected to switch S2. The frame is then also propagated to all devices connected to switch S2.</a:t>
            </a:r>
          </a:p>
          <a:p>
            <a:pPr algn="l"/>
            <a:endParaRPr lang="en-US" b="0" i="0">
              <a:solidFill>
                <a:srgbClr val="58585B"/>
              </a:solidFill>
              <a:effectLst/>
              <a:latin typeface="CiscoSans"/>
            </a:endParaRPr>
          </a:p>
          <a:p>
            <a:endParaRPr lang="en-GB"/>
          </a:p>
        </p:txBody>
      </p:sp>
      <p:sp>
        <p:nvSpPr>
          <p:cNvPr id="4" name="Slide Number Placeholder 3"/>
          <p:cNvSpPr>
            <a:spLocks noGrp="1"/>
          </p:cNvSpPr>
          <p:nvPr>
            <p:ph type="sldNum" sz="quarter" idx="5"/>
          </p:nvPr>
        </p:nvSpPr>
        <p:spPr/>
        <p:txBody>
          <a:bodyPr/>
          <a:lstStyle/>
          <a:p>
            <a:fld id="{4501AE8C-9D10-46CB-AEB5-A7A3C988DEDD}" type="slidenum">
              <a:rPr lang="en-GB" smtClean="0"/>
              <a:t>8</a:t>
            </a:fld>
            <a:endParaRPr lang="en-GB"/>
          </a:p>
        </p:txBody>
      </p:sp>
    </p:spTree>
    <p:extLst>
      <p:ext uri="{BB962C8B-B14F-4D97-AF65-F5344CB8AC3E}">
        <p14:creationId xmlns:p14="http://schemas.microsoft.com/office/powerpoint/2010/main" val="1603043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6" name="Subtitle 2"/>
          <p:cNvSpPr>
            <a:spLocks noGrp="1"/>
          </p:cNvSpPr>
          <p:nvPr>
            <p:ph type="subTitle" idx="1"/>
          </p:nvPr>
        </p:nvSpPr>
        <p:spPr>
          <a:xfrm>
            <a:off x="625995" y="5079369"/>
            <a:ext cx="5758807" cy="384175"/>
          </a:xfrm>
          <a:prstGeom prst="rect">
            <a:avLst/>
          </a:prstGeom>
        </p:spPr>
        <p:txBody>
          <a:bodyPr lIns="91420" tIns="45710" rIns="91420" bIns="45710" anchor="b" anchorCtr="0">
            <a:noAutofit/>
          </a:bodyPr>
          <a:lstStyle>
            <a:lvl1pPr marL="0" indent="0" algn="l">
              <a:buNone/>
              <a:defRPr sz="1600" b="0" i="0">
                <a:solidFill>
                  <a:schemeClr val="accent5"/>
                </a:solidFill>
                <a:latin typeface="+mn-lt"/>
                <a:cs typeface="CiscoSans"/>
              </a:defRPr>
            </a:lvl1pPr>
            <a:lvl2pPr marL="457130" indent="0" algn="ctr">
              <a:buNone/>
              <a:defRPr>
                <a:solidFill>
                  <a:schemeClr val="tx1">
                    <a:tint val="75000"/>
                  </a:schemeClr>
                </a:solidFill>
              </a:defRPr>
            </a:lvl2pPr>
            <a:lvl3pPr marL="914270" indent="0" algn="ctr">
              <a:buNone/>
              <a:defRPr>
                <a:solidFill>
                  <a:schemeClr val="tx1">
                    <a:tint val="75000"/>
                  </a:schemeClr>
                </a:solidFill>
              </a:defRPr>
            </a:lvl3pPr>
            <a:lvl4pPr marL="1371404" indent="0" algn="ctr">
              <a:buNone/>
              <a:defRPr>
                <a:solidFill>
                  <a:schemeClr val="tx1">
                    <a:tint val="75000"/>
                  </a:schemeClr>
                </a:solidFill>
              </a:defRPr>
            </a:lvl4pPr>
            <a:lvl5pPr marL="1828542" indent="0" algn="ctr">
              <a:buNone/>
              <a:defRPr>
                <a:solidFill>
                  <a:schemeClr val="tx1">
                    <a:tint val="75000"/>
                  </a:schemeClr>
                </a:solidFill>
              </a:defRPr>
            </a:lvl5pPr>
            <a:lvl6pPr marL="2285672" indent="0" algn="ctr">
              <a:buNone/>
              <a:defRPr>
                <a:solidFill>
                  <a:schemeClr val="tx1">
                    <a:tint val="75000"/>
                  </a:schemeClr>
                </a:solidFill>
              </a:defRPr>
            </a:lvl6pPr>
            <a:lvl7pPr marL="2742813" indent="0" algn="ctr">
              <a:buNone/>
              <a:defRPr>
                <a:solidFill>
                  <a:schemeClr val="tx1">
                    <a:tint val="75000"/>
                  </a:schemeClr>
                </a:solidFill>
              </a:defRPr>
            </a:lvl7pPr>
            <a:lvl8pPr marL="3199947" indent="0" algn="ctr">
              <a:buNone/>
              <a:defRPr>
                <a:solidFill>
                  <a:schemeClr val="tx1">
                    <a:tint val="75000"/>
                  </a:schemeClr>
                </a:solidFill>
              </a:defRPr>
            </a:lvl8pPr>
            <a:lvl9pPr marL="3657085"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625995" y="5399365"/>
            <a:ext cx="5758807" cy="384175"/>
          </a:xfrm>
          <a:prstGeom prst="rect">
            <a:avLst/>
          </a:prstGeom>
        </p:spPr>
        <p:txBody>
          <a:bodyPr lIns="91420" tIns="45710" rIns="91420" bIns="45710"/>
          <a:lstStyle>
            <a:lvl1pPr marL="0" indent="0" algn="l">
              <a:buFontTx/>
              <a:buNone/>
              <a:defRPr lang="en-US" sz="1600" b="0" i="0" kern="1200" dirty="0" smtClean="0">
                <a:solidFill>
                  <a:schemeClr val="accent5"/>
                </a:solidFill>
                <a:latin typeface="+mn-lt"/>
                <a:ea typeface="+mn-ea"/>
                <a:cs typeface="CiscoSans ExtraLight" pitchFamily="34" charset="0"/>
              </a:defRPr>
            </a:lvl1pPr>
            <a:lvl2pPr>
              <a:buFontTx/>
              <a:buNone/>
              <a:defRPr lang="en-US" sz="2000" kern="1200" dirty="0" smtClean="0">
                <a:solidFill>
                  <a:schemeClr val="bg1"/>
                </a:solidFill>
                <a:latin typeface="+mj-lt"/>
                <a:ea typeface="+mn-ea"/>
                <a:cs typeface="+mn-cs"/>
              </a:defRPr>
            </a:lvl2pPr>
            <a:lvl3pPr>
              <a:buFontTx/>
              <a:buNone/>
              <a:defRPr lang="en-US" sz="2000" kern="1200" dirty="0" smtClean="0">
                <a:solidFill>
                  <a:schemeClr val="bg1"/>
                </a:solidFill>
                <a:latin typeface="+mj-lt"/>
                <a:ea typeface="+mn-ea"/>
                <a:cs typeface="+mn-cs"/>
              </a:defRPr>
            </a:lvl3pPr>
            <a:lvl4pPr>
              <a:buFontTx/>
              <a:buNone/>
              <a:defRPr lang="en-US" sz="2000" kern="1200" dirty="0" smtClean="0">
                <a:solidFill>
                  <a:schemeClr val="bg1"/>
                </a:solidFill>
                <a:latin typeface="+mj-lt"/>
                <a:ea typeface="+mn-ea"/>
                <a:cs typeface="+mn-cs"/>
              </a:defRPr>
            </a:lvl4pPr>
            <a:lvl5pPr>
              <a:buFontTx/>
              <a:buNone/>
              <a:defRPr lang="en-US" sz="20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625995" y="5719361"/>
            <a:ext cx="5758807" cy="384175"/>
          </a:xfrm>
          <a:prstGeom prst="rect">
            <a:avLst/>
          </a:prstGeom>
        </p:spPr>
        <p:txBody>
          <a:bodyPr lIns="91420" tIns="45710" rIns="91420" bIns="45710"/>
          <a:lstStyle>
            <a:lvl1pPr marL="0" indent="0" algn="l">
              <a:buFontTx/>
              <a:buNone/>
              <a:defRPr lang="en-US" sz="1600" b="0" i="0" kern="1200" dirty="0" smtClean="0">
                <a:solidFill>
                  <a:schemeClr val="accent5"/>
                </a:solidFill>
                <a:latin typeface="+mn-lt"/>
                <a:ea typeface="+mn-ea"/>
                <a:cs typeface="CiscoSans ExtraLight" pitchFamily="34" charset="0"/>
              </a:defRPr>
            </a:lvl1pPr>
            <a:lvl2pPr>
              <a:buFontTx/>
              <a:buNone/>
              <a:defRPr lang="en-US" sz="2000" kern="1200" dirty="0" smtClean="0">
                <a:solidFill>
                  <a:schemeClr val="bg1"/>
                </a:solidFill>
                <a:latin typeface="+mj-lt"/>
                <a:ea typeface="+mn-ea"/>
                <a:cs typeface="+mn-cs"/>
              </a:defRPr>
            </a:lvl2pPr>
            <a:lvl3pPr>
              <a:buFontTx/>
              <a:buNone/>
              <a:defRPr lang="en-US" sz="2000" kern="1200" dirty="0" smtClean="0">
                <a:solidFill>
                  <a:schemeClr val="bg1"/>
                </a:solidFill>
                <a:latin typeface="+mj-lt"/>
                <a:ea typeface="+mn-ea"/>
                <a:cs typeface="+mn-cs"/>
              </a:defRPr>
            </a:lvl3pPr>
            <a:lvl4pPr>
              <a:buFontTx/>
              <a:buNone/>
              <a:defRPr lang="en-US" sz="2000" kern="1200" dirty="0" smtClean="0">
                <a:solidFill>
                  <a:schemeClr val="bg1"/>
                </a:solidFill>
                <a:latin typeface="+mj-lt"/>
                <a:ea typeface="+mn-ea"/>
                <a:cs typeface="+mn-cs"/>
              </a:defRPr>
            </a:lvl4pPr>
            <a:lvl5pPr>
              <a:buFontTx/>
              <a:buNone/>
              <a:defRPr lang="en-US" sz="20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617723" y="3829649"/>
            <a:ext cx="7900328" cy="398668"/>
          </a:xfrm>
          <a:prstGeom prst="rect">
            <a:avLst/>
          </a:prstGeom>
        </p:spPr>
        <p:txBody>
          <a:bodyPr lIns="91420" tIns="45710" rIns="91420" bIns="45710"/>
          <a:lstStyle>
            <a:lvl1pPr marL="0" indent="0">
              <a:buFont typeface="Arial" panose="020B0604020202020204" pitchFamily="34" charset="0"/>
              <a:buNone/>
              <a:defRPr sz="2667" baseline="0">
                <a:solidFill>
                  <a:schemeClr val="bg2"/>
                </a:solidFill>
                <a:latin typeface="+mj-lt"/>
              </a:defRPr>
            </a:lvl1pPr>
            <a:lvl2pPr marL="406365" indent="0">
              <a:buNone/>
              <a:defRPr/>
            </a:lvl2pPr>
            <a:lvl3pPr marL="569854" indent="0">
              <a:buNone/>
              <a:defRPr/>
            </a:lvl3pPr>
            <a:lvl4pPr marL="688908" indent="0">
              <a:buNone/>
              <a:defRPr/>
            </a:lvl4pPr>
            <a:lvl5pPr marL="801608" indent="0">
              <a:buNone/>
              <a:defRPr/>
            </a:lvl5pPr>
          </a:lstStyle>
          <a:p>
            <a:pPr lvl="0"/>
            <a:r>
              <a:rPr lang="en-US"/>
              <a:t>Click to edit Master text styles</a:t>
            </a:r>
          </a:p>
        </p:txBody>
      </p:sp>
      <p:sp>
        <p:nvSpPr>
          <p:cNvPr id="20" name="Title 1"/>
          <p:cNvSpPr>
            <a:spLocks noGrp="1"/>
          </p:cNvSpPr>
          <p:nvPr>
            <p:ph type="ctrTitle"/>
          </p:nvPr>
        </p:nvSpPr>
        <p:spPr>
          <a:xfrm>
            <a:off x="567687" y="3067667"/>
            <a:ext cx="7940684" cy="859640"/>
          </a:xfrm>
          <a:prstGeom prst="rect">
            <a:avLst/>
          </a:prstGeom>
        </p:spPr>
        <p:txBody>
          <a:bodyPr anchor="b"/>
          <a:lstStyle>
            <a:lvl1pPr marL="0" indent="0" algn="l">
              <a:lnSpc>
                <a:spcPct val="90000"/>
              </a:lnSpc>
              <a:buFont typeface="Arial" panose="020B0604020202020204" pitchFamily="34" charset="0"/>
              <a:buNone/>
              <a:defRPr sz="48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656167" y="527051"/>
            <a:ext cx="1062565" cy="565151"/>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grpSp>
    </p:spTree>
    <p:extLst>
      <p:ext uri="{BB962C8B-B14F-4D97-AF65-F5344CB8AC3E}">
        <p14:creationId xmlns:p14="http://schemas.microsoft.com/office/powerpoint/2010/main" val="56932823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networkengineering.stackexchange.com/questions/39140/does-a-network-switch-broadcast-local-ip-address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en.wikipedia.org/wiki/Bogon_filterin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20793" y="4394199"/>
            <a:ext cx="6012274" cy="1676401"/>
          </a:xfrm>
        </p:spPr>
        <p:txBody>
          <a:bodyPr>
            <a:normAutofit/>
          </a:bodyPr>
          <a:lstStyle/>
          <a:p>
            <a:r>
              <a:rPr lang="en-US" sz="3800" dirty="0">
                <a:solidFill>
                  <a:schemeClr val="accent5">
                    <a:lumMod val="40000"/>
                    <a:lumOff val="60000"/>
                  </a:schemeClr>
                </a:solidFill>
              </a:rPr>
              <a:t>IPv4 Subnetting</a:t>
            </a:r>
            <a:br>
              <a:rPr lang="en-US" sz="3800" dirty="0">
                <a:solidFill>
                  <a:schemeClr val="accent5">
                    <a:lumMod val="40000"/>
                    <a:lumOff val="60000"/>
                  </a:schemeClr>
                </a:solidFill>
              </a:rPr>
            </a:br>
            <a:r>
              <a:rPr lang="en-IE" sz="2200" dirty="0"/>
              <a:t>By: Mujahid Tabassum - 2026</a:t>
            </a:r>
            <a:endParaRPr lang="en-US" sz="2200" dirty="0">
              <a:solidFill>
                <a:schemeClr val="accent5">
                  <a:lumMod val="40000"/>
                  <a:lumOff val="60000"/>
                </a:schemeClr>
              </a:solidFill>
            </a:endParaRPr>
          </a:p>
        </p:txBody>
      </p:sp>
      <p:pic>
        <p:nvPicPr>
          <p:cNvPr id="3" name="Picture 2">
            <a:extLst>
              <a:ext uri="{FF2B5EF4-FFF2-40B4-BE49-F238E27FC236}">
                <a16:creationId xmlns:a16="http://schemas.microsoft.com/office/drawing/2014/main" id="{84A0A52B-1FF2-4837-8DAF-3CA2E0725E04}"/>
              </a:ext>
            </a:extLst>
          </p:cNvPr>
          <p:cNvPicPr>
            <a:picLocks noChangeAspect="1"/>
          </p:cNvPicPr>
          <p:nvPr/>
        </p:nvPicPr>
        <p:blipFill>
          <a:blip r:embed="rId4"/>
          <a:stretch>
            <a:fillRect/>
          </a:stretch>
        </p:blipFill>
        <p:spPr>
          <a:xfrm>
            <a:off x="157452" y="105689"/>
            <a:ext cx="9071215" cy="4466311"/>
          </a:xfrm>
          <a:prstGeom prst="rect">
            <a:avLst/>
          </a:prstGeom>
        </p:spPr>
      </p:pic>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1A0C9-9080-49E2-8B4C-6C6C8AE310CF}"/>
              </a:ext>
            </a:extLst>
          </p:cNvPr>
          <p:cNvSpPr>
            <a:spLocks noGrp="1"/>
          </p:cNvSpPr>
          <p:nvPr>
            <p:ph type="title"/>
          </p:nvPr>
        </p:nvSpPr>
        <p:spPr/>
        <p:txBody>
          <a:bodyPr/>
          <a:lstStyle/>
          <a:p>
            <a:r>
              <a:rPr lang="en-IE" dirty="0"/>
              <a:t>Agenda – Part 1</a:t>
            </a:r>
          </a:p>
        </p:txBody>
      </p:sp>
      <p:sp>
        <p:nvSpPr>
          <p:cNvPr id="3" name="Content Placeholder 2">
            <a:extLst>
              <a:ext uri="{FF2B5EF4-FFF2-40B4-BE49-F238E27FC236}">
                <a16:creationId xmlns:a16="http://schemas.microsoft.com/office/drawing/2014/main" id="{E03AF2F0-16E9-4A3F-AC0A-AC7C915EF42A}"/>
              </a:ext>
            </a:extLst>
          </p:cNvPr>
          <p:cNvSpPr>
            <a:spLocks noGrp="1"/>
          </p:cNvSpPr>
          <p:nvPr>
            <p:ph idx="1"/>
          </p:nvPr>
        </p:nvSpPr>
        <p:spPr/>
        <p:txBody>
          <a:bodyPr/>
          <a:lstStyle/>
          <a:p>
            <a:r>
              <a:rPr lang="en-GB" dirty="0"/>
              <a:t>IP Addressing Problem</a:t>
            </a:r>
          </a:p>
          <a:p>
            <a:r>
              <a:rPr lang="en-GB" dirty="0"/>
              <a:t>Subnetting Advantages</a:t>
            </a:r>
          </a:p>
          <a:p>
            <a:r>
              <a:rPr lang="en-GB" dirty="0"/>
              <a:t>Subnetting </a:t>
            </a:r>
          </a:p>
          <a:p>
            <a:pPr lvl="1"/>
            <a:r>
              <a:rPr lang="en-GB" dirty="0"/>
              <a:t>On a boundary</a:t>
            </a:r>
          </a:p>
          <a:p>
            <a:pPr lvl="1"/>
            <a:r>
              <a:rPr lang="en-GB" dirty="0"/>
              <a:t>Within a boundary</a:t>
            </a:r>
          </a:p>
          <a:p>
            <a:pPr lvl="1"/>
            <a:endParaRPr lang="en-IE" dirty="0"/>
          </a:p>
        </p:txBody>
      </p:sp>
    </p:spTree>
    <p:extLst>
      <p:ext uri="{BB962C8B-B14F-4D97-AF65-F5344CB8AC3E}">
        <p14:creationId xmlns:p14="http://schemas.microsoft.com/office/powerpoint/2010/main" val="3776424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86EA0-7BCF-44A8-B6B2-E61BC15F06C7}"/>
              </a:ext>
            </a:extLst>
          </p:cNvPr>
          <p:cNvSpPr>
            <a:spLocks noGrp="1"/>
          </p:cNvSpPr>
          <p:nvPr>
            <p:ph type="ctrTitle"/>
          </p:nvPr>
        </p:nvSpPr>
        <p:spPr/>
        <p:txBody>
          <a:bodyPr/>
          <a:lstStyle/>
          <a:p>
            <a:r>
              <a:rPr lang="en-IE" dirty="0"/>
              <a:t>IP Addressing: Subnets</a:t>
            </a:r>
          </a:p>
        </p:txBody>
      </p:sp>
      <p:sp>
        <p:nvSpPr>
          <p:cNvPr id="3" name="Subtitle 2">
            <a:extLst>
              <a:ext uri="{FF2B5EF4-FFF2-40B4-BE49-F238E27FC236}">
                <a16:creationId xmlns:a16="http://schemas.microsoft.com/office/drawing/2014/main" id="{F2EBCC10-3998-4CB6-8E6B-3BFA8746AC9F}"/>
              </a:ext>
            </a:extLst>
          </p:cNvPr>
          <p:cNvSpPr>
            <a:spLocks noGrp="1"/>
          </p:cNvSpPr>
          <p:nvPr>
            <p:ph type="subTitle" idx="1"/>
          </p:nvPr>
        </p:nvSpPr>
        <p:spPr/>
        <p:txBody>
          <a:bodyPr/>
          <a:lstStyle/>
          <a:p>
            <a:endParaRPr lang="en-IE" dirty="0"/>
          </a:p>
        </p:txBody>
      </p:sp>
    </p:spTree>
    <p:extLst>
      <p:ext uri="{BB962C8B-B14F-4D97-AF65-F5344CB8AC3E}">
        <p14:creationId xmlns:p14="http://schemas.microsoft.com/office/powerpoint/2010/main" val="1042034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2A2E9-A84E-4BA5-87AE-7B2D5152B82D}"/>
              </a:ext>
            </a:extLst>
          </p:cNvPr>
          <p:cNvSpPr>
            <a:spLocks noGrp="1"/>
          </p:cNvSpPr>
          <p:nvPr>
            <p:ph type="title"/>
          </p:nvPr>
        </p:nvSpPr>
        <p:spPr/>
        <p:txBody>
          <a:bodyPr/>
          <a:lstStyle/>
          <a:p>
            <a:r>
              <a:rPr lang="en-IE" dirty="0"/>
              <a:t>Recap – Network/Broadcast/Host Addresses</a:t>
            </a:r>
          </a:p>
        </p:txBody>
      </p:sp>
      <p:sp>
        <p:nvSpPr>
          <p:cNvPr id="3" name="Content Placeholder 2">
            <a:extLst>
              <a:ext uri="{FF2B5EF4-FFF2-40B4-BE49-F238E27FC236}">
                <a16:creationId xmlns:a16="http://schemas.microsoft.com/office/drawing/2014/main" id="{221E93DC-CEB2-4E5A-A14E-62ACD0893CA9}"/>
              </a:ext>
            </a:extLst>
          </p:cNvPr>
          <p:cNvSpPr>
            <a:spLocks noGrp="1"/>
          </p:cNvSpPr>
          <p:nvPr>
            <p:ph idx="1"/>
          </p:nvPr>
        </p:nvSpPr>
        <p:spPr/>
        <p:txBody>
          <a:bodyPr/>
          <a:lstStyle/>
          <a:p>
            <a:r>
              <a:rPr lang="en-IE" dirty="0"/>
              <a:t>Example </a:t>
            </a:r>
            <a:r>
              <a:rPr lang="en-IE" b="1" dirty="0"/>
              <a:t>198.22.45.105/25</a:t>
            </a:r>
          </a:p>
          <a:p>
            <a:pPr lvl="1"/>
            <a:r>
              <a:rPr lang="en-IE" dirty="0"/>
              <a:t>Network Address : 198.22.45.0/25</a:t>
            </a:r>
          </a:p>
          <a:p>
            <a:pPr lvl="1"/>
            <a:r>
              <a:rPr lang="en-IE" dirty="0"/>
              <a:t>Broadcast Address: 198.22.45.127</a:t>
            </a:r>
          </a:p>
          <a:p>
            <a:pPr lvl="1"/>
            <a:r>
              <a:rPr lang="en-IE" dirty="0"/>
              <a:t>Host Address Range : 198.22.45.1 -&gt; 198.22.45.126 (2</a:t>
            </a:r>
            <a:r>
              <a:rPr lang="en-IE" baseline="30000" dirty="0"/>
              <a:t>7</a:t>
            </a:r>
            <a:r>
              <a:rPr lang="en-IE" dirty="0"/>
              <a:t>-2 = 126 hosts)</a:t>
            </a:r>
          </a:p>
          <a:p>
            <a:pPr lvl="1"/>
            <a:endParaRPr lang="en-IE" dirty="0"/>
          </a:p>
        </p:txBody>
      </p:sp>
      <p:sp>
        <p:nvSpPr>
          <p:cNvPr id="5" name="TextBox 4">
            <a:extLst>
              <a:ext uri="{FF2B5EF4-FFF2-40B4-BE49-F238E27FC236}">
                <a16:creationId xmlns:a16="http://schemas.microsoft.com/office/drawing/2014/main" id="{04FE081B-55B9-4150-8BBD-95F26A8CB0A3}"/>
              </a:ext>
            </a:extLst>
          </p:cNvPr>
          <p:cNvSpPr txBox="1"/>
          <p:nvPr/>
        </p:nvSpPr>
        <p:spPr>
          <a:xfrm>
            <a:off x="942974" y="3869382"/>
            <a:ext cx="11125934"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IP Address: 198.22.45.105        Binary: 11000110.00010110.00101101.01101001</a:t>
            </a:r>
          </a:p>
        </p:txBody>
      </p:sp>
      <p:sp>
        <p:nvSpPr>
          <p:cNvPr id="7" name="TextBox 6">
            <a:extLst>
              <a:ext uri="{FF2B5EF4-FFF2-40B4-BE49-F238E27FC236}">
                <a16:creationId xmlns:a16="http://schemas.microsoft.com/office/drawing/2014/main" id="{2321939B-0A2C-48D5-861A-6A65DA759866}"/>
              </a:ext>
            </a:extLst>
          </p:cNvPr>
          <p:cNvSpPr txBox="1"/>
          <p:nvPr/>
        </p:nvSpPr>
        <p:spPr>
          <a:xfrm>
            <a:off x="1213006" y="4373651"/>
            <a:ext cx="11013468"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Subnet mask: 255.255.255.128   Binary: 11111111.11111111.11111111.10000000 </a:t>
            </a:r>
          </a:p>
        </p:txBody>
      </p:sp>
      <p:sp>
        <p:nvSpPr>
          <p:cNvPr id="9" name="TextBox 8">
            <a:extLst>
              <a:ext uri="{FF2B5EF4-FFF2-40B4-BE49-F238E27FC236}">
                <a16:creationId xmlns:a16="http://schemas.microsoft.com/office/drawing/2014/main" id="{79844170-AE7F-45B3-AD60-20E989E13161}"/>
              </a:ext>
            </a:extLst>
          </p:cNvPr>
          <p:cNvSpPr txBox="1"/>
          <p:nvPr/>
        </p:nvSpPr>
        <p:spPr>
          <a:xfrm>
            <a:off x="942974" y="4877920"/>
            <a:ext cx="11384611"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Network Address: 198.22.45.0/25  Binary: 11000110.00010110.00101101.0</a:t>
            </a:r>
            <a:r>
              <a:rPr lang="en-IE" dirty="0">
                <a:solidFill>
                  <a:srgbClr val="FF0000"/>
                </a:solidFill>
                <a:latin typeface="Courier New" panose="02070309020205020404" pitchFamily="49" charset="0"/>
                <a:cs typeface="Courier New" panose="02070309020205020404" pitchFamily="49" charset="0"/>
              </a:rPr>
              <a:t>0000000</a:t>
            </a:r>
          </a:p>
        </p:txBody>
      </p:sp>
      <p:sp>
        <p:nvSpPr>
          <p:cNvPr id="11" name="TextBox 10">
            <a:extLst>
              <a:ext uri="{FF2B5EF4-FFF2-40B4-BE49-F238E27FC236}">
                <a16:creationId xmlns:a16="http://schemas.microsoft.com/office/drawing/2014/main" id="{A0A0C497-3AC7-458D-8681-14C99691F071}"/>
              </a:ext>
            </a:extLst>
          </p:cNvPr>
          <p:cNvSpPr txBox="1"/>
          <p:nvPr/>
        </p:nvSpPr>
        <p:spPr>
          <a:xfrm>
            <a:off x="838200" y="5342775"/>
            <a:ext cx="11215909"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Broadcast Address: 198.22.45.127  Binary: 11000110.00010110.00101101.0</a:t>
            </a:r>
            <a:r>
              <a:rPr lang="en-IE" dirty="0">
                <a:solidFill>
                  <a:srgbClr val="FF0000"/>
                </a:solidFill>
                <a:latin typeface="Courier New" panose="02070309020205020404" pitchFamily="49" charset="0"/>
                <a:cs typeface="Courier New" panose="02070309020205020404" pitchFamily="49" charset="0"/>
              </a:rPr>
              <a:t>1111111</a:t>
            </a:r>
          </a:p>
        </p:txBody>
      </p:sp>
      <p:sp>
        <p:nvSpPr>
          <p:cNvPr id="12" name="TextBox 11">
            <a:extLst>
              <a:ext uri="{FF2B5EF4-FFF2-40B4-BE49-F238E27FC236}">
                <a16:creationId xmlns:a16="http://schemas.microsoft.com/office/drawing/2014/main" id="{F6A720B9-C88E-421B-837A-3304BE410F12}"/>
              </a:ext>
            </a:extLst>
          </p:cNvPr>
          <p:cNvSpPr txBox="1"/>
          <p:nvPr/>
        </p:nvSpPr>
        <p:spPr>
          <a:xfrm>
            <a:off x="689645" y="5760776"/>
            <a:ext cx="11215909"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first Host Address  : 198.22.45.1  Binary: 11000110.00010110.00101101.0</a:t>
            </a:r>
            <a:r>
              <a:rPr lang="en-IE" dirty="0">
                <a:solidFill>
                  <a:srgbClr val="FF0000"/>
                </a:solidFill>
                <a:latin typeface="Courier New" panose="02070309020205020404" pitchFamily="49" charset="0"/>
                <a:cs typeface="Courier New" panose="02070309020205020404" pitchFamily="49" charset="0"/>
              </a:rPr>
              <a:t>0000001</a:t>
            </a:r>
          </a:p>
        </p:txBody>
      </p:sp>
      <p:sp>
        <p:nvSpPr>
          <p:cNvPr id="13" name="TextBox 12">
            <a:extLst>
              <a:ext uri="{FF2B5EF4-FFF2-40B4-BE49-F238E27FC236}">
                <a16:creationId xmlns:a16="http://schemas.microsoft.com/office/drawing/2014/main" id="{D02A83B1-0937-4FC6-8DA4-3D9B5B5903E9}"/>
              </a:ext>
            </a:extLst>
          </p:cNvPr>
          <p:cNvSpPr txBox="1"/>
          <p:nvPr/>
        </p:nvSpPr>
        <p:spPr>
          <a:xfrm>
            <a:off x="565638" y="6282471"/>
            <a:ext cx="11215909"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Last Host Address  : 198.22.45.126  Binary: 11000110.00010110.00101101.0</a:t>
            </a:r>
            <a:r>
              <a:rPr lang="en-IE" dirty="0">
                <a:solidFill>
                  <a:srgbClr val="FF0000"/>
                </a:solidFill>
                <a:latin typeface="Courier New" panose="02070309020205020404" pitchFamily="49" charset="0"/>
                <a:cs typeface="Courier New" panose="02070309020205020404" pitchFamily="49" charset="0"/>
              </a:rPr>
              <a:t>1111110</a:t>
            </a:r>
          </a:p>
        </p:txBody>
      </p:sp>
    </p:spTree>
    <p:extLst>
      <p:ext uri="{BB962C8B-B14F-4D97-AF65-F5344CB8AC3E}">
        <p14:creationId xmlns:p14="http://schemas.microsoft.com/office/powerpoint/2010/main" val="293063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fade">
                                      <p:cBhvr>
                                        <p:cTn id="37" dur="500"/>
                                        <p:tgtEl>
                                          <p:spTgt spid="3">
                                            <p:txEl>
                                              <p:pRg st="1" end="1"/>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2" end="2"/>
                                            </p:txEl>
                                          </p:spTgt>
                                        </p:tgtEl>
                                        <p:attrNameLst>
                                          <p:attrName>style.visibility</p:attrName>
                                        </p:attrNameLst>
                                      </p:cBhvr>
                                      <p:to>
                                        <p:strVal val="visible"/>
                                      </p:to>
                                    </p:set>
                                    <p:animEffect transition="in" filter="fade">
                                      <p:cBhvr>
                                        <p:cTn id="40" dur="500"/>
                                        <p:tgtEl>
                                          <p:spTgt spid="3">
                                            <p:txEl>
                                              <p:pRg st="2" end="2"/>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fade">
                                      <p:cBhvr>
                                        <p:cTn id="4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7AB11-6979-47A3-9EF2-1DA38BF73C8C}"/>
              </a:ext>
            </a:extLst>
          </p:cNvPr>
          <p:cNvSpPr>
            <a:spLocks noGrp="1"/>
          </p:cNvSpPr>
          <p:nvPr>
            <p:ph type="title"/>
          </p:nvPr>
        </p:nvSpPr>
        <p:spPr/>
        <p:txBody>
          <a:bodyPr/>
          <a:lstStyle/>
          <a:p>
            <a:r>
              <a:rPr lang="en-IE" dirty="0"/>
              <a:t>Recap – Network/Broadcast/Host Addresses</a:t>
            </a:r>
          </a:p>
        </p:txBody>
      </p:sp>
      <p:sp>
        <p:nvSpPr>
          <p:cNvPr id="3" name="Content Placeholder 2">
            <a:extLst>
              <a:ext uri="{FF2B5EF4-FFF2-40B4-BE49-F238E27FC236}">
                <a16:creationId xmlns:a16="http://schemas.microsoft.com/office/drawing/2014/main" id="{A00F330E-43DD-43F5-A8F5-1FD72A9647D3}"/>
              </a:ext>
            </a:extLst>
          </p:cNvPr>
          <p:cNvSpPr>
            <a:spLocks noGrp="1"/>
          </p:cNvSpPr>
          <p:nvPr>
            <p:ph idx="1"/>
          </p:nvPr>
        </p:nvSpPr>
        <p:spPr/>
        <p:txBody>
          <a:bodyPr/>
          <a:lstStyle/>
          <a:p>
            <a:r>
              <a:rPr lang="en-IE" dirty="0"/>
              <a:t>Example 10.1.50.143/16 </a:t>
            </a:r>
          </a:p>
          <a:p>
            <a:pPr lvl="1"/>
            <a:r>
              <a:rPr lang="en-IE" dirty="0"/>
              <a:t>Network Address : 10.1.0.0/16</a:t>
            </a:r>
          </a:p>
          <a:p>
            <a:pPr lvl="1"/>
            <a:r>
              <a:rPr lang="en-IE" dirty="0"/>
              <a:t>Broadcast Address: 10.1.255.255</a:t>
            </a:r>
          </a:p>
          <a:p>
            <a:pPr lvl="1"/>
            <a:r>
              <a:rPr lang="en-IE" dirty="0"/>
              <a:t>Host Address Range: 10.1.0.1 -&gt; 10.1.255.254 (2</a:t>
            </a:r>
            <a:r>
              <a:rPr lang="en-IE" baseline="30000" dirty="0"/>
              <a:t>16</a:t>
            </a:r>
            <a:r>
              <a:rPr lang="en-IE" dirty="0"/>
              <a:t>-2 = </a:t>
            </a:r>
            <a:r>
              <a:rPr lang="en-IE" b="0" i="0" dirty="0">
                <a:solidFill>
                  <a:srgbClr val="000000"/>
                </a:solidFill>
                <a:effectLst/>
                <a:latin typeface="arial" panose="020B0604020202020204" pitchFamily="34" charset="0"/>
              </a:rPr>
              <a:t>65534 hosts)</a:t>
            </a:r>
            <a:endParaRPr lang="en-IE" dirty="0"/>
          </a:p>
          <a:p>
            <a:endParaRPr lang="en-IE" dirty="0"/>
          </a:p>
        </p:txBody>
      </p:sp>
      <p:sp>
        <p:nvSpPr>
          <p:cNvPr id="4" name="TextBox 3">
            <a:extLst>
              <a:ext uri="{FF2B5EF4-FFF2-40B4-BE49-F238E27FC236}">
                <a16:creationId xmlns:a16="http://schemas.microsoft.com/office/drawing/2014/main" id="{273C485C-FED1-4966-9EAC-7D7A9D13296C}"/>
              </a:ext>
            </a:extLst>
          </p:cNvPr>
          <p:cNvSpPr txBox="1"/>
          <p:nvPr/>
        </p:nvSpPr>
        <p:spPr>
          <a:xfrm>
            <a:off x="1201651" y="3869382"/>
            <a:ext cx="11125934"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IP Address: 10.1.50.143        Binary: 00001010.00000001.00110010.10001111</a:t>
            </a:r>
          </a:p>
        </p:txBody>
      </p:sp>
      <p:sp>
        <p:nvSpPr>
          <p:cNvPr id="5" name="TextBox 4">
            <a:extLst>
              <a:ext uri="{FF2B5EF4-FFF2-40B4-BE49-F238E27FC236}">
                <a16:creationId xmlns:a16="http://schemas.microsoft.com/office/drawing/2014/main" id="{EEC38862-BD87-4F54-81DE-23E47C1DAD55}"/>
              </a:ext>
            </a:extLst>
          </p:cNvPr>
          <p:cNvSpPr txBox="1"/>
          <p:nvPr/>
        </p:nvSpPr>
        <p:spPr>
          <a:xfrm>
            <a:off x="1213006" y="4373651"/>
            <a:ext cx="11013468"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Subnet mask: 255.255.0.0       Binary: 11111111.11111111.00000000.00000000 </a:t>
            </a:r>
          </a:p>
        </p:txBody>
      </p:sp>
      <p:sp>
        <p:nvSpPr>
          <p:cNvPr id="6" name="TextBox 5">
            <a:extLst>
              <a:ext uri="{FF2B5EF4-FFF2-40B4-BE49-F238E27FC236}">
                <a16:creationId xmlns:a16="http://schemas.microsoft.com/office/drawing/2014/main" id="{DB95253C-9004-4210-9EE5-159BF4CC5B4F}"/>
              </a:ext>
            </a:extLst>
          </p:cNvPr>
          <p:cNvSpPr txBox="1"/>
          <p:nvPr/>
        </p:nvSpPr>
        <p:spPr>
          <a:xfrm>
            <a:off x="1365005" y="4858213"/>
            <a:ext cx="11384611"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Network Address: 10.1.0.0/16  Binary: 00001010.00000001.</a:t>
            </a:r>
            <a:r>
              <a:rPr lang="en-IE" dirty="0">
                <a:solidFill>
                  <a:srgbClr val="FF0000"/>
                </a:solidFill>
                <a:latin typeface="Courier New" panose="02070309020205020404" pitchFamily="49" charset="0"/>
                <a:cs typeface="Courier New" panose="02070309020205020404" pitchFamily="49" charset="0"/>
              </a:rPr>
              <a:t>00000000.00000000</a:t>
            </a:r>
          </a:p>
        </p:txBody>
      </p:sp>
      <p:sp>
        <p:nvSpPr>
          <p:cNvPr id="7" name="TextBox 6">
            <a:extLst>
              <a:ext uri="{FF2B5EF4-FFF2-40B4-BE49-F238E27FC236}">
                <a16:creationId xmlns:a16="http://schemas.microsoft.com/office/drawing/2014/main" id="{A1E5A279-521C-41B7-AE85-913B3E4C0CD6}"/>
              </a:ext>
            </a:extLst>
          </p:cNvPr>
          <p:cNvSpPr txBox="1"/>
          <p:nvPr/>
        </p:nvSpPr>
        <p:spPr>
          <a:xfrm>
            <a:off x="976091" y="5315263"/>
            <a:ext cx="11215909"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Broadcast Address: 10.1.255.255  Binary: 00001010.00000001.</a:t>
            </a:r>
            <a:r>
              <a:rPr lang="en-IE" dirty="0">
                <a:solidFill>
                  <a:srgbClr val="FF0000"/>
                </a:solidFill>
                <a:latin typeface="Courier New" panose="02070309020205020404" pitchFamily="49" charset="0"/>
                <a:cs typeface="Courier New" panose="02070309020205020404" pitchFamily="49" charset="0"/>
              </a:rPr>
              <a:t>11111111.11111111</a:t>
            </a:r>
          </a:p>
        </p:txBody>
      </p:sp>
      <p:sp>
        <p:nvSpPr>
          <p:cNvPr id="8" name="TextBox 7">
            <a:extLst>
              <a:ext uri="{FF2B5EF4-FFF2-40B4-BE49-F238E27FC236}">
                <a16:creationId xmlns:a16="http://schemas.microsoft.com/office/drawing/2014/main" id="{BEE06D26-AD16-4B17-A520-C69E490F689F}"/>
              </a:ext>
            </a:extLst>
          </p:cNvPr>
          <p:cNvSpPr txBox="1"/>
          <p:nvPr/>
        </p:nvSpPr>
        <p:spPr>
          <a:xfrm>
            <a:off x="1111676" y="5760721"/>
            <a:ext cx="11215909"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first Host Address  : 10.1.0.1  Binary: 00001010.00000001.</a:t>
            </a:r>
            <a:r>
              <a:rPr lang="en-IE" dirty="0">
                <a:solidFill>
                  <a:srgbClr val="FF0000"/>
                </a:solidFill>
                <a:latin typeface="Courier New" panose="02070309020205020404" pitchFamily="49" charset="0"/>
                <a:cs typeface="Courier New" panose="02070309020205020404" pitchFamily="49" charset="0"/>
              </a:rPr>
              <a:t>00000000.00000001</a:t>
            </a:r>
          </a:p>
        </p:txBody>
      </p:sp>
      <p:sp>
        <p:nvSpPr>
          <p:cNvPr id="9" name="TextBox 8">
            <a:extLst>
              <a:ext uri="{FF2B5EF4-FFF2-40B4-BE49-F238E27FC236}">
                <a16:creationId xmlns:a16="http://schemas.microsoft.com/office/drawing/2014/main" id="{96804595-20D6-4AF3-BFF1-272E7776D95A}"/>
              </a:ext>
            </a:extLst>
          </p:cNvPr>
          <p:cNvSpPr txBox="1"/>
          <p:nvPr/>
        </p:nvSpPr>
        <p:spPr>
          <a:xfrm>
            <a:off x="696267" y="6264681"/>
            <a:ext cx="11215909"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Last Host Address  : 10.1.255.254  Binary: 00001010.00000001.</a:t>
            </a:r>
            <a:r>
              <a:rPr lang="en-IE" dirty="0">
                <a:solidFill>
                  <a:srgbClr val="FF0000"/>
                </a:solidFill>
                <a:latin typeface="Courier New" panose="02070309020205020404" pitchFamily="49" charset="0"/>
                <a:cs typeface="Courier New" panose="02070309020205020404" pitchFamily="49" charset="0"/>
              </a:rPr>
              <a:t>11111111.11111110</a:t>
            </a:r>
          </a:p>
        </p:txBody>
      </p:sp>
    </p:spTree>
    <p:extLst>
      <p:ext uri="{BB962C8B-B14F-4D97-AF65-F5344CB8AC3E}">
        <p14:creationId xmlns:p14="http://schemas.microsoft.com/office/powerpoint/2010/main" val="718328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fade">
                                      <p:cBhvr>
                                        <p:cTn id="37" dur="500"/>
                                        <p:tgtEl>
                                          <p:spTgt spid="3">
                                            <p:txEl>
                                              <p:pRg st="1" end="1"/>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2" end="2"/>
                                            </p:txEl>
                                          </p:spTgt>
                                        </p:tgtEl>
                                        <p:attrNameLst>
                                          <p:attrName>style.visibility</p:attrName>
                                        </p:attrNameLst>
                                      </p:cBhvr>
                                      <p:to>
                                        <p:strVal val="visible"/>
                                      </p:to>
                                    </p:set>
                                    <p:animEffect transition="in" filter="fade">
                                      <p:cBhvr>
                                        <p:cTn id="40" dur="500"/>
                                        <p:tgtEl>
                                          <p:spTgt spid="3">
                                            <p:txEl>
                                              <p:pRg st="2" end="2"/>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fade">
                                      <p:cBhvr>
                                        <p:cTn id="4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FA09F-ADF1-4E0A-83CD-F6E77F754785}"/>
              </a:ext>
            </a:extLst>
          </p:cNvPr>
          <p:cNvSpPr>
            <a:spLocks noGrp="1"/>
          </p:cNvSpPr>
          <p:nvPr>
            <p:ph type="title"/>
          </p:nvPr>
        </p:nvSpPr>
        <p:spPr/>
        <p:txBody>
          <a:bodyPr/>
          <a:lstStyle/>
          <a:p>
            <a:r>
              <a:rPr lang="en-IE" dirty="0"/>
              <a:t>Recap – Network/Broadcast/Host Addresses</a:t>
            </a:r>
          </a:p>
        </p:txBody>
      </p:sp>
      <p:sp>
        <p:nvSpPr>
          <p:cNvPr id="3" name="Content Placeholder 2">
            <a:extLst>
              <a:ext uri="{FF2B5EF4-FFF2-40B4-BE49-F238E27FC236}">
                <a16:creationId xmlns:a16="http://schemas.microsoft.com/office/drawing/2014/main" id="{F6DB1543-264E-4633-B7D8-9456618FE21A}"/>
              </a:ext>
            </a:extLst>
          </p:cNvPr>
          <p:cNvSpPr>
            <a:spLocks noGrp="1"/>
          </p:cNvSpPr>
          <p:nvPr>
            <p:ph idx="1"/>
          </p:nvPr>
        </p:nvSpPr>
        <p:spPr>
          <a:xfrm>
            <a:off x="700309" y="1333257"/>
            <a:ext cx="10515600" cy="4351338"/>
          </a:xfrm>
        </p:spPr>
        <p:txBody>
          <a:bodyPr/>
          <a:lstStyle/>
          <a:p>
            <a:r>
              <a:rPr lang="en-GB" dirty="0"/>
              <a:t>From Last Slide Deck (Week6, talk 1):</a:t>
            </a:r>
          </a:p>
          <a:p>
            <a:pPr lvl="1"/>
            <a:r>
              <a:rPr lang="en-GB" dirty="0"/>
              <a:t>Network Address</a:t>
            </a:r>
          </a:p>
          <a:p>
            <a:pPr lvl="1"/>
            <a:r>
              <a:rPr lang="en-GB" dirty="0"/>
              <a:t>Broadcast Address</a:t>
            </a:r>
          </a:p>
          <a:p>
            <a:pPr lvl="1"/>
            <a:r>
              <a:rPr lang="en-GB" dirty="0"/>
              <a:t>Number of Hosts</a:t>
            </a:r>
          </a:p>
          <a:p>
            <a:pPr lvl="1"/>
            <a:r>
              <a:rPr lang="en-GB" dirty="0"/>
              <a:t>First host address</a:t>
            </a:r>
          </a:p>
          <a:p>
            <a:pPr lvl="1"/>
            <a:r>
              <a:rPr lang="en-GB" dirty="0"/>
              <a:t>Last host address</a:t>
            </a:r>
            <a:br>
              <a:rPr lang="en-GB" dirty="0"/>
            </a:br>
            <a:endParaRPr lang="en-IE" dirty="0"/>
          </a:p>
        </p:txBody>
      </p:sp>
      <p:pic>
        <p:nvPicPr>
          <p:cNvPr id="5" name="Picture 4">
            <a:extLst>
              <a:ext uri="{FF2B5EF4-FFF2-40B4-BE49-F238E27FC236}">
                <a16:creationId xmlns:a16="http://schemas.microsoft.com/office/drawing/2014/main" id="{49868B64-DF63-4CC2-999B-7ECEEC70CFD3}"/>
              </a:ext>
            </a:extLst>
          </p:cNvPr>
          <p:cNvPicPr>
            <a:picLocks noChangeAspect="1"/>
          </p:cNvPicPr>
          <p:nvPr/>
        </p:nvPicPr>
        <p:blipFill>
          <a:blip r:embed="rId2"/>
          <a:stretch>
            <a:fillRect/>
          </a:stretch>
        </p:blipFill>
        <p:spPr>
          <a:xfrm>
            <a:off x="6821628" y="1690688"/>
            <a:ext cx="3437740" cy="1680269"/>
          </a:xfrm>
          <a:prstGeom prst="rect">
            <a:avLst/>
          </a:prstGeom>
        </p:spPr>
      </p:pic>
      <p:sp>
        <p:nvSpPr>
          <p:cNvPr id="15" name="TextBox 14">
            <a:extLst>
              <a:ext uri="{FF2B5EF4-FFF2-40B4-BE49-F238E27FC236}">
                <a16:creationId xmlns:a16="http://schemas.microsoft.com/office/drawing/2014/main" id="{8D94C9B4-D5B2-4AD8-ADBD-B1811E17AC86}"/>
              </a:ext>
            </a:extLst>
          </p:cNvPr>
          <p:cNvSpPr txBox="1"/>
          <p:nvPr/>
        </p:nvSpPr>
        <p:spPr>
          <a:xfrm>
            <a:off x="1201651" y="3869382"/>
            <a:ext cx="11125934"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IP Address: 	209.165.200.224   Binary: 11010001.10100101.11001000.11100000</a:t>
            </a:r>
          </a:p>
        </p:txBody>
      </p:sp>
      <p:sp>
        <p:nvSpPr>
          <p:cNvPr id="19" name="TextBox 18">
            <a:extLst>
              <a:ext uri="{FF2B5EF4-FFF2-40B4-BE49-F238E27FC236}">
                <a16:creationId xmlns:a16="http://schemas.microsoft.com/office/drawing/2014/main" id="{93C21391-77BB-4BDB-956B-B87D9F771868}"/>
              </a:ext>
            </a:extLst>
          </p:cNvPr>
          <p:cNvSpPr txBox="1"/>
          <p:nvPr/>
        </p:nvSpPr>
        <p:spPr>
          <a:xfrm>
            <a:off x="1254267" y="4373342"/>
            <a:ext cx="11013468"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Subnet mask: 255.255.255.252   Binary: 11111111.11111111.11111111.11111100 </a:t>
            </a:r>
          </a:p>
        </p:txBody>
      </p:sp>
      <p:sp>
        <p:nvSpPr>
          <p:cNvPr id="20" name="TextBox 19">
            <a:extLst>
              <a:ext uri="{FF2B5EF4-FFF2-40B4-BE49-F238E27FC236}">
                <a16:creationId xmlns:a16="http://schemas.microsoft.com/office/drawing/2014/main" id="{14EF9FE7-28B2-4100-9302-66504B403696}"/>
              </a:ext>
            </a:extLst>
          </p:cNvPr>
          <p:cNvSpPr txBox="1"/>
          <p:nvPr/>
        </p:nvSpPr>
        <p:spPr>
          <a:xfrm>
            <a:off x="403694" y="4837514"/>
            <a:ext cx="11384611"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Network Address: 209.165.200.224/30  Binary: 11010001.10100101.11001000.111000</a:t>
            </a:r>
            <a:r>
              <a:rPr lang="en-IE" dirty="0">
                <a:solidFill>
                  <a:srgbClr val="FF0000"/>
                </a:solidFill>
                <a:latin typeface="Courier New" panose="02070309020205020404" pitchFamily="49" charset="0"/>
                <a:cs typeface="Courier New" panose="02070309020205020404" pitchFamily="49" charset="0"/>
              </a:rPr>
              <a:t>00</a:t>
            </a:r>
          </a:p>
        </p:txBody>
      </p:sp>
      <p:sp>
        <p:nvSpPr>
          <p:cNvPr id="21" name="TextBox 20">
            <a:extLst>
              <a:ext uri="{FF2B5EF4-FFF2-40B4-BE49-F238E27FC236}">
                <a16:creationId xmlns:a16="http://schemas.microsoft.com/office/drawing/2014/main" id="{47BEBD85-0C64-403D-A666-D6D9DAE9CF09}"/>
              </a:ext>
            </a:extLst>
          </p:cNvPr>
          <p:cNvSpPr txBox="1"/>
          <p:nvPr/>
        </p:nvSpPr>
        <p:spPr>
          <a:xfrm>
            <a:off x="572396" y="5296549"/>
            <a:ext cx="11215909"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Broadcast Address: 209.165.200.227  Binary: 11010001.10100101.11001000.111000</a:t>
            </a:r>
            <a:r>
              <a:rPr lang="en-IE" dirty="0">
                <a:solidFill>
                  <a:srgbClr val="FF0000"/>
                </a:solidFill>
                <a:latin typeface="Courier New" panose="02070309020205020404" pitchFamily="49" charset="0"/>
                <a:cs typeface="Courier New" panose="02070309020205020404" pitchFamily="49" charset="0"/>
              </a:rPr>
              <a:t>11</a:t>
            </a:r>
          </a:p>
        </p:txBody>
      </p:sp>
      <p:sp>
        <p:nvSpPr>
          <p:cNvPr id="22" name="TextBox 21">
            <a:extLst>
              <a:ext uri="{FF2B5EF4-FFF2-40B4-BE49-F238E27FC236}">
                <a16:creationId xmlns:a16="http://schemas.microsoft.com/office/drawing/2014/main" id="{23F768F9-F187-4DA3-BBAB-7D505F93D459}"/>
              </a:ext>
            </a:extLst>
          </p:cNvPr>
          <p:cNvSpPr txBox="1"/>
          <p:nvPr/>
        </p:nvSpPr>
        <p:spPr>
          <a:xfrm>
            <a:off x="193534" y="5749141"/>
            <a:ext cx="11529150"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first Host Address  : 209.165.200.225  Binary: 11010001.10100101.11001000.111000</a:t>
            </a:r>
            <a:r>
              <a:rPr lang="en-IE" dirty="0">
                <a:solidFill>
                  <a:srgbClr val="FF0000"/>
                </a:solidFill>
                <a:latin typeface="Courier New" panose="02070309020205020404" pitchFamily="49" charset="0"/>
                <a:cs typeface="Courier New" panose="02070309020205020404" pitchFamily="49" charset="0"/>
              </a:rPr>
              <a:t>01</a:t>
            </a:r>
          </a:p>
        </p:txBody>
      </p:sp>
      <p:sp>
        <p:nvSpPr>
          <p:cNvPr id="23" name="TextBox 22">
            <a:extLst>
              <a:ext uri="{FF2B5EF4-FFF2-40B4-BE49-F238E27FC236}">
                <a16:creationId xmlns:a16="http://schemas.microsoft.com/office/drawing/2014/main" id="{EC991EF0-5E19-47EE-8E12-8F6CE5713AF6}"/>
              </a:ext>
            </a:extLst>
          </p:cNvPr>
          <p:cNvSpPr txBox="1"/>
          <p:nvPr/>
        </p:nvSpPr>
        <p:spPr>
          <a:xfrm>
            <a:off x="313578" y="6148451"/>
            <a:ext cx="11733544"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Last Host Address  : 209.165.200.226  Binary: 11010001.10100101.11001000.111000</a:t>
            </a:r>
            <a:r>
              <a:rPr lang="en-IE" dirty="0">
                <a:solidFill>
                  <a:srgbClr val="FF0000"/>
                </a:solidFill>
                <a:latin typeface="Courier New" panose="02070309020205020404" pitchFamily="49" charset="0"/>
                <a:cs typeface="Courier New" panose="02070309020205020404" pitchFamily="49" charset="0"/>
              </a:rPr>
              <a:t>10</a:t>
            </a:r>
          </a:p>
        </p:txBody>
      </p:sp>
      <p:sp>
        <p:nvSpPr>
          <p:cNvPr id="11" name="TextBox 10">
            <a:extLst>
              <a:ext uri="{FF2B5EF4-FFF2-40B4-BE49-F238E27FC236}">
                <a16:creationId xmlns:a16="http://schemas.microsoft.com/office/drawing/2014/main" id="{5D35EA1A-1A2A-4D71-BF6A-E4693B134C78}"/>
              </a:ext>
            </a:extLst>
          </p:cNvPr>
          <p:cNvSpPr txBox="1"/>
          <p:nvPr/>
        </p:nvSpPr>
        <p:spPr>
          <a:xfrm>
            <a:off x="313578" y="6461089"/>
            <a:ext cx="11733544" cy="369332"/>
          </a:xfrm>
          <a:prstGeom prst="rect">
            <a:avLst/>
          </a:prstGeom>
          <a:noFill/>
        </p:spPr>
        <p:txBody>
          <a:bodyPr wrap="square">
            <a:spAutoFit/>
          </a:bodyPr>
          <a:lstStyle/>
          <a:p>
            <a:r>
              <a:rPr lang="en-IE" dirty="0">
                <a:latin typeface="Courier New" panose="02070309020205020404" pitchFamily="49" charset="0"/>
                <a:cs typeface="Courier New" panose="02070309020205020404" pitchFamily="49" charset="0"/>
              </a:rPr>
              <a:t>Number of Hosts: 2</a:t>
            </a:r>
            <a:r>
              <a:rPr lang="en-IE" baseline="30000" dirty="0">
                <a:latin typeface="Courier New" panose="02070309020205020404" pitchFamily="49" charset="0"/>
                <a:cs typeface="Courier New" panose="02070309020205020404" pitchFamily="49" charset="0"/>
              </a:rPr>
              <a:t>2</a:t>
            </a:r>
            <a:r>
              <a:rPr lang="en-IE" dirty="0">
                <a:latin typeface="Courier New" panose="02070309020205020404" pitchFamily="49" charset="0"/>
                <a:cs typeface="Courier New" panose="02070309020205020404" pitchFamily="49" charset="0"/>
              </a:rPr>
              <a:t> – 2 = 2</a:t>
            </a:r>
            <a:endParaRPr lang="en-IE"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71973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P spid="20" grpId="0"/>
      <p:bldP spid="21" grpId="0"/>
      <p:bldP spid="22" grpId="0"/>
      <p:bldP spid="23"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28-Port Gigabit Ethernet Switch Managed | Black Box">
            <a:extLst>
              <a:ext uri="{FF2B5EF4-FFF2-40B4-BE49-F238E27FC236}">
                <a16:creationId xmlns:a16="http://schemas.microsoft.com/office/drawing/2014/main" id="{7B558EC0-5732-A1DB-7CA5-6CF346C8AFF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1430" y="3850381"/>
            <a:ext cx="2549139" cy="83510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28-Port Gigabit Ethernet Switch Managed | Black Box">
            <a:extLst>
              <a:ext uri="{FF2B5EF4-FFF2-40B4-BE49-F238E27FC236}">
                <a16:creationId xmlns:a16="http://schemas.microsoft.com/office/drawing/2014/main" id="{40EB5F02-5FD5-79B6-2293-6F6638DC54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55416" y="3937072"/>
            <a:ext cx="2549139" cy="83510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28-Port Gigabit Ethernet Switch Managed | Black Box">
            <a:extLst>
              <a:ext uri="{FF2B5EF4-FFF2-40B4-BE49-F238E27FC236}">
                <a16:creationId xmlns:a16="http://schemas.microsoft.com/office/drawing/2014/main" id="{4D28FE3A-3C3F-38D0-4628-819D60FB78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8388" y="1504652"/>
            <a:ext cx="2323796" cy="76128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28-Port Gigabit Ethernet Switch Managed | Black Box">
            <a:extLst>
              <a:ext uri="{FF2B5EF4-FFF2-40B4-BE49-F238E27FC236}">
                <a16:creationId xmlns:a16="http://schemas.microsoft.com/office/drawing/2014/main" id="{B03B70F3-247C-4553-0F06-21C51D0714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59859" y="3850381"/>
            <a:ext cx="2549139" cy="83510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Switch Network - ClipArt Best">
            <a:extLst>
              <a:ext uri="{FF2B5EF4-FFF2-40B4-BE49-F238E27FC236}">
                <a16:creationId xmlns:a16="http://schemas.microsoft.com/office/drawing/2014/main" id="{F7B87C6B-0287-0D08-64AD-66B2D788E30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04463" y="3851338"/>
            <a:ext cx="1749121" cy="135367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witch Network - ClipArt Best">
            <a:extLst>
              <a:ext uri="{FF2B5EF4-FFF2-40B4-BE49-F238E27FC236}">
                <a16:creationId xmlns:a16="http://schemas.microsoft.com/office/drawing/2014/main" id="{E27EE1CD-F731-1D65-10C9-83A20A1141A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83407" y="3908386"/>
            <a:ext cx="1749121" cy="135367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ISCO 2821 NETWORK ROUTER W/ 256 MB FLASH CARD | Premier Equipment ...">
            <a:extLst>
              <a:ext uri="{FF2B5EF4-FFF2-40B4-BE49-F238E27FC236}">
                <a16:creationId xmlns:a16="http://schemas.microsoft.com/office/drawing/2014/main" id="{2599D36F-F04B-572C-CE22-20A6F0D4A28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26987" y="1180817"/>
            <a:ext cx="2026597" cy="135044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10D48BE-1F9A-E942-2BF7-6E9078A56725}"/>
              </a:ext>
            </a:extLst>
          </p:cNvPr>
          <p:cNvSpPr txBox="1"/>
          <p:nvPr/>
        </p:nvSpPr>
        <p:spPr>
          <a:xfrm>
            <a:off x="2402010" y="3298001"/>
            <a:ext cx="655949" cy="369332"/>
          </a:xfrm>
          <a:prstGeom prst="rect">
            <a:avLst/>
          </a:prstGeom>
          <a:noFill/>
        </p:spPr>
        <p:txBody>
          <a:bodyPr wrap="none" rtlCol="0">
            <a:spAutoFit/>
          </a:bodyPr>
          <a:lstStyle/>
          <a:p>
            <a:r>
              <a:rPr lang="en-IE" dirty="0"/>
              <a:t>Shop</a:t>
            </a:r>
          </a:p>
        </p:txBody>
      </p:sp>
      <p:sp>
        <p:nvSpPr>
          <p:cNvPr id="12" name="TextBox 11">
            <a:extLst>
              <a:ext uri="{FF2B5EF4-FFF2-40B4-BE49-F238E27FC236}">
                <a16:creationId xmlns:a16="http://schemas.microsoft.com/office/drawing/2014/main" id="{B3F71CF3-E79D-BD1B-DC85-F33B9B9AAC40}"/>
              </a:ext>
            </a:extLst>
          </p:cNvPr>
          <p:cNvSpPr txBox="1"/>
          <p:nvPr/>
        </p:nvSpPr>
        <p:spPr>
          <a:xfrm>
            <a:off x="5504373" y="3298001"/>
            <a:ext cx="1255665" cy="369332"/>
          </a:xfrm>
          <a:prstGeom prst="rect">
            <a:avLst/>
          </a:prstGeom>
          <a:noFill/>
        </p:spPr>
        <p:txBody>
          <a:bodyPr wrap="none" rtlCol="0">
            <a:spAutoFit/>
          </a:bodyPr>
          <a:lstStyle/>
          <a:p>
            <a:r>
              <a:rPr lang="en-IE" dirty="0"/>
              <a:t>Warehouse</a:t>
            </a:r>
          </a:p>
        </p:txBody>
      </p:sp>
      <p:sp>
        <p:nvSpPr>
          <p:cNvPr id="13" name="TextBox 12">
            <a:extLst>
              <a:ext uri="{FF2B5EF4-FFF2-40B4-BE49-F238E27FC236}">
                <a16:creationId xmlns:a16="http://schemas.microsoft.com/office/drawing/2014/main" id="{19EFF329-0BE7-120F-32B0-30C19479E504}"/>
              </a:ext>
            </a:extLst>
          </p:cNvPr>
          <p:cNvSpPr txBox="1"/>
          <p:nvPr/>
        </p:nvSpPr>
        <p:spPr>
          <a:xfrm>
            <a:off x="9134043" y="3317348"/>
            <a:ext cx="741870" cy="369332"/>
          </a:xfrm>
          <a:prstGeom prst="rect">
            <a:avLst/>
          </a:prstGeom>
          <a:noFill/>
        </p:spPr>
        <p:txBody>
          <a:bodyPr wrap="none" rtlCol="0">
            <a:spAutoFit/>
          </a:bodyPr>
          <a:lstStyle/>
          <a:p>
            <a:r>
              <a:rPr lang="en-IE" dirty="0"/>
              <a:t>Office</a:t>
            </a:r>
          </a:p>
        </p:txBody>
      </p:sp>
      <p:sp>
        <p:nvSpPr>
          <p:cNvPr id="14" name="Callout: Line 13">
            <a:extLst>
              <a:ext uri="{FF2B5EF4-FFF2-40B4-BE49-F238E27FC236}">
                <a16:creationId xmlns:a16="http://schemas.microsoft.com/office/drawing/2014/main" id="{043F9256-8348-645B-0104-E9ECDCC84919}"/>
              </a:ext>
            </a:extLst>
          </p:cNvPr>
          <p:cNvSpPr/>
          <p:nvPr/>
        </p:nvSpPr>
        <p:spPr>
          <a:xfrm>
            <a:off x="391886" y="4923692"/>
            <a:ext cx="803868" cy="353554"/>
          </a:xfrm>
          <a:prstGeom prst="borderCallout1">
            <a:avLst>
              <a:gd name="adj1" fmla="val -21661"/>
              <a:gd name="adj2" fmla="val 80534"/>
              <a:gd name="adj3" fmla="val -156907"/>
              <a:gd name="adj4" fmla="val 1773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Switch</a:t>
            </a:r>
          </a:p>
        </p:txBody>
      </p:sp>
      <p:sp>
        <p:nvSpPr>
          <p:cNvPr id="15" name="Callout: Line 14">
            <a:extLst>
              <a:ext uri="{FF2B5EF4-FFF2-40B4-BE49-F238E27FC236}">
                <a16:creationId xmlns:a16="http://schemas.microsoft.com/office/drawing/2014/main" id="{A398596E-013B-4C59-1231-159EE884C076}"/>
              </a:ext>
            </a:extLst>
          </p:cNvPr>
          <p:cNvSpPr/>
          <p:nvPr/>
        </p:nvSpPr>
        <p:spPr>
          <a:xfrm>
            <a:off x="8459561" y="988397"/>
            <a:ext cx="998764" cy="353554"/>
          </a:xfrm>
          <a:prstGeom prst="borderCallout1">
            <a:avLst>
              <a:gd name="adj1" fmla="val 69938"/>
              <a:gd name="adj2" fmla="val -18997"/>
              <a:gd name="adj3" fmla="val 193322"/>
              <a:gd name="adj4" fmla="val -1722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Router</a:t>
            </a:r>
          </a:p>
        </p:txBody>
      </p:sp>
      <p:pic>
        <p:nvPicPr>
          <p:cNvPr id="1028" name="Picture 4" descr="Switch Network - ClipArt Best">
            <a:extLst>
              <a:ext uri="{FF2B5EF4-FFF2-40B4-BE49-F238E27FC236}">
                <a16:creationId xmlns:a16="http://schemas.microsoft.com/office/drawing/2014/main" id="{E78F2EEC-3CAC-46D0-930C-DCBA6EF9057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25519" y="3814616"/>
            <a:ext cx="1749121" cy="13536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outer Network Traffic · Free vector graphic on Pixabay">
            <a:extLst>
              <a:ext uri="{FF2B5EF4-FFF2-40B4-BE49-F238E27FC236}">
                <a16:creationId xmlns:a16="http://schemas.microsoft.com/office/drawing/2014/main" id="{B811CAC8-7DF0-CA6F-EFE5-0AE0E9BE671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84914" y="1567787"/>
            <a:ext cx="2026596" cy="134684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acker PNG images, Hacker Logo, Hacking Mask Clipart Download - Free ...">
            <a:extLst>
              <a:ext uri="{FF2B5EF4-FFF2-40B4-BE49-F238E27FC236}">
                <a16:creationId xmlns:a16="http://schemas.microsoft.com/office/drawing/2014/main" id="{105DF7D5-EC49-9222-519C-A5A079984EC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218229" y="5705474"/>
            <a:ext cx="839730" cy="1003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734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fade">
                                      <p:cBhvr>
                                        <p:cTn id="22" dur="500"/>
                                        <p:tgtEl>
                                          <p:spTgt spid="102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6"/>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032"/>
                                        </p:tgtEl>
                                        <p:attrNameLst>
                                          <p:attrName>style.visibility</p:attrName>
                                        </p:attrNameLst>
                                      </p:cBhvr>
                                      <p:to>
                                        <p:strVal val="visible"/>
                                      </p:to>
                                    </p:set>
                                    <p:animEffect transition="in" filter="fade">
                                      <p:cBhvr>
                                        <p:cTn id="51" dur="500"/>
                                        <p:tgtEl>
                                          <p:spTgt spid="10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5"/>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14"/>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1026"/>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7"/>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6"/>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2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3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nodeType="clickEffect">
                                  <p:stCondLst>
                                    <p:cond delay="0"/>
                                  </p:stCondLst>
                                  <p:childTnLst>
                                    <p:set>
                                      <p:cBhvr>
                                        <p:cTn id="80" dur="1" fill="hold">
                                          <p:stCondLst>
                                            <p:cond delay="0"/>
                                          </p:stCondLst>
                                        </p:cTn>
                                        <p:tgtEl>
                                          <p:spTgt spid="10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animBg="1"/>
      <p:bldP spid="14" grpId="1"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E87E38-920E-4AA0-85CB-969C89A3BAC7}"/>
              </a:ext>
            </a:extLst>
          </p:cNvPr>
          <p:cNvSpPr>
            <a:spLocks noGrp="1"/>
          </p:cNvSpPr>
          <p:nvPr>
            <p:ph type="title"/>
          </p:nvPr>
        </p:nvSpPr>
        <p:spPr>
          <a:xfrm>
            <a:off x="838200" y="365125"/>
            <a:ext cx="10515600" cy="1306443"/>
          </a:xfrm>
        </p:spPr>
        <p:txBody>
          <a:bodyPr>
            <a:normAutofit/>
          </a:bodyPr>
          <a:lstStyle/>
          <a:p>
            <a:r>
              <a:rPr lang="en-CA" sz="4000" dirty="0"/>
              <a:t>IP Addressing: Problem</a:t>
            </a:r>
            <a:endParaRPr lang="en-IE" sz="4000" dirty="0"/>
          </a:p>
        </p:txBody>
      </p:sp>
      <p:sp>
        <p:nvSpPr>
          <p:cNvPr id="3" name="Content Placeholder 2">
            <a:extLst>
              <a:ext uri="{FF2B5EF4-FFF2-40B4-BE49-F238E27FC236}">
                <a16:creationId xmlns:a16="http://schemas.microsoft.com/office/drawing/2014/main" id="{0B1C90CD-F9E7-4552-994D-7F61684F1834}"/>
              </a:ext>
            </a:extLst>
          </p:cNvPr>
          <p:cNvSpPr>
            <a:spLocks noGrp="1"/>
          </p:cNvSpPr>
          <p:nvPr>
            <p:ph idx="1"/>
          </p:nvPr>
        </p:nvSpPr>
        <p:spPr>
          <a:xfrm>
            <a:off x="838200" y="1825625"/>
            <a:ext cx="4152774" cy="4303464"/>
          </a:xfrm>
        </p:spPr>
        <p:txBody>
          <a:bodyPr>
            <a:normAutofit fontScale="92500" lnSpcReduction="20000"/>
          </a:bodyPr>
          <a:lstStyle/>
          <a:p>
            <a:r>
              <a:rPr lang="en-IE" dirty="0"/>
              <a:t>Many protocols (e.g. ARP) need to use broadcast</a:t>
            </a:r>
          </a:p>
          <a:p>
            <a:r>
              <a:rPr lang="en-IE" dirty="0"/>
              <a:t>As you know – switches send broadcasts on all ports</a:t>
            </a:r>
          </a:p>
          <a:p>
            <a:r>
              <a:rPr lang="en-IE" sz="2800" b="1" dirty="0"/>
              <a:t>Only device that stops broadcast is a Router</a:t>
            </a:r>
          </a:p>
          <a:p>
            <a:r>
              <a:rPr lang="en-IE" sz="3200" dirty="0"/>
              <a:t>PROBLEM: </a:t>
            </a:r>
            <a:r>
              <a:rPr lang="en-CA" sz="3200" b="1" dirty="0">
                <a:solidFill>
                  <a:srgbClr val="000000"/>
                </a:solidFill>
              </a:rPr>
              <a:t>hosts generating excessive broadcasts and negatively affect the network</a:t>
            </a:r>
            <a:endParaRPr lang="en-IE" sz="3200" b="1" dirty="0"/>
          </a:p>
        </p:txBody>
      </p:sp>
      <p:pic>
        <p:nvPicPr>
          <p:cNvPr id="5" name="Picture 4" descr="Diagram&#10;&#10;Description automatically generated">
            <a:extLst>
              <a:ext uri="{FF2B5EF4-FFF2-40B4-BE49-F238E27FC236}">
                <a16:creationId xmlns:a16="http://schemas.microsoft.com/office/drawing/2014/main" id="{E1894B84-70F2-4ABE-8564-FEC54A44430E}"/>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4964" r="167" b="1"/>
          <a:stretch/>
        </p:blipFill>
        <p:spPr>
          <a:xfrm>
            <a:off x="5183500" y="1904282"/>
            <a:ext cx="6170299" cy="4224808"/>
          </a:xfrm>
          <a:prstGeom prst="rect">
            <a:avLst/>
          </a:prstGeom>
        </p:spPr>
      </p:pic>
      <p:sp>
        <p:nvSpPr>
          <p:cNvPr id="6" name="TextBox 5">
            <a:extLst>
              <a:ext uri="{FF2B5EF4-FFF2-40B4-BE49-F238E27FC236}">
                <a16:creationId xmlns:a16="http://schemas.microsoft.com/office/drawing/2014/main" id="{FE7155D9-68BC-41E3-901F-EA3F5C2FEEDF}"/>
              </a:ext>
            </a:extLst>
          </p:cNvPr>
          <p:cNvSpPr txBox="1"/>
          <p:nvPr/>
        </p:nvSpPr>
        <p:spPr>
          <a:xfrm>
            <a:off x="9046757" y="5929035"/>
            <a:ext cx="2307042"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4" tooltip="https://networkengineering.stackexchange.com/questions/39140/does-a-network-switch-broadcast-local-ip-addresses">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IE" sz="700">
              <a:solidFill>
                <a:srgbClr val="FFFFFF"/>
              </a:solidFill>
            </a:endParaRPr>
          </a:p>
        </p:txBody>
      </p:sp>
    </p:spTree>
    <p:extLst>
      <p:ext uri="{BB962C8B-B14F-4D97-AF65-F5344CB8AC3E}">
        <p14:creationId xmlns:p14="http://schemas.microsoft.com/office/powerpoint/2010/main" val="368741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EA83D-B15E-4CA3-941C-B8695E7B089E}"/>
              </a:ext>
            </a:extLst>
          </p:cNvPr>
          <p:cNvSpPr>
            <a:spLocks noGrp="1"/>
          </p:cNvSpPr>
          <p:nvPr>
            <p:ph type="title"/>
          </p:nvPr>
        </p:nvSpPr>
        <p:spPr/>
        <p:txBody>
          <a:bodyPr/>
          <a:lstStyle/>
          <a:p>
            <a:r>
              <a:rPr lang="en-CA" sz="4400" dirty="0"/>
              <a:t>IP Addressing: </a:t>
            </a:r>
            <a:r>
              <a:rPr lang="en-CA" dirty="0"/>
              <a:t>Broadcast</a:t>
            </a:r>
            <a:endParaRPr lang="en-IE" dirty="0"/>
          </a:p>
        </p:txBody>
      </p:sp>
      <p:sp>
        <p:nvSpPr>
          <p:cNvPr id="3" name="Content Placeholder 2">
            <a:extLst>
              <a:ext uri="{FF2B5EF4-FFF2-40B4-BE49-F238E27FC236}">
                <a16:creationId xmlns:a16="http://schemas.microsoft.com/office/drawing/2014/main" id="{166DFAEC-BEA4-4F09-B60E-67CC363A08A4}"/>
              </a:ext>
            </a:extLst>
          </p:cNvPr>
          <p:cNvSpPr>
            <a:spLocks noGrp="1"/>
          </p:cNvSpPr>
          <p:nvPr>
            <p:ph idx="1"/>
          </p:nvPr>
        </p:nvSpPr>
        <p:spPr/>
        <p:txBody>
          <a:bodyPr/>
          <a:lstStyle/>
          <a:p>
            <a:pPr marL="0" indent="0">
              <a:buNone/>
            </a:pPr>
            <a:r>
              <a:rPr lang="en-CA" dirty="0">
                <a:solidFill>
                  <a:srgbClr val="000000"/>
                </a:solidFill>
              </a:rPr>
              <a:t>R</a:t>
            </a:r>
            <a:r>
              <a:rPr lang="en-CA" sz="2800" dirty="0">
                <a:solidFill>
                  <a:srgbClr val="000000"/>
                </a:solidFill>
              </a:rPr>
              <a:t>educe the size of the network into smaller </a:t>
            </a:r>
            <a:r>
              <a:rPr lang="en-CA" sz="2800" b="1" dirty="0">
                <a:solidFill>
                  <a:srgbClr val="000000"/>
                </a:solidFill>
              </a:rPr>
              <a:t>Subnets</a:t>
            </a:r>
            <a:r>
              <a:rPr lang="en-CA" sz="2800" dirty="0">
                <a:solidFill>
                  <a:srgbClr val="000000"/>
                </a:solidFill>
              </a:rPr>
              <a:t> to create smaller broadcast domains: </a:t>
            </a:r>
            <a:r>
              <a:rPr lang="en-CA" sz="2800" b="1" dirty="0">
                <a:solidFill>
                  <a:srgbClr val="000000"/>
                </a:solidFill>
              </a:rPr>
              <a:t>Subnetting</a:t>
            </a:r>
            <a:endParaRPr lang="en-IE" b="1" dirty="0"/>
          </a:p>
        </p:txBody>
      </p:sp>
      <p:sp>
        <p:nvSpPr>
          <p:cNvPr id="9" name="Rectangle 8">
            <a:extLst>
              <a:ext uri="{FF2B5EF4-FFF2-40B4-BE49-F238E27FC236}">
                <a16:creationId xmlns:a16="http://schemas.microsoft.com/office/drawing/2014/main" id="{300AF401-8793-4073-AF08-172B12F0219C}"/>
              </a:ext>
            </a:extLst>
          </p:cNvPr>
          <p:cNvSpPr/>
          <p:nvPr/>
        </p:nvSpPr>
        <p:spPr>
          <a:xfrm>
            <a:off x="2957157" y="4168045"/>
            <a:ext cx="2934118" cy="38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Network portion</a:t>
            </a:r>
            <a:endParaRPr lang="en-IE" dirty="0"/>
          </a:p>
        </p:txBody>
      </p:sp>
      <p:sp>
        <p:nvSpPr>
          <p:cNvPr id="10" name="Rectangle 9">
            <a:extLst>
              <a:ext uri="{FF2B5EF4-FFF2-40B4-BE49-F238E27FC236}">
                <a16:creationId xmlns:a16="http://schemas.microsoft.com/office/drawing/2014/main" id="{DC949843-C500-4045-9049-FDFF81BE52BF}"/>
              </a:ext>
            </a:extLst>
          </p:cNvPr>
          <p:cNvSpPr/>
          <p:nvPr/>
        </p:nvSpPr>
        <p:spPr>
          <a:xfrm>
            <a:off x="5891275" y="4168045"/>
            <a:ext cx="2934118" cy="38116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Host portion</a:t>
            </a:r>
            <a:endParaRPr lang="en-IE" dirty="0"/>
          </a:p>
        </p:txBody>
      </p:sp>
      <p:sp>
        <p:nvSpPr>
          <p:cNvPr id="11" name="Rectangle 10">
            <a:extLst>
              <a:ext uri="{FF2B5EF4-FFF2-40B4-BE49-F238E27FC236}">
                <a16:creationId xmlns:a16="http://schemas.microsoft.com/office/drawing/2014/main" id="{64201B73-9506-497E-953F-FF102DC15CB0}"/>
              </a:ext>
            </a:extLst>
          </p:cNvPr>
          <p:cNvSpPr/>
          <p:nvPr/>
        </p:nvSpPr>
        <p:spPr>
          <a:xfrm>
            <a:off x="2957157" y="4920274"/>
            <a:ext cx="2934118" cy="38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Network portion</a:t>
            </a:r>
            <a:endParaRPr lang="en-IE" dirty="0"/>
          </a:p>
        </p:txBody>
      </p:sp>
      <p:sp>
        <p:nvSpPr>
          <p:cNvPr id="12" name="Rectangle 11">
            <a:extLst>
              <a:ext uri="{FF2B5EF4-FFF2-40B4-BE49-F238E27FC236}">
                <a16:creationId xmlns:a16="http://schemas.microsoft.com/office/drawing/2014/main" id="{4D15363D-86F2-440F-8065-53B496944119}"/>
              </a:ext>
            </a:extLst>
          </p:cNvPr>
          <p:cNvSpPr/>
          <p:nvPr/>
        </p:nvSpPr>
        <p:spPr>
          <a:xfrm>
            <a:off x="7398527" y="4917525"/>
            <a:ext cx="1426865" cy="38116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Host portion</a:t>
            </a:r>
            <a:endParaRPr lang="en-IE" dirty="0"/>
          </a:p>
        </p:txBody>
      </p:sp>
      <p:sp>
        <p:nvSpPr>
          <p:cNvPr id="13" name="Rectangle 12">
            <a:extLst>
              <a:ext uri="{FF2B5EF4-FFF2-40B4-BE49-F238E27FC236}">
                <a16:creationId xmlns:a16="http://schemas.microsoft.com/office/drawing/2014/main" id="{A298D76A-C8C5-4D45-BB5C-C8C059FCCBDF}"/>
              </a:ext>
            </a:extLst>
          </p:cNvPr>
          <p:cNvSpPr/>
          <p:nvPr/>
        </p:nvSpPr>
        <p:spPr>
          <a:xfrm>
            <a:off x="5891275" y="4917524"/>
            <a:ext cx="1507252" cy="381161"/>
          </a:xfrm>
          <a:prstGeom prst="rect">
            <a:avLst/>
          </a:prstGeom>
          <a:solidFill>
            <a:srgbClr val="00B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Subnet portion</a:t>
            </a:r>
            <a:endParaRPr lang="en-IE" sz="1600" dirty="0"/>
          </a:p>
        </p:txBody>
      </p:sp>
      <p:sp>
        <p:nvSpPr>
          <p:cNvPr id="14" name="TextBox 13">
            <a:extLst>
              <a:ext uri="{FF2B5EF4-FFF2-40B4-BE49-F238E27FC236}">
                <a16:creationId xmlns:a16="http://schemas.microsoft.com/office/drawing/2014/main" id="{EA449C2D-A09E-4D02-BDD7-B76FE8915162}"/>
              </a:ext>
            </a:extLst>
          </p:cNvPr>
          <p:cNvSpPr txBox="1"/>
          <p:nvPr/>
        </p:nvSpPr>
        <p:spPr>
          <a:xfrm>
            <a:off x="1780652" y="4799677"/>
            <a:ext cx="1223925" cy="646331"/>
          </a:xfrm>
          <a:prstGeom prst="rect">
            <a:avLst/>
          </a:prstGeom>
          <a:noFill/>
        </p:spPr>
        <p:txBody>
          <a:bodyPr wrap="none" rtlCol="0">
            <a:spAutoFit/>
          </a:bodyPr>
          <a:lstStyle/>
          <a:p>
            <a:r>
              <a:rPr lang="en-GB" b="1" dirty="0"/>
              <a:t>After</a:t>
            </a:r>
          </a:p>
          <a:p>
            <a:r>
              <a:rPr lang="en-GB" b="1" dirty="0"/>
              <a:t>Subnetting</a:t>
            </a:r>
            <a:endParaRPr lang="en-IE" b="1" dirty="0"/>
          </a:p>
        </p:txBody>
      </p:sp>
      <p:sp>
        <p:nvSpPr>
          <p:cNvPr id="15" name="TextBox 14">
            <a:extLst>
              <a:ext uri="{FF2B5EF4-FFF2-40B4-BE49-F238E27FC236}">
                <a16:creationId xmlns:a16="http://schemas.microsoft.com/office/drawing/2014/main" id="{8ECB59F3-B47B-4520-A8C2-A058267F41CA}"/>
              </a:ext>
            </a:extLst>
          </p:cNvPr>
          <p:cNvSpPr txBox="1"/>
          <p:nvPr/>
        </p:nvSpPr>
        <p:spPr>
          <a:xfrm>
            <a:off x="1820427" y="4153346"/>
            <a:ext cx="1223925" cy="646331"/>
          </a:xfrm>
          <a:prstGeom prst="rect">
            <a:avLst/>
          </a:prstGeom>
          <a:noFill/>
        </p:spPr>
        <p:txBody>
          <a:bodyPr wrap="none" rtlCol="0">
            <a:spAutoFit/>
          </a:bodyPr>
          <a:lstStyle/>
          <a:p>
            <a:r>
              <a:rPr lang="en-GB" b="1" dirty="0"/>
              <a:t>Before</a:t>
            </a:r>
            <a:r>
              <a:rPr lang="en-GB" dirty="0"/>
              <a:t> </a:t>
            </a:r>
          </a:p>
          <a:p>
            <a:r>
              <a:rPr lang="en-GB" b="1" dirty="0"/>
              <a:t>Subnetting</a:t>
            </a:r>
            <a:endParaRPr lang="en-IE" b="1" dirty="0"/>
          </a:p>
        </p:txBody>
      </p:sp>
      <p:sp>
        <p:nvSpPr>
          <p:cNvPr id="16" name="Left Brace 15">
            <a:extLst>
              <a:ext uri="{FF2B5EF4-FFF2-40B4-BE49-F238E27FC236}">
                <a16:creationId xmlns:a16="http://schemas.microsoft.com/office/drawing/2014/main" id="{D48FD338-4547-4CA0-AFD7-9195AB54B948}"/>
              </a:ext>
            </a:extLst>
          </p:cNvPr>
          <p:cNvSpPr/>
          <p:nvPr/>
        </p:nvSpPr>
        <p:spPr>
          <a:xfrm rot="5400000">
            <a:off x="5734048" y="1025516"/>
            <a:ext cx="311178" cy="5871508"/>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a:p>
        </p:txBody>
      </p:sp>
      <p:sp>
        <p:nvSpPr>
          <p:cNvPr id="17" name="TextBox 16">
            <a:extLst>
              <a:ext uri="{FF2B5EF4-FFF2-40B4-BE49-F238E27FC236}">
                <a16:creationId xmlns:a16="http://schemas.microsoft.com/office/drawing/2014/main" id="{320713E4-DAC9-41A8-8B03-F9A286519909}"/>
              </a:ext>
            </a:extLst>
          </p:cNvPr>
          <p:cNvSpPr txBox="1"/>
          <p:nvPr/>
        </p:nvSpPr>
        <p:spPr>
          <a:xfrm>
            <a:off x="5308291" y="3429000"/>
            <a:ext cx="1162691" cy="369332"/>
          </a:xfrm>
          <a:prstGeom prst="rect">
            <a:avLst/>
          </a:prstGeom>
          <a:noFill/>
        </p:spPr>
        <p:txBody>
          <a:bodyPr wrap="none" rtlCol="0">
            <a:spAutoFit/>
          </a:bodyPr>
          <a:lstStyle/>
          <a:p>
            <a:r>
              <a:rPr lang="en-GB" dirty="0"/>
              <a:t>IP Address</a:t>
            </a:r>
            <a:endParaRPr lang="en-IE" dirty="0"/>
          </a:p>
        </p:txBody>
      </p:sp>
    </p:spTree>
    <p:extLst>
      <p:ext uri="{BB962C8B-B14F-4D97-AF65-F5344CB8AC3E}">
        <p14:creationId xmlns:p14="http://schemas.microsoft.com/office/powerpoint/2010/main" val="315374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EA83D-B15E-4CA3-941C-B8695E7B089E}"/>
              </a:ext>
            </a:extLst>
          </p:cNvPr>
          <p:cNvSpPr>
            <a:spLocks noGrp="1"/>
          </p:cNvSpPr>
          <p:nvPr>
            <p:ph type="title"/>
          </p:nvPr>
        </p:nvSpPr>
        <p:spPr/>
        <p:txBody>
          <a:bodyPr/>
          <a:lstStyle/>
          <a:p>
            <a:r>
              <a:rPr lang="en-CA" sz="4400" dirty="0"/>
              <a:t>IP Addressing: </a:t>
            </a:r>
            <a:r>
              <a:rPr lang="en-CA" dirty="0"/>
              <a:t>Broadcast</a:t>
            </a:r>
            <a:endParaRPr lang="en-IE" dirty="0"/>
          </a:p>
        </p:txBody>
      </p:sp>
      <p:sp>
        <p:nvSpPr>
          <p:cNvPr id="3" name="Content Placeholder 2">
            <a:extLst>
              <a:ext uri="{FF2B5EF4-FFF2-40B4-BE49-F238E27FC236}">
                <a16:creationId xmlns:a16="http://schemas.microsoft.com/office/drawing/2014/main" id="{166DFAEC-BEA4-4F09-B60E-67CC363A08A4}"/>
              </a:ext>
            </a:extLst>
          </p:cNvPr>
          <p:cNvSpPr>
            <a:spLocks noGrp="1"/>
          </p:cNvSpPr>
          <p:nvPr>
            <p:ph idx="1"/>
          </p:nvPr>
        </p:nvSpPr>
        <p:spPr/>
        <p:txBody>
          <a:bodyPr/>
          <a:lstStyle/>
          <a:p>
            <a:pPr marL="0" indent="0">
              <a:buNone/>
            </a:pPr>
            <a:r>
              <a:rPr lang="en-CA" dirty="0">
                <a:solidFill>
                  <a:srgbClr val="000000"/>
                </a:solidFill>
              </a:rPr>
              <a:t>R</a:t>
            </a:r>
            <a:r>
              <a:rPr lang="en-CA" sz="2800" dirty="0">
                <a:solidFill>
                  <a:srgbClr val="000000"/>
                </a:solidFill>
              </a:rPr>
              <a:t>educe the size of the network into smaller </a:t>
            </a:r>
            <a:r>
              <a:rPr lang="en-CA" sz="2800" b="1" dirty="0">
                <a:solidFill>
                  <a:srgbClr val="000000"/>
                </a:solidFill>
              </a:rPr>
              <a:t>Subnets</a:t>
            </a:r>
            <a:r>
              <a:rPr lang="en-CA" sz="2800" dirty="0">
                <a:solidFill>
                  <a:srgbClr val="000000"/>
                </a:solidFill>
              </a:rPr>
              <a:t> to create smaller broadcast domains: </a:t>
            </a:r>
            <a:r>
              <a:rPr lang="en-CA" sz="2800" b="1" dirty="0">
                <a:solidFill>
                  <a:srgbClr val="000000"/>
                </a:solidFill>
              </a:rPr>
              <a:t>Subnetting</a:t>
            </a:r>
            <a:endParaRPr lang="en-IE" b="1" dirty="0"/>
          </a:p>
        </p:txBody>
      </p:sp>
      <p:pic>
        <p:nvPicPr>
          <p:cNvPr id="4" name="Picture 3">
            <a:extLst>
              <a:ext uri="{FF2B5EF4-FFF2-40B4-BE49-F238E27FC236}">
                <a16:creationId xmlns:a16="http://schemas.microsoft.com/office/drawing/2014/main" id="{5A7A91AF-16E4-4E33-B4E6-A586D3355209}"/>
              </a:ext>
            </a:extLst>
          </p:cNvPr>
          <p:cNvPicPr>
            <a:picLocks noChangeAspect="1"/>
          </p:cNvPicPr>
          <p:nvPr/>
        </p:nvPicPr>
        <p:blipFill>
          <a:blip r:embed="rId2"/>
          <a:stretch>
            <a:fillRect/>
          </a:stretch>
        </p:blipFill>
        <p:spPr>
          <a:xfrm>
            <a:off x="800562" y="2633498"/>
            <a:ext cx="3819919" cy="2271156"/>
          </a:xfrm>
          <a:prstGeom prst="rect">
            <a:avLst/>
          </a:prstGeom>
        </p:spPr>
      </p:pic>
      <p:pic>
        <p:nvPicPr>
          <p:cNvPr id="5" name="Picture 4">
            <a:extLst>
              <a:ext uri="{FF2B5EF4-FFF2-40B4-BE49-F238E27FC236}">
                <a16:creationId xmlns:a16="http://schemas.microsoft.com/office/drawing/2014/main" id="{65746CC1-6CFB-4882-AB1A-AEF0BB4396C4}"/>
              </a:ext>
            </a:extLst>
          </p:cNvPr>
          <p:cNvPicPr>
            <a:picLocks noChangeAspect="1"/>
          </p:cNvPicPr>
          <p:nvPr/>
        </p:nvPicPr>
        <p:blipFill>
          <a:blip r:embed="rId3"/>
          <a:stretch>
            <a:fillRect/>
          </a:stretch>
        </p:blipFill>
        <p:spPr>
          <a:xfrm>
            <a:off x="6732330" y="2479835"/>
            <a:ext cx="5362434" cy="2476005"/>
          </a:xfrm>
          <a:prstGeom prst="rect">
            <a:avLst/>
          </a:prstGeom>
        </p:spPr>
      </p:pic>
      <p:sp>
        <p:nvSpPr>
          <p:cNvPr id="6" name="Arrow: Right 5">
            <a:extLst>
              <a:ext uri="{FF2B5EF4-FFF2-40B4-BE49-F238E27FC236}">
                <a16:creationId xmlns:a16="http://schemas.microsoft.com/office/drawing/2014/main" id="{32D8CC8F-5457-498F-A707-E6C8E79A451F}"/>
              </a:ext>
            </a:extLst>
          </p:cNvPr>
          <p:cNvSpPr/>
          <p:nvPr/>
        </p:nvSpPr>
        <p:spPr>
          <a:xfrm>
            <a:off x="4892634" y="3717837"/>
            <a:ext cx="1567543" cy="7125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subnetting</a:t>
            </a:r>
          </a:p>
        </p:txBody>
      </p:sp>
      <p:sp>
        <p:nvSpPr>
          <p:cNvPr id="7" name="Callout: Line 6">
            <a:extLst>
              <a:ext uri="{FF2B5EF4-FFF2-40B4-BE49-F238E27FC236}">
                <a16:creationId xmlns:a16="http://schemas.microsoft.com/office/drawing/2014/main" id="{AD951CEF-4649-4B19-B47B-7314A8704134}"/>
              </a:ext>
            </a:extLst>
          </p:cNvPr>
          <p:cNvSpPr/>
          <p:nvPr/>
        </p:nvSpPr>
        <p:spPr>
          <a:xfrm>
            <a:off x="7898330" y="4943208"/>
            <a:ext cx="3455470" cy="1549667"/>
          </a:xfrm>
          <a:prstGeom prst="borderCallout1">
            <a:avLst>
              <a:gd name="adj1" fmla="val 52911"/>
              <a:gd name="adj2" fmla="val 581"/>
              <a:gd name="adj3" fmla="val -30651"/>
              <a:gd name="adj4" fmla="val -492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CA" sz="1800" dirty="0">
                <a:solidFill>
                  <a:schemeClr val="bg1"/>
                </a:solidFill>
              </a:rPr>
              <a:t>172.16.0.0 /16  is “</a:t>
            </a:r>
            <a:r>
              <a:rPr lang="en-CA" sz="1800" dirty="0" err="1">
                <a:solidFill>
                  <a:schemeClr val="bg1"/>
                </a:solidFill>
              </a:rPr>
              <a:t>subnetted</a:t>
            </a:r>
            <a:r>
              <a:rPr lang="en-CA" sz="1800" dirty="0">
                <a:solidFill>
                  <a:schemeClr val="bg1"/>
                </a:solidFill>
              </a:rPr>
              <a:t>” into two subnets of 200 users each: 172.16.0.0 /24 and 172.16.1.0 /24 </a:t>
            </a:r>
          </a:p>
        </p:txBody>
      </p:sp>
      <p:sp>
        <p:nvSpPr>
          <p:cNvPr id="9" name="Rectangle 8">
            <a:extLst>
              <a:ext uri="{FF2B5EF4-FFF2-40B4-BE49-F238E27FC236}">
                <a16:creationId xmlns:a16="http://schemas.microsoft.com/office/drawing/2014/main" id="{300AF401-8793-4073-AF08-172B12F0219C}"/>
              </a:ext>
            </a:extLst>
          </p:cNvPr>
          <p:cNvSpPr/>
          <p:nvPr/>
        </p:nvSpPr>
        <p:spPr>
          <a:xfrm>
            <a:off x="1289130" y="5517489"/>
            <a:ext cx="2934118" cy="38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Network portion</a:t>
            </a:r>
            <a:endParaRPr lang="en-IE" dirty="0"/>
          </a:p>
        </p:txBody>
      </p:sp>
      <p:sp>
        <p:nvSpPr>
          <p:cNvPr id="10" name="Rectangle 9">
            <a:extLst>
              <a:ext uri="{FF2B5EF4-FFF2-40B4-BE49-F238E27FC236}">
                <a16:creationId xmlns:a16="http://schemas.microsoft.com/office/drawing/2014/main" id="{DC949843-C500-4045-9049-FDFF81BE52BF}"/>
              </a:ext>
            </a:extLst>
          </p:cNvPr>
          <p:cNvSpPr/>
          <p:nvPr/>
        </p:nvSpPr>
        <p:spPr>
          <a:xfrm>
            <a:off x="4223248" y="5517489"/>
            <a:ext cx="2934118" cy="38116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Host portion</a:t>
            </a:r>
            <a:endParaRPr lang="en-IE" dirty="0"/>
          </a:p>
        </p:txBody>
      </p:sp>
      <p:sp>
        <p:nvSpPr>
          <p:cNvPr id="11" name="Rectangle 10">
            <a:extLst>
              <a:ext uri="{FF2B5EF4-FFF2-40B4-BE49-F238E27FC236}">
                <a16:creationId xmlns:a16="http://schemas.microsoft.com/office/drawing/2014/main" id="{64201B73-9506-497E-953F-FF102DC15CB0}"/>
              </a:ext>
            </a:extLst>
          </p:cNvPr>
          <p:cNvSpPr/>
          <p:nvPr/>
        </p:nvSpPr>
        <p:spPr>
          <a:xfrm>
            <a:off x="1289130" y="6269718"/>
            <a:ext cx="2934118" cy="38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Network portion</a:t>
            </a:r>
            <a:endParaRPr lang="en-IE" dirty="0"/>
          </a:p>
        </p:txBody>
      </p:sp>
      <p:sp>
        <p:nvSpPr>
          <p:cNvPr id="12" name="Rectangle 11">
            <a:extLst>
              <a:ext uri="{FF2B5EF4-FFF2-40B4-BE49-F238E27FC236}">
                <a16:creationId xmlns:a16="http://schemas.microsoft.com/office/drawing/2014/main" id="{4D15363D-86F2-440F-8065-53B496944119}"/>
              </a:ext>
            </a:extLst>
          </p:cNvPr>
          <p:cNvSpPr/>
          <p:nvPr/>
        </p:nvSpPr>
        <p:spPr>
          <a:xfrm>
            <a:off x="5730500" y="6266969"/>
            <a:ext cx="1426865" cy="38116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Host portion</a:t>
            </a:r>
            <a:endParaRPr lang="en-IE" dirty="0"/>
          </a:p>
        </p:txBody>
      </p:sp>
      <p:sp>
        <p:nvSpPr>
          <p:cNvPr id="13" name="Rectangle 12">
            <a:extLst>
              <a:ext uri="{FF2B5EF4-FFF2-40B4-BE49-F238E27FC236}">
                <a16:creationId xmlns:a16="http://schemas.microsoft.com/office/drawing/2014/main" id="{A298D76A-C8C5-4D45-BB5C-C8C059FCCBDF}"/>
              </a:ext>
            </a:extLst>
          </p:cNvPr>
          <p:cNvSpPr/>
          <p:nvPr/>
        </p:nvSpPr>
        <p:spPr>
          <a:xfrm>
            <a:off x="4223248" y="6266968"/>
            <a:ext cx="1507252" cy="381161"/>
          </a:xfrm>
          <a:prstGeom prst="rect">
            <a:avLst/>
          </a:prstGeom>
          <a:solidFill>
            <a:srgbClr val="00B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Subnet portion</a:t>
            </a:r>
            <a:endParaRPr lang="en-IE" sz="1600" dirty="0"/>
          </a:p>
        </p:txBody>
      </p:sp>
      <p:sp>
        <p:nvSpPr>
          <p:cNvPr id="14" name="TextBox 13">
            <a:extLst>
              <a:ext uri="{FF2B5EF4-FFF2-40B4-BE49-F238E27FC236}">
                <a16:creationId xmlns:a16="http://schemas.microsoft.com/office/drawing/2014/main" id="{EA449C2D-A09E-4D02-BDD7-B76FE8915162}"/>
              </a:ext>
            </a:extLst>
          </p:cNvPr>
          <p:cNvSpPr txBox="1"/>
          <p:nvPr/>
        </p:nvSpPr>
        <p:spPr>
          <a:xfrm>
            <a:off x="112625" y="6149121"/>
            <a:ext cx="1204497" cy="646331"/>
          </a:xfrm>
          <a:prstGeom prst="rect">
            <a:avLst/>
          </a:prstGeom>
          <a:noFill/>
        </p:spPr>
        <p:txBody>
          <a:bodyPr wrap="none" rtlCol="0">
            <a:spAutoFit/>
          </a:bodyPr>
          <a:lstStyle/>
          <a:p>
            <a:r>
              <a:rPr lang="en-GB" dirty="0"/>
              <a:t>After</a:t>
            </a:r>
          </a:p>
          <a:p>
            <a:r>
              <a:rPr lang="en-GB" dirty="0"/>
              <a:t>Subnetting</a:t>
            </a:r>
            <a:endParaRPr lang="en-IE" dirty="0"/>
          </a:p>
        </p:txBody>
      </p:sp>
      <p:sp>
        <p:nvSpPr>
          <p:cNvPr id="15" name="TextBox 14">
            <a:extLst>
              <a:ext uri="{FF2B5EF4-FFF2-40B4-BE49-F238E27FC236}">
                <a16:creationId xmlns:a16="http://schemas.microsoft.com/office/drawing/2014/main" id="{8ECB59F3-B47B-4520-A8C2-A058267F41CA}"/>
              </a:ext>
            </a:extLst>
          </p:cNvPr>
          <p:cNvSpPr txBox="1"/>
          <p:nvPr/>
        </p:nvSpPr>
        <p:spPr>
          <a:xfrm>
            <a:off x="0" y="5435321"/>
            <a:ext cx="1204497" cy="646331"/>
          </a:xfrm>
          <a:prstGeom prst="rect">
            <a:avLst/>
          </a:prstGeom>
          <a:noFill/>
        </p:spPr>
        <p:txBody>
          <a:bodyPr wrap="none" rtlCol="0">
            <a:spAutoFit/>
          </a:bodyPr>
          <a:lstStyle/>
          <a:p>
            <a:r>
              <a:rPr lang="en-GB" dirty="0"/>
              <a:t>Before </a:t>
            </a:r>
          </a:p>
          <a:p>
            <a:r>
              <a:rPr lang="en-GB" dirty="0"/>
              <a:t>Subnetting</a:t>
            </a:r>
            <a:endParaRPr lang="en-IE" dirty="0"/>
          </a:p>
        </p:txBody>
      </p:sp>
    </p:spTree>
    <p:extLst>
      <p:ext uri="{BB962C8B-B14F-4D97-AF65-F5344CB8AC3E}">
        <p14:creationId xmlns:p14="http://schemas.microsoft.com/office/powerpoint/2010/main" val="809320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6AD0D-F516-4999-B4CD-143DE18F72F0}"/>
              </a:ext>
            </a:extLst>
          </p:cNvPr>
          <p:cNvSpPr>
            <a:spLocks noGrp="1"/>
          </p:cNvSpPr>
          <p:nvPr>
            <p:ph type="title"/>
          </p:nvPr>
        </p:nvSpPr>
        <p:spPr/>
        <p:txBody>
          <a:bodyPr/>
          <a:lstStyle/>
          <a:p>
            <a:r>
              <a:rPr lang="en-IE" dirty="0"/>
              <a:t>IP Addressing: Subnetting Advantages</a:t>
            </a:r>
          </a:p>
        </p:txBody>
      </p:sp>
      <p:sp>
        <p:nvSpPr>
          <p:cNvPr id="3" name="Content Placeholder 2">
            <a:extLst>
              <a:ext uri="{FF2B5EF4-FFF2-40B4-BE49-F238E27FC236}">
                <a16:creationId xmlns:a16="http://schemas.microsoft.com/office/drawing/2014/main" id="{6DACB4CE-2065-4DA2-92DF-29EBABA8023D}"/>
              </a:ext>
            </a:extLst>
          </p:cNvPr>
          <p:cNvSpPr>
            <a:spLocks noGrp="1"/>
          </p:cNvSpPr>
          <p:nvPr>
            <p:ph idx="1"/>
          </p:nvPr>
        </p:nvSpPr>
        <p:spPr>
          <a:xfrm>
            <a:off x="838200" y="1825625"/>
            <a:ext cx="5627353" cy="4351338"/>
          </a:xfrm>
        </p:spPr>
        <p:txBody>
          <a:bodyPr/>
          <a:lstStyle/>
          <a:p>
            <a:pPr marL="0" indent="0">
              <a:buNone/>
            </a:pPr>
            <a:r>
              <a:rPr lang="en-CA" sz="2800" dirty="0">
                <a:solidFill>
                  <a:srgbClr val="000000"/>
                </a:solidFill>
              </a:rPr>
              <a:t>Subnetting advantages: </a:t>
            </a:r>
          </a:p>
          <a:p>
            <a:r>
              <a:rPr lang="en-CA" sz="2800" dirty="0">
                <a:solidFill>
                  <a:srgbClr val="000000"/>
                </a:solidFill>
              </a:rPr>
              <a:t>Reduces overall network</a:t>
            </a:r>
          </a:p>
          <a:p>
            <a:r>
              <a:rPr lang="en-CA" dirty="0">
                <a:solidFill>
                  <a:srgbClr val="000000"/>
                </a:solidFill>
              </a:rPr>
              <a:t>I</a:t>
            </a:r>
            <a:r>
              <a:rPr lang="en-CA" sz="2800" dirty="0">
                <a:solidFill>
                  <a:srgbClr val="000000"/>
                </a:solidFill>
              </a:rPr>
              <a:t>mproves network performance</a:t>
            </a:r>
          </a:p>
          <a:p>
            <a:r>
              <a:rPr lang="en-CA" sz="2800" dirty="0">
                <a:solidFill>
                  <a:srgbClr val="000000"/>
                </a:solidFill>
              </a:rPr>
              <a:t>implement security policies between subnets</a:t>
            </a:r>
          </a:p>
          <a:p>
            <a:r>
              <a:rPr lang="en-CA" sz="2800" dirty="0">
                <a:solidFill>
                  <a:srgbClr val="000000"/>
                </a:solidFill>
              </a:rPr>
              <a:t>Protects devices from abnormal broadcast traffic</a:t>
            </a:r>
          </a:p>
        </p:txBody>
      </p:sp>
      <p:pic>
        <p:nvPicPr>
          <p:cNvPr id="10" name="Picture 9">
            <a:extLst>
              <a:ext uri="{FF2B5EF4-FFF2-40B4-BE49-F238E27FC236}">
                <a16:creationId xmlns:a16="http://schemas.microsoft.com/office/drawing/2014/main" id="{7332D7C8-8057-4C93-9478-2A5D8FE11E83}"/>
              </a:ext>
            </a:extLst>
          </p:cNvPr>
          <p:cNvPicPr>
            <a:picLocks noChangeAspect="1"/>
          </p:cNvPicPr>
          <p:nvPr/>
        </p:nvPicPr>
        <p:blipFill>
          <a:blip r:embed="rId2"/>
          <a:stretch>
            <a:fillRect/>
          </a:stretch>
        </p:blipFill>
        <p:spPr>
          <a:xfrm>
            <a:off x="6465553" y="1825625"/>
            <a:ext cx="5292319" cy="3506396"/>
          </a:xfrm>
          <a:prstGeom prst="rect">
            <a:avLst/>
          </a:prstGeom>
        </p:spPr>
      </p:pic>
      <p:sp>
        <p:nvSpPr>
          <p:cNvPr id="5" name="Callout: Line 4">
            <a:extLst>
              <a:ext uri="{FF2B5EF4-FFF2-40B4-BE49-F238E27FC236}">
                <a16:creationId xmlns:a16="http://schemas.microsoft.com/office/drawing/2014/main" id="{18DA606B-31FE-42A7-BC70-029409447A1B}"/>
              </a:ext>
            </a:extLst>
          </p:cNvPr>
          <p:cNvSpPr/>
          <p:nvPr/>
        </p:nvSpPr>
        <p:spPr>
          <a:xfrm>
            <a:off x="5597090" y="1203437"/>
            <a:ext cx="2843525" cy="1325564"/>
          </a:xfrm>
          <a:prstGeom prst="borderCallout1">
            <a:avLst>
              <a:gd name="adj1" fmla="val 52911"/>
              <a:gd name="adj2" fmla="val 581"/>
              <a:gd name="adj3" fmla="val 168435"/>
              <a:gd name="adj4" fmla="val 423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CA" sz="1800" dirty="0">
                <a:solidFill>
                  <a:schemeClr val="bg1"/>
                </a:solidFill>
              </a:rPr>
              <a:t>10.0.0.0 /</a:t>
            </a:r>
            <a:r>
              <a:rPr lang="en-CA" dirty="0">
                <a:solidFill>
                  <a:schemeClr val="bg1"/>
                </a:solidFill>
              </a:rPr>
              <a:t>8</a:t>
            </a:r>
            <a:r>
              <a:rPr lang="en-CA" sz="1800" dirty="0">
                <a:solidFill>
                  <a:schemeClr val="bg1"/>
                </a:solidFill>
              </a:rPr>
              <a:t>  is divided into </a:t>
            </a:r>
            <a:r>
              <a:rPr lang="en-CA" dirty="0">
                <a:solidFill>
                  <a:schemeClr val="bg1"/>
                </a:solidFill>
              </a:rPr>
              <a:t>four</a:t>
            </a:r>
            <a:r>
              <a:rPr lang="en-CA" sz="1800" dirty="0">
                <a:solidFill>
                  <a:schemeClr val="bg1"/>
                </a:solidFill>
              </a:rPr>
              <a:t> subnets: 10.0.1.0/24, 10.0.2.0/24, 10.0.3.0/24 and </a:t>
            </a:r>
            <a:r>
              <a:rPr lang="en-CA" dirty="0">
                <a:solidFill>
                  <a:schemeClr val="bg1"/>
                </a:solidFill>
              </a:rPr>
              <a:t>10.0.4.0</a:t>
            </a:r>
            <a:r>
              <a:rPr lang="en-CA" sz="1800" dirty="0">
                <a:solidFill>
                  <a:schemeClr val="bg1"/>
                </a:solidFill>
              </a:rPr>
              <a:t>/24 </a:t>
            </a:r>
          </a:p>
        </p:txBody>
      </p:sp>
    </p:spTree>
    <p:extLst>
      <p:ext uri="{BB962C8B-B14F-4D97-AF65-F5344CB8AC3E}">
        <p14:creationId xmlns:p14="http://schemas.microsoft.com/office/powerpoint/2010/main" val="691698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1B6C-F9CF-4449-89DC-9C44F34D76AD}"/>
              </a:ext>
            </a:extLst>
          </p:cNvPr>
          <p:cNvSpPr>
            <a:spLocks noGrp="1"/>
          </p:cNvSpPr>
          <p:nvPr>
            <p:ph type="title"/>
          </p:nvPr>
        </p:nvSpPr>
        <p:spPr/>
        <p:txBody>
          <a:bodyPr/>
          <a:lstStyle/>
          <a:p>
            <a:r>
              <a:rPr lang="en-IE" dirty="0"/>
              <a:t>IP </a:t>
            </a:r>
            <a:r>
              <a:rPr lang="en-IE" dirty="0" err="1"/>
              <a:t>Addessing</a:t>
            </a:r>
            <a:r>
              <a:rPr lang="en-IE" dirty="0"/>
              <a:t>: Subnetting on a Boundary</a:t>
            </a:r>
          </a:p>
        </p:txBody>
      </p:sp>
      <p:sp>
        <p:nvSpPr>
          <p:cNvPr id="3" name="Content Placeholder 2">
            <a:extLst>
              <a:ext uri="{FF2B5EF4-FFF2-40B4-BE49-F238E27FC236}">
                <a16:creationId xmlns:a16="http://schemas.microsoft.com/office/drawing/2014/main" id="{0268D36A-F031-41B7-805F-3B818F022706}"/>
              </a:ext>
            </a:extLst>
          </p:cNvPr>
          <p:cNvSpPr>
            <a:spLocks noGrp="1"/>
          </p:cNvSpPr>
          <p:nvPr>
            <p:ph idx="1"/>
          </p:nvPr>
        </p:nvSpPr>
        <p:spPr>
          <a:xfrm>
            <a:off x="636320" y="1421864"/>
            <a:ext cx="10515600" cy="4351338"/>
          </a:xfrm>
        </p:spPr>
        <p:txBody>
          <a:bodyPr/>
          <a:lstStyle/>
          <a:p>
            <a:r>
              <a:rPr lang="en-CA" sz="2800" dirty="0">
                <a:solidFill>
                  <a:srgbClr val="000000"/>
                </a:solidFill>
              </a:rPr>
              <a:t>Networks are most easily </a:t>
            </a:r>
            <a:r>
              <a:rPr lang="en-CA" sz="2800" dirty="0" err="1">
                <a:solidFill>
                  <a:srgbClr val="000000"/>
                </a:solidFill>
              </a:rPr>
              <a:t>subnetted</a:t>
            </a:r>
            <a:r>
              <a:rPr lang="en-CA" sz="2800" dirty="0">
                <a:solidFill>
                  <a:srgbClr val="000000"/>
                </a:solidFill>
              </a:rPr>
              <a:t> at the </a:t>
            </a:r>
            <a:r>
              <a:rPr lang="en-CA" sz="2800" b="1" dirty="0">
                <a:solidFill>
                  <a:srgbClr val="000000"/>
                </a:solidFill>
              </a:rPr>
              <a:t>octet boundary </a:t>
            </a:r>
            <a:r>
              <a:rPr lang="en-CA" sz="2800" dirty="0">
                <a:solidFill>
                  <a:srgbClr val="000000"/>
                </a:solidFill>
              </a:rPr>
              <a:t>of /8, /16, and /24. </a:t>
            </a:r>
          </a:p>
          <a:p>
            <a:r>
              <a:rPr lang="en-IE" dirty="0"/>
              <a:t>Example: 10.0.0.0/8 </a:t>
            </a:r>
            <a:r>
              <a:rPr lang="en-IE" dirty="0" err="1"/>
              <a:t>subnetted</a:t>
            </a:r>
            <a:r>
              <a:rPr lang="en-IE" dirty="0"/>
              <a:t> using /16 and /24</a:t>
            </a:r>
          </a:p>
        </p:txBody>
      </p:sp>
      <p:pic>
        <p:nvPicPr>
          <p:cNvPr id="4" name="Picture 3">
            <a:extLst>
              <a:ext uri="{FF2B5EF4-FFF2-40B4-BE49-F238E27FC236}">
                <a16:creationId xmlns:a16="http://schemas.microsoft.com/office/drawing/2014/main" id="{ACBFFA6A-F016-4F08-AE57-59A32F85CB20}"/>
              </a:ext>
            </a:extLst>
          </p:cNvPr>
          <p:cNvPicPr>
            <a:picLocks noChangeAspect="1"/>
          </p:cNvPicPr>
          <p:nvPr/>
        </p:nvPicPr>
        <p:blipFill rotWithShape="1">
          <a:blip r:embed="rId2"/>
          <a:srcRect b="4159"/>
          <a:stretch/>
        </p:blipFill>
        <p:spPr>
          <a:xfrm>
            <a:off x="636320" y="2851128"/>
            <a:ext cx="4576948" cy="3893715"/>
          </a:xfrm>
          <a:prstGeom prst="rect">
            <a:avLst/>
          </a:prstGeom>
        </p:spPr>
      </p:pic>
      <p:pic>
        <p:nvPicPr>
          <p:cNvPr id="5" name="Picture 4">
            <a:extLst>
              <a:ext uri="{FF2B5EF4-FFF2-40B4-BE49-F238E27FC236}">
                <a16:creationId xmlns:a16="http://schemas.microsoft.com/office/drawing/2014/main" id="{1464CE61-E289-464D-BD1D-2F988613EF92}"/>
              </a:ext>
            </a:extLst>
          </p:cNvPr>
          <p:cNvPicPr>
            <a:picLocks noChangeAspect="1"/>
          </p:cNvPicPr>
          <p:nvPr/>
        </p:nvPicPr>
        <p:blipFill>
          <a:blip r:embed="rId3"/>
          <a:stretch>
            <a:fillRect/>
          </a:stretch>
        </p:blipFill>
        <p:spPr>
          <a:xfrm>
            <a:off x="5628904" y="2853297"/>
            <a:ext cx="4822158" cy="4004703"/>
          </a:xfrm>
          <a:prstGeom prst="rect">
            <a:avLst/>
          </a:prstGeom>
        </p:spPr>
      </p:pic>
    </p:spTree>
    <p:extLst>
      <p:ext uri="{BB962C8B-B14F-4D97-AF65-F5344CB8AC3E}">
        <p14:creationId xmlns:p14="http://schemas.microsoft.com/office/powerpoint/2010/main" val="2602169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E567E-9ED2-4A17-9749-482CC0EDEB9E}"/>
              </a:ext>
            </a:extLst>
          </p:cNvPr>
          <p:cNvSpPr>
            <a:spLocks noGrp="1"/>
          </p:cNvSpPr>
          <p:nvPr>
            <p:ph type="title"/>
          </p:nvPr>
        </p:nvSpPr>
        <p:spPr/>
        <p:txBody>
          <a:bodyPr/>
          <a:lstStyle/>
          <a:p>
            <a:r>
              <a:rPr lang="en-IE" dirty="0"/>
              <a:t>IP Addressing: Subnetting within a Boundary</a:t>
            </a:r>
          </a:p>
        </p:txBody>
      </p:sp>
      <p:sp>
        <p:nvSpPr>
          <p:cNvPr id="3" name="Content Placeholder 2">
            <a:extLst>
              <a:ext uri="{FF2B5EF4-FFF2-40B4-BE49-F238E27FC236}">
                <a16:creationId xmlns:a16="http://schemas.microsoft.com/office/drawing/2014/main" id="{AC5973F3-B446-4320-9FEA-58FCCE1FA664}"/>
              </a:ext>
            </a:extLst>
          </p:cNvPr>
          <p:cNvSpPr>
            <a:spLocks noGrp="1"/>
          </p:cNvSpPr>
          <p:nvPr>
            <p:ph idx="1"/>
          </p:nvPr>
        </p:nvSpPr>
        <p:spPr/>
        <p:txBody>
          <a:bodyPr/>
          <a:lstStyle/>
          <a:p>
            <a:r>
              <a:rPr lang="en-IE" dirty="0"/>
              <a:t>Example: subnetting the 192.168.1.0/24 network</a:t>
            </a:r>
          </a:p>
        </p:txBody>
      </p:sp>
      <p:graphicFrame>
        <p:nvGraphicFramePr>
          <p:cNvPr id="4" name="Table 4">
            <a:extLst>
              <a:ext uri="{FF2B5EF4-FFF2-40B4-BE49-F238E27FC236}">
                <a16:creationId xmlns:a16="http://schemas.microsoft.com/office/drawing/2014/main" id="{CAD9CB39-8CD9-4193-91BC-7380504E9742}"/>
              </a:ext>
            </a:extLst>
          </p:cNvPr>
          <p:cNvGraphicFramePr>
            <a:graphicFrameLocks noGrp="1"/>
          </p:cNvGraphicFramePr>
          <p:nvPr>
            <p:extLst>
              <p:ext uri="{D42A27DB-BD31-4B8C-83A1-F6EECF244321}">
                <p14:modId xmlns:p14="http://schemas.microsoft.com/office/powerpoint/2010/main" val="1707326645"/>
              </p:ext>
            </p:extLst>
          </p:nvPr>
        </p:nvGraphicFramePr>
        <p:xfrm>
          <a:off x="963596" y="2703354"/>
          <a:ext cx="7891644" cy="2865120"/>
        </p:xfrm>
        <a:graphic>
          <a:graphicData uri="http://schemas.openxmlformats.org/drawingml/2006/table">
            <a:tbl>
              <a:tblPr firstRow="1" bandRow="1">
                <a:tableStyleId>{5C22544A-7EE6-4342-B048-85BDC9FD1C3A}</a:tableStyleId>
              </a:tblPr>
              <a:tblGrid>
                <a:gridCol w="1591614">
                  <a:extLst>
                    <a:ext uri="{9D8B030D-6E8A-4147-A177-3AD203B41FA5}">
                      <a16:colId xmlns:a16="http://schemas.microsoft.com/office/drawing/2014/main" val="1620941921"/>
                    </a:ext>
                  </a:extLst>
                </a:gridCol>
                <a:gridCol w="1591614">
                  <a:extLst>
                    <a:ext uri="{9D8B030D-6E8A-4147-A177-3AD203B41FA5}">
                      <a16:colId xmlns:a16="http://schemas.microsoft.com/office/drawing/2014/main" val="1950595418"/>
                    </a:ext>
                  </a:extLst>
                </a:gridCol>
                <a:gridCol w="1998941">
                  <a:extLst>
                    <a:ext uri="{9D8B030D-6E8A-4147-A177-3AD203B41FA5}">
                      <a16:colId xmlns:a16="http://schemas.microsoft.com/office/drawing/2014/main" val="2048624333"/>
                    </a:ext>
                  </a:extLst>
                </a:gridCol>
                <a:gridCol w="1117861">
                  <a:extLst>
                    <a:ext uri="{9D8B030D-6E8A-4147-A177-3AD203B41FA5}">
                      <a16:colId xmlns:a16="http://schemas.microsoft.com/office/drawing/2014/main" val="2539248915"/>
                    </a:ext>
                  </a:extLst>
                </a:gridCol>
                <a:gridCol w="1591614">
                  <a:extLst>
                    <a:ext uri="{9D8B030D-6E8A-4147-A177-3AD203B41FA5}">
                      <a16:colId xmlns:a16="http://schemas.microsoft.com/office/drawing/2014/main" val="1054580846"/>
                    </a:ext>
                  </a:extLst>
                </a:gridCol>
              </a:tblGrid>
              <a:tr h="370840">
                <a:tc>
                  <a:txBody>
                    <a:bodyPr/>
                    <a:lstStyle/>
                    <a:p>
                      <a:r>
                        <a:rPr lang="en-IE" dirty="0"/>
                        <a:t>Prefix</a:t>
                      </a:r>
                    </a:p>
                  </a:txBody>
                  <a:tcPr/>
                </a:tc>
                <a:tc>
                  <a:txBody>
                    <a:bodyPr/>
                    <a:lstStyle/>
                    <a:p>
                      <a:r>
                        <a:rPr lang="en-IE" dirty="0"/>
                        <a:t>Subnet mask</a:t>
                      </a:r>
                    </a:p>
                  </a:txBody>
                  <a:tcPr/>
                </a:tc>
                <a:tc>
                  <a:txBody>
                    <a:bodyPr/>
                    <a:lstStyle/>
                    <a:p>
                      <a:r>
                        <a:rPr lang="en-IE" dirty="0"/>
                        <a:t>Subnet mask (binary, last octet)</a:t>
                      </a:r>
                    </a:p>
                  </a:txBody>
                  <a:tcPr/>
                </a:tc>
                <a:tc>
                  <a:txBody>
                    <a:bodyPr/>
                    <a:lstStyle/>
                    <a:p>
                      <a:r>
                        <a:rPr lang="en-IE" dirty="0"/>
                        <a:t># subnets</a:t>
                      </a:r>
                    </a:p>
                  </a:txBody>
                  <a:tcPr/>
                </a:tc>
                <a:tc>
                  <a:txBody>
                    <a:bodyPr/>
                    <a:lstStyle/>
                    <a:p>
                      <a:r>
                        <a:rPr lang="en-IE" dirty="0"/>
                        <a:t>#hosts</a:t>
                      </a:r>
                    </a:p>
                  </a:txBody>
                  <a:tcPr/>
                </a:tc>
                <a:extLst>
                  <a:ext uri="{0D108BD9-81ED-4DB2-BD59-A6C34878D82A}">
                    <a16:rowId xmlns:a16="http://schemas.microsoft.com/office/drawing/2014/main" val="1341607447"/>
                  </a:ext>
                </a:extLst>
              </a:tr>
              <a:tr h="370840">
                <a:tc>
                  <a:txBody>
                    <a:bodyPr/>
                    <a:lstStyle/>
                    <a:p>
                      <a:r>
                        <a:rPr lang="en-IE" dirty="0"/>
                        <a:t>/25</a:t>
                      </a:r>
                    </a:p>
                  </a:txBody>
                  <a:tcPr/>
                </a:tc>
                <a:tc>
                  <a:txBody>
                    <a:bodyPr/>
                    <a:lstStyle/>
                    <a:p>
                      <a:r>
                        <a:rPr lang="en-IE" sz="1600" dirty="0"/>
                        <a:t>255.255.255.128</a:t>
                      </a:r>
                    </a:p>
                  </a:txBody>
                  <a:tcPr/>
                </a:tc>
                <a:tc>
                  <a:txBody>
                    <a:bodyPr/>
                    <a:lstStyle/>
                    <a:p>
                      <a:r>
                        <a:rPr lang="en-IE" dirty="0"/>
                        <a:t>.10000000</a:t>
                      </a:r>
                    </a:p>
                  </a:txBody>
                  <a:tcPr/>
                </a:tc>
                <a:tc>
                  <a:txBody>
                    <a:bodyPr/>
                    <a:lstStyle/>
                    <a:p>
                      <a:r>
                        <a:rPr lang="en-IE" dirty="0"/>
                        <a:t>2</a:t>
                      </a:r>
                    </a:p>
                  </a:txBody>
                  <a:tcPr/>
                </a:tc>
                <a:tc>
                  <a:txBody>
                    <a:bodyPr/>
                    <a:lstStyle/>
                    <a:p>
                      <a:r>
                        <a:rPr lang="en-IE" dirty="0"/>
                        <a:t>126</a:t>
                      </a:r>
                    </a:p>
                  </a:txBody>
                  <a:tcPr/>
                </a:tc>
                <a:extLst>
                  <a:ext uri="{0D108BD9-81ED-4DB2-BD59-A6C34878D82A}">
                    <a16:rowId xmlns:a16="http://schemas.microsoft.com/office/drawing/2014/main" val="776108082"/>
                  </a:ext>
                </a:extLst>
              </a:tr>
              <a:tr h="370840">
                <a:tc>
                  <a:txBody>
                    <a:bodyPr/>
                    <a:lstStyle/>
                    <a:p>
                      <a:r>
                        <a:rPr lang="en-IE" dirty="0"/>
                        <a:t>/26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600" dirty="0"/>
                        <a:t>255.255.255.192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.11000000</a:t>
                      </a:r>
                    </a:p>
                  </a:txBody>
                  <a:tcPr/>
                </a:tc>
                <a:tc>
                  <a:txBody>
                    <a:bodyPr/>
                    <a:lstStyle/>
                    <a:p>
                      <a:r>
                        <a:rPr lang="en-IE" dirty="0"/>
                        <a:t>4</a:t>
                      </a:r>
                    </a:p>
                  </a:txBody>
                  <a:tcPr/>
                </a:tc>
                <a:tc>
                  <a:txBody>
                    <a:bodyPr/>
                    <a:lstStyle/>
                    <a:p>
                      <a:r>
                        <a:rPr lang="en-IE" dirty="0"/>
                        <a:t>62</a:t>
                      </a:r>
                    </a:p>
                  </a:txBody>
                  <a:tcPr/>
                </a:tc>
                <a:extLst>
                  <a:ext uri="{0D108BD9-81ED-4DB2-BD59-A6C34878D82A}">
                    <a16:rowId xmlns:a16="http://schemas.microsoft.com/office/drawing/2014/main" val="2640923837"/>
                  </a:ext>
                </a:extLst>
              </a:tr>
              <a:tr h="370840">
                <a:tc>
                  <a:txBody>
                    <a:bodyPr/>
                    <a:lstStyle/>
                    <a:p>
                      <a:r>
                        <a:rPr lang="en-IE" dirty="0"/>
                        <a:t>/27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600" dirty="0"/>
                        <a:t>255.255.255.224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.11100000</a:t>
                      </a:r>
                    </a:p>
                  </a:txBody>
                  <a:tcPr/>
                </a:tc>
                <a:tc>
                  <a:txBody>
                    <a:bodyPr/>
                    <a:lstStyle/>
                    <a:p>
                      <a:r>
                        <a:rPr lang="en-IE" dirty="0"/>
                        <a:t>8</a:t>
                      </a:r>
                    </a:p>
                  </a:txBody>
                  <a:tcPr/>
                </a:tc>
                <a:tc>
                  <a:txBody>
                    <a:bodyPr/>
                    <a:lstStyle/>
                    <a:p>
                      <a:r>
                        <a:rPr lang="en-IE" dirty="0"/>
                        <a:t>30</a:t>
                      </a:r>
                    </a:p>
                  </a:txBody>
                  <a:tcPr/>
                </a:tc>
                <a:extLst>
                  <a:ext uri="{0D108BD9-81ED-4DB2-BD59-A6C34878D82A}">
                    <a16:rowId xmlns:a16="http://schemas.microsoft.com/office/drawing/2014/main" val="4207283749"/>
                  </a:ext>
                </a:extLst>
              </a:tr>
              <a:tr h="370840">
                <a:tc>
                  <a:txBody>
                    <a:bodyPr/>
                    <a:lstStyle/>
                    <a:p>
                      <a:r>
                        <a:rPr lang="en-IE" dirty="0"/>
                        <a:t>/28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600" dirty="0"/>
                        <a:t>255.255.255.240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.11110000</a:t>
                      </a:r>
                    </a:p>
                  </a:txBody>
                  <a:tcPr/>
                </a:tc>
                <a:tc>
                  <a:txBody>
                    <a:bodyPr/>
                    <a:lstStyle/>
                    <a:p>
                      <a:r>
                        <a:rPr lang="en-IE" dirty="0"/>
                        <a:t>16</a:t>
                      </a:r>
                    </a:p>
                  </a:txBody>
                  <a:tcPr/>
                </a:tc>
                <a:tc>
                  <a:txBody>
                    <a:bodyPr/>
                    <a:lstStyle/>
                    <a:p>
                      <a:r>
                        <a:rPr lang="en-IE" dirty="0"/>
                        <a:t>14</a:t>
                      </a:r>
                    </a:p>
                  </a:txBody>
                  <a:tcPr/>
                </a:tc>
                <a:extLst>
                  <a:ext uri="{0D108BD9-81ED-4DB2-BD59-A6C34878D82A}">
                    <a16:rowId xmlns:a16="http://schemas.microsoft.com/office/drawing/2014/main" val="865681950"/>
                  </a:ext>
                </a:extLst>
              </a:tr>
              <a:tr h="370840">
                <a:tc>
                  <a:txBody>
                    <a:bodyPr/>
                    <a:lstStyle/>
                    <a:p>
                      <a:r>
                        <a:rPr lang="en-IE" dirty="0"/>
                        <a:t>/29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600" dirty="0"/>
                        <a:t>255.255.255.248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.11111000</a:t>
                      </a:r>
                    </a:p>
                  </a:txBody>
                  <a:tcPr/>
                </a:tc>
                <a:tc>
                  <a:txBody>
                    <a:bodyPr/>
                    <a:lstStyle/>
                    <a:p>
                      <a:r>
                        <a:rPr lang="en-IE" dirty="0"/>
                        <a:t>32</a:t>
                      </a:r>
                    </a:p>
                  </a:txBody>
                  <a:tcPr/>
                </a:tc>
                <a:tc>
                  <a:txBody>
                    <a:bodyPr/>
                    <a:lstStyle/>
                    <a:p>
                      <a:r>
                        <a:rPr lang="en-IE" dirty="0"/>
                        <a:t>6</a:t>
                      </a:r>
                    </a:p>
                  </a:txBody>
                  <a:tcPr/>
                </a:tc>
                <a:extLst>
                  <a:ext uri="{0D108BD9-81ED-4DB2-BD59-A6C34878D82A}">
                    <a16:rowId xmlns:a16="http://schemas.microsoft.com/office/drawing/2014/main" val="2298239711"/>
                  </a:ext>
                </a:extLst>
              </a:tr>
              <a:tr h="370840">
                <a:tc>
                  <a:txBody>
                    <a:bodyPr/>
                    <a:lstStyle/>
                    <a:p>
                      <a:r>
                        <a:rPr lang="en-IE" dirty="0"/>
                        <a:t>/30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600" dirty="0"/>
                        <a:t>255.255.255.252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.11111100</a:t>
                      </a:r>
                    </a:p>
                  </a:txBody>
                  <a:tcPr/>
                </a:tc>
                <a:tc>
                  <a:txBody>
                    <a:bodyPr/>
                    <a:lstStyle/>
                    <a:p>
                      <a:r>
                        <a:rPr lang="en-IE" dirty="0"/>
                        <a:t>64</a:t>
                      </a:r>
                    </a:p>
                  </a:txBody>
                  <a:tcPr/>
                </a:tc>
                <a:tc>
                  <a:txBody>
                    <a:bodyPr/>
                    <a:lstStyle/>
                    <a:p>
                      <a:r>
                        <a:rPr lang="en-IE" dirty="0"/>
                        <a:t>2</a:t>
                      </a:r>
                    </a:p>
                  </a:txBody>
                  <a:tcPr/>
                </a:tc>
                <a:extLst>
                  <a:ext uri="{0D108BD9-81ED-4DB2-BD59-A6C34878D82A}">
                    <a16:rowId xmlns:a16="http://schemas.microsoft.com/office/drawing/2014/main" val="2654305267"/>
                  </a:ext>
                </a:extLst>
              </a:tr>
            </a:tbl>
          </a:graphicData>
        </a:graphic>
      </p:graphicFrame>
    </p:spTree>
    <p:extLst>
      <p:ext uri="{BB962C8B-B14F-4D97-AF65-F5344CB8AC3E}">
        <p14:creationId xmlns:p14="http://schemas.microsoft.com/office/powerpoint/2010/main" val="111049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9065F-C530-4B40-8FB5-8A1135E65042}"/>
              </a:ext>
            </a:extLst>
          </p:cNvPr>
          <p:cNvSpPr>
            <a:spLocks noGrp="1"/>
          </p:cNvSpPr>
          <p:nvPr>
            <p:ph type="title"/>
          </p:nvPr>
        </p:nvSpPr>
        <p:spPr>
          <a:xfrm>
            <a:off x="648929" y="629266"/>
            <a:ext cx="4944152" cy="1622321"/>
          </a:xfrm>
        </p:spPr>
        <p:txBody>
          <a:bodyPr>
            <a:normAutofit/>
          </a:bodyPr>
          <a:lstStyle/>
          <a:p>
            <a:r>
              <a:rPr lang="en-IE" dirty="0"/>
              <a:t>IP Subnetting: Example Problem</a:t>
            </a:r>
          </a:p>
        </p:txBody>
      </p:sp>
      <p:sp>
        <p:nvSpPr>
          <p:cNvPr id="3" name="Content Placeholder 2">
            <a:extLst>
              <a:ext uri="{FF2B5EF4-FFF2-40B4-BE49-F238E27FC236}">
                <a16:creationId xmlns:a16="http://schemas.microsoft.com/office/drawing/2014/main" id="{D67B359D-415E-4453-A9D9-5C74AE74E420}"/>
              </a:ext>
            </a:extLst>
          </p:cNvPr>
          <p:cNvSpPr>
            <a:spLocks noGrp="1"/>
          </p:cNvSpPr>
          <p:nvPr>
            <p:ph idx="1"/>
          </p:nvPr>
        </p:nvSpPr>
        <p:spPr>
          <a:xfrm>
            <a:off x="648930" y="2438400"/>
            <a:ext cx="4944151" cy="3785419"/>
          </a:xfrm>
        </p:spPr>
        <p:txBody>
          <a:bodyPr>
            <a:normAutofit/>
          </a:bodyPr>
          <a:lstStyle/>
          <a:p>
            <a:r>
              <a:rPr lang="en-IE" sz="2000" dirty="0"/>
              <a:t>You’re asked to design a subnetting solution for a SOHO (small office/home office)</a:t>
            </a:r>
          </a:p>
          <a:p>
            <a:pPr lvl="1"/>
            <a:r>
              <a:rPr lang="en-IE" sz="2000" dirty="0"/>
              <a:t>Given a network address of 192.168.100.0/24, create a subnet that supports the following:</a:t>
            </a:r>
          </a:p>
          <a:p>
            <a:pPr lvl="2"/>
            <a:r>
              <a:rPr lang="en-IE" b="1" dirty="0"/>
              <a:t>Create 2 LANs: IoT LAN and Employee LAN</a:t>
            </a:r>
          </a:p>
          <a:p>
            <a:pPr lvl="2"/>
            <a:r>
              <a:rPr lang="en-IE" b="1" dirty="0"/>
              <a:t>Hosts on IoT LAN: 50</a:t>
            </a:r>
          </a:p>
          <a:p>
            <a:pPr lvl="2"/>
            <a:r>
              <a:rPr lang="en-IE" b="1" dirty="0"/>
              <a:t>Hosts Office LAN: 100</a:t>
            </a:r>
          </a:p>
          <a:p>
            <a:pPr marL="0" indent="0">
              <a:buNone/>
            </a:pPr>
            <a:endParaRPr lang="en-IE" sz="2000" b="1" dirty="0"/>
          </a:p>
        </p:txBody>
      </p:sp>
      <p:sp>
        <p:nvSpPr>
          <p:cNvPr id="10" name="Rectangle 9">
            <a:extLst>
              <a:ext uri="{FF2B5EF4-FFF2-40B4-BE49-F238E27FC236}">
                <a16:creationId xmlns:a16="http://schemas.microsoft.com/office/drawing/2014/main" id="{46F7435D-E3DB-47B1-BA61-B00ACC83A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2950" y="0"/>
            <a:ext cx="609905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F263A0B5-F8C4-4116-809F-78A768EA7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77582" y="557784"/>
            <a:ext cx="5130204"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2710390-8793-4176-915C-2BAF676227D2}"/>
              </a:ext>
            </a:extLst>
          </p:cNvPr>
          <p:cNvPicPr>
            <a:picLocks noChangeAspect="1"/>
          </p:cNvPicPr>
          <p:nvPr/>
        </p:nvPicPr>
        <p:blipFill>
          <a:blip r:embed="rId2"/>
          <a:stretch>
            <a:fillRect/>
          </a:stretch>
        </p:blipFill>
        <p:spPr>
          <a:xfrm>
            <a:off x="6924640" y="833418"/>
            <a:ext cx="4435669" cy="5187917"/>
          </a:xfrm>
          <a:prstGeom prst="rect">
            <a:avLst/>
          </a:prstGeom>
          <a:effectLst/>
        </p:spPr>
      </p:pic>
    </p:spTree>
    <p:extLst>
      <p:ext uri="{BB962C8B-B14F-4D97-AF65-F5344CB8AC3E}">
        <p14:creationId xmlns:p14="http://schemas.microsoft.com/office/powerpoint/2010/main" val="2872662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7C98C-AF4B-480E-8482-86488DF234C3}"/>
              </a:ext>
            </a:extLst>
          </p:cNvPr>
          <p:cNvSpPr>
            <a:spLocks noGrp="1"/>
          </p:cNvSpPr>
          <p:nvPr>
            <p:ph type="title"/>
          </p:nvPr>
        </p:nvSpPr>
        <p:spPr/>
        <p:txBody>
          <a:bodyPr/>
          <a:lstStyle/>
          <a:p>
            <a:r>
              <a:rPr lang="en-IE" dirty="0"/>
              <a:t>IP Subnetting: Example Problem</a:t>
            </a:r>
          </a:p>
        </p:txBody>
      </p:sp>
      <p:sp>
        <p:nvSpPr>
          <p:cNvPr id="3" name="Content Placeholder 2">
            <a:extLst>
              <a:ext uri="{FF2B5EF4-FFF2-40B4-BE49-F238E27FC236}">
                <a16:creationId xmlns:a16="http://schemas.microsoft.com/office/drawing/2014/main" id="{DE4D3D20-0670-4BE3-A181-295F665E810E}"/>
              </a:ext>
            </a:extLst>
          </p:cNvPr>
          <p:cNvSpPr>
            <a:spLocks noGrp="1"/>
          </p:cNvSpPr>
          <p:nvPr>
            <p:ph idx="1"/>
          </p:nvPr>
        </p:nvSpPr>
        <p:spPr/>
        <p:txBody>
          <a:bodyPr/>
          <a:lstStyle/>
          <a:p>
            <a:pPr lvl="2"/>
            <a:r>
              <a:rPr lang="en-IE" dirty="0"/>
              <a:t>Select subnet mask that satisfies criteria: </a:t>
            </a:r>
            <a:r>
              <a:rPr lang="en-IE" b="1" dirty="0"/>
              <a:t>Create 2 LANs: hosts on IoT LAN: 50</a:t>
            </a:r>
            <a:r>
              <a:rPr lang="en-IE" b="1"/>
              <a:t>, hosts </a:t>
            </a:r>
            <a:r>
              <a:rPr lang="en-IE" b="1" dirty="0"/>
              <a:t>Office LAN: 100</a:t>
            </a:r>
          </a:p>
          <a:p>
            <a:pPr marL="0" indent="0">
              <a:buNone/>
            </a:pPr>
            <a:endParaRPr lang="en-IE" dirty="0"/>
          </a:p>
          <a:p>
            <a:pPr marL="0" indent="0">
              <a:buNone/>
            </a:pPr>
            <a:endParaRPr lang="en-IE" dirty="0"/>
          </a:p>
          <a:p>
            <a:endParaRPr lang="en-IE" dirty="0"/>
          </a:p>
          <a:p>
            <a:endParaRPr lang="en-IE" dirty="0"/>
          </a:p>
          <a:p>
            <a:r>
              <a:rPr lang="en-IE" dirty="0"/>
              <a:t>Subnetting 192.168.100.0/24 to /25 gives the following subnets:</a:t>
            </a:r>
          </a:p>
          <a:p>
            <a:pPr algn="r"/>
            <a:endParaRPr lang="en-IE" dirty="0"/>
          </a:p>
        </p:txBody>
      </p:sp>
      <p:pic>
        <p:nvPicPr>
          <p:cNvPr id="5" name="Picture 4">
            <a:extLst>
              <a:ext uri="{FF2B5EF4-FFF2-40B4-BE49-F238E27FC236}">
                <a16:creationId xmlns:a16="http://schemas.microsoft.com/office/drawing/2014/main" id="{2675292A-BD2D-412B-BB52-2B0D333F9766}"/>
              </a:ext>
            </a:extLst>
          </p:cNvPr>
          <p:cNvPicPr>
            <a:picLocks noChangeAspect="1"/>
          </p:cNvPicPr>
          <p:nvPr/>
        </p:nvPicPr>
        <p:blipFill>
          <a:blip r:embed="rId2"/>
          <a:stretch>
            <a:fillRect/>
          </a:stretch>
        </p:blipFill>
        <p:spPr>
          <a:xfrm>
            <a:off x="4972730" y="2388453"/>
            <a:ext cx="5286637" cy="1934476"/>
          </a:xfrm>
          <a:prstGeom prst="rect">
            <a:avLst/>
          </a:prstGeom>
        </p:spPr>
      </p:pic>
      <p:graphicFrame>
        <p:nvGraphicFramePr>
          <p:cNvPr id="73" name="Table 73">
            <a:extLst>
              <a:ext uri="{FF2B5EF4-FFF2-40B4-BE49-F238E27FC236}">
                <a16:creationId xmlns:a16="http://schemas.microsoft.com/office/drawing/2014/main" id="{2FAEFAA2-2CD0-4B34-8948-362C1DD1FF97}"/>
              </a:ext>
            </a:extLst>
          </p:cNvPr>
          <p:cNvGraphicFramePr>
            <a:graphicFrameLocks noGrp="1"/>
          </p:cNvGraphicFramePr>
          <p:nvPr>
            <p:extLst>
              <p:ext uri="{D42A27DB-BD31-4B8C-83A1-F6EECF244321}">
                <p14:modId xmlns:p14="http://schemas.microsoft.com/office/powerpoint/2010/main" val="3217650035"/>
              </p:ext>
            </p:extLst>
          </p:nvPr>
        </p:nvGraphicFramePr>
        <p:xfrm>
          <a:off x="2032000" y="5084466"/>
          <a:ext cx="8127999" cy="150957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802789792"/>
                    </a:ext>
                  </a:extLst>
                </a:gridCol>
                <a:gridCol w="3688989">
                  <a:extLst>
                    <a:ext uri="{9D8B030D-6E8A-4147-A177-3AD203B41FA5}">
                      <a16:colId xmlns:a16="http://schemas.microsoft.com/office/drawing/2014/main" val="1402152668"/>
                    </a:ext>
                  </a:extLst>
                </a:gridCol>
                <a:gridCol w="1729677">
                  <a:extLst>
                    <a:ext uri="{9D8B030D-6E8A-4147-A177-3AD203B41FA5}">
                      <a16:colId xmlns:a16="http://schemas.microsoft.com/office/drawing/2014/main" val="1704657209"/>
                    </a:ext>
                  </a:extLst>
                </a:gridCol>
              </a:tblGrid>
              <a:tr h="239793">
                <a:tc>
                  <a:txBody>
                    <a:bodyPr/>
                    <a:lstStyle/>
                    <a:p>
                      <a:r>
                        <a:rPr lang="en-IE" dirty="0"/>
                        <a:t>Subnet</a:t>
                      </a:r>
                    </a:p>
                  </a:txBody>
                  <a:tcPr/>
                </a:tc>
                <a:tc>
                  <a:txBody>
                    <a:bodyPr/>
                    <a:lstStyle/>
                    <a:p>
                      <a:r>
                        <a:rPr lang="en-IE" dirty="0"/>
                        <a:t>Host Range</a:t>
                      </a:r>
                    </a:p>
                  </a:txBody>
                  <a:tcPr/>
                </a:tc>
                <a:tc>
                  <a:txBody>
                    <a:bodyPr/>
                    <a:lstStyle/>
                    <a:p>
                      <a:r>
                        <a:rPr lang="en-IE" dirty="0"/>
                        <a:t>Broadcast</a:t>
                      </a:r>
                    </a:p>
                  </a:txBody>
                  <a:tcPr/>
                </a:tc>
                <a:extLst>
                  <a:ext uri="{0D108BD9-81ED-4DB2-BD59-A6C34878D82A}">
                    <a16:rowId xmlns:a16="http://schemas.microsoft.com/office/drawing/2014/main" val="3368704551"/>
                  </a:ext>
                </a:extLst>
              </a:tr>
              <a:tr h="503738">
                <a:tc>
                  <a:txBody>
                    <a:bodyPr/>
                    <a:lstStyle/>
                    <a:p>
                      <a:r>
                        <a:rPr lang="en-IE" dirty="0"/>
                        <a:t>192.168.100.0/25</a:t>
                      </a:r>
                    </a:p>
                  </a:txBody>
                  <a:tcPr/>
                </a:tc>
                <a:tc>
                  <a:txBody>
                    <a:bodyPr/>
                    <a:lstStyle/>
                    <a:p>
                      <a:r>
                        <a:rPr lang="en-IE" dirty="0"/>
                        <a:t>192.168.100.1-&gt;192.168.100.126</a:t>
                      </a:r>
                    </a:p>
                  </a:txBody>
                  <a:tcPr/>
                </a:tc>
                <a:tc>
                  <a:txBody>
                    <a:bodyPr/>
                    <a:lstStyle/>
                    <a:p>
                      <a:r>
                        <a:rPr lang="en-IE" dirty="0"/>
                        <a:t>192.168.1.127</a:t>
                      </a:r>
                    </a:p>
                  </a:txBody>
                  <a:tcPr/>
                </a:tc>
                <a:extLst>
                  <a:ext uri="{0D108BD9-81ED-4DB2-BD59-A6C34878D82A}">
                    <a16:rowId xmlns:a16="http://schemas.microsoft.com/office/drawing/2014/main" val="2628242880"/>
                  </a:ext>
                </a:extLst>
              </a:tr>
              <a:tr h="503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192.168.100.128/25</a:t>
                      </a:r>
                    </a:p>
                    <a:p>
                      <a:endParaRPr lang="en-IE" dirty="0"/>
                    </a:p>
                  </a:txBody>
                  <a:tcPr/>
                </a:tc>
                <a:tc>
                  <a:txBody>
                    <a:bodyPr/>
                    <a:lstStyle/>
                    <a:p>
                      <a:r>
                        <a:rPr lang="en-IE" dirty="0"/>
                        <a:t>192.168.100.129-&gt;192.168.100.254</a:t>
                      </a:r>
                    </a:p>
                  </a:txBody>
                  <a:tcPr/>
                </a:tc>
                <a:tc>
                  <a:txBody>
                    <a:bodyPr/>
                    <a:lstStyle/>
                    <a:p>
                      <a:r>
                        <a:rPr lang="en-IE" dirty="0"/>
                        <a:t>192.168.1.255</a:t>
                      </a:r>
                    </a:p>
                  </a:txBody>
                  <a:tcPr/>
                </a:tc>
                <a:extLst>
                  <a:ext uri="{0D108BD9-81ED-4DB2-BD59-A6C34878D82A}">
                    <a16:rowId xmlns:a16="http://schemas.microsoft.com/office/drawing/2014/main" val="855321208"/>
                  </a:ext>
                </a:extLst>
              </a:tr>
            </a:tbl>
          </a:graphicData>
        </a:graphic>
      </p:graphicFrame>
      <p:sp>
        <p:nvSpPr>
          <p:cNvPr id="4" name="Callout: Line 3">
            <a:extLst>
              <a:ext uri="{FF2B5EF4-FFF2-40B4-BE49-F238E27FC236}">
                <a16:creationId xmlns:a16="http://schemas.microsoft.com/office/drawing/2014/main" id="{A5F427A2-8D18-4FD1-92B0-1533C4AB1508}"/>
              </a:ext>
            </a:extLst>
          </p:cNvPr>
          <p:cNvSpPr/>
          <p:nvPr/>
        </p:nvSpPr>
        <p:spPr>
          <a:xfrm>
            <a:off x="485670" y="2491716"/>
            <a:ext cx="2893926" cy="1509578"/>
          </a:xfrm>
          <a:prstGeom prst="borderCallout1">
            <a:avLst>
              <a:gd name="adj1" fmla="val 36057"/>
              <a:gd name="adj2" fmla="val 102084"/>
              <a:gd name="adj3" fmla="val 56586"/>
              <a:gd name="adj4" fmla="val 1540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IE" b="1" dirty="0"/>
              <a:t>Create Table with all possible subnet masks and choose one that matches criteria.</a:t>
            </a:r>
          </a:p>
        </p:txBody>
      </p:sp>
    </p:spTree>
    <p:extLst>
      <p:ext uri="{BB962C8B-B14F-4D97-AF65-F5344CB8AC3E}">
        <p14:creationId xmlns:p14="http://schemas.microsoft.com/office/powerpoint/2010/main" val="3067990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3"/>
                                        </p:tgtEl>
                                        <p:attrNameLst>
                                          <p:attrName>style.visibility</p:attrName>
                                        </p:attrNameLst>
                                      </p:cBhvr>
                                      <p:to>
                                        <p:strVal val="visible"/>
                                      </p:to>
                                    </p:set>
                                    <p:animEffect transition="in" filter="fade">
                                      <p:cBhvr>
                                        <p:cTn id="21"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DA3A-5DFE-463D-A587-B5DDAFD21C44}"/>
              </a:ext>
            </a:extLst>
          </p:cNvPr>
          <p:cNvSpPr>
            <a:spLocks noGrp="1"/>
          </p:cNvSpPr>
          <p:nvPr>
            <p:ph type="title"/>
          </p:nvPr>
        </p:nvSpPr>
        <p:spPr/>
        <p:txBody>
          <a:bodyPr/>
          <a:lstStyle/>
          <a:p>
            <a:r>
              <a:rPr lang="en-US" b="1" dirty="0">
                <a:cs typeface="Calibri Light"/>
              </a:rPr>
              <a:t>Special Use IPv4 addresses</a:t>
            </a:r>
            <a:endParaRPr lang="en-US" b="1" dirty="0"/>
          </a:p>
        </p:txBody>
      </p:sp>
      <p:sp>
        <p:nvSpPr>
          <p:cNvPr id="3" name="Content Placeholder 2">
            <a:extLst>
              <a:ext uri="{FF2B5EF4-FFF2-40B4-BE49-F238E27FC236}">
                <a16:creationId xmlns:a16="http://schemas.microsoft.com/office/drawing/2014/main" id="{FE16F27D-7B0D-4348-86CD-16171DF54F85}"/>
              </a:ext>
            </a:extLst>
          </p:cNvPr>
          <p:cNvSpPr>
            <a:spLocks noGrp="1"/>
          </p:cNvSpPr>
          <p:nvPr>
            <p:ph idx="1"/>
          </p:nvPr>
        </p:nvSpPr>
        <p:spPr>
          <a:xfrm>
            <a:off x="838200" y="1624342"/>
            <a:ext cx="10515600" cy="4351338"/>
          </a:xfrm>
        </p:spPr>
        <p:txBody>
          <a:bodyPr vert="horz" lIns="91440" tIns="45720" rIns="91440" bIns="45720" rtlCol="0" anchor="t">
            <a:noAutofit/>
          </a:bodyPr>
          <a:lstStyle/>
          <a:p>
            <a:r>
              <a:rPr lang="en-US" dirty="0">
                <a:cs typeface="Calibri"/>
              </a:rPr>
              <a:t>Network and Broadcast addresses - within each network the first and last addresses cannot be assigned to hosts</a:t>
            </a:r>
          </a:p>
          <a:p>
            <a:r>
              <a:rPr lang="en-US" dirty="0">
                <a:cs typeface="Calibri"/>
              </a:rPr>
              <a:t>Loopback address - 127.0.0.1 a special address that hosts use to direct traffic to themselves</a:t>
            </a:r>
          </a:p>
          <a:p>
            <a:r>
              <a:rPr lang="en-US" dirty="0">
                <a:cs typeface="Calibri"/>
              </a:rPr>
              <a:t>Link-Local address - 169.254.0.0 to 169.254.255.255 (169.254.0.0/16) addresses can be automatically assigned to the local host</a:t>
            </a:r>
          </a:p>
          <a:p>
            <a:r>
              <a:rPr lang="en-US" dirty="0">
                <a:cs typeface="Calibri"/>
              </a:rPr>
              <a:t>There are more – referred to as </a:t>
            </a:r>
            <a:r>
              <a:rPr lang="en-US" b="1" dirty="0">
                <a:cs typeface="Calibri"/>
                <a:hlinkClick r:id="rId2"/>
              </a:rPr>
              <a:t>Bogon Addresses</a:t>
            </a:r>
            <a:endParaRPr lang="en-US" b="1" dirty="0">
              <a:cs typeface="Calibri"/>
            </a:endParaRPr>
          </a:p>
          <a:p>
            <a:pPr lvl="1"/>
            <a:r>
              <a:rPr lang="en-US" b="1" dirty="0">
                <a:cs typeface="Calibri"/>
              </a:rPr>
              <a:t>Not routed publicly</a:t>
            </a:r>
          </a:p>
        </p:txBody>
      </p:sp>
    </p:spTree>
    <p:extLst>
      <p:ext uri="{BB962C8B-B14F-4D97-AF65-F5344CB8AC3E}">
        <p14:creationId xmlns:p14="http://schemas.microsoft.com/office/powerpoint/2010/main" val="454446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8A03D-D45D-973D-D86E-0C76A4660E31}"/>
              </a:ext>
            </a:extLst>
          </p:cNvPr>
          <p:cNvSpPr>
            <a:spLocks noGrp="1"/>
          </p:cNvSpPr>
          <p:nvPr>
            <p:ph type="title"/>
          </p:nvPr>
        </p:nvSpPr>
        <p:spPr/>
        <p:txBody>
          <a:bodyPr/>
          <a:lstStyle/>
          <a:p>
            <a:r>
              <a:rPr lang="en-IE" dirty="0"/>
              <a:t>Classless Inter-Domain Routing(CIDR)</a:t>
            </a:r>
          </a:p>
        </p:txBody>
      </p:sp>
      <p:sp>
        <p:nvSpPr>
          <p:cNvPr id="3" name="Content Placeholder 2">
            <a:extLst>
              <a:ext uri="{FF2B5EF4-FFF2-40B4-BE49-F238E27FC236}">
                <a16:creationId xmlns:a16="http://schemas.microsoft.com/office/drawing/2014/main" id="{DBAC1525-CDE2-A3BA-5F9C-DEC55F311DB2}"/>
              </a:ext>
            </a:extLst>
          </p:cNvPr>
          <p:cNvSpPr>
            <a:spLocks noGrp="1"/>
          </p:cNvSpPr>
          <p:nvPr>
            <p:ph idx="1"/>
          </p:nvPr>
        </p:nvSpPr>
        <p:spPr/>
        <p:txBody>
          <a:bodyPr/>
          <a:lstStyle/>
          <a:p>
            <a:r>
              <a:rPr lang="en-IE" dirty="0"/>
              <a:t>Using this approach to Subnetting is also called CIDR</a:t>
            </a:r>
          </a:p>
          <a:p>
            <a:pPr lvl="1"/>
            <a:r>
              <a:rPr lang="en-IE" dirty="0"/>
              <a:t>Breaks from the old classful addressing approach in the old days</a:t>
            </a:r>
          </a:p>
          <a:p>
            <a:r>
              <a:rPr lang="en-IE" dirty="0"/>
              <a:t>Used be IANA to issue address “blocks”</a:t>
            </a:r>
          </a:p>
          <a:p>
            <a:r>
              <a:rPr lang="en-IE" dirty="0"/>
              <a:t>Rules:</a:t>
            </a:r>
          </a:p>
          <a:p>
            <a:pPr lvl="1"/>
            <a:r>
              <a:rPr lang="en-GB" dirty="0"/>
              <a:t>All IP addresses must be contiguous</a:t>
            </a:r>
          </a:p>
          <a:p>
            <a:pPr lvl="1"/>
            <a:r>
              <a:rPr lang="en-GB" dirty="0"/>
              <a:t>Block size must be the power of 2 (2</a:t>
            </a:r>
            <a:r>
              <a:rPr lang="en-GB" baseline="30000" dirty="0"/>
              <a:t>n</a:t>
            </a:r>
            <a:r>
              <a:rPr lang="en-GB" dirty="0"/>
              <a:t>)</a:t>
            </a:r>
            <a:endParaRPr lang="en-IE" dirty="0"/>
          </a:p>
          <a:p>
            <a:pPr lvl="1"/>
            <a:r>
              <a:rPr lang="en-GB" b="0" i="0" dirty="0">
                <a:solidFill>
                  <a:srgbClr val="273239"/>
                </a:solidFill>
                <a:effectLst/>
                <a:latin typeface="urw-din"/>
              </a:rPr>
              <a:t>First IP address of the Block must be evenly divisible by the size of the block.(always true if the host part of 1</a:t>
            </a:r>
            <a:r>
              <a:rPr lang="en-GB" b="0" i="0" baseline="30000" dirty="0">
                <a:solidFill>
                  <a:srgbClr val="273239"/>
                </a:solidFill>
                <a:effectLst/>
                <a:latin typeface="urw-din"/>
              </a:rPr>
              <a:t>st</a:t>
            </a:r>
            <a:r>
              <a:rPr lang="en-GB" b="0" i="0" dirty="0">
                <a:solidFill>
                  <a:srgbClr val="273239"/>
                </a:solidFill>
                <a:effectLst/>
                <a:latin typeface="urw-din"/>
              </a:rPr>
              <a:t>  address is all 0s) </a:t>
            </a:r>
            <a:endParaRPr lang="en-IE" dirty="0"/>
          </a:p>
        </p:txBody>
      </p:sp>
    </p:spTree>
    <p:extLst>
      <p:ext uri="{BB962C8B-B14F-4D97-AF65-F5344CB8AC3E}">
        <p14:creationId xmlns:p14="http://schemas.microsoft.com/office/powerpoint/2010/main" val="4200012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BD3D8-80CA-48A9-9E0E-3B2D26BB4553}"/>
              </a:ext>
            </a:extLst>
          </p:cNvPr>
          <p:cNvSpPr>
            <a:spLocks noGrp="1"/>
          </p:cNvSpPr>
          <p:nvPr>
            <p:ph type="title"/>
          </p:nvPr>
        </p:nvSpPr>
        <p:spPr/>
        <p:txBody>
          <a:bodyPr/>
          <a:lstStyle/>
          <a:p>
            <a:r>
              <a:rPr lang="en-IE" dirty="0"/>
              <a:t>Question</a:t>
            </a:r>
          </a:p>
        </p:txBody>
      </p:sp>
      <p:sp>
        <p:nvSpPr>
          <p:cNvPr id="3" name="Content Placeholder 2">
            <a:extLst>
              <a:ext uri="{FF2B5EF4-FFF2-40B4-BE49-F238E27FC236}">
                <a16:creationId xmlns:a16="http://schemas.microsoft.com/office/drawing/2014/main" id="{7EE6AD8E-4071-4248-BF36-64B9D841A97E}"/>
              </a:ext>
            </a:extLst>
          </p:cNvPr>
          <p:cNvSpPr>
            <a:spLocks noGrp="1"/>
          </p:cNvSpPr>
          <p:nvPr>
            <p:ph idx="1"/>
          </p:nvPr>
        </p:nvSpPr>
        <p:spPr/>
        <p:txBody>
          <a:bodyPr/>
          <a:lstStyle/>
          <a:p>
            <a:r>
              <a:rPr lang="en-IE" dirty="0"/>
              <a:t>Your Router has the following IP address on FastEthernet0/0: 172.16.2.1/23.</a:t>
            </a:r>
            <a:br>
              <a:rPr lang="en-IE" dirty="0"/>
            </a:br>
            <a:r>
              <a:rPr lang="en-IE" dirty="0"/>
              <a:t>Which of the following are valid host addresses on the LAN connected to FastEthernet0/0.</a:t>
            </a:r>
          </a:p>
          <a:p>
            <a:pPr marL="971550" lvl="1" indent="-514350">
              <a:buFont typeface="+mj-lt"/>
              <a:buAutoNum type="arabicPeriod"/>
            </a:pPr>
            <a:r>
              <a:rPr lang="en-IE" dirty="0"/>
              <a:t>172.16.1.99</a:t>
            </a:r>
          </a:p>
          <a:p>
            <a:pPr marL="971550" lvl="1" indent="-514350">
              <a:buFont typeface="+mj-lt"/>
              <a:buAutoNum type="arabicPeriod"/>
            </a:pPr>
            <a:r>
              <a:rPr lang="en-IE" dirty="0"/>
              <a:t>172.16.1.198</a:t>
            </a:r>
          </a:p>
          <a:p>
            <a:pPr marL="971550" lvl="1" indent="-514350">
              <a:buFont typeface="+mj-lt"/>
              <a:buAutoNum type="arabicPeriod"/>
            </a:pPr>
            <a:r>
              <a:rPr lang="en-IE" dirty="0"/>
              <a:t>172.16.2.255</a:t>
            </a:r>
          </a:p>
          <a:p>
            <a:pPr marL="971550" lvl="1" indent="-514350">
              <a:buFont typeface="+mj-lt"/>
              <a:buAutoNum type="arabicPeriod"/>
            </a:pPr>
            <a:r>
              <a:rPr lang="en-IE" dirty="0"/>
              <a:t>172.16.3.0</a:t>
            </a:r>
          </a:p>
        </p:txBody>
      </p:sp>
    </p:spTree>
    <p:extLst>
      <p:ext uri="{BB962C8B-B14F-4D97-AF65-F5344CB8AC3E}">
        <p14:creationId xmlns:p14="http://schemas.microsoft.com/office/powerpoint/2010/main" val="15026605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2263</TotalTime>
  <Words>1138</Words>
  <Application>Microsoft Office PowerPoint</Application>
  <PresentationFormat>Widescreen</PresentationFormat>
  <Paragraphs>179</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vt:lpstr>
      <vt:lpstr>Calibri</vt:lpstr>
      <vt:lpstr>Calibri Light</vt:lpstr>
      <vt:lpstr>CiscoSans</vt:lpstr>
      <vt:lpstr>Courier New</vt:lpstr>
      <vt:lpstr>urw-din</vt:lpstr>
      <vt:lpstr>office theme</vt:lpstr>
      <vt:lpstr>IPv4 Subnetting By: Mujahid Tabassum - 2026</vt:lpstr>
      <vt:lpstr>Agenda – Part 1</vt:lpstr>
      <vt:lpstr>IP Addressing: Subnets</vt:lpstr>
      <vt:lpstr>Recap – Network/Broadcast/Host Addresses</vt:lpstr>
      <vt:lpstr>Recap – Network/Broadcast/Host Addresses</vt:lpstr>
      <vt:lpstr>Recap – Network/Broadcast/Host Addresses</vt:lpstr>
      <vt:lpstr>PowerPoint Presentation</vt:lpstr>
      <vt:lpstr>IP Addressing: Problem</vt:lpstr>
      <vt:lpstr>IP Addressing: Broadcast</vt:lpstr>
      <vt:lpstr>IP Addressing: Broadcast</vt:lpstr>
      <vt:lpstr>IP Addressing: Subnetting Advantages</vt:lpstr>
      <vt:lpstr>IP Addessing: Subnetting on a Boundary</vt:lpstr>
      <vt:lpstr>IP Addressing: Subnetting within a Boundary</vt:lpstr>
      <vt:lpstr>IP Subnetting: Example Problem</vt:lpstr>
      <vt:lpstr>IP Subnetting: Example Problem</vt:lpstr>
      <vt:lpstr>Special Use IPv4 addresses</vt:lpstr>
      <vt:lpstr>Classless Inter-Domain Routing(CIDR)</vt:lpstr>
      <vt:lpstr>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IPv4 Addressing</dc:title>
  <dc:creator>Frank X Walsh</dc:creator>
  <cp:lastModifiedBy>Mujahid Tabassum</cp:lastModifiedBy>
  <cp:revision>33</cp:revision>
  <dcterms:created xsi:type="dcterms:W3CDTF">2020-10-01T11:47:25Z</dcterms:created>
  <dcterms:modified xsi:type="dcterms:W3CDTF">2026-03-04T11:21:56Z</dcterms:modified>
</cp:coreProperties>
</file>