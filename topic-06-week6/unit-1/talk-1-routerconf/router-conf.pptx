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513" r:id="rId5"/>
    <p:sldId id="925" r:id="rId6"/>
    <p:sldId id="1054" r:id="rId7"/>
    <p:sldId id="1091" r:id="rId8"/>
    <p:sldId id="1114" r:id="rId9"/>
    <p:sldId id="1058" r:id="rId10"/>
    <p:sldId id="1092" r:id="rId11"/>
    <p:sldId id="1093" r:id="rId12"/>
    <p:sldId id="1094" r:id="rId13"/>
    <p:sldId id="1061" r:id="rId14"/>
    <p:sldId id="1095" r:id="rId15"/>
    <p:sldId id="1096" r:id="rId16"/>
    <p:sldId id="1097" r:id="rId17"/>
    <p:sldId id="1098" r:id="rId18"/>
    <p:sldId id="1099" r:id="rId19"/>
    <p:sldId id="1115" r:id="rId20"/>
    <p:sldId id="1064" r:id="rId21"/>
    <p:sldId id="112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74614" autoAdjust="0"/>
  </p:normalViewPr>
  <p:slideViewPr>
    <p:cSldViewPr snapToGrid="0">
      <p:cViewPr varScale="1">
        <p:scale>
          <a:sx n="82" d="100"/>
          <a:sy n="82" d="100"/>
        </p:scale>
        <p:origin x="172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AA78A1-F382-4505-B980-6FC3A4847748}" type="datetimeFigureOut">
              <a:rPr lang="en-IE" smtClean="0"/>
              <a:t>04/03/2026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4DD8AA-28B7-466F-B889-B877570C7251}" type="slidenum">
              <a:rPr lang="en-IE" smtClean="0"/>
              <a:t>‹#›</a:t>
            </a:fld>
            <a:endParaRPr lang="en-IE"/>
          </a:p>
        </p:txBody>
      </p:sp>
    </p:spTree>
    <p:extLst>
      <p:ext uri="{BB962C8B-B14F-4D97-AF65-F5344CB8AC3E}">
        <p14:creationId xmlns:p14="http://schemas.microsoft.com/office/powerpoint/2010/main" val="2708005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9: Address Resolution</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10.1 – Configure Initial Router Settings</a:t>
            </a:r>
          </a:p>
          <a:p>
            <a:r>
              <a:rPr lang="en-US" dirty="0"/>
              <a:t>10.1.1 – Basic Routing Configuration Steps</a:t>
            </a:r>
          </a:p>
        </p:txBody>
      </p:sp>
      <p:sp>
        <p:nvSpPr>
          <p:cNvPr id="4" name="Slide Number Placeholder 3"/>
          <p:cNvSpPr>
            <a:spLocks noGrp="1"/>
          </p:cNvSpPr>
          <p:nvPr>
            <p:ph type="sldNum" sz="quarter" idx="5"/>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10.1 – Configure Initial Router Settings</a:t>
            </a:r>
          </a:p>
          <a:p>
            <a:r>
              <a:rPr lang="en-US" dirty="0"/>
              <a:t>10.1.2 – Basic Routing Configuration Example</a:t>
            </a:r>
          </a:p>
          <a:p>
            <a:r>
              <a:rPr lang="en-US" dirty="0"/>
              <a:t>10.1.3 - Syntax Checker – Configure Initial Router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981657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10.1 Configure Initial Router Settings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10.2.1 – Configure Router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4173039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10.2.2 – Configure Router Interfaces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37903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10.2.2 – Configure Router Interfaces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831126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10.2.3 – Verify Interface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92883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10.2.4 – Configuration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045062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10.2.4 – Configuration Verification Commands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04442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10.2.4 – Configuration Verification Commands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3956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10.2.4 – Configuration Verification Commands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907790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10.2.4 – Configuration Verification Commands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441579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10.2 – Configure Interfaces</a:t>
            </a:r>
          </a:p>
          <a:p>
            <a:r>
              <a:rPr lang="en-US" dirty="0"/>
              <a:t>10.2.4 – Configuration Verification Commands (Cont.)</a:t>
            </a:r>
          </a:p>
          <a:p>
            <a:r>
              <a:rPr lang="en-US" dirty="0"/>
              <a:t>10.2.5 Syntax Checker – Configure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894074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Basic Router Configuration</a:t>
            </a:r>
          </a:p>
          <a:p>
            <a:r>
              <a:rPr lang="en-US" dirty="0"/>
              <a:t>10.1 Configure Initial Router Settings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824454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58585B"/>
                </a:solidFill>
                <a:effectLst/>
                <a:latin typeface="CiscoSans"/>
              </a:rPr>
              <a:t>If your local network has only one router, it will be the gateway router and all hosts and switches on your network must be configured with this information. If your local network has multiple routers, you must select one of them to be the default gateway router.</a:t>
            </a:r>
          </a:p>
          <a:p>
            <a:pPr algn="l"/>
            <a:endParaRPr lang="en-US" b="0" i="0" dirty="0">
              <a:solidFill>
                <a:srgbClr val="58585B"/>
              </a:solidFill>
              <a:effectLst/>
              <a:latin typeface="CiscoSans"/>
            </a:endParaRPr>
          </a:p>
          <a:p>
            <a:pPr algn="l"/>
            <a:r>
              <a:rPr lang="en-US" b="0" i="0" dirty="0">
                <a:solidFill>
                  <a:srgbClr val="58585B"/>
                </a:solidFill>
                <a:effectLst/>
                <a:latin typeface="CiscoSans"/>
              </a:rPr>
              <a:t>For an end device to communicate over the network, it must be configured with the correct IP address information, including the default gateway address. The default gateway is only used when the host wants to send a packet to a device on another network. The default gateway address is generally the router interface address attached to the local network of the host. The IP address of the host device and the router interface address must be in the same network.</a:t>
            </a:r>
          </a:p>
          <a:p>
            <a:pPr algn="l"/>
            <a:endParaRPr lang="en-US" b="0" i="0" dirty="0">
              <a:solidFill>
                <a:srgbClr val="58585B"/>
              </a:solidFill>
              <a:effectLst/>
              <a:latin typeface="CiscoSans"/>
            </a:endParaRPr>
          </a:p>
          <a:p>
            <a:pPr algn="l"/>
            <a:r>
              <a:rPr lang="en-US" b="0" i="0" dirty="0">
                <a:solidFill>
                  <a:srgbClr val="58585B"/>
                </a:solidFill>
                <a:effectLst/>
                <a:latin typeface="CiscoSans"/>
              </a:rPr>
              <a:t>For example, assume an IPv4 network topology consisting of a router interconnecting two separate LANs. G0/0/0 is connected to network 192.168.10.0, while G0/0/1 is connected to network 192.168.11.0. Each host device is configured with the appropriate default gateway address.</a:t>
            </a:r>
          </a:p>
          <a:p>
            <a:pPr algn="l"/>
            <a:endParaRPr lang="en-US" b="0" i="0" dirty="0">
              <a:solidFill>
                <a:srgbClr val="58585B"/>
              </a:solidFill>
              <a:effectLst/>
              <a:latin typeface="CiscoSans"/>
            </a:endParaRPr>
          </a:p>
          <a:p>
            <a:pPr algn="l"/>
            <a:r>
              <a:rPr lang="en-US" b="0" i="0" dirty="0">
                <a:solidFill>
                  <a:srgbClr val="58585B"/>
                </a:solidFill>
                <a:effectLst/>
                <a:latin typeface="CiscoSans"/>
              </a:rPr>
              <a:t>In this example, if PC1 sends a packet to PC2, then the default gateway is not used. Instead, PC1 addresses the packet with the IPv4 address of PC2 and forwards the packet directly to PC2 through the switch.</a:t>
            </a:r>
          </a:p>
          <a:p>
            <a:pPr algn="l"/>
            <a:endParaRPr lang="en-US" b="0" i="0" dirty="0">
              <a:solidFill>
                <a:srgbClr val="58585B"/>
              </a:solidFill>
              <a:effectLst/>
              <a:latin typeface="CiscoSans"/>
            </a:endParaRPr>
          </a:p>
          <a:p>
            <a:pPr algn="l"/>
            <a:r>
              <a:rPr lang="en-US" b="0" i="0" dirty="0">
                <a:solidFill>
                  <a:srgbClr val="58585B"/>
                </a:solidFill>
                <a:effectLst/>
                <a:latin typeface="CiscoSans"/>
              </a:rPr>
              <a:t>What if PC1 sent a packet to PC3? PC1 would address the packet with the IPv4 address of PC3, but would forward the packet to its default gateway, which is the G0/0/0 interface of R1. The router accepts the packet and accesses its routing table to determine that G0/0/1 is the appropriate exit interface based on the destination address. R1 then forwards the packet out of the appropriate interface to reach PC3.</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315570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58585B"/>
                </a:solidFill>
                <a:effectLst/>
                <a:latin typeface="CiscoSans"/>
              </a:rPr>
              <a:t>A switch that interconnects client computers is typically a Layer 2 device. As such, a Layer 2 switch does not require an IP address to function properly. However, an IP configuration can be configured on a switch to give an administrator remote access to the switch.</a:t>
            </a:r>
          </a:p>
          <a:p>
            <a:pPr algn="l"/>
            <a:endParaRPr lang="en-US" b="0" i="0" dirty="0">
              <a:solidFill>
                <a:srgbClr val="58585B"/>
              </a:solidFill>
              <a:effectLst/>
              <a:latin typeface="CiscoSans"/>
            </a:endParaRPr>
          </a:p>
          <a:p>
            <a:pPr algn="l"/>
            <a:r>
              <a:rPr lang="en-US" b="0" i="0" dirty="0">
                <a:solidFill>
                  <a:srgbClr val="58585B"/>
                </a:solidFill>
                <a:effectLst/>
                <a:latin typeface="CiscoSans"/>
              </a:rPr>
              <a:t>To connect to and manage a switch over a local IP network, it must have a switch virtual interface (SVI) configured. The SVI is configured with an IPv4 address and subnet mask on the local LAN. The switch must also have a default gateway address configured to remotely manage the switch from another network.</a:t>
            </a:r>
          </a:p>
          <a:p>
            <a:pPr algn="l"/>
            <a:r>
              <a:rPr lang="en-US" b="0" i="0" dirty="0">
                <a:solidFill>
                  <a:srgbClr val="58585B"/>
                </a:solidFill>
                <a:effectLst/>
                <a:latin typeface="CiscoSans"/>
              </a:rPr>
              <a:t>The default gateway address is typically configured on all devices that will communicate beyond their local network.</a:t>
            </a:r>
          </a:p>
          <a:p>
            <a:pPr algn="l"/>
            <a:endParaRPr lang="en-US" b="0" i="0" dirty="0">
              <a:solidFill>
                <a:srgbClr val="58585B"/>
              </a:solidFill>
              <a:effectLst/>
              <a:latin typeface="CiscoSans"/>
            </a:endParaRPr>
          </a:p>
          <a:p>
            <a:pPr algn="l"/>
            <a:r>
              <a:rPr lang="en-US" b="0" i="0" dirty="0">
                <a:solidFill>
                  <a:srgbClr val="58585B"/>
                </a:solidFill>
                <a:effectLst/>
                <a:latin typeface="CiscoSans"/>
              </a:rPr>
              <a:t>To configure an IPv4 default gateway on a switch, use the </a:t>
            </a:r>
            <a:r>
              <a:rPr lang="en-US" b="1" i="0" dirty="0" err="1">
                <a:solidFill>
                  <a:srgbClr val="58585B"/>
                </a:solidFill>
                <a:effectLst/>
                <a:latin typeface="CiscoSans"/>
              </a:rPr>
              <a:t>ip</a:t>
            </a:r>
            <a:r>
              <a:rPr lang="en-US" b="1" i="0" dirty="0">
                <a:solidFill>
                  <a:srgbClr val="58585B"/>
                </a:solidFill>
                <a:effectLst/>
                <a:latin typeface="CiscoSans"/>
              </a:rPr>
              <a:t> default-gateway</a:t>
            </a:r>
            <a:r>
              <a:rPr lang="en-US" b="0" i="0" dirty="0">
                <a:solidFill>
                  <a:srgbClr val="58585B"/>
                </a:solidFill>
                <a:effectLst/>
                <a:latin typeface="CiscoSans"/>
              </a:rPr>
              <a:t> </a:t>
            </a:r>
            <a:r>
              <a:rPr lang="en-US" b="0" i="1" dirty="0" err="1">
                <a:solidFill>
                  <a:srgbClr val="58585B"/>
                </a:solidFill>
                <a:effectLst/>
                <a:latin typeface="CiscoSans"/>
              </a:rPr>
              <a:t>ip</a:t>
            </a:r>
            <a:r>
              <a:rPr lang="en-US" b="0" i="1" dirty="0">
                <a:solidFill>
                  <a:srgbClr val="58585B"/>
                </a:solidFill>
                <a:effectLst/>
                <a:latin typeface="CiscoSans"/>
              </a:rPr>
              <a:t>-address</a:t>
            </a:r>
            <a:r>
              <a:rPr lang="en-US" b="0" i="0" dirty="0">
                <a:solidFill>
                  <a:srgbClr val="58585B"/>
                </a:solidFill>
                <a:effectLst/>
                <a:latin typeface="CiscoSans"/>
              </a:rPr>
              <a:t> global configuration command. The </a:t>
            </a:r>
            <a:r>
              <a:rPr lang="en-US" b="0" i="1" dirty="0" err="1">
                <a:solidFill>
                  <a:srgbClr val="58585B"/>
                </a:solidFill>
                <a:effectLst/>
                <a:latin typeface="CiscoSans"/>
              </a:rPr>
              <a:t>ip</a:t>
            </a:r>
            <a:r>
              <a:rPr lang="en-US" b="0" i="1" dirty="0">
                <a:solidFill>
                  <a:srgbClr val="58585B"/>
                </a:solidFill>
                <a:effectLst/>
                <a:latin typeface="CiscoSans"/>
              </a:rPr>
              <a:t>-address</a:t>
            </a:r>
            <a:r>
              <a:rPr lang="en-US" b="0" i="0" dirty="0">
                <a:solidFill>
                  <a:srgbClr val="58585B"/>
                </a:solidFill>
                <a:effectLst/>
                <a:latin typeface="CiscoSans"/>
              </a:rPr>
              <a:t> that is configured is the IPv4 address of the local router interface connected to the switch.</a:t>
            </a:r>
          </a:p>
          <a:p>
            <a:pPr algn="l"/>
            <a:endParaRPr lang="en-US" b="0" i="0" dirty="0">
              <a:solidFill>
                <a:srgbClr val="58585B"/>
              </a:solidFill>
              <a:effectLst/>
              <a:latin typeface="CiscoSans"/>
            </a:endParaRPr>
          </a:p>
          <a:p>
            <a:pPr algn="l"/>
            <a:r>
              <a:rPr lang="en-US" b="0" i="0" dirty="0">
                <a:solidFill>
                  <a:srgbClr val="58585B"/>
                </a:solidFill>
                <a:effectLst/>
                <a:latin typeface="CiscoSans"/>
              </a:rPr>
              <a:t>In this example, the administrator host would use its default gateway to send the packet to the G0/0/1 interface of R1. R1 would forward the packet to S1 out of its G0/0/0 interface. Because the packet source IPv4 address came from another network, S1 would require a default gateway to forward the packet to the G0/0/0 interface of R1. Therefore, S1 must be configured with a default gateway to be able to reply and establish an SSH connection with the administrative host.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13031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8D40-B97A-4171-8F9D-8C81E23D1C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2C85EDB3-7256-4A0C-9D24-16714DFD30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42A42D1C-4DF6-4A4D-8649-0EA789D7817F}"/>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5" name="Footer Placeholder 4">
            <a:extLst>
              <a:ext uri="{FF2B5EF4-FFF2-40B4-BE49-F238E27FC236}">
                <a16:creationId xmlns:a16="http://schemas.microsoft.com/office/drawing/2014/main" id="{66719F6C-3BE4-4E6D-AC6C-CADA029EB2A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0F732C3-3022-4A0B-8F3B-032B8D6564DC}"/>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123996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09B62-A974-49A3-8FA6-F7E1C595C2CE}"/>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9E32FDE2-90D0-489C-9DE1-0CD2C5D5EE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D69DD53-CDA4-4737-AC39-AD192269389C}"/>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5" name="Footer Placeholder 4">
            <a:extLst>
              <a:ext uri="{FF2B5EF4-FFF2-40B4-BE49-F238E27FC236}">
                <a16:creationId xmlns:a16="http://schemas.microsoft.com/office/drawing/2014/main" id="{7493879C-81C8-4DE1-A542-FA245924C64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5219081-2E19-4D60-AC08-8A69C2D52BFB}"/>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1426343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7EFE-C344-4EF0-85B3-C51446B7AF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E659BF86-FC33-43F3-A544-0EA68AC036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A068A0-AC05-4FF0-9B52-869BE93D4217}"/>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5" name="Footer Placeholder 4">
            <a:extLst>
              <a:ext uri="{FF2B5EF4-FFF2-40B4-BE49-F238E27FC236}">
                <a16:creationId xmlns:a16="http://schemas.microsoft.com/office/drawing/2014/main" id="{5C37B6C3-4290-40FC-B223-27B23A96778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DA0273E-F919-4E07-84F0-1AD62E597D98}"/>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1193981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AD47C-CD65-4C75-967B-0CE3727D65B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E7ED14C3-E808-4D0E-9036-CAD3359F4D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24A3602C-8BB3-4BFF-9043-4276890B4A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8EBE21FA-D294-47CF-8748-AB428BDCEE36}"/>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6" name="Footer Placeholder 5">
            <a:extLst>
              <a:ext uri="{FF2B5EF4-FFF2-40B4-BE49-F238E27FC236}">
                <a16:creationId xmlns:a16="http://schemas.microsoft.com/office/drawing/2014/main" id="{BC6EBB02-6CF5-4F1A-B828-C9F7AD1E7A80}"/>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036CBDA-C872-40A1-83BA-068124F0A5BC}"/>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92427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888B8-A300-49DB-A64D-9CC47A3A4632}"/>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D4D21827-AB17-4DC1-9F01-8337637DE6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976748-EE6C-4469-8C2B-5B10982689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342F3502-6D9B-41C6-BA2F-0881230611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E76260-BE33-4814-8BE4-A85DE5D417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5F6C88F5-7BD6-4513-9B48-844FB656C6EB}"/>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8" name="Footer Placeholder 7">
            <a:extLst>
              <a:ext uri="{FF2B5EF4-FFF2-40B4-BE49-F238E27FC236}">
                <a16:creationId xmlns:a16="http://schemas.microsoft.com/office/drawing/2014/main" id="{E9F35588-8BDF-41AD-8426-334D797D8A77}"/>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171BD036-D7DF-4469-BC14-263F665A7D4F}"/>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2635113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9BE21-2187-4307-A8A3-4DACE8EF3E44}"/>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EF4D7BCB-B5C9-407B-941C-3331BA548C47}"/>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4" name="Footer Placeholder 3">
            <a:extLst>
              <a:ext uri="{FF2B5EF4-FFF2-40B4-BE49-F238E27FC236}">
                <a16:creationId xmlns:a16="http://schemas.microsoft.com/office/drawing/2014/main" id="{5345B588-7689-43FF-B07B-A92934C5FA5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BC47024E-4AF0-4B1B-BB69-C57A3A640DE6}"/>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2837352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18C878-3397-481D-9308-05C75919D2D2}"/>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3" name="Footer Placeholder 2">
            <a:extLst>
              <a:ext uri="{FF2B5EF4-FFF2-40B4-BE49-F238E27FC236}">
                <a16:creationId xmlns:a16="http://schemas.microsoft.com/office/drawing/2014/main" id="{9C2864E2-DD8D-4AD5-90DD-A8077FE09A6C}"/>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113FFA04-D462-4E6B-A798-83C96951F947}"/>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4015990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B688-5691-4466-BE23-B13C83A309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0D58E16D-5436-4E0E-8546-504E709427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FDDA0FA1-5F37-49F8-8116-F4DA73CA89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ACF703-3B79-4A9B-87A2-73182EEDE196}"/>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6" name="Footer Placeholder 5">
            <a:extLst>
              <a:ext uri="{FF2B5EF4-FFF2-40B4-BE49-F238E27FC236}">
                <a16:creationId xmlns:a16="http://schemas.microsoft.com/office/drawing/2014/main" id="{4C0B5B69-7420-4C29-9B4F-03FA71A32711}"/>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08E8EAE4-88F8-40AE-9BAB-3FB05620F6CD}"/>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1471982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CCCFB-A6D9-4778-BB59-81A419012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5869F146-6D91-4194-A211-27ACFBBC2B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D35ACD99-5FAF-4572-8AE7-17F28B31CF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478C62-599A-4B1C-9478-8C05979434A8}"/>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6" name="Footer Placeholder 5">
            <a:extLst>
              <a:ext uri="{FF2B5EF4-FFF2-40B4-BE49-F238E27FC236}">
                <a16:creationId xmlns:a16="http://schemas.microsoft.com/office/drawing/2014/main" id="{D7483954-2E0B-4695-AAE6-A3D83267AFAA}"/>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31638E1-728B-42FF-BA80-9AB5E9A0D861}"/>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1650337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3F391-2F3E-493E-AE26-82B0DE8A7E03}"/>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2D4B8FC3-B452-4941-9289-979F98CFA5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26461F8E-94CA-41B5-B181-C1DF636FBBA4}"/>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5" name="Footer Placeholder 4">
            <a:extLst>
              <a:ext uri="{FF2B5EF4-FFF2-40B4-BE49-F238E27FC236}">
                <a16:creationId xmlns:a16="http://schemas.microsoft.com/office/drawing/2014/main" id="{CD5F9742-7E35-42A4-9B29-F50544E26F4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05A8D7C-EBF7-49E2-A24A-D69CF467617D}"/>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148347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FCECF9-B519-44C3-83D8-92162AA42A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97AC929E-4AF4-466A-9F4B-8EF5B7F276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C219FDE-0B2C-4268-97CA-083DE623F6AB}"/>
              </a:ext>
            </a:extLst>
          </p:cNvPr>
          <p:cNvSpPr>
            <a:spLocks noGrp="1"/>
          </p:cNvSpPr>
          <p:nvPr>
            <p:ph type="dt" sz="half" idx="10"/>
          </p:nvPr>
        </p:nvSpPr>
        <p:spPr/>
        <p:txBody>
          <a:bodyPr/>
          <a:lstStyle/>
          <a:p>
            <a:fld id="{A84DC70D-79E8-44C0-9D0A-A84A8BDF845D}" type="datetimeFigureOut">
              <a:rPr lang="en-IE" smtClean="0"/>
              <a:t>04/03/2026</a:t>
            </a:fld>
            <a:endParaRPr lang="en-IE"/>
          </a:p>
        </p:txBody>
      </p:sp>
      <p:sp>
        <p:nvSpPr>
          <p:cNvPr id="5" name="Footer Placeholder 4">
            <a:extLst>
              <a:ext uri="{FF2B5EF4-FFF2-40B4-BE49-F238E27FC236}">
                <a16:creationId xmlns:a16="http://schemas.microsoft.com/office/drawing/2014/main" id="{2AD5DBAE-03DD-4CFA-8C26-AB32810AFA3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1E453C2-1F52-45A7-B8CC-A95D02B8E7DA}"/>
              </a:ext>
            </a:extLst>
          </p:cNvPr>
          <p:cNvSpPr>
            <a:spLocks noGrp="1"/>
          </p:cNvSpPr>
          <p:nvPr>
            <p:ph type="sldNum" sz="quarter" idx="12"/>
          </p:nvPr>
        </p:nvSpPr>
        <p:spPr/>
        <p:txBody>
          <a:bodyPr/>
          <a:lstStyle/>
          <a:p>
            <a:fld id="{A28396FB-7AA3-4B82-84C4-268A8C6A14CF}" type="slidenum">
              <a:rPr lang="en-IE" smtClean="0"/>
              <a:t>‹#›</a:t>
            </a:fld>
            <a:endParaRPr lang="en-IE"/>
          </a:p>
        </p:txBody>
      </p:sp>
    </p:spTree>
    <p:extLst>
      <p:ext uri="{BB962C8B-B14F-4D97-AF65-F5344CB8AC3E}">
        <p14:creationId xmlns:p14="http://schemas.microsoft.com/office/powerpoint/2010/main" val="2200541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632883" y="1797051"/>
            <a:ext cx="11040076" cy="4098595"/>
          </a:xfrm>
          <a:prstGeom prst="rect">
            <a:avLst/>
          </a:prstGeom>
        </p:spPr>
        <p:txBody>
          <a:bodyPr lIns="91420" tIns="45710" rIns="91420" bIns="45710">
            <a:noAutofit/>
          </a:bodyPr>
          <a:lstStyle>
            <a:lvl1pPr marL="380910" marR="0" indent="-380910" algn="ctr" defTabSz="609458" rtl="0" eaLnBrk="1" fontAlgn="auto" latinLnBrk="0" hangingPunct="1">
              <a:lnSpc>
                <a:spcPct val="100000"/>
              </a:lnSpc>
              <a:spcBef>
                <a:spcPct val="20000"/>
              </a:spcBef>
              <a:spcAft>
                <a:spcPts val="0"/>
              </a:spcAft>
              <a:buClrTx/>
              <a:buSzTx/>
              <a:buFont typeface="Arial"/>
              <a:buNone/>
              <a:tabLst/>
              <a:defRPr sz="2667"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340038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6" name="Subtitle 2"/>
          <p:cNvSpPr>
            <a:spLocks noGrp="1"/>
          </p:cNvSpPr>
          <p:nvPr>
            <p:ph type="subTitle" idx="1"/>
          </p:nvPr>
        </p:nvSpPr>
        <p:spPr>
          <a:xfrm>
            <a:off x="625995" y="5079369"/>
            <a:ext cx="5758807" cy="384175"/>
          </a:xfrm>
          <a:prstGeom prst="rect">
            <a:avLst/>
          </a:prstGeom>
        </p:spPr>
        <p:txBody>
          <a:bodyPr lIns="91420" tIns="45710" rIns="91420" bIns="45710" anchor="b" anchorCtr="0">
            <a:noAutofit/>
          </a:bodyPr>
          <a:lstStyle>
            <a:lvl1pPr marL="0" indent="0" algn="l">
              <a:buNone/>
              <a:defRPr sz="1600" b="0" i="0">
                <a:solidFill>
                  <a:schemeClr val="accent5"/>
                </a:solidFill>
                <a:latin typeface="+mn-lt"/>
                <a:cs typeface="CiscoSans"/>
              </a:defRPr>
            </a:lvl1pPr>
            <a:lvl2pPr marL="457130" indent="0" algn="ctr">
              <a:buNone/>
              <a:defRPr>
                <a:solidFill>
                  <a:schemeClr val="tx1">
                    <a:tint val="75000"/>
                  </a:schemeClr>
                </a:solidFill>
              </a:defRPr>
            </a:lvl2pPr>
            <a:lvl3pPr marL="914270" indent="0" algn="ctr">
              <a:buNone/>
              <a:defRPr>
                <a:solidFill>
                  <a:schemeClr val="tx1">
                    <a:tint val="75000"/>
                  </a:schemeClr>
                </a:solidFill>
              </a:defRPr>
            </a:lvl3pPr>
            <a:lvl4pPr marL="1371404" indent="0" algn="ctr">
              <a:buNone/>
              <a:defRPr>
                <a:solidFill>
                  <a:schemeClr val="tx1">
                    <a:tint val="75000"/>
                  </a:schemeClr>
                </a:solidFill>
              </a:defRPr>
            </a:lvl4pPr>
            <a:lvl5pPr marL="1828542" indent="0" algn="ctr">
              <a:buNone/>
              <a:defRPr>
                <a:solidFill>
                  <a:schemeClr val="tx1">
                    <a:tint val="75000"/>
                  </a:schemeClr>
                </a:solidFill>
              </a:defRPr>
            </a:lvl5pPr>
            <a:lvl6pPr marL="2285672" indent="0" algn="ctr">
              <a:buNone/>
              <a:defRPr>
                <a:solidFill>
                  <a:schemeClr val="tx1">
                    <a:tint val="75000"/>
                  </a:schemeClr>
                </a:solidFill>
              </a:defRPr>
            </a:lvl6pPr>
            <a:lvl7pPr marL="2742813" indent="0" algn="ctr">
              <a:buNone/>
              <a:defRPr>
                <a:solidFill>
                  <a:schemeClr val="tx1">
                    <a:tint val="75000"/>
                  </a:schemeClr>
                </a:solidFill>
              </a:defRPr>
            </a:lvl7pPr>
            <a:lvl8pPr marL="3199947" indent="0" algn="ctr">
              <a:buNone/>
              <a:defRPr>
                <a:solidFill>
                  <a:schemeClr val="tx1">
                    <a:tint val="75000"/>
                  </a:schemeClr>
                </a:solidFill>
              </a:defRPr>
            </a:lvl8pPr>
            <a:lvl9pPr marL="3657085"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625995" y="5399365"/>
            <a:ext cx="5758807" cy="384175"/>
          </a:xfrm>
          <a:prstGeom prst="rect">
            <a:avLst/>
          </a:prstGeom>
        </p:spPr>
        <p:txBody>
          <a:bodyPr lIns="91420" tIns="45710" rIns="91420" bIns="45710"/>
          <a:lstStyle>
            <a:lvl1pPr marL="0" indent="0" algn="l">
              <a:buFontTx/>
              <a:buNone/>
              <a:defRPr lang="en-US" sz="1600" b="0" i="0" kern="1200" dirty="0" smtClean="0">
                <a:solidFill>
                  <a:schemeClr val="accent5"/>
                </a:solidFill>
                <a:latin typeface="+mn-lt"/>
                <a:ea typeface="+mn-ea"/>
                <a:cs typeface="CiscoSans ExtraLight" pitchFamily="34" charset="0"/>
              </a:defRPr>
            </a:lvl1pPr>
            <a:lvl2pPr>
              <a:buFontTx/>
              <a:buNone/>
              <a:defRPr lang="en-US" sz="2000" kern="1200" dirty="0" smtClean="0">
                <a:solidFill>
                  <a:schemeClr val="bg1"/>
                </a:solidFill>
                <a:latin typeface="+mj-lt"/>
                <a:ea typeface="+mn-ea"/>
                <a:cs typeface="+mn-cs"/>
              </a:defRPr>
            </a:lvl2pPr>
            <a:lvl3pPr>
              <a:buFontTx/>
              <a:buNone/>
              <a:defRPr lang="en-US" sz="2000" kern="1200" dirty="0" smtClean="0">
                <a:solidFill>
                  <a:schemeClr val="bg1"/>
                </a:solidFill>
                <a:latin typeface="+mj-lt"/>
                <a:ea typeface="+mn-ea"/>
                <a:cs typeface="+mn-cs"/>
              </a:defRPr>
            </a:lvl3pPr>
            <a:lvl4pPr>
              <a:buFontTx/>
              <a:buNone/>
              <a:defRPr lang="en-US" sz="2000" kern="1200" dirty="0" smtClean="0">
                <a:solidFill>
                  <a:schemeClr val="bg1"/>
                </a:solidFill>
                <a:latin typeface="+mj-lt"/>
                <a:ea typeface="+mn-ea"/>
                <a:cs typeface="+mn-cs"/>
              </a:defRPr>
            </a:lvl4pPr>
            <a:lvl5pPr>
              <a:buFontTx/>
              <a:buNone/>
              <a:defRPr lang="en-US" sz="20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625995" y="5719361"/>
            <a:ext cx="5758807" cy="384175"/>
          </a:xfrm>
          <a:prstGeom prst="rect">
            <a:avLst/>
          </a:prstGeom>
        </p:spPr>
        <p:txBody>
          <a:bodyPr lIns="91420" tIns="45710" rIns="91420" bIns="45710"/>
          <a:lstStyle>
            <a:lvl1pPr marL="0" indent="0" algn="l">
              <a:buFontTx/>
              <a:buNone/>
              <a:defRPr lang="en-US" sz="1600" b="0" i="0" kern="1200" dirty="0" smtClean="0">
                <a:solidFill>
                  <a:schemeClr val="accent5"/>
                </a:solidFill>
                <a:latin typeface="+mn-lt"/>
                <a:ea typeface="+mn-ea"/>
                <a:cs typeface="CiscoSans ExtraLight" pitchFamily="34" charset="0"/>
              </a:defRPr>
            </a:lvl1pPr>
            <a:lvl2pPr>
              <a:buFontTx/>
              <a:buNone/>
              <a:defRPr lang="en-US" sz="2000" kern="1200" dirty="0" smtClean="0">
                <a:solidFill>
                  <a:schemeClr val="bg1"/>
                </a:solidFill>
                <a:latin typeface="+mj-lt"/>
                <a:ea typeface="+mn-ea"/>
                <a:cs typeface="+mn-cs"/>
              </a:defRPr>
            </a:lvl2pPr>
            <a:lvl3pPr>
              <a:buFontTx/>
              <a:buNone/>
              <a:defRPr lang="en-US" sz="2000" kern="1200" dirty="0" smtClean="0">
                <a:solidFill>
                  <a:schemeClr val="bg1"/>
                </a:solidFill>
                <a:latin typeface="+mj-lt"/>
                <a:ea typeface="+mn-ea"/>
                <a:cs typeface="+mn-cs"/>
              </a:defRPr>
            </a:lvl3pPr>
            <a:lvl4pPr>
              <a:buFontTx/>
              <a:buNone/>
              <a:defRPr lang="en-US" sz="2000" kern="1200" dirty="0" smtClean="0">
                <a:solidFill>
                  <a:schemeClr val="bg1"/>
                </a:solidFill>
                <a:latin typeface="+mj-lt"/>
                <a:ea typeface="+mn-ea"/>
                <a:cs typeface="+mn-cs"/>
              </a:defRPr>
            </a:lvl4pPr>
            <a:lvl5pPr>
              <a:buFontTx/>
              <a:buNone/>
              <a:defRPr lang="en-US" sz="20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617723" y="3829649"/>
            <a:ext cx="7900328" cy="398668"/>
          </a:xfrm>
          <a:prstGeom prst="rect">
            <a:avLst/>
          </a:prstGeom>
        </p:spPr>
        <p:txBody>
          <a:bodyPr lIns="91420" tIns="45710" rIns="91420" bIns="45710"/>
          <a:lstStyle>
            <a:lvl1pPr marL="0" indent="0">
              <a:buFont typeface="Arial" panose="020B0604020202020204" pitchFamily="34" charset="0"/>
              <a:buNone/>
              <a:defRPr sz="2667" baseline="0">
                <a:solidFill>
                  <a:schemeClr val="bg2"/>
                </a:solidFill>
                <a:latin typeface="+mj-lt"/>
              </a:defRPr>
            </a:lvl1pPr>
            <a:lvl2pPr marL="406365" indent="0">
              <a:buNone/>
              <a:defRPr/>
            </a:lvl2pPr>
            <a:lvl3pPr marL="569854" indent="0">
              <a:buNone/>
              <a:defRPr/>
            </a:lvl3pPr>
            <a:lvl4pPr marL="688908" indent="0">
              <a:buNone/>
              <a:defRPr/>
            </a:lvl4pPr>
            <a:lvl5pPr marL="801608" indent="0">
              <a:buNone/>
              <a:defRPr/>
            </a:lvl5pPr>
          </a:lstStyle>
          <a:p>
            <a:pPr lvl="0"/>
            <a:r>
              <a:rPr lang="en-US"/>
              <a:t>Click to edit Master text styles</a:t>
            </a:r>
          </a:p>
        </p:txBody>
      </p:sp>
      <p:sp>
        <p:nvSpPr>
          <p:cNvPr id="20" name="Title 1"/>
          <p:cNvSpPr>
            <a:spLocks noGrp="1"/>
          </p:cNvSpPr>
          <p:nvPr>
            <p:ph type="ctrTitle"/>
          </p:nvPr>
        </p:nvSpPr>
        <p:spPr>
          <a:xfrm>
            <a:off x="567687" y="3067667"/>
            <a:ext cx="7940684" cy="859640"/>
          </a:xfrm>
          <a:prstGeom prst="rect">
            <a:avLst/>
          </a:prstGeom>
        </p:spPr>
        <p:txBody>
          <a:bodyPr anchor="b"/>
          <a:lstStyle>
            <a:lvl1pPr marL="0" indent="0" algn="l">
              <a:lnSpc>
                <a:spcPct val="90000"/>
              </a:lnSpc>
              <a:buFont typeface="Arial" panose="020B0604020202020204" pitchFamily="34" charset="0"/>
              <a:buNone/>
              <a:defRPr sz="48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656167" y="527051"/>
            <a:ext cx="1062565" cy="565151"/>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grpSp>
    </p:spTree>
    <p:extLst>
      <p:ext uri="{BB962C8B-B14F-4D97-AF65-F5344CB8AC3E}">
        <p14:creationId xmlns:p14="http://schemas.microsoft.com/office/powerpoint/2010/main" val="55737364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1"/>
            <a:ext cx="12192000" cy="68579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 name="Title 1"/>
          <p:cNvSpPr>
            <a:spLocks noGrp="1"/>
          </p:cNvSpPr>
          <p:nvPr>
            <p:ph type="ctrTitle"/>
          </p:nvPr>
        </p:nvSpPr>
        <p:spPr>
          <a:xfrm>
            <a:off x="555233" y="1220545"/>
            <a:ext cx="10130723" cy="3426595"/>
          </a:xfrm>
          <a:prstGeom prst="rect">
            <a:avLst/>
          </a:prstGeom>
        </p:spPr>
        <p:txBody>
          <a:bodyPr anchor="b">
            <a:noAutofit/>
          </a:bodyPr>
          <a:lstStyle>
            <a:lvl1pPr marL="0" indent="0" algn="l">
              <a:lnSpc>
                <a:spcPct val="90000"/>
              </a:lnSpc>
              <a:buFont typeface="Arial" panose="020B0604020202020204" pitchFamily="34" charset="0"/>
              <a:buNone/>
              <a:defRPr sz="6133"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11357833" y="6323876"/>
            <a:ext cx="287662"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6A1E46DC-7EF6-4EA2-B285-14272867D133}" type="slidenum">
              <a:rPr lang="en-US" sz="800">
                <a:solidFill>
                  <a:schemeClr val="accent5">
                    <a:lumMod val="50000"/>
                  </a:schemeClr>
                </a:solidFill>
                <a:latin typeface="+mn-lt"/>
                <a:ea typeface="+mn-ea"/>
                <a:cs typeface="CiscoSans Thin"/>
              </a:rPr>
              <a:pPr algn="r" defTabSz="814305" fontAlgn="auto">
                <a:spcBef>
                  <a:spcPts val="0"/>
                </a:spcBef>
                <a:spcAft>
                  <a:spcPts val="0"/>
                </a:spcAft>
                <a:defRPr/>
              </a:pPr>
              <a:t>‹#›</a:t>
            </a:fld>
            <a:endParaRPr lang="en-US" sz="8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677386" y="6286929"/>
            <a:ext cx="453676" cy="241299"/>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grpSp>
    </p:spTree>
    <p:extLst>
      <p:ext uri="{BB962C8B-B14F-4D97-AF65-F5344CB8AC3E}">
        <p14:creationId xmlns:p14="http://schemas.microsoft.com/office/powerpoint/2010/main" val="309328432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8BC5C4-F984-41EB-81B4-3A7F52B24B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D0BD2F0E-0C19-4F4A-8EDF-54C0F71A80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BE61F456-FBD7-458A-BCC1-9417C66F23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4DC70D-79E8-44C0-9D0A-A84A8BDF845D}" type="datetimeFigureOut">
              <a:rPr lang="en-IE" smtClean="0"/>
              <a:t>04/03/2026</a:t>
            </a:fld>
            <a:endParaRPr lang="en-IE"/>
          </a:p>
        </p:txBody>
      </p:sp>
      <p:sp>
        <p:nvSpPr>
          <p:cNvPr id="5" name="Footer Placeholder 4">
            <a:extLst>
              <a:ext uri="{FF2B5EF4-FFF2-40B4-BE49-F238E27FC236}">
                <a16:creationId xmlns:a16="http://schemas.microsoft.com/office/drawing/2014/main" id="{675CDDA3-6434-43E9-97DC-3FBC4A7900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DB583429-776A-4A87-974D-02D4E99BD7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8396FB-7AA3-4B82-84C4-268A8C6A14CF}" type="slidenum">
              <a:rPr lang="en-IE" smtClean="0"/>
              <a:t>‹#›</a:t>
            </a:fld>
            <a:endParaRPr lang="en-IE"/>
          </a:p>
        </p:txBody>
      </p:sp>
    </p:spTree>
    <p:extLst>
      <p:ext uri="{BB962C8B-B14F-4D97-AF65-F5344CB8AC3E}">
        <p14:creationId xmlns:p14="http://schemas.microsoft.com/office/powerpoint/2010/main" val="3761298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4.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20793" y="4394199"/>
            <a:ext cx="6012274" cy="1676401"/>
          </a:xfrm>
        </p:spPr>
        <p:txBody>
          <a:bodyPr>
            <a:normAutofit/>
          </a:bodyPr>
          <a:lstStyle/>
          <a:p>
            <a:r>
              <a:rPr lang="en-US" sz="3800" dirty="0">
                <a:solidFill>
                  <a:schemeClr val="accent5">
                    <a:lumMod val="40000"/>
                    <a:lumOff val="60000"/>
                  </a:schemeClr>
                </a:solidFill>
              </a:rPr>
              <a:t>Router Configuration and IP Addressing</a:t>
            </a:r>
            <a:br>
              <a:rPr lang="en-US" sz="3800" dirty="0">
                <a:solidFill>
                  <a:schemeClr val="accent5">
                    <a:lumMod val="40000"/>
                    <a:lumOff val="60000"/>
                  </a:schemeClr>
                </a:solidFill>
              </a:rPr>
            </a:br>
            <a:r>
              <a:rPr lang="en-IE" sz="2200" dirty="0"/>
              <a:t>By: Mujahid Tabassum </a:t>
            </a:r>
            <a:r>
              <a:rPr lang="en-IE" sz="2200"/>
              <a:t>- 2026</a:t>
            </a:r>
            <a:endParaRPr lang="en-US" sz="2200" dirty="0">
              <a:solidFill>
                <a:schemeClr val="accent5">
                  <a:lumMod val="40000"/>
                  <a:lumOff val="60000"/>
                </a:schemeClr>
              </a:solidFill>
            </a:endParaRPr>
          </a:p>
        </p:txBody>
      </p:sp>
      <p:pic>
        <p:nvPicPr>
          <p:cNvPr id="8" name="Picture 7">
            <a:extLst>
              <a:ext uri="{FF2B5EF4-FFF2-40B4-BE49-F238E27FC236}">
                <a16:creationId xmlns:a16="http://schemas.microsoft.com/office/drawing/2014/main" id="{3832C9EC-393D-4E68-8A43-D829382D0296}"/>
              </a:ext>
            </a:extLst>
          </p:cNvPr>
          <p:cNvPicPr>
            <a:picLocks noChangeAspect="1"/>
          </p:cNvPicPr>
          <p:nvPr/>
        </p:nvPicPr>
        <p:blipFill>
          <a:blip r:embed="rId4"/>
          <a:stretch>
            <a:fillRect/>
          </a:stretch>
        </p:blipFill>
        <p:spPr>
          <a:xfrm>
            <a:off x="320793" y="42335"/>
            <a:ext cx="8975607" cy="3649133"/>
          </a:xfrm>
          <a:prstGeom prst="rect">
            <a:avLst/>
          </a:prstGeom>
        </p:spPr>
      </p:pic>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93576" y="166952"/>
            <a:ext cx="9295865" cy="817083"/>
          </a:xfrm>
        </p:spPr>
        <p:txBody>
          <a:bodyPr/>
          <a:lstStyle/>
          <a:p>
            <a:pPr eaLnBrk="1" hangingPunct="1"/>
            <a:r>
              <a:rPr lang="en-US" dirty="0"/>
              <a:t>Learning Objectives</a:t>
            </a:r>
          </a:p>
        </p:txBody>
      </p:sp>
      <p:sp>
        <p:nvSpPr>
          <p:cNvPr id="6147" name="Rectangle 34"/>
          <p:cNvSpPr>
            <a:spLocks noGrp="1" noChangeArrowheads="1"/>
          </p:cNvSpPr>
          <p:nvPr>
            <p:ph idx="1"/>
          </p:nvPr>
        </p:nvSpPr>
        <p:spPr>
          <a:xfrm>
            <a:off x="359723" y="1412744"/>
            <a:ext cx="11230805" cy="3334008"/>
          </a:xfrm>
        </p:spPr>
        <p:txBody>
          <a:bodyPr/>
          <a:lstStyle/>
          <a:p>
            <a:pPr defTabSz="1219170" eaLnBrk="0" hangingPunct="0">
              <a:spcBef>
                <a:spcPct val="0"/>
              </a:spcBef>
              <a:spcAft>
                <a:spcPct val="0"/>
              </a:spcAft>
            </a:pPr>
            <a:r>
              <a:rPr lang="en-GB" altLang="en-US" sz="2400" dirty="0"/>
              <a:t>To configure initial settings, IOS and interface of router.</a:t>
            </a:r>
          </a:p>
          <a:p>
            <a:pPr defTabSz="1219170" eaLnBrk="0" hangingPunct="0">
              <a:spcBef>
                <a:spcPct val="0"/>
              </a:spcBef>
              <a:spcAft>
                <a:spcPct val="0"/>
              </a:spcAft>
            </a:pPr>
            <a:r>
              <a:rPr lang="en-GB" altLang="en-US" sz="2400" dirty="0"/>
              <a:t>To understand about default gateway and configure devices to use the default gateway</a:t>
            </a:r>
            <a:r>
              <a:rPr lang="en-GB" sz="2400" dirty="0"/>
              <a:t>.</a:t>
            </a:r>
          </a:p>
          <a:p>
            <a:pPr defTabSz="1219170" eaLnBrk="0" hangingPunct="0">
              <a:spcBef>
                <a:spcPct val="0"/>
              </a:spcBef>
              <a:spcAft>
                <a:spcPct val="0"/>
              </a:spcAft>
            </a:pPr>
            <a:endParaRPr lang="en-GB" sz="2400" dirty="0"/>
          </a:p>
          <a:p>
            <a:pPr defTabSz="1219170" eaLnBrk="0" hangingPunct="0">
              <a:spcBef>
                <a:spcPct val="0"/>
              </a:spcBef>
              <a:spcAft>
                <a:spcPct val="0"/>
              </a:spcAft>
            </a:pPr>
            <a:endParaRPr lang="en-GB" sz="2400" dirty="0">
              <a:cs typeface="Calibri" panose="020F0502020204030204" pitchFamily="34" charset="0"/>
            </a:endParaRPr>
          </a:p>
        </p:txBody>
      </p:sp>
      <p:pic>
        <p:nvPicPr>
          <p:cNvPr id="5" name="Picture 4">
            <a:extLst>
              <a:ext uri="{FF2B5EF4-FFF2-40B4-BE49-F238E27FC236}">
                <a16:creationId xmlns:a16="http://schemas.microsoft.com/office/drawing/2014/main" id="{EFFAB58F-89EC-4B11-B910-F38F7C2009E3}"/>
              </a:ext>
            </a:extLst>
          </p:cNvPr>
          <p:cNvPicPr>
            <a:picLocks noChangeAspect="1"/>
          </p:cNvPicPr>
          <p:nvPr/>
        </p:nvPicPr>
        <p:blipFill>
          <a:blip r:embed="rId4"/>
          <a:stretch>
            <a:fillRect/>
          </a:stretch>
        </p:blipFill>
        <p:spPr>
          <a:xfrm flipV="1">
            <a:off x="0" y="6169450"/>
            <a:ext cx="12192000" cy="376044"/>
          </a:xfrm>
          <a:prstGeom prst="rect">
            <a:avLst/>
          </a:prstGeom>
        </p:spPr>
      </p:pic>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Initial Router Settings</a:t>
            </a:r>
            <a:br>
              <a:rPr lang="en-US" dirty="0"/>
            </a:br>
            <a:r>
              <a:rPr lang="en-US" sz="3200" dirty="0"/>
              <a:t>Basic Router Configuration Steps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559157" y="1140559"/>
            <a:ext cx="4353892" cy="4689435"/>
          </a:xfrm>
        </p:spPr>
        <p:txBody>
          <a:bodyPr/>
          <a:lstStyle/>
          <a:p>
            <a:pPr marL="380990" indent="-380990" algn="l" defTabSz="912261" fontAlgn="base">
              <a:spcBef>
                <a:spcPts val="800"/>
              </a:spcBef>
              <a:spcAft>
                <a:spcPts val="800"/>
              </a:spcAft>
              <a:buClr>
                <a:schemeClr val="tx2"/>
              </a:buClr>
              <a:buSzPct val="90000"/>
              <a:buFont typeface="Arial" panose="020B0604020202020204" pitchFamily="34" charset="0"/>
              <a:buChar char="•"/>
            </a:pPr>
            <a:r>
              <a:rPr lang="en-US" sz="2133" dirty="0">
                <a:solidFill>
                  <a:srgbClr val="000000"/>
                </a:solidFill>
              </a:rPr>
              <a:t>Configure the device name.</a:t>
            </a:r>
          </a:p>
          <a:p>
            <a:pPr marL="380990" indent="-380990" algn="l" defTabSz="912261" fontAlgn="base">
              <a:spcBef>
                <a:spcPts val="800"/>
              </a:spcBef>
              <a:spcAft>
                <a:spcPts val="800"/>
              </a:spcAft>
              <a:buClr>
                <a:schemeClr val="tx2"/>
              </a:buClr>
              <a:buSzPct val="90000"/>
              <a:buFont typeface="Arial" panose="020B0604020202020204" pitchFamily="34" charset="0"/>
              <a:buChar char="•"/>
            </a:pPr>
            <a:r>
              <a:rPr lang="en-US" sz="2133" dirty="0">
                <a:solidFill>
                  <a:srgbClr val="000000"/>
                </a:solidFill>
              </a:rPr>
              <a:t>Secure privileged EXEC mode.</a:t>
            </a:r>
          </a:p>
          <a:p>
            <a:pPr marL="380990" indent="-380990" algn="l" defTabSz="912261" fontAlgn="base">
              <a:spcBef>
                <a:spcPts val="800"/>
              </a:spcBef>
              <a:spcAft>
                <a:spcPts val="800"/>
              </a:spcAft>
              <a:buClr>
                <a:schemeClr val="tx2"/>
              </a:buClr>
              <a:buSzPct val="90000"/>
              <a:buFont typeface="Arial" panose="020B0604020202020204" pitchFamily="34" charset="0"/>
              <a:buChar char="•"/>
            </a:pPr>
            <a:r>
              <a:rPr lang="en-US" sz="2133" dirty="0">
                <a:solidFill>
                  <a:srgbClr val="000000"/>
                </a:solidFill>
              </a:rPr>
              <a:t>Secure user EXEC mode.</a:t>
            </a:r>
          </a:p>
          <a:p>
            <a:pPr marL="380990" indent="-380990" algn="l" defTabSz="912261" fontAlgn="base">
              <a:spcBef>
                <a:spcPts val="800"/>
              </a:spcBef>
              <a:spcAft>
                <a:spcPts val="800"/>
              </a:spcAft>
              <a:buClr>
                <a:schemeClr val="tx2"/>
              </a:buClr>
              <a:buSzPct val="90000"/>
              <a:buFont typeface="Arial" panose="020B0604020202020204" pitchFamily="34" charset="0"/>
              <a:buChar char="•"/>
            </a:pPr>
            <a:r>
              <a:rPr lang="en-US" sz="2133" dirty="0">
                <a:solidFill>
                  <a:srgbClr val="000000"/>
                </a:solidFill>
              </a:rPr>
              <a:t>Secure remote Telnet / SSH access.</a:t>
            </a:r>
          </a:p>
          <a:p>
            <a:pPr marL="380990" indent="-380990" algn="l" defTabSz="912261" fontAlgn="base">
              <a:spcBef>
                <a:spcPts val="800"/>
              </a:spcBef>
              <a:spcAft>
                <a:spcPts val="800"/>
              </a:spcAft>
              <a:buClr>
                <a:schemeClr val="tx2"/>
              </a:buClr>
              <a:buSzPct val="90000"/>
              <a:buFont typeface="Arial" panose="020B0604020202020204" pitchFamily="34" charset="0"/>
              <a:buChar char="•"/>
            </a:pPr>
            <a:r>
              <a:rPr lang="en-US" sz="2133" dirty="0">
                <a:solidFill>
                  <a:srgbClr val="000000"/>
                </a:solidFill>
              </a:rPr>
              <a:t>Encrypt all plaintext passwords.</a:t>
            </a:r>
          </a:p>
          <a:p>
            <a:pPr marL="380990" indent="-380990" algn="l" defTabSz="912261" fontAlgn="base">
              <a:spcBef>
                <a:spcPts val="800"/>
              </a:spcBef>
              <a:spcAft>
                <a:spcPts val="800"/>
              </a:spcAft>
              <a:buClr>
                <a:schemeClr val="tx2"/>
              </a:buClr>
              <a:buSzPct val="90000"/>
              <a:buFont typeface="Arial" panose="020B0604020202020204" pitchFamily="34" charset="0"/>
              <a:buChar char="•"/>
            </a:pPr>
            <a:r>
              <a:rPr lang="en-US" sz="2133" dirty="0">
                <a:solidFill>
                  <a:srgbClr val="000000"/>
                </a:solidFill>
              </a:rPr>
              <a:t>Provide legal notification and save the configuration.</a:t>
            </a:r>
          </a:p>
        </p:txBody>
      </p:sp>
      <p:sp>
        <p:nvSpPr>
          <p:cNvPr id="2" name="TextBox 1">
            <a:extLst>
              <a:ext uri="{FF2B5EF4-FFF2-40B4-BE49-F238E27FC236}">
                <a16:creationId xmlns:a16="http://schemas.microsoft.com/office/drawing/2014/main" id="{ECC2C7B6-BFA0-4414-A9FD-310FB45A4012}"/>
              </a:ext>
            </a:extLst>
          </p:cNvPr>
          <p:cNvSpPr txBox="1"/>
          <p:nvPr/>
        </p:nvSpPr>
        <p:spPr>
          <a:xfrm>
            <a:off x="5064379" y="1140559"/>
            <a:ext cx="6551659" cy="338554"/>
          </a:xfrm>
          <a:prstGeom prst="rect">
            <a:avLst/>
          </a:prstGeom>
          <a:solidFill>
            <a:srgbClr val="000000"/>
          </a:solidFill>
        </p:spPr>
        <p:txBody>
          <a:bodyPr wrap="square" rtlCol="0">
            <a:spAutoFit/>
          </a:bodyPr>
          <a:lstStyle/>
          <a:p>
            <a:r>
              <a:rPr lang="en-US" sz="1600" dirty="0">
                <a:solidFill>
                  <a:schemeClr val="bg1"/>
                </a:solidFill>
                <a:latin typeface="Courier New" panose="02070309020205020404" pitchFamily="49" charset="0"/>
                <a:cs typeface="Courier New" panose="02070309020205020404" pitchFamily="49" charset="0"/>
              </a:rPr>
              <a:t>Router(config)# </a:t>
            </a:r>
            <a:r>
              <a:rPr lang="en-US" sz="1600" b="1" dirty="0">
                <a:solidFill>
                  <a:schemeClr val="bg1"/>
                </a:solidFill>
                <a:latin typeface="Courier New" panose="02070309020205020404" pitchFamily="49" charset="0"/>
                <a:cs typeface="Courier New" panose="02070309020205020404" pitchFamily="49" charset="0"/>
              </a:rPr>
              <a:t>hostname </a:t>
            </a:r>
            <a:r>
              <a:rPr lang="en-US" sz="1600" i="1" dirty="0">
                <a:solidFill>
                  <a:schemeClr val="bg1"/>
                </a:solidFill>
                <a:latin typeface="Courier New" panose="02070309020205020404" pitchFamily="49" charset="0"/>
                <a:cs typeface="Courier New" panose="02070309020205020404" pitchFamily="49" charset="0"/>
              </a:rPr>
              <a:t>hostname</a:t>
            </a:r>
          </a:p>
        </p:txBody>
      </p:sp>
      <p:sp>
        <p:nvSpPr>
          <p:cNvPr id="6" name="TextBox 5">
            <a:extLst>
              <a:ext uri="{FF2B5EF4-FFF2-40B4-BE49-F238E27FC236}">
                <a16:creationId xmlns:a16="http://schemas.microsoft.com/office/drawing/2014/main" id="{43E8BC38-AC68-4E30-A757-4BD5691E2755}"/>
              </a:ext>
            </a:extLst>
          </p:cNvPr>
          <p:cNvSpPr txBox="1"/>
          <p:nvPr/>
        </p:nvSpPr>
        <p:spPr>
          <a:xfrm>
            <a:off x="5064379" y="1674667"/>
            <a:ext cx="6551659" cy="338554"/>
          </a:xfrm>
          <a:prstGeom prst="rect">
            <a:avLst/>
          </a:prstGeom>
          <a:solidFill>
            <a:srgbClr val="000000"/>
          </a:solidFill>
        </p:spPr>
        <p:txBody>
          <a:bodyPr wrap="square" rtlCol="0">
            <a:spAutoFit/>
          </a:bodyPr>
          <a:lstStyle/>
          <a:p>
            <a:r>
              <a:rPr lang="en-US" sz="1600" dirty="0">
                <a:solidFill>
                  <a:schemeClr val="bg1"/>
                </a:solidFill>
                <a:latin typeface="Courier New" panose="02070309020205020404" pitchFamily="49" charset="0"/>
                <a:cs typeface="Courier New" panose="02070309020205020404" pitchFamily="49" charset="0"/>
              </a:rPr>
              <a:t>Router(config)# </a:t>
            </a:r>
            <a:r>
              <a:rPr lang="en-US" sz="1600" b="1" dirty="0">
                <a:solidFill>
                  <a:schemeClr val="bg1"/>
                </a:solidFill>
                <a:latin typeface="Courier New" panose="02070309020205020404" pitchFamily="49" charset="0"/>
                <a:cs typeface="Courier New" panose="02070309020205020404" pitchFamily="49" charset="0"/>
              </a:rPr>
              <a:t>enable secret </a:t>
            </a:r>
            <a:r>
              <a:rPr lang="en-US" sz="1600" i="1" dirty="0">
                <a:solidFill>
                  <a:schemeClr val="bg1"/>
                </a:solidFill>
                <a:latin typeface="Courier New" panose="02070309020205020404" pitchFamily="49" charset="0"/>
                <a:cs typeface="Courier New" panose="02070309020205020404" pitchFamily="49" charset="0"/>
              </a:rPr>
              <a:t>password</a:t>
            </a:r>
          </a:p>
        </p:txBody>
      </p:sp>
      <p:sp>
        <p:nvSpPr>
          <p:cNvPr id="7" name="TextBox 6">
            <a:extLst>
              <a:ext uri="{FF2B5EF4-FFF2-40B4-BE49-F238E27FC236}">
                <a16:creationId xmlns:a16="http://schemas.microsoft.com/office/drawing/2014/main" id="{E3C42215-AFFA-4B80-8518-0228983486B9}"/>
              </a:ext>
            </a:extLst>
          </p:cNvPr>
          <p:cNvSpPr txBox="1"/>
          <p:nvPr/>
        </p:nvSpPr>
        <p:spPr>
          <a:xfrm>
            <a:off x="5064379" y="2208775"/>
            <a:ext cx="6551659" cy="830997"/>
          </a:xfrm>
          <a:prstGeom prst="rect">
            <a:avLst/>
          </a:prstGeom>
          <a:solidFill>
            <a:srgbClr val="000000"/>
          </a:solidFill>
        </p:spPr>
        <p:txBody>
          <a:bodyPr wrap="square" rtlCol="0">
            <a:spAutoFit/>
          </a:bodyPr>
          <a:lstStyle/>
          <a:p>
            <a:r>
              <a:rPr lang="en-US" sz="1600" dirty="0">
                <a:solidFill>
                  <a:schemeClr val="bg1"/>
                </a:solidFill>
                <a:latin typeface="Courier New" panose="02070309020205020404" pitchFamily="49" charset="0"/>
                <a:cs typeface="Courier New" panose="02070309020205020404" pitchFamily="49" charset="0"/>
              </a:rPr>
              <a:t>Router(config)# </a:t>
            </a:r>
            <a:r>
              <a:rPr lang="en-US" sz="1600" b="1" dirty="0">
                <a:solidFill>
                  <a:schemeClr val="bg1"/>
                </a:solidFill>
                <a:latin typeface="Courier New" panose="02070309020205020404" pitchFamily="49" charset="0"/>
                <a:cs typeface="Courier New" panose="02070309020205020404" pitchFamily="49" charset="0"/>
              </a:rPr>
              <a:t>line console 0</a:t>
            </a:r>
          </a:p>
          <a:p>
            <a:r>
              <a:rPr lang="en-US" sz="1600" dirty="0">
                <a:solidFill>
                  <a:schemeClr val="bg1"/>
                </a:solidFill>
                <a:latin typeface="Courier New" panose="02070309020205020404" pitchFamily="49" charset="0"/>
                <a:cs typeface="Courier New" panose="02070309020205020404" pitchFamily="49" charset="0"/>
              </a:rPr>
              <a:t>Router(config-line)# password </a:t>
            </a:r>
            <a:r>
              <a:rPr lang="en-US" sz="1600" i="1" dirty="0">
                <a:solidFill>
                  <a:schemeClr val="bg1"/>
                </a:solidFill>
                <a:latin typeface="Courier New" panose="02070309020205020404" pitchFamily="49" charset="0"/>
                <a:cs typeface="Courier New" panose="02070309020205020404" pitchFamily="49" charset="0"/>
              </a:rPr>
              <a:t>password</a:t>
            </a:r>
          </a:p>
          <a:p>
            <a:r>
              <a:rPr lang="en-US" sz="1600" dirty="0">
                <a:solidFill>
                  <a:schemeClr val="bg1"/>
                </a:solidFill>
                <a:latin typeface="Courier New" panose="02070309020205020404" pitchFamily="49" charset="0"/>
                <a:cs typeface="Courier New" panose="02070309020205020404" pitchFamily="49" charset="0"/>
              </a:rPr>
              <a:t>Router(config-line)# login</a:t>
            </a:r>
            <a:endParaRPr lang="en-US" sz="1600" i="1" dirty="0">
              <a:solidFill>
                <a:schemeClr val="bg1"/>
              </a:solidFill>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FE2CA5BC-EB52-4F1C-9E7F-0082B26780ED}"/>
              </a:ext>
            </a:extLst>
          </p:cNvPr>
          <p:cNvSpPr txBox="1"/>
          <p:nvPr/>
        </p:nvSpPr>
        <p:spPr>
          <a:xfrm>
            <a:off x="5064380" y="3217656"/>
            <a:ext cx="6479659" cy="1077218"/>
          </a:xfrm>
          <a:prstGeom prst="rect">
            <a:avLst/>
          </a:prstGeom>
          <a:solidFill>
            <a:srgbClr val="000000"/>
          </a:solidFill>
        </p:spPr>
        <p:txBody>
          <a:bodyPr wrap="none" rtlCol="0">
            <a:spAutoFit/>
          </a:bodyPr>
          <a:lstStyle/>
          <a:p>
            <a:r>
              <a:rPr lang="en-US" sz="1600" dirty="0">
                <a:solidFill>
                  <a:schemeClr val="bg1"/>
                </a:solidFill>
                <a:latin typeface="Courier New" panose="02070309020205020404" pitchFamily="49" charset="0"/>
                <a:cs typeface="Courier New" panose="02070309020205020404" pitchFamily="49" charset="0"/>
              </a:rPr>
              <a:t>Router(config)# </a:t>
            </a:r>
            <a:r>
              <a:rPr lang="en-US" sz="1600" b="1" dirty="0">
                <a:solidFill>
                  <a:schemeClr val="bg1"/>
                </a:solidFill>
                <a:latin typeface="Courier New" panose="02070309020205020404" pitchFamily="49" charset="0"/>
                <a:cs typeface="Courier New" panose="02070309020205020404" pitchFamily="49" charset="0"/>
              </a:rPr>
              <a:t>line vty 0 4</a:t>
            </a:r>
          </a:p>
          <a:p>
            <a:r>
              <a:rPr lang="en-US" sz="1600" dirty="0">
                <a:solidFill>
                  <a:schemeClr val="bg1"/>
                </a:solidFill>
                <a:latin typeface="Courier New" panose="02070309020205020404" pitchFamily="49" charset="0"/>
                <a:cs typeface="Courier New" panose="02070309020205020404" pitchFamily="49" charset="0"/>
              </a:rPr>
              <a:t>Router(config-line)# password </a:t>
            </a:r>
            <a:r>
              <a:rPr lang="en-US" sz="1600" i="1" dirty="0">
                <a:solidFill>
                  <a:schemeClr val="bg1"/>
                </a:solidFill>
                <a:latin typeface="Courier New" panose="02070309020205020404" pitchFamily="49" charset="0"/>
                <a:cs typeface="Courier New" panose="02070309020205020404" pitchFamily="49" charset="0"/>
              </a:rPr>
              <a:t>password</a:t>
            </a:r>
          </a:p>
          <a:p>
            <a:r>
              <a:rPr lang="en-US" sz="1600" dirty="0">
                <a:solidFill>
                  <a:schemeClr val="bg1"/>
                </a:solidFill>
                <a:latin typeface="Courier New" panose="02070309020205020404" pitchFamily="49" charset="0"/>
                <a:cs typeface="Courier New" panose="02070309020205020404" pitchFamily="49" charset="0"/>
              </a:rPr>
              <a:t>Router(config-line)# login</a:t>
            </a:r>
          </a:p>
          <a:p>
            <a:r>
              <a:rPr lang="en-US" sz="1600" dirty="0">
                <a:solidFill>
                  <a:schemeClr val="bg1"/>
                </a:solidFill>
                <a:latin typeface="Courier New" panose="02070309020205020404" pitchFamily="49" charset="0"/>
                <a:cs typeface="Courier New" panose="02070309020205020404" pitchFamily="49" charset="0"/>
              </a:rPr>
              <a:t>Router(config-line)# transport input {ssh | telnet}</a:t>
            </a:r>
            <a:endParaRPr lang="en-US" sz="1600" i="1" dirty="0">
              <a:solidFill>
                <a:schemeClr val="bg1"/>
              </a:solidFill>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C917E84C-919C-4F49-B88F-D6C32C285E08}"/>
              </a:ext>
            </a:extLst>
          </p:cNvPr>
          <p:cNvSpPr txBox="1"/>
          <p:nvPr/>
        </p:nvSpPr>
        <p:spPr>
          <a:xfrm>
            <a:off x="5064379" y="4469963"/>
            <a:ext cx="6551659" cy="338554"/>
          </a:xfrm>
          <a:prstGeom prst="rect">
            <a:avLst/>
          </a:prstGeom>
          <a:solidFill>
            <a:srgbClr val="000000"/>
          </a:solidFill>
        </p:spPr>
        <p:txBody>
          <a:bodyPr wrap="square" rtlCol="0">
            <a:spAutoFit/>
          </a:bodyPr>
          <a:lstStyle/>
          <a:p>
            <a:r>
              <a:rPr lang="en-US" sz="1600" dirty="0">
                <a:solidFill>
                  <a:schemeClr val="bg1"/>
                </a:solidFill>
                <a:latin typeface="Courier New" panose="02070309020205020404" pitchFamily="49" charset="0"/>
                <a:cs typeface="Courier New" panose="02070309020205020404" pitchFamily="49" charset="0"/>
              </a:rPr>
              <a:t>Router(config)# </a:t>
            </a:r>
            <a:r>
              <a:rPr lang="en-US" sz="1600" b="1" dirty="0">
                <a:solidFill>
                  <a:schemeClr val="bg1"/>
                </a:solidFill>
                <a:latin typeface="Courier New" panose="02070309020205020404" pitchFamily="49" charset="0"/>
                <a:cs typeface="Courier New" panose="02070309020205020404" pitchFamily="49" charset="0"/>
              </a:rPr>
              <a:t>service password-encryption</a:t>
            </a:r>
          </a:p>
        </p:txBody>
      </p:sp>
      <p:sp>
        <p:nvSpPr>
          <p:cNvPr id="10" name="TextBox 9">
            <a:extLst>
              <a:ext uri="{FF2B5EF4-FFF2-40B4-BE49-F238E27FC236}">
                <a16:creationId xmlns:a16="http://schemas.microsoft.com/office/drawing/2014/main" id="{17CA1035-A981-4284-92B3-0FB302E7DAF6}"/>
              </a:ext>
            </a:extLst>
          </p:cNvPr>
          <p:cNvSpPr txBox="1"/>
          <p:nvPr/>
        </p:nvSpPr>
        <p:spPr>
          <a:xfrm>
            <a:off x="5064379" y="4983070"/>
            <a:ext cx="6551659" cy="830997"/>
          </a:xfrm>
          <a:prstGeom prst="rect">
            <a:avLst/>
          </a:prstGeom>
          <a:solidFill>
            <a:srgbClr val="000000"/>
          </a:solidFill>
        </p:spPr>
        <p:txBody>
          <a:bodyPr wrap="square" rtlCol="0">
            <a:spAutoFit/>
          </a:bodyPr>
          <a:lstStyle/>
          <a:p>
            <a:r>
              <a:rPr lang="en-US" sz="1600" dirty="0">
                <a:solidFill>
                  <a:schemeClr val="bg1"/>
                </a:solidFill>
                <a:latin typeface="Courier New" panose="02070309020205020404" pitchFamily="49" charset="0"/>
                <a:cs typeface="Courier New" panose="02070309020205020404" pitchFamily="49" charset="0"/>
              </a:rPr>
              <a:t>Router(config)# </a:t>
            </a:r>
            <a:r>
              <a:rPr lang="en-US" sz="1600" b="1" dirty="0">
                <a:solidFill>
                  <a:schemeClr val="bg1"/>
                </a:solidFill>
                <a:latin typeface="Courier New" panose="02070309020205020404" pitchFamily="49" charset="0"/>
                <a:cs typeface="Courier New" panose="02070309020205020404" pitchFamily="49" charset="0"/>
              </a:rPr>
              <a:t>banner motd </a:t>
            </a:r>
            <a:r>
              <a:rPr lang="en-US" sz="1600" b="1" i="1" dirty="0">
                <a:solidFill>
                  <a:schemeClr val="bg1"/>
                </a:solidFill>
                <a:latin typeface="Courier New" panose="02070309020205020404" pitchFamily="49" charset="0"/>
                <a:cs typeface="Courier New" panose="02070309020205020404" pitchFamily="49" charset="0"/>
              </a:rPr>
              <a:t># message #</a:t>
            </a:r>
          </a:p>
          <a:p>
            <a:r>
              <a:rPr lang="en-US" sz="1600" dirty="0">
                <a:solidFill>
                  <a:schemeClr val="bg1"/>
                </a:solidFill>
                <a:latin typeface="Courier New" panose="02070309020205020404" pitchFamily="49" charset="0"/>
                <a:cs typeface="Courier New" panose="02070309020205020404" pitchFamily="49" charset="0"/>
              </a:rPr>
              <a:t>Router(config)# end</a:t>
            </a:r>
            <a:endParaRPr lang="en-US" sz="1600" i="1" dirty="0">
              <a:solidFill>
                <a:schemeClr val="bg1"/>
              </a:solidFill>
              <a:latin typeface="Courier New" panose="02070309020205020404" pitchFamily="49" charset="0"/>
              <a:cs typeface="Courier New" panose="02070309020205020404" pitchFamily="49" charset="0"/>
            </a:endParaRPr>
          </a:p>
          <a:p>
            <a:r>
              <a:rPr lang="en-US" sz="1600" dirty="0">
                <a:solidFill>
                  <a:schemeClr val="bg1"/>
                </a:solidFill>
                <a:latin typeface="Courier New" panose="02070309020205020404" pitchFamily="49" charset="0"/>
                <a:cs typeface="Courier New" panose="02070309020205020404" pitchFamily="49" charset="0"/>
              </a:rPr>
              <a:t>Router# copy running-config startup-config</a:t>
            </a:r>
            <a:endParaRPr lang="en-US" sz="1600" i="1"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Initial Router Settings</a:t>
            </a:r>
            <a:br>
              <a:rPr lang="en-US" dirty="0"/>
            </a:br>
            <a:r>
              <a:rPr lang="en-US" sz="3200" dirty="0"/>
              <a:t>Basic Router Configuration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74995" y="1140559"/>
            <a:ext cx="4180259" cy="815520"/>
          </a:xfrm>
        </p:spPr>
        <p:txBody>
          <a:bodyPr/>
          <a:lstStyle/>
          <a:p>
            <a:pPr marL="380990" indent="-380990" algn="l" defTabSz="912261" fontAlgn="base">
              <a:spcBef>
                <a:spcPts val="800"/>
              </a:spcBef>
              <a:spcAft>
                <a:spcPts val="800"/>
              </a:spcAft>
              <a:buClr>
                <a:schemeClr val="tx2"/>
              </a:buClr>
              <a:buSzPct val="90000"/>
              <a:buFont typeface="Arial" panose="020B0604020202020204" pitchFamily="34" charset="0"/>
              <a:buChar char="•"/>
            </a:pPr>
            <a:r>
              <a:rPr lang="en-US" sz="2000" dirty="0">
                <a:solidFill>
                  <a:srgbClr val="000000"/>
                </a:solidFill>
              </a:rPr>
              <a:t>Commands for basic router configuration on R1.</a:t>
            </a:r>
          </a:p>
          <a:p>
            <a:pPr marL="380990" indent="-380990" algn="l" defTabSz="912261" fontAlgn="base">
              <a:spcBef>
                <a:spcPts val="800"/>
              </a:spcBef>
              <a:spcAft>
                <a:spcPts val="800"/>
              </a:spcAft>
              <a:buClr>
                <a:schemeClr val="tx2"/>
              </a:buClr>
              <a:buSzPct val="90000"/>
              <a:buFont typeface="Arial" panose="020B0604020202020204" pitchFamily="34" charset="0"/>
              <a:buChar char="•"/>
            </a:pPr>
            <a:r>
              <a:rPr lang="en-US" sz="2000" dirty="0">
                <a:solidFill>
                  <a:srgbClr val="000000"/>
                </a:solidFill>
              </a:rPr>
              <a:t>Configuration is saved to NVRAM.</a:t>
            </a:r>
          </a:p>
        </p:txBody>
      </p:sp>
      <p:sp>
        <p:nvSpPr>
          <p:cNvPr id="2" name="TextBox 1">
            <a:extLst>
              <a:ext uri="{FF2B5EF4-FFF2-40B4-BE49-F238E27FC236}">
                <a16:creationId xmlns:a16="http://schemas.microsoft.com/office/drawing/2014/main" id="{ECC2C7B6-BFA0-4414-A9FD-310FB45A4012}"/>
              </a:ext>
            </a:extLst>
          </p:cNvPr>
          <p:cNvSpPr txBox="1"/>
          <p:nvPr/>
        </p:nvSpPr>
        <p:spPr>
          <a:xfrm>
            <a:off x="5091165" y="1140559"/>
            <a:ext cx="6524872" cy="4770537"/>
          </a:xfrm>
          <a:prstGeom prst="rect">
            <a:avLst/>
          </a:prstGeom>
          <a:solidFill>
            <a:srgbClr val="000000"/>
          </a:solidFill>
        </p:spPr>
        <p:txBody>
          <a:bodyPr wrap="square" rtlCol="0">
            <a:spAutoFit/>
          </a:bodyPr>
          <a:lstStyle/>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hostname R1</a:t>
            </a:r>
          </a:p>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enable secret class</a:t>
            </a:r>
          </a:p>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line console 0</a:t>
            </a:r>
          </a:p>
          <a:p>
            <a:r>
              <a:rPr lang="en-US" sz="1600" dirty="0">
                <a:solidFill>
                  <a:schemeClr val="bg1"/>
                </a:solidFill>
                <a:latin typeface="Courier New" panose="02070309020205020404" pitchFamily="49" charset="0"/>
                <a:cs typeface="Courier New" panose="02070309020205020404" pitchFamily="49" charset="0"/>
              </a:rPr>
              <a:t>R1(config-line)# </a:t>
            </a:r>
            <a:r>
              <a:rPr lang="en-US" sz="1600" b="1" dirty="0">
                <a:solidFill>
                  <a:schemeClr val="bg1"/>
                </a:solidFill>
                <a:latin typeface="Courier New" panose="02070309020205020404" pitchFamily="49" charset="0"/>
                <a:cs typeface="Courier New" panose="02070309020205020404" pitchFamily="49" charset="0"/>
              </a:rPr>
              <a:t>password cisco</a:t>
            </a:r>
          </a:p>
          <a:p>
            <a:r>
              <a:rPr lang="en-US" sz="1600" dirty="0">
                <a:solidFill>
                  <a:schemeClr val="bg1"/>
                </a:solidFill>
                <a:latin typeface="Courier New" panose="02070309020205020404" pitchFamily="49" charset="0"/>
                <a:cs typeface="Courier New" panose="02070309020205020404" pitchFamily="49" charset="0"/>
              </a:rPr>
              <a:t>R1(config-line)# </a:t>
            </a:r>
            <a:r>
              <a:rPr lang="en-US" sz="1600" b="1" dirty="0">
                <a:solidFill>
                  <a:schemeClr val="bg1"/>
                </a:solidFill>
                <a:latin typeface="Courier New" panose="02070309020205020404" pitchFamily="49" charset="0"/>
                <a:cs typeface="Courier New" panose="02070309020205020404" pitchFamily="49" charset="0"/>
              </a:rPr>
              <a:t>login</a:t>
            </a:r>
          </a:p>
          <a:p>
            <a:r>
              <a:rPr lang="en-US" sz="1600" dirty="0">
                <a:solidFill>
                  <a:schemeClr val="bg1"/>
                </a:solidFill>
                <a:latin typeface="Courier New" panose="02070309020205020404" pitchFamily="49" charset="0"/>
                <a:cs typeface="Courier New" panose="02070309020205020404" pitchFamily="49" charset="0"/>
              </a:rPr>
              <a:t>R1</a:t>
            </a:r>
            <a:r>
              <a:rPr lang="en-US" sz="1600" b="1" dirty="0">
                <a:solidFill>
                  <a:schemeClr val="bg1"/>
                </a:solidFill>
                <a:latin typeface="Courier New" panose="02070309020205020404" pitchFamily="49" charset="0"/>
                <a:cs typeface="Courier New" panose="02070309020205020404" pitchFamily="49" charset="0"/>
              </a:rPr>
              <a:t>(</a:t>
            </a:r>
            <a:r>
              <a:rPr lang="en-US" sz="1600" dirty="0">
                <a:solidFill>
                  <a:schemeClr val="bg1"/>
                </a:solidFill>
                <a:latin typeface="Courier New" panose="02070309020205020404" pitchFamily="49" charset="0"/>
                <a:cs typeface="Courier New" panose="02070309020205020404" pitchFamily="49" charset="0"/>
              </a:rPr>
              <a:t>config-line)# </a:t>
            </a:r>
            <a:r>
              <a:rPr lang="en-US" sz="1600" b="1" dirty="0">
                <a:solidFill>
                  <a:schemeClr val="bg1"/>
                </a:solidFill>
                <a:latin typeface="Courier New" panose="02070309020205020404" pitchFamily="49" charset="0"/>
                <a:cs typeface="Courier New" panose="02070309020205020404" pitchFamily="49" charset="0"/>
              </a:rPr>
              <a:t>line vty 0 4</a:t>
            </a:r>
          </a:p>
          <a:p>
            <a:r>
              <a:rPr lang="en-US" sz="1600" dirty="0">
                <a:solidFill>
                  <a:schemeClr val="bg1"/>
                </a:solidFill>
                <a:latin typeface="Courier New" panose="02070309020205020404" pitchFamily="49" charset="0"/>
                <a:cs typeface="Courier New" panose="02070309020205020404" pitchFamily="49" charset="0"/>
              </a:rPr>
              <a:t>R1(config-line)# </a:t>
            </a:r>
            <a:r>
              <a:rPr lang="en-US" sz="1600" b="1" dirty="0">
                <a:solidFill>
                  <a:schemeClr val="bg1"/>
                </a:solidFill>
                <a:latin typeface="Courier New" panose="02070309020205020404" pitchFamily="49" charset="0"/>
                <a:cs typeface="Courier New" panose="02070309020205020404" pitchFamily="49" charset="0"/>
              </a:rPr>
              <a:t>password cisco</a:t>
            </a:r>
          </a:p>
          <a:p>
            <a:r>
              <a:rPr lang="en-US" sz="1600" dirty="0">
                <a:solidFill>
                  <a:schemeClr val="bg1"/>
                </a:solidFill>
                <a:latin typeface="Courier New" panose="02070309020205020404" pitchFamily="49" charset="0"/>
                <a:cs typeface="Courier New" panose="02070309020205020404" pitchFamily="49" charset="0"/>
              </a:rPr>
              <a:t>R1(config-line)# </a:t>
            </a:r>
            <a:r>
              <a:rPr lang="en-US" sz="1600" b="1" dirty="0">
                <a:solidFill>
                  <a:schemeClr val="bg1"/>
                </a:solidFill>
                <a:latin typeface="Courier New" panose="02070309020205020404" pitchFamily="49" charset="0"/>
                <a:cs typeface="Courier New" panose="02070309020205020404" pitchFamily="49" charset="0"/>
              </a:rPr>
              <a:t>login</a:t>
            </a:r>
          </a:p>
          <a:p>
            <a:r>
              <a:rPr lang="en-US" sz="1600" dirty="0">
                <a:solidFill>
                  <a:schemeClr val="bg1"/>
                </a:solidFill>
                <a:latin typeface="Courier New" panose="02070309020205020404" pitchFamily="49" charset="0"/>
                <a:cs typeface="Courier New" panose="02070309020205020404" pitchFamily="49" charset="0"/>
              </a:rPr>
              <a:t>R1(config-line)# </a:t>
            </a:r>
            <a:r>
              <a:rPr lang="en-US" sz="1600" b="1" dirty="0">
                <a:solidFill>
                  <a:schemeClr val="bg1"/>
                </a:solidFill>
                <a:latin typeface="Courier New" panose="02070309020205020404" pitchFamily="49" charset="0"/>
                <a:cs typeface="Courier New" panose="02070309020205020404" pitchFamily="49" charset="0"/>
              </a:rPr>
              <a:t>transport input ssh telnet</a:t>
            </a:r>
          </a:p>
          <a:p>
            <a:r>
              <a:rPr lang="en-US" sz="1600" dirty="0">
                <a:solidFill>
                  <a:schemeClr val="bg1"/>
                </a:solidFill>
                <a:latin typeface="Courier New" panose="02070309020205020404" pitchFamily="49" charset="0"/>
                <a:cs typeface="Courier New" panose="02070309020205020404" pitchFamily="49" charset="0"/>
              </a:rPr>
              <a:t>R1(config-line)# </a:t>
            </a:r>
            <a:r>
              <a:rPr lang="en-US" sz="1600" b="1" dirty="0">
                <a:solidFill>
                  <a:schemeClr val="bg1"/>
                </a:solidFill>
                <a:latin typeface="Courier New" panose="02070309020205020404" pitchFamily="49" charset="0"/>
                <a:cs typeface="Courier New" panose="02070309020205020404" pitchFamily="49" charset="0"/>
              </a:rPr>
              <a:t>exit</a:t>
            </a:r>
          </a:p>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service password encryption</a:t>
            </a:r>
          </a:p>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banner motd #</a:t>
            </a:r>
          </a:p>
          <a:p>
            <a:r>
              <a:rPr lang="en-US" sz="1600" dirty="0">
                <a:solidFill>
                  <a:schemeClr val="bg1"/>
                </a:solidFill>
                <a:latin typeface="Courier New" panose="02070309020205020404" pitchFamily="49" charset="0"/>
                <a:cs typeface="Courier New" panose="02070309020205020404" pitchFamily="49" charset="0"/>
              </a:rPr>
              <a:t>Enter TEXT message. End with a new line and the #</a:t>
            </a:r>
          </a:p>
          <a:p>
            <a:r>
              <a:rPr lang="en-US" sz="1600" dirty="0">
                <a:solidFill>
                  <a:schemeClr val="bg1"/>
                </a:solidFill>
                <a:latin typeface="Courier New" panose="02070309020205020404" pitchFamily="49" charset="0"/>
                <a:cs typeface="Courier New" panose="02070309020205020404" pitchFamily="49" charset="0"/>
              </a:rPr>
              <a:t>*********************************************** </a:t>
            </a:r>
          </a:p>
          <a:p>
            <a:r>
              <a:rPr lang="en-US" sz="1600" dirty="0">
                <a:solidFill>
                  <a:schemeClr val="bg1"/>
                </a:solidFill>
                <a:latin typeface="Courier New" panose="02070309020205020404" pitchFamily="49" charset="0"/>
                <a:cs typeface="Courier New" panose="02070309020205020404" pitchFamily="49" charset="0"/>
              </a:rPr>
              <a:t>WARNING: Unauthorized access is prohibited!</a:t>
            </a:r>
          </a:p>
          <a:p>
            <a:r>
              <a:rPr lang="en-US" sz="1600" dirty="0">
                <a:solidFill>
                  <a:schemeClr val="bg1"/>
                </a:solidFill>
                <a:latin typeface="Courier New" panose="02070309020205020404" pitchFamily="49" charset="0"/>
                <a:cs typeface="Courier New" panose="02070309020205020404" pitchFamily="49" charset="0"/>
              </a:rPr>
              <a:t>**********************************************</a:t>
            </a:r>
          </a:p>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exit</a:t>
            </a:r>
          </a:p>
          <a:p>
            <a:r>
              <a:rPr lang="en-US" sz="1600" dirty="0">
                <a:solidFill>
                  <a:schemeClr val="bg1"/>
                </a:solidFill>
                <a:latin typeface="Courier New" panose="02070309020205020404" pitchFamily="49" charset="0"/>
                <a:cs typeface="Courier New" panose="02070309020205020404" pitchFamily="49" charset="0"/>
              </a:rPr>
              <a:t>R1# </a:t>
            </a:r>
            <a:r>
              <a:rPr lang="en-US" sz="1600" b="1" dirty="0">
                <a:solidFill>
                  <a:schemeClr val="bg1"/>
                </a:solidFill>
                <a:latin typeface="Courier New" panose="02070309020205020404" pitchFamily="49" charset="0"/>
                <a:cs typeface="Courier New" panose="02070309020205020404" pitchFamily="49" charset="0"/>
              </a:rPr>
              <a:t>copy running-config startup-config</a:t>
            </a:r>
          </a:p>
          <a:p>
            <a:endParaRPr lang="en-US" sz="1600" b="1"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0332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5233" y="2384213"/>
            <a:ext cx="10130723" cy="1239520"/>
          </a:xfrm>
        </p:spPr>
        <p:txBody>
          <a:bodyPr/>
          <a:lstStyle/>
          <a:p>
            <a:r>
              <a:rPr lang="en-US" dirty="0"/>
              <a:t>Configure Interfaces</a:t>
            </a:r>
          </a:p>
        </p:txBody>
      </p:sp>
      <p:pic>
        <p:nvPicPr>
          <p:cNvPr id="3" name="Picture 2">
            <a:extLst>
              <a:ext uri="{FF2B5EF4-FFF2-40B4-BE49-F238E27FC236}">
                <a16:creationId xmlns:a16="http://schemas.microsoft.com/office/drawing/2014/main" id="{4392D3CD-7499-4D10-B460-323EB1DC146B}"/>
              </a:ext>
            </a:extLst>
          </p:cNvPr>
          <p:cNvPicPr>
            <a:picLocks noChangeAspect="1"/>
          </p:cNvPicPr>
          <p:nvPr/>
        </p:nvPicPr>
        <p:blipFill>
          <a:blip r:embed="rId4"/>
          <a:stretch>
            <a:fillRect/>
          </a:stretch>
        </p:blipFill>
        <p:spPr>
          <a:xfrm flipV="1">
            <a:off x="0" y="6244221"/>
            <a:ext cx="12192000" cy="282033"/>
          </a:xfrm>
          <a:prstGeom prst="rect">
            <a:avLst/>
          </a:prstGeom>
        </p:spPr>
      </p:pic>
    </p:spTree>
    <p:custDataLst>
      <p:tags r:id="rId1"/>
    </p:custDataLst>
    <p:extLst>
      <p:ext uri="{BB962C8B-B14F-4D97-AF65-F5344CB8AC3E}">
        <p14:creationId xmlns:p14="http://schemas.microsoft.com/office/powerpoint/2010/main" val="77295268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Router Interfaces</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399011" y="1075113"/>
            <a:ext cx="11273948" cy="786939"/>
          </a:xfrm>
        </p:spPr>
        <p:txBody>
          <a:bodyPr/>
          <a:lstStyle/>
          <a:p>
            <a:pPr marL="0" indent="0" algn="l"/>
            <a:r>
              <a:rPr lang="en-US" dirty="0">
                <a:solidFill>
                  <a:srgbClr val="000000"/>
                </a:solidFill>
              </a:rPr>
              <a:t>Configuring a router interface includes issuing the following commands:</a:t>
            </a:r>
          </a:p>
        </p:txBody>
      </p:sp>
      <p:sp>
        <p:nvSpPr>
          <p:cNvPr id="2" name="TextBox 1">
            <a:extLst>
              <a:ext uri="{FF2B5EF4-FFF2-40B4-BE49-F238E27FC236}">
                <a16:creationId xmlns:a16="http://schemas.microsoft.com/office/drawing/2014/main" id="{59FED6C1-89E0-4375-8477-F0EBA769203F}"/>
              </a:ext>
            </a:extLst>
          </p:cNvPr>
          <p:cNvSpPr txBox="1"/>
          <p:nvPr/>
        </p:nvSpPr>
        <p:spPr>
          <a:xfrm>
            <a:off x="3764783" y="7434943"/>
            <a:ext cx="184731" cy="461665"/>
          </a:xfrm>
          <a:prstGeom prst="rect">
            <a:avLst/>
          </a:prstGeom>
          <a:noFill/>
        </p:spPr>
        <p:txBody>
          <a:bodyPr wrap="none" rtlCol="0">
            <a:spAutoFit/>
          </a:bodyPr>
          <a:lstStyle/>
          <a:p>
            <a:endParaRPr lang="en-US" sz="2400" dirty="0"/>
          </a:p>
        </p:txBody>
      </p:sp>
      <p:sp>
        <p:nvSpPr>
          <p:cNvPr id="5" name="Rectangle 1">
            <a:extLst>
              <a:ext uri="{FF2B5EF4-FFF2-40B4-BE49-F238E27FC236}">
                <a16:creationId xmlns:a16="http://schemas.microsoft.com/office/drawing/2014/main" id="{F3E17110-55CB-48EF-A414-A5E9B1617467}"/>
              </a:ext>
            </a:extLst>
          </p:cNvPr>
          <p:cNvSpPr>
            <a:spLocks noChangeArrowheads="1"/>
          </p:cNvSpPr>
          <p:nvPr/>
        </p:nvSpPr>
        <p:spPr bwMode="auto">
          <a:xfrm>
            <a:off x="1710630" y="2095396"/>
            <a:ext cx="8770741" cy="1354217"/>
          </a:xfrm>
          <a:prstGeom prst="rect">
            <a:avLst/>
          </a:prstGeom>
          <a:solidFill>
            <a:srgbClr val="000000"/>
          </a:solidFill>
          <a:ln>
            <a:noFill/>
          </a:ln>
          <a:effectLst/>
        </p:spPr>
        <p:txBody>
          <a:bodyPr vert="horz" wrap="squar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pPr>
            <a:r>
              <a:rPr lang="en-US" altLang="en-US" sz="1600" dirty="0">
                <a:solidFill>
                  <a:schemeClr val="bg1"/>
                </a:solidFill>
                <a:latin typeface="Courier New" panose="02070309020205020404" pitchFamily="49" charset="0"/>
                <a:cs typeface="Courier New" panose="02070309020205020404" pitchFamily="49" charset="0"/>
              </a:rPr>
              <a:t>Router(config)# </a:t>
            </a:r>
            <a:r>
              <a:rPr lang="en-US" altLang="en-US" sz="1600" b="1" dirty="0">
                <a:solidFill>
                  <a:schemeClr val="bg1"/>
                </a:solidFill>
                <a:latin typeface="Courier New" panose="02070309020205020404" pitchFamily="49" charset="0"/>
                <a:cs typeface="Courier New" panose="02070309020205020404" pitchFamily="49" charset="0"/>
              </a:rPr>
              <a:t>interface</a:t>
            </a:r>
            <a:r>
              <a:rPr lang="en-US" altLang="en-US" sz="1600" dirty="0">
                <a:solidFill>
                  <a:schemeClr val="bg1"/>
                </a:solidFill>
                <a:latin typeface="Courier New" panose="02070309020205020404" pitchFamily="49" charset="0"/>
                <a:cs typeface="Courier New" panose="02070309020205020404" pitchFamily="49" charset="0"/>
              </a:rPr>
              <a:t> </a:t>
            </a:r>
            <a:r>
              <a:rPr lang="en-US" altLang="en-US" sz="1600" i="1" dirty="0">
                <a:solidFill>
                  <a:schemeClr val="bg1"/>
                </a:solidFill>
                <a:latin typeface="Courier New" panose="02070309020205020404" pitchFamily="49" charset="0"/>
                <a:cs typeface="Courier New" panose="02070309020205020404" pitchFamily="49" charset="0"/>
              </a:rPr>
              <a:t>type-and-number</a:t>
            </a:r>
            <a:br>
              <a:rPr lang="en-US" altLang="en-US" sz="1600" dirty="0">
                <a:solidFill>
                  <a:schemeClr val="bg1"/>
                </a:solidFill>
                <a:latin typeface="Courier New" panose="02070309020205020404" pitchFamily="49" charset="0"/>
                <a:cs typeface="Courier New" panose="02070309020205020404" pitchFamily="49" charset="0"/>
              </a:rPr>
            </a:br>
            <a:r>
              <a:rPr lang="en-US" altLang="en-US" sz="1600" dirty="0">
                <a:solidFill>
                  <a:schemeClr val="bg1"/>
                </a:solidFill>
                <a:latin typeface="Courier New" panose="02070309020205020404" pitchFamily="49" charset="0"/>
                <a:cs typeface="Courier New" panose="02070309020205020404" pitchFamily="49" charset="0"/>
              </a:rPr>
              <a:t>Router(config-if)# </a:t>
            </a:r>
            <a:r>
              <a:rPr lang="en-US" altLang="en-US" sz="1600" b="1" dirty="0">
                <a:solidFill>
                  <a:schemeClr val="bg1"/>
                </a:solidFill>
                <a:latin typeface="Courier New" panose="02070309020205020404" pitchFamily="49" charset="0"/>
                <a:cs typeface="Courier New" panose="02070309020205020404" pitchFamily="49" charset="0"/>
              </a:rPr>
              <a:t>description</a:t>
            </a:r>
            <a:r>
              <a:rPr lang="en-US" altLang="en-US" sz="1600" dirty="0">
                <a:solidFill>
                  <a:schemeClr val="bg1"/>
                </a:solidFill>
                <a:latin typeface="Courier New" panose="02070309020205020404" pitchFamily="49" charset="0"/>
                <a:cs typeface="Courier New" panose="02070309020205020404" pitchFamily="49" charset="0"/>
              </a:rPr>
              <a:t> </a:t>
            </a:r>
            <a:r>
              <a:rPr lang="en-US" altLang="en-US" sz="1600" i="1" dirty="0">
                <a:solidFill>
                  <a:schemeClr val="bg1"/>
                </a:solidFill>
                <a:latin typeface="Courier New" panose="02070309020205020404" pitchFamily="49" charset="0"/>
                <a:cs typeface="Courier New" panose="02070309020205020404" pitchFamily="49" charset="0"/>
              </a:rPr>
              <a:t>description-text</a:t>
            </a:r>
            <a:br>
              <a:rPr lang="en-US" altLang="en-US" sz="1600" dirty="0">
                <a:solidFill>
                  <a:schemeClr val="bg1"/>
                </a:solidFill>
                <a:latin typeface="Courier New" panose="02070309020205020404" pitchFamily="49" charset="0"/>
                <a:cs typeface="Courier New" panose="02070309020205020404" pitchFamily="49" charset="0"/>
              </a:rPr>
            </a:br>
            <a:r>
              <a:rPr lang="en-US" altLang="en-US" sz="1600" dirty="0">
                <a:solidFill>
                  <a:schemeClr val="bg1"/>
                </a:solidFill>
                <a:latin typeface="Courier New" panose="02070309020205020404" pitchFamily="49" charset="0"/>
                <a:cs typeface="Courier New" panose="02070309020205020404" pitchFamily="49" charset="0"/>
              </a:rPr>
              <a:t>Router(config-if)# </a:t>
            </a:r>
            <a:r>
              <a:rPr lang="en-US" altLang="en-US" sz="1600" b="1" dirty="0">
                <a:solidFill>
                  <a:schemeClr val="bg1"/>
                </a:solidFill>
                <a:latin typeface="Courier New" panose="02070309020205020404" pitchFamily="49" charset="0"/>
                <a:cs typeface="Courier New" panose="02070309020205020404" pitchFamily="49" charset="0"/>
              </a:rPr>
              <a:t>ip address</a:t>
            </a:r>
            <a:r>
              <a:rPr lang="en-US" altLang="en-US" sz="1600" dirty="0">
                <a:solidFill>
                  <a:schemeClr val="bg1"/>
                </a:solidFill>
                <a:latin typeface="Courier New" panose="02070309020205020404" pitchFamily="49" charset="0"/>
                <a:cs typeface="Courier New" panose="02070309020205020404" pitchFamily="49" charset="0"/>
              </a:rPr>
              <a:t> </a:t>
            </a:r>
            <a:r>
              <a:rPr lang="en-US" altLang="en-US" sz="1600" i="1" dirty="0">
                <a:solidFill>
                  <a:schemeClr val="bg1"/>
                </a:solidFill>
                <a:latin typeface="Courier New" panose="02070309020205020404" pitchFamily="49" charset="0"/>
                <a:cs typeface="Courier New" panose="02070309020205020404" pitchFamily="49" charset="0"/>
              </a:rPr>
              <a:t>ipv4-address subnet-mask</a:t>
            </a:r>
            <a:br>
              <a:rPr lang="en-US" altLang="en-US" sz="1600" dirty="0">
                <a:solidFill>
                  <a:schemeClr val="bg1"/>
                </a:solidFill>
                <a:latin typeface="Courier New" panose="02070309020205020404" pitchFamily="49" charset="0"/>
                <a:cs typeface="Courier New" panose="02070309020205020404" pitchFamily="49" charset="0"/>
              </a:rPr>
            </a:br>
            <a:r>
              <a:rPr lang="en-US" altLang="en-US" sz="1600" dirty="0">
                <a:solidFill>
                  <a:schemeClr val="bg1"/>
                </a:solidFill>
                <a:latin typeface="Courier New" panose="02070309020205020404" pitchFamily="49" charset="0"/>
                <a:cs typeface="Courier New" panose="02070309020205020404" pitchFamily="49" charset="0"/>
              </a:rPr>
              <a:t>Router(config-if)# </a:t>
            </a:r>
            <a:r>
              <a:rPr lang="en-US" altLang="en-US" sz="1600" b="1" dirty="0">
                <a:solidFill>
                  <a:schemeClr val="bg1"/>
                </a:solidFill>
                <a:latin typeface="Courier New" panose="02070309020205020404" pitchFamily="49" charset="0"/>
                <a:cs typeface="Courier New" panose="02070309020205020404" pitchFamily="49" charset="0"/>
              </a:rPr>
              <a:t>ipv6 address</a:t>
            </a:r>
            <a:r>
              <a:rPr lang="en-US" altLang="en-US" sz="1600" dirty="0">
                <a:solidFill>
                  <a:schemeClr val="bg1"/>
                </a:solidFill>
                <a:latin typeface="Courier New" panose="02070309020205020404" pitchFamily="49" charset="0"/>
                <a:cs typeface="Courier New" panose="02070309020205020404" pitchFamily="49" charset="0"/>
              </a:rPr>
              <a:t> </a:t>
            </a:r>
            <a:r>
              <a:rPr lang="en-US" altLang="en-US" sz="1600" i="1" dirty="0">
                <a:solidFill>
                  <a:schemeClr val="bg1"/>
                </a:solidFill>
                <a:latin typeface="Courier New" panose="02070309020205020404" pitchFamily="49" charset="0"/>
                <a:cs typeface="Courier New" panose="02070309020205020404" pitchFamily="49" charset="0"/>
              </a:rPr>
              <a:t>ipv6-address/prefix-length</a:t>
            </a:r>
            <a:br>
              <a:rPr lang="en-US" altLang="en-US" sz="1600" dirty="0">
                <a:solidFill>
                  <a:schemeClr val="bg1"/>
                </a:solidFill>
                <a:latin typeface="Courier New" panose="02070309020205020404" pitchFamily="49" charset="0"/>
                <a:cs typeface="Courier New" panose="02070309020205020404" pitchFamily="49" charset="0"/>
              </a:rPr>
            </a:br>
            <a:r>
              <a:rPr lang="en-US" altLang="en-US" sz="1600" dirty="0">
                <a:solidFill>
                  <a:schemeClr val="bg1"/>
                </a:solidFill>
                <a:latin typeface="Courier New" panose="02070309020205020404" pitchFamily="49" charset="0"/>
                <a:cs typeface="Courier New" panose="02070309020205020404" pitchFamily="49" charset="0"/>
              </a:rPr>
              <a:t>Router(config-if)# </a:t>
            </a:r>
            <a:r>
              <a:rPr lang="en-US" altLang="en-US" sz="1600" b="1" dirty="0">
                <a:solidFill>
                  <a:schemeClr val="bg1"/>
                </a:solidFill>
                <a:latin typeface="Courier New" panose="02070309020205020404" pitchFamily="49" charset="0"/>
                <a:cs typeface="Courier New" panose="02070309020205020404" pitchFamily="49" charset="0"/>
              </a:rPr>
              <a:t>no shutdown</a:t>
            </a:r>
            <a:r>
              <a:rPr lang="en-US" altLang="en-US" sz="1200" dirty="0">
                <a:solidFill>
                  <a:schemeClr val="bg1"/>
                </a:solidFill>
                <a:latin typeface="Courier New" panose="02070309020205020404" pitchFamily="49" charset="0"/>
                <a:cs typeface="Courier New" panose="02070309020205020404" pitchFamily="49" charset="0"/>
              </a:rPr>
              <a:t> </a:t>
            </a:r>
            <a:endParaRPr lang="en-US" altLang="en-US" sz="3733" dirty="0">
              <a:solidFill>
                <a:schemeClr val="bg1"/>
              </a:solidFill>
              <a:latin typeface="Courier New" panose="02070309020205020404" pitchFamily="49" charset="0"/>
              <a:cs typeface="Courier New" panose="02070309020205020404" pitchFamily="49" charset="0"/>
            </a:endParaRPr>
          </a:p>
        </p:txBody>
      </p:sp>
      <p:sp>
        <p:nvSpPr>
          <p:cNvPr id="7" name="Content Placeholder 3">
            <a:extLst>
              <a:ext uri="{FF2B5EF4-FFF2-40B4-BE49-F238E27FC236}">
                <a16:creationId xmlns:a16="http://schemas.microsoft.com/office/drawing/2014/main" id="{694B5632-F1A8-4FC1-AA4C-612027B45A69}"/>
              </a:ext>
            </a:extLst>
          </p:cNvPr>
          <p:cNvSpPr txBox="1">
            <a:spLocks/>
          </p:cNvSpPr>
          <p:nvPr/>
        </p:nvSpPr>
        <p:spPr>
          <a:xfrm>
            <a:off x="632882" y="3909778"/>
            <a:ext cx="11040076" cy="1567543"/>
          </a:xfrm>
          <a:prstGeom prst="rect">
            <a:avLst/>
          </a:prstGeom>
        </p:spPr>
        <p:txBody>
          <a:bodyPr lIns="121893" tIns="60947" rIns="121893" bIns="60947">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457189" indent="-457189" algn="l">
              <a:buFont typeface="Arial" panose="020B0604020202020204" pitchFamily="34" charset="0"/>
              <a:buChar char="•"/>
            </a:pPr>
            <a:r>
              <a:rPr lang="en-US" sz="2667" dirty="0">
                <a:solidFill>
                  <a:srgbClr val="000000"/>
                </a:solidFill>
              </a:rPr>
              <a:t>It is a good practice to use the </a:t>
            </a:r>
            <a:r>
              <a:rPr lang="en-US" sz="2667" b="1" dirty="0">
                <a:solidFill>
                  <a:srgbClr val="000000"/>
                </a:solidFill>
              </a:rPr>
              <a:t>description</a:t>
            </a:r>
            <a:r>
              <a:rPr lang="en-US" sz="2667" dirty="0">
                <a:solidFill>
                  <a:srgbClr val="000000"/>
                </a:solidFill>
              </a:rPr>
              <a:t> command to add information about the network connected to the interface.</a:t>
            </a:r>
          </a:p>
          <a:p>
            <a:pPr marL="457189" indent="-457189" algn="l">
              <a:buFont typeface="Arial" panose="020B0604020202020204" pitchFamily="34" charset="0"/>
              <a:buChar char="•"/>
            </a:pPr>
            <a:r>
              <a:rPr lang="en-US" sz="2667" dirty="0">
                <a:solidFill>
                  <a:srgbClr val="000000"/>
                </a:solidFill>
              </a:rPr>
              <a:t>The </a:t>
            </a:r>
            <a:r>
              <a:rPr lang="en-US" sz="2667" b="1" dirty="0">
                <a:solidFill>
                  <a:srgbClr val="000000"/>
                </a:solidFill>
              </a:rPr>
              <a:t>no</a:t>
            </a:r>
            <a:r>
              <a:rPr lang="en-US" sz="2667" dirty="0">
                <a:solidFill>
                  <a:srgbClr val="000000"/>
                </a:solidFill>
              </a:rPr>
              <a:t> </a:t>
            </a:r>
            <a:r>
              <a:rPr lang="en-US" sz="2667" b="1" dirty="0">
                <a:solidFill>
                  <a:srgbClr val="000000"/>
                </a:solidFill>
              </a:rPr>
              <a:t>shutdown </a:t>
            </a:r>
            <a:r>
              <a:rPr lang="en-US" sz="2667" dirty="0">
                <a:solidFill>
                  <a:srgbClr val="000000"/>
                </a:solidFill>
              </a:rPr>
              <a:t>command activates the interface.</a:t>
            </a:r>
          </a:p>
        </p:txBody>
      </p:sp>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Router Interfaces Example</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632884" y="1125417"/>
            <a:ext cx="10494433" cy="545705"/>
          </a:xfrm>
        </p:spPr>
        <p:txBody>
          <a:bodyPr/>
          <a:lstStyle/>
          <a:p>
            <a:pPr marL="0" indent="0" algn="l"/>
            <a:r>
              <a:rPr lang="en-US" dirty="0">
                <a:solidFill>
                  <a:srgbClr val="000000"/>
                </a:solidFill>
              </a:rPr>
              <a:t>The commands to configure interface G0/0/0 on R1 are shown here:</a:t>
            </a:r>
          </a:p>
        </p:txBody>
      </p:sp>
      <p:sp>
        <p:nvSpPr>
          <p:cNvPr id="2" name="TextBox 1">
            <a:extLst>
              <a:ext uri="{FF2B5EF4-FFF2-40B4-BE49-F238E27FC236}">
                <a16:creationId xmlns:a16="http://schemas.microsoft.com/office/drawing/2014/main" id="{59FED6C1-89E0-4375-8477-F0EBA769203F}"/>
              </a:ext>
            </a:extLst>
          </p:cNvPr>
          <p:cNvSpPr txBox="1"/>
          <p:nvPr/>
        </p:nvSpPr>
        <p:spPr>
          <a:xfrm>
            <a:off x="3764783" y="7434943"/>
            <a:ext cx="184731" cy="461665"/>
          </a:xfrm>
          <a:prstGeom prst="rect">
            <a:avLst/>
          </a:prstGeom>
          <a:noFill/>
        </p:spPr>
        <p:txBody>
          <a:bodyPr wrap="none" rtlCol="0">
            <a:spAutoFit/>
          </a:bodyPr>
          <a:lstStyle/>
          <a:p>
            <a:endParaRPr lang="en-US" sz="2400" dirty="0"/>
          </a:p>
        </p:txBody>
      </p:sp>
      <p:pic>
        <p:nvPicPr>
          <p:cNvPr id="6" name="Picture 5">
            <a:extLst>
              <a:ext uri="{FF2B5EF4-FFF2-40B4-BE49-F238E27FC236}">
                <a16:creationId xmlns:a16="http://schemas.microsoft.com/office/drawing/2014/main" id="{93C10989-3D4F-45C9-BEEB-776028CA1969}"/>
              </a:ext>
            </a:extLst>
          </p:cNvPr>
          <p:cNvPicPr>
            <a:picLocks noChangeAspect="1"/>
          </p:cNvPicPr>
          <p:nvPr/>
        </p:nvPicPr>
        <p:blipFill>
          <a:blip r:embed="rId3"/>
          <a:stretch>
            <a:fillRect/>
          </a:stretch>
        </p:blipFill>
        <p:spPr>
          <a:xfrm>
            <a:off x="1893743" y="1785135"/>
            <a:ext cx="6665288" cy="2007932"/>
          </a:xfrm>
          <a:prstGeom prst="rect">
            <a:avLst/>
          </a:prstGeom>
        </p:spPr>
      </p:pic>
      <p:sp>
        <p:nvSpPr>
          <p:cNvPr id="13" name="TextBox 12">
            <a:extLst>
              <a:ext uri="{FF2B5EF4-FFF2-40B4-BE49-F238E27FC236}">
                <a16:creationId xmlns:a16="http://schemas.microsoft.com/office/drawing/2014/main" id="{17B97E3D-C6EF-4A93-B49A-A6755E6AE1C3}"/>
              </a:ext>
            </a:extLst>
          </p:cNvPr>
          <p:cNvSpPr txBox="1"/>
          <p:nvPr/>
        </p:nvSpPr>
        <p:spPr>
          <a:xfrm>
            <a:off x="1277601" y="3907080"/>
            <a:ext cx="9204996" cy="2123658"/>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gigabitEthernet 0/0/0</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description Link to LAN</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ip address 192.168.10.1 255.255.255.0</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ipv6 address 2001:db8:acad:10::1/64</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no shutdown</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exit</a:t>
            </a:r>
          </a:p>
          <a:p>
            <a:r>
              <a:rPr lang="en-US" sz="1200" dirty="0">
                <a:solidFill>
                  <a:schemeClr val="bg1"/>
                </a:solidFill>
                <a:latin typeface="Courier New" panose="02070309020205020404" pitchFamily="49" charset="0"/>
                <a:cs typeface="Courier New" panose="02070309020205020404" pitchFamily="49" charset="0"/>
              </a:rPr>
              <a:t>R1(config)#</a:t>
            </a:r>
          </a:p>
          <a:p>
            <a:r>
              <a:rPr lang="en-US" sz="1200" dirty="0">
                <a:solidFill>
                  <a:schemeClr val="bg1"/>
                </a:solidFill>
                <a:latin typeface="Courier New" panose="02070309020205020404" pitchFamily="49" charset="0"/>
                <a:cs typeface="Courier New" panose="02070309020205020404" pitchFamily="49" charset="0"/>
              </a:rPr>
              <a:t>*Aug  1 01:43:53.435: %LINK-3-UPDOWN: Interface GigabitEthernet0/0/0, changed state to down</a:t>
            </a:r>
          </a:p>
          <a:p>
            <a:r>
              <a:rPr lang="en-US" sz="1200" dirty="0">
                <a:solidFill>
                  <a:schemeClr val="bg1"/>
                </a:solidFill>
                <a:latin typeface="Courier New" panose="02070309020205020404" pitchFamily="49" charset="0"/>
                <a:cs typeface="Courier New" panose="02070309020205020404" pitchFamily="49" charset="0"/>
              </a:rPr>
              <a:t>*Aug  1 01:43:56.447: %LINK-3-UPDOWN: Interface GigabitEthernet0/0/0, changed state to up</a:t>
            </a:r>
          </a:p>
          <a:p>
            <a:r>
              <a:rPr lang="en-US" sz="1200" dirty="0">
                <a:solidFill>
                  <a:schemeClr val="bg1"/>
                </a:solidFill>
                <a:latin typeface="Courier New" panose="02070309020205020404" pitchFamily="49" charset="0"/>
                <a:cs typeface="Courier New" panose="02070309020205020404" pitchFamily="49" charset="0"/>
              </a:rPr>
              <a:t>*Aug  1 01:43:57.447: %LINEPROTO-5-UPDOWN: Line protocol on Interface GigabitEthernet0/0/0, changed state to up</a:t>
            </a:r>
          </a:p>
        </p:txBody>
      </p:sp>
    </p:spTree>
    <p:extLst>
      <p:ext uri="{BB962C8B-B14F-4D97-AF65-F5344CB8AC3E}">
        <p14:creationId xmlns:p14="http://schemas.microsoft.com/office/powerpoint/2010/main" val="181678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Router Interfaces Example (Cont.)</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632884" y="1125417"/>
            <a:ext cx="10494433" cy="545705"/>
          </a:xfrm>
        </p:spPr>
        <p:txBody>
          <a:bodyPr/>
          <a:lstStyle/>
          <a:p>
            <a:pPr marL="0" indent="0" algn="l"/>
            <a:r>
              <a:rPr lang="en-US" dirty="0">
                <a:solidFill>
                  <a:srgbClr val="000000"/>
                </a:solidFill>
              </a:rPr>
              <a:t>The commands to configure interface G0/0/1 on R1 are shown here:</a:t>
            </a:r>
          </a:p>
        </p:txBody>
      </p:sp>
      <p:sp>
        <p:nvSpPr>
          <p:cNvPr id="2" name="TextBox 1">
            <a:extLst>
              <a:ext uri="{FF2B5EF4-FFF2-40B4-BE49-F238E27FC236}">
                <a16:creationId xmlns:a16="http://schemas.microsoft.com/office/drawing/2014/main" id="{59FED6C1-89E0-4375-8477-F0EBA769203F}"/>
              </a:ext>
            </a:extLst>
          </p:cNvPr>
          <p:cNvSpPr txBox="1"/>
          <p:nvPr/>
        </p:nvSpPr>
        <p:spPr>
          <a:xfrm>
            <a:off x="3764783" y="7434943"/>
            <a:ext cx="184731" cy="461665"/>
          </a:xfrm>
          <a:prstGeom prst="rect">
            <a:avLst/>
          </a:prstGeom>
          <a:noFill/>
        </p:spPr>
        <p:txBody>
          <a:bodyPr wrap="none" rtlCol="0">
            <a:spAutoFit/>
          </a:bodyPr>
          <a:lstStyle/>
          <a:p>
            <a:endParaRPr lang="en-US" sz="2400" dirty="0"/>
          </a:p>
        </p:txBody>
      </p:sp>
      <p:pic>
        <p:nvPicPr>
          <p:cNvPr id="6" name="Picture 5">
            <a:extLst>
              <a:ext uri="{FF2B5EF4-FFF2-40B4-BE49-F238E27FC236}">
                <a16:creationId xmlns:a16="http://schemas.microsoft.com/office/drawing/2014/main" id="{93C10989-3D4F-45C9-BEEB-776028CA1969}"/>
              </a:ext>
            </a:extLst>
          </p:cNvPr>
          <p:cNvPicPr>
            <a:picLocks noChangeAspect="1"/>
          </p:cNvPicPr>
          <p:nvPr/>
        </p:nvPicPr>
        <p:blipFill>
          <a:blip r:embed="rId3"/>
          <a:stretch>
            <a:fillRect/>
          </a:stretch>
        </p:blipFill>
        <p:spPr>
          <a:xfrm>
            <a:off x="1893743" y="1785135"/>
            <a:ext cx="6665288" cy="2007932"/>
          </a:xfrm>
          <a:prstGeom prst="rect">
            <a:avLst/>
          </a:prstGeom>
        </p:spPr>
      </p:pic>
      <p:sp>
        <p:nvSpPr>
          <p:cNvPr id="13" name="TextBox 12">
            <a:extLst>
              <a:ext uri="{FF2B5EF4-FFF2-40B4-BE49-F238E27FC236}">
                <a16:creationId xmlns:a16="http://schemas.microsoft.com/office/drawing/2014/main" id="{17B97E3D-C6EF-4A93-B49A-A6755E6AE1C3}"/>
              </a:ext>
            </a:extLst>
          </p:cNvPr>
          <p:cNvSpPr txBox="1"/>
          <p:nvPr/>
        </p:nvSpPr>
        <p:spPr>
          <a:xfrm>
            <a:off x="1277601" y="3907080"/>
            <a:ext cx="9204996" cy="2123658"/>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gigabitEthernet 0/0/1</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description Link to R2</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ip address 209.165.200.225 255.255.255.252</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ipv6 address 2001:db8:feed:224::1/64</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no shutdown</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exit</a:t>
            </a:r>
          </a:p>
          <a:p>
            <a:r>
              <a:rPr lang="en-US" sz="1200" dirty="0">
                <a:solidFill>
                  <a:schemeClr val="bg1"/>
                </a:solidFill>
                <a:latin typeface="Courier New" panose="02070309020205020404" pitchFamily="49" charset="0"/>
                <a:cs typeface="Courier New" panose="02070309020205020404" pitchFamily="49" charset="0"/>
              </a:rPr>
              <a:t>R1(config)#</a:t>
            </a:r>
          </a:p>
          <a:p>
            <a:r>
              <a:rPr lang="en-US" sz="1200" dirty="0">
                <a:solidFill>
                  <a:schemeClr val="bg1"/>
                </a:solidFill>
                <a:latin typeface="Courier New" panose="02070309020205020404" pitchFamily="49" charset="0"/>
                <a:cs typeface="Courier New" panose="02070309020205020404" pitchFamily="49" charset="0"/>
              </a:rPr>
              <a:t>*Aug  1 01:46:29.170: %LINK-3-UPDOWN: Interface GigabitEthernet0/0/1, changed state to down</a:t>
            </a:r>
          </a:p>
          <a:p>
            <a:r>
              <a:rPr lang="en-US" sz="1200" dirty="0">
                <a:solidFill>
                  <a:schemeClr val="bg1"/>
                </a:solidFill>
                <a:latin typeface="Courier New" panose="02070309020205020404" pitchFamily="49" charset="0"/>
                <a:cs typeface="Courier New" panose="02070309020205020404" pitchFamily="49" charset="0"/>
              </a:rPr>
              <a:t>*Aug  1 01:46:32.171: %LINK-3-UPDOWN: Interface GigabitEthernet0/0/1, changed state to up</a:t>
            </a:r>
          </a:p>
          <a:p>
            <a:r>
              <a:rPr lang="en-US" sz="1200" dirty="0">
                <a:solidFill>
                  <a:schemeClr val="bg1"/>
                </a:solidFill>
                <a:latin typeface="Courier New" panose="02070309020205020404" pitchFamily="49" charset="0"/>
                <a:cs typeface="Courier New" panose="02070309020205020404" pitchFamily="49" charset="0"/>
              </a:rPr>
              <a:t>*Aug  1 01:46:33.171: %LINEPROTO-5-UPDOWN: Line protocol on Interface GigabitEthernet0/0/1, changed state to up</a:t>
            </a:r>
          </a:p>
        </p:txBody>
      </p:sp>
    </p:spTree>
    <p:extLst>
      <p:ext uri="{BB962C8B-B14F-4D97-AF65-F5344CB8AC3E}">
        <p14:creationId xmlns:p14="http://schemas.microsoft.com/office/powerpoint/2010/main" val="382760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Verify Interface Configuration</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632884" y="1125417"/>
            <a:ext cx="10494433" cy="1179980"/>
          </a:xfrm>
        </p:spPr>
        <p:txBody>
          <a:bodyPr/>
          <a:lstStyle/>
          <a:p>
            <a:pPr marL="0" indent="0" algn="l"/>
            <a:r>
              <a:rPr lang="en-US" dirty="0">
                <a:solidFill>
                  <a:srgbClr val="000000"/>
                </a:solidFill>
              </a:rPr>
              <a:t>To verify interface configuration use the </a:t>
            </a:r>
            <a:r>
              <a:rPr lang="en-US" b="1" dirty="0">
                <a:solidFill>
                  <a:srgbClr val="000000"/>
                </a:solidFill>
              </a:rPr>
              <a:t>show ip interface brief </a:t>
            </a:r>
            <a:r>
              <a:rPr lang="en-US" dirty="0">
                <a:solidFill>
                  <a:srgbClr val="000000"/>
                </a:solidFill>
              </a:rPr>
              <a:t>and </a:t>
            </a:r>
            <a:r>
              <a:rPr lang="en-US" b="1" dirty="0">
                <a:solidFill>
                  <a:srgbClr val="000000"/>
                </a:solidFill>
              </a:rPr>
              <a:t>show ipv6 interface brief </a:t>
            </a:r>
            <a:r>
              <a:rPr lang="en-US" dirty="0">
                <a:solidFill>
                  <a:srgbClr val="000000"/>
                </a:solidFill>
              </a:rPr>
              <a:t>commands shown here:</a:t>
            </a:r>
          </a:p>
        </p:txBody>
      </p:sp>
      <p:sp>
        <p:nvSpPr>
          <p:cNvPr id="2" name="TextBox 1">
            <a:extLst>
              <a:ext uri="{FF2B5EF4-FFF2-40B4-BE49-F238E27FC236}">
                <a16:creationId xmlns:a16="http://schemas.microsoft.com/office/drawing/2014/main" id="{59FED6C1-89E0-4375-8477-F0EBA769203F}"/>
              </a:ext>
            </a:extLst>
          </p:cNvPr>
          <p:cNvSpPr txBox="1"/>
          <p:nvPr/>
        </p:nvSpPr>
        <p:spPr>
          <a:xfrm>
            <a:off x="3764783" y="7434943"/>
            <a:ext cx="184731" cy="461665"/>
          </a:xfrm>
          <a:prstGeom prst="rect">
            <a:avLst/>
          </a:prstGeom>
          <a:noFill/>
        </p:spPr>
        <p:txBody>
          <a:bodyPr wrap="none" rtlCol="0">
            <a:spAutoFit/>
          </a:bodyPr>
          <a:lstStyle/>
          <a:p>
            <a:endParaRPr lang="en-US" sz="2400" dirty="0"/>
          </a:p>
        </p:txBody>
      </p:sp>
      <p:sp>
        <p:nvSpPr>
          <p:cNvPr id="13" name="TextBox 12">
            <a:extLst>
              <a:ext uri="{FF2B5EF4-FFF2-40B4-BE49-F238E27FC236}">
                <a16:creationId xmlns:a16="http://schemas.microsoft.com/office/drawing/2014/main" id="{17B97E3D-C6EF-4A93-B49A-A6755E6AE1C3}"/>
              </a:ext>
            </a:extLst>
          </p:cNvPr>
          <p:cNvSpPr txBox="1"/>
          <p:nvPr/>
        </p:nvSpPr>
        <p:spPr>
          <a:xfrm>
            <a:off x="2295188" y="2587898"/>
            <a:ext cx="7601624" cy="1015663"/>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ip interface brief</a:t>
            </a:r>
          </a:p>
          <a:p>
            <a:r>
              <a:rPr lang="en-US" sz="1200" dirty="0">
                <a:solidFill>
                  <a:schemeClr val="bg1"/>
                </a:solidFill>
                <a:latin typeface="Courier New" panose="02070309020205020404" pitchFamily="49" charset="0"/>
                <a:cs typeface="Courier New" panose="02070309020205020404" pitchFamily="49" charset="0"/>
              </a:rPr>
              <a:t>Interface              IP-Address      OK? Method Status                Protocol </a:t>
            </a:r>
          </a:p>
          <a:p>
            <a:r>
              <a:rPr lang="en-US" sz="1200" dirty="0">
                <a:solidFill>
                  <a:schemeClr val="bg1"/>
                </a:solidFill>
                <a:latin typeface="Courier New" panose="02070309020205020404" pitchFamily="49" charset="0"/>
                <a:cs typeface="Courier New" panose="02070309020205020404" pitchFamily="49" charset="0"/>
              </a:rPr>
              <a:t>GigabitEthernet0/0/0   192.168.10.1    YES manual up                    up </a:t>
            </a:r>
          </a:p>
          <a:p>
            <a:r>
              <a:rPr lang="en-US" sz="1200" dirty="0">
                <a:solidFill>
                  <a:schemeClr val="bg1"/>
                </a:solidFill>
                <a:latin typeface="Courier New" panose="02070309020205020404" pitchFamily="49" charset="0"/>
                <a:cs typeface="Courier New" panose="02070309020205020404" pitchFamily="49" charset="0"/>
              </a:rPr>
              <a:t>GigabitEthernet0/0/1   209.165.200.225 YES manual up                    up </a:t>
            </a:r>
          </a:p>
          <a:p>
            <a:r>
              <a:rPr lang="en-US" sz="1200" dirty="0">
                <a:solidFill>
                  <a:schemeClr val="bg1"/>
                </a:solidFill>
                <a:latin typeface="Courier New" panose="02070309020205020404" pitchFamily="49" charset="0"/>
                <a:cs typeface="Courier New" panose="02070309020205020404" pitchFamily="49" charset="0"/>
              </a:rPr>
              <a:t>Vlan1                  unassigned      YES unset  administratively down down </a:t>
            </a:r>
          </a:p>
        </p:txBody>
      </p:sp>
      <p:sp>
        <p:nvSpPr>
          <p:cNvPr id="7" name="TextBox 6">
            <a:extLst>
              <a:ext uri="{FF2B5EF4-FFF2-40B4-BE49-F238E27FC236}">
                <a16:creationId xmlns:a16="http://schemas.microsoft.com/office/drawing/2014/main" id="{6D9205F4-B6F7-4CBB-9733-95EEED388FC7}"/>
              </a:ext>
            </a:extLst>
          </p:cNvPr>
          <p:cNvSpPr txBox="1"/>
          <p:nvPr/>
        </p:nvSpPr>
        <p:spPr>
          <a:xfrm>
            <a:off x="2295188" y="3877183"/>
            <a:ext cx="7601624" cy="1938992"/>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ipv6 interface brief</a:t>
            </a:r>
          </a:p>
          <a:p>
            <a:r>
              <a:rPr lang="en-US" sz="1200" dirty="0">
                <a:solidFill>
                  <a:schemeClr val="bg1"/>
                </a:solidFill>
                <a:latin typeface="Courier New" panose="02070309020205020404" pitchFamily="49" charset="0"/>
                <a:cs typeface="Courier New" panose="02070309020205020404" pitchFamily="49" charset="0"/>
              </a:rPr>
              <a:t>GigabitEthernet0/0/0       [up/up]</a:t>
            </a:r>
          </a:p>
          <a:p>
            <a:r>
              <a:rPr lang="en-US" sz="1200" dirty="0">
                <a:solidFill>
                  <a:schemeClr val="bg1"/>
                </a:solidFill>
                <a:latin typeface="Courier New" panose="02070309020205020404" pitchFamily="49" charset="0"/>
                <a:cs typeface="Courier New" panose="02070309020205020404" pitchFamily="49" charset="0"/>
              </a:rPr>
              <a:t>    FE80::201:C9FF:FE89:4501</a:t>
            </a:r>
          </a:p>
          <a:p>
            <a:r>
              <a:rPr lang="en-US" sz="1200" dirty="0">
                <a:solidFill>
                  <a:schemeClr val="bg1"/>
                </a:solidFill>
                <a:latin typeface="Courier New" panose="02070309020205020404" pitchFamily="49" charset="0"/>
                <a:cs typeface="Courier New" panose="02070309020205020404" pitchFamily="49" charset="0"/>
              </a:rPr>
              <a:t>    2001:DB8:ACAD:10::1</a:t>
            </a:r>
          </a:p>
          <a:p>
            <a:r>
              <a:rPr lang="en-US" sz="1200" dirty="0">
                <a:solidFill>
                  <a:schemeClr val="bg1"/>
                </a:solidFill>
                <a:latin typeface="Courier New" panose="02070309020205020404" pitchFamily="49" charset="0"/>
                <a:cs typeface="Courier New" panose="02070309020205020404" pitchFamily="49" charset="0"/>
              </a:rPr>
              <a:t>GigabitEthernet0/0/1       [up/up]</a:t>
            </a:r>
          </a:p>
          <a:p>
            <a:r>
              <a:rPr lang="en-US" sz="1200" dirty="0">
                <a:solidFill>
                  <a:schemeClr val="bg1"/>
                </a:solidFill>
                <a:latin typeface="Courier New" panose="02070309020205020404" pitchFamily="49" charset="0"/>
                <a:cs typeface="Courier New" panose="02070309020205020404" pitchFamily="49" charset="0"/>
              </a:rPr>
              <a:t>    FE80::201:C9FF:FE89:4502</a:t>
            </a:r>
          </a:p>
          <a:p>
            <a:r>
              <a:rPr lang="en-US" sz="1200" dirty="0">
                <a:solidFill>
                  <a:schemeClr val="bg1"/>
                </a:solidFill>
                <a:latin typeface="Courier New" panose="02070309020205020404" pitchFamily="49" charset="0"/>
                <a:cs typeface="Courier New" panose="02070309020205020404" pitchFamily="49" charset="0"/>
              </a:rPr>
              <a:t>    2001:DB8:FEED:224::1</a:t>
            </a:r>
          </a:p>
          <a:p>
            <a:r>
              <a:rPr lang="en-US" sz="1200" dirty="0">
                <a:solidFill>
                  <a:schemeClr val="bg1"/>
                </a:solidFill>
                <a:latin typeface="Courier New" panose="02070309020205020404" pitchFamily="49" charset="0"/>
                <a:cs typeface="Courier New" panose="02070309020205020404" pitchFamily="49" charset="0"/>
              </a:rPr>
              <a:t>Vlan1                      [administratively down/down]</a:t>
            </a:r>
          </a:p>
          <a:p>
            <a:r>
              <a:rPr lang="en-US" sz="1200" dirty="0">
                <a:solidFill>
                  <a:schemeClr val="bg1"/>
                </a:solidFill>
                <a:latin typeface="Courier New" panose="02070309020205020404" pitchFamily="49" charset="0"/>
                <a:cs typeface="Courier New" panose="02070309020205020404" pitchFamily="49" charset="0"/>
              </a:rPr>
              <a:t>    unassigned </a:t>
            </a:r>
          </a:p>
          <a:p>
            <a:r>
              <a:rPr lang="en-US" sz="1200" dirty="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302534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Verification Commands</a:t>
            </a:r>
          </a:p>
        </p:txBody>
      </p:sp>
      <p:sp>
        <p:nvSpPr>
          <p:cNvPr id="5" name="TextBox 4">
            <a:extLst>
              <a:ext uri="{FF2B5EF4-FFF2-40B4-BE49-F238E27FC236}">
                <a16:creationId xmlns:a16="http://schemas.microsoft.com/office/drawing/2014/main" id="{4857A863-7491-0041-AF26-F779D70A7E36}"/>
              </a:ext>
            </a:extLst>
          </p:cNvPr>
          <p:cNvSpPr txBox="1"/>
          <p:nvPr/>
        </p:nvSpPr>
        <p:spPr>
          <a:xfrm>
            <a:off x="632884" y="1187939"/>
            <a:ext cx="10793209" cy="461665"/>
          </a:xfrm>
          <a:prstGeom prst="rect">
            <a:avLst/>
          </a:prstGeom>
          <a:noFill/>
        </p:spPr>
        <p:txBody>
          <a:bodyPr wrap="square" rtlCol="0">
            <a:spAutoFit/>
          </a:bodyPr>
          <a:lstStyle/>
          <a:p>
            <a:r>
              <a:rPr lang="en-US" sz="2400" dirty="0">
                <a:solidFill>
                  <a:srgbClr val="000000"/>
                </a:solidFill>
              </a:rPr>
              <a:t>The table summarizes show commands used to verify interface configuration</a:t>
            </a:r>
            <a:r>
              <a:rPr lang="en-US" sz="2133" dirty="0">
                <a:solidFill>
                  <a:srgbClr val="000000"/>
                </a:solidFill>
              </a:rPr>
              <a:t>.</a:t>
            </a:r>
          </a:p>
        </p:txBody>
      </p:sp>
      <p:graphicFrame>
        <p:nvGraphicFramePr>
          <p:cNvPr id="7" name="Content Placeholder 6">
            <a:extLst>
              <a:ext uri="{FF2B5EF4-FFF2-40B4-BE49-F238E27FC236}">
                <a16:creationId xmlns:a16="http://schemas.microsoft.com/office/drawing/2014/main" id="{73BB6E86-62EB-2348-9F73-08093BACDAF3}"/>
              </a:ext>
            </a:extLst>
          </p:cNvPr>
          <p:cNvGraphicFramePr>
            <a:graphicFrameLocks noGrp="1"/>
          </p:cNvGraphicFramePr>
          <p:nvPr>
            <p:ph idx="1"/>
          </p:nvPr>
        </p:nvGraphicFramePr>
        <p:xfrm>
          <a:off x="901148" y="1892536"/>
          <a:ext cx="10524944" cy="3925320"/>
        </p:xfrm>
        <a:graphic>
          <a:graphicData uri="http://schemas.openxmlformats.org/drawingml/2006/table">
            <a:tbl>
              <a:tblPr firstRow="1" bandRow="1">
                <a:tableStyleId>{5C22544A-7EE6-4342-B048-85BDC9FD1C3A}</a:tableStyleId>
              </a:tblPr>
              <a:tblGrid>
                <a:gridCol w="4074953">
                  <a:extLst>
                    <a:ext uri="{9D8B030D-6E8A-4147-A177-3AD203B41FA5}">
                      <a16:colId xmlns:a16="http://schemas.microsoft.com/office/drawing/2014/main" val="3729139006"/>
                    </a:ext>
                  </a:extLst>
                </a:gridCol>
                <a:gridCol w="6449991">
                  <a:extLst>
                    <a:ext uri="{9D8B030D-6E8A-4147-A177-3AD203B41FA5}">
                      <a16:colId xmlns:a16="http://schemas.microsoft.com/office/drawing/2014/main" val="1988913492"/>
                    </a:ext>
                  </a:extLst>
                </a:gridCol>
              </a:tblGrid>
              <a:tr h="607400">
                <a:tc>
                  <a:txBody>
                    <a:bodyPr/>
                    <a:lstStyle/>
                    <a:p>
                      <a:r>
                        <a:rPr lang="en-US" sz="1900" dirty="0"/>
                        <a:t>Commands</a:t>
                      </a:r>
                    </a:p>
                  </a:txBody>
                  <a:tcPr marL="121920" marR="121920" marT="60960" marB="60960"/>
                </a:tc>
                <a:tc>
                  <a:txBody>
                    <a:bodyPr/>
                    <a:lstStyle/>
                    <a:p>
                      <a:r>
                        <a:rPr lang="en-US" sz="1900" dirty="0"/>
                        <a:t>Description</a:t>
                      </a:r>
                    </a:p>
                  </a:txBody>
                  <a:tcPr marL="121920" marR="121920" marT="60960" marB="60960"/>
                </a:tc>
                <a:extLst>
                  <a:ext uri="{0D108BD9-81ED-4DB2-BD59-A6C34878D82A}">
                    <a16:rowId xmlns:a16="http://schemas.microsoft.com/office/drawing/2014/main" val="2583676789"/>
                  </a:ext>
                </a:extLst>
              </a:tr>
              <a:tr h="690880">
                <a:tc>
                  <a:txBody>
                    <a:bodyPr/>
                    <a:lstStyle/>
                    <a:p>
                      <a:r>
                        <a:rPr lang="en-US" sz="1900" b="1" dirty="0">
                          <a:latin typeface="Courier New" panose="02070309020205020404" pitchFamily="49" charset="0"/>
                          <a:cs typeface="Courier New" panose="02070309020205020404" pitchFamily="49" charset="0"/>
                        </a:rPr>
                        <a:t>show ip interface brief</a:t>
                      </a:r>
                    </a:p>
                    <a:p>
                      <a:r>
                        <a:rPr lang="en-US" sz="1900" b="1" dirty="0">
                          <a:latin typeface="Courier New" panose="02070309020205020404" pitchFamily="49" charset="0"/>
                          <a:cs typeface="Courier New" panose="02070309020205020404" pitchFamily="49" charset="0"/>
                        </a:rPr>
                        <a:t>show ipv6 interface brief</a:t>
                      </a:r>
                    </a:p>
                  </a:txBody>
                  <a:tcPr marL="121920" marR="121920" marT="60960" marB="60960"/>
                </a:tc>
                <a:tc>
                  <a:txBody>
                    <a:bodyPr/>
                    <a:lstStyle/>
                    <a:p>
                      <a:r>
                        <a:rPr lang="en-US" sz="1900" dirty="0"/>
                        <a:t>Displays all interfaces, their IP addresses, and their current status. </a:t>
                      </a:r>
                    </a:p>
                  </a:txBody>
                  <a:tcPr marL="121920" marR="121920" marT="60960" marB="60960"/>
                </a:tc>
                <a:extLst>
                  <a:ext uri="{0D108BD9-81ED-4DB2-BD59-A6C34878D82A}">
                    <a16:rowId xmlns:a16="http://schemas.microsoft.com/office/drawing/2014/main" val="3849654457"/>
                  </a:ext>
                </a:extLst>
              </a:tr>
              <a:tr h="690880">
                <a:tc>
                  <a:txBody>
                    <a:bodyPr/>
                    <a:lstStyle/>
                    <a:p>
                      <a:r>
                        <a:rPr lang="en-US" sz="1900" b="1" dirty="0">
                          <a:latin typeface="Courier New" panose="02070309020205020404" pitchFamily="49" charset="0"/>
                          <a:cs typeface="Courier New" panose="02070309020205020404" pitchFamily="49" charset="0"/>
                        </a:rPr>
                        <a:t>show ip route</a:t>
                      </a:r>
                    </a:p>
                    <a:p>
                      <a:r>
                        <a:rPr lang="en-US" sz="1900" b="1" dirty="0">
                          <a:latin typeface="Courier New" panose="02070309020205020404" pitchFamily="49" charset="0"/>
                          <a:cs typeface="Courier New" panose="02070309020205020404" pitchFamily="49" charset="0"/>
                        </a:rPr>
                        <a:t>show ipv6 route</a:t>
                      </a:r>
                    </a:p>
                  </a:txBody>
                  <a:tcPr marL="121920" marR="121920" marT="60960" marB="60960"/>
                </a:tc>
                <a:tc>
                  <a:txBody>
                    <a:bodyPr/>
                    <a:lstStyle/>
                    <a:p>
                      <a:r>
                        <a:rPr lang="en-US" sz="1900" dirty="0"/>
                        <a:t>Displays the contents of the IP routing tables stored in RAM.</a:t>
                      </a:r>
                    </a:p>
                  </a:txBody>
                  <a:tcPr marL="121920" marR="121920" marT="60960" marB="60960"/>
                </a:tc>
                <a:extLst>
                  <a:ext uri="{0D108BD9-81ED-4DB2-BD59-A6C34878D82A}">
                    <a16:rowId xmlns:a16="http://schemas.microsoft.com/office/drawing/2014/main" val="235735172"/>
                  </a:ext>
                </a:extLst>
              </a:tr>
              <a:tr h="690880">
                <a:tc>
                  <a:txBody>
                    <a:bodyPr/>
                    <a:lstStyle/>
                    <a:p>
                      <a:r>
                        <a:rPr lang="en-US" sz="1900" b="1" dirty="0">
                          <a:latin typeface="Courier New" panose="02070309020205020404" pitchFamily="49" charset="0"/>
                          <a:cs typeface="Courier New" panose="02070309020205020404" pitchFamily="49" charset="0"/>
                        </a:rPr>
                        <a:t>show interfaces</a:t>
                      </a:r>
                    </a:p>
                  </a:txBody>
                  <a:tcPr marL="121920" marR="121920" marT="60960" marB="60960"/>
                </a:tc>
                <a:tc>
                  <a:txBody>
                    <a:bodyPr/>
                    <a:lstStyle/>
                    <a:p>
                      <a:r>
                        <a:rPr lang="en-US" sz="1900" dirty="0"/>
                        <a:t>Displays statistics for all interfaces on the device. Only displays the IPv4 addressing information.</a:t>
                      </a:r>
                    </a:p>
                  </a:txBody>
                  <a:tcPr marL="121920" marR="121920" marT="60960" marB="60960"/>
                </a:tc>
                <a:extLst>
                  <a:ext uri="{0D108BD9-81ED-4DB2-BD59-A6C34878D82A}">
                    <a16:rowId xmlns:a16="http://schemas.microsoft.com/office/drawing/2014/main" val="354468046"/>
                  </a:ext>
                </a:extLst>
              </a:tr>
              <a:tr h="607400">
                <a:tc>
                  <a:txBody>
                    <a:bodyPr/>
                    <a:lstStyle/>
                    <a:p>
                      <a:r>
                        <a:rPr lang="en-US" sz="1900" b="1" dirty="0">
                          <a:latin typeface="Courier New" panose="02070309020205020404" pitchFamily="49" charset="0"/>
                          <a:cs typeface="Courier New" panose="02070309020205020404" pitchFamily="49" charset="0"/>
                        </a:rPr>
                        <a:t>show ip interfaces</a:t>
                      </a:r>
                    </a:p>
                  </a:txBody>
                  <a:tcPr marL="121920" marR="121920" marT="60960" marB="60960"/>
                </a:tc>
                <a:tc>
                  <a:txBody>
                    <a:bodyPr/>
                    <a:lstStyle/>
                    <a:p>
                      <a:r>
                        <a:rPr lang="en-US" sz="1900" dirty="0"/>
                        <a:t>Displays the IPv4 statistics for all interfaces on a router.</a:t>
                      </a:r>
                    </a:p>
                  </a:txBody>
                  <a:tcPr marL="121920" marR="121920" marT="60960" marB="60960"/>
                </a:tc>
                <a:extLst>
                  <a:ext uri="{0D108BD9-81ED-4DB2-BD59-A6C34878D82A}">
                    <a16:rowId xmlns:a16="http://schemas.microsoft.com/office/drawing/2014/main" val="1458107787"/>
                  </a:ext>
                </a:extLst>
              </a:tr>
              <a:tr h="607400">
                <a:tc>
                  <a:txBody>
                    <a:bodyPr/>
                    <a:lstStyle/>
                    <a:p>
                      <a:r>
                        <a:rPr lang="en-US" sz="1900" b="1" dirty="0">
                          <a:latin typeface="Courier New" panose="02070309020205020404" pitchFamily="49" charset="0"/>
                          <a:cs typeface="Courier New" panose="02070309020205020404" pitchFamily="49" charset="0"/>
                        </a:rPr>
                        <a:t>show ipv6 interfaces</a:t>
                      </a:r>
                    </a:p>
                  </a:txBody>
                  <a:tcPr marL="121920" marR="121920" marT="60960" marB="60960"/>
                </a:tc>
                <a:tc>
                  <a:txBody>
                    <a:bodyPr/>
                    <a:lstStyle/>
                    <a:p>
                      <a:r>
                        <a:rPr lang="en-US" sz="1900" dirty="0"/>
                        <a:t>Displays the IPv6 statistics for all interfaces on a router.</a:t>
                      </a:r>
                    </a:p>
                  </a:txBody>
                  <a:tcPr marL="121920" marR="121920" marT="60960" marB="60960"/>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3737522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Verification Commands (Cont.)</a:t>
            </a:r>
          </a:p>
        </p:txBody>
      </p:sp>
      <p:sp>
        <p:nvSpPr>
          <p:cNvPr id="5" name="TextBox 4">
            <a:extLst>
              <a:ext uri="{FF2B5EF4-FFF2-40B4-BE49-F238E27FC236}">
                <a16:creationId xmlns:a16="http://schemas.microsoft.com/office/drawing/2014/main" id="{4857A863-7491-0041-AF26-F779D70A7E36}"/>
              </a:ext>
            </a:extLst>
          </p:cNvPr>
          <p:cNvSpPr txBox="1"/>
          <p:nvPr/>
        </p:nvSpPr>
        <p:spPr>
          <a:xfrm>
            <a:off x="632884" y="1187940"/>
            <a:ext cx="10793209" cy="748795"/>
          </a:xfrm>
          <a:prstGeom prst="rect">
            <a:avLst/>
          </a:prstGeom>
          <a:noFill/>
        </p:spPr>
        <p:txBody>
          <a:bodyPr wrap="square" rtlCol="0">
            <a:spAutoFit/>
          </a:bodyPr>
          <a:lstStyle/>
          <a:p>
            <a:r>
              <a:rPr lang="en-US" sz="2133" dirty="0">
                <a:solidFill>
                  <a:srgbClr val="000000"/>
                </a:solidFill>
              </a:rPr>
              <a:t>View status of all interfaces with the </a:t>
            </a:r>
            <a:r>
              <a:rPr lang="en-US" sz="2133" b="1" dirty="0">
                <a:solidFill>
                  <a:srgbClr val="000000"/>
                </a:solidFill>
              </a:rPr>
              <a:t>show ip interface brief </a:t>
            </a:r>
            <a:r>
              <a:rPr lang="en-US" sz="2133" dirty="0">
                <a:solidFill>
                  <a:srgbClr val="000000"/>
                </a:solidFill>
              </a:rPr>
              <a:t>and </a:t>
            </a:r>
            <a:r>
              <a:rPr lang="en-US" sz="2133" b="1" dirty="0">
                <a:solidFill>
                  <a:srgbClr val="000000"/>
                </a:solidFill>
              </a:rPr>
              <a:t>show ipv6 interface brief </a:t>
            </a:r>
            <a:r>
              <a:rPr lang="en-US" sz="2133" dirty="0">
                <a:solidFill>
                  <a:srgbClr val="000000"/>
                </a:solidFill>
              </a:rPr>
              <a:t>commands, shown here:</a:t>
            </a:r>
          </a:p>
        </p:txBody>
      </p:sp>
      <p:sp>
        <p:nvSpPr>
          <p:cNvPr id="8" name="TextBox 7">
            <a:extLst>
              <a:ext uri="{FF2B5EF4-FFF2-40B4-BE49-F238E27FC236}">
                <a16:creationId xmlns:a16="http://schemas.microsoft.com/office/drawing/2014/main" id="{A707EA06-7465-4C52-AE81-CBACEDBD6441}"/>
              </a:ext>
            </a:extLst>
          </p:cNvPr>
          <p:cNvSpPr txBox="1"/>
          <p:nvPr/>
        </p:nvSpPr>
        <p:spPr>
          <a:xfrm>
            <a:off x="2295188" y="2380695"/>
            <a:ext cx="7601624" cy="1200329"/>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ip interface brief</a:t>
            </a:r>
          </a:p>
          <a:p>
            <a:r>
              <a:rPr lang="en-US" sz="1200" dirty="0">
                <a:solidFill>
                  <a:schemeClr val="bg1"/>
                </a:solidFill>
                <a:latin typeface="Courier New" panose="02070309020205020404" pitchFamily="49" charset="0"/>
                <a:cs typeface="Courier New" panose="02070309020205020404" pitchFamily="49" charset="0"/>
              </a:rPr>
              <a:t>Interface              IP-Address      OK? Method Status                Protocol </a:t>
            </a:r>
          </a:p>
          <a:p>
            <a:r>
              <a:rPr lang="en-US" sz="1200" dirty="0">
                <a:solidFill>
                  <a:schemeClr val="bg1"/>
                </a:solidFill>
                <a:latin typeface="Courier New" panose="02070309020205020404" pitchFamily="49" charset="0"/>
                <a:cs typeface="Courier New" panose="02070309020205020404" pitchFamily="49" charset="0"/>
              </a:rPr>
              <a:t>GigabitEthernet0/0/0   192.168.10.1    YES manual up                    up </a:t>
            </a:r>
          </a:p>
          <a:p>
            <a:r>
              <a:rPr lang="en-US" sz="1200" dirty="0">
                <a:solidFill>
                  <a:schemeClr val="bg1"/>
                </a:solidFill>
                <a:latin typeface="Courier New" panose="02070309020205020404" pitchFamily="49" charset="0"/>
                <a:cs typeface="Courier New" panose="02070309020205020404" pitchFamily="49" charset="0"/>
              </a:rPr>
              <a:t>GigabitEthernet0/0/1   209.165.200.225 YES manual up                    up </a:t>
            </a:r>
          </a:p>
          <a:p>
            <a:r>
              <a:rPr lang="en-US" sz="1200" dirty="0">
                <a:solidFill>
                  <a:schemeClr val="bg1"/>
                </a:solidFill>
                <a:latin typeface="Courier New" panose="02070309020205020404" pitchFamily="49" charset="0"/>
                <a:cs typeface="Courier New" panose="02070309020205020404" pitchFamily="49" charset="0"/>
              </a:rPr>
              <a:t>Vlan1                  unassigned      YES unset  administratively down down </a:t>
            </a:r>
          </a:p>
          <a:p>
            <a:r>
              <a:rPr lang="en-US" sz="1200" dirty="0">
                <a:solidFill>
                  <a:schemeClr val="bg1"/>
                </a:solidFill>
                <a:latin typeface="Courier New" panose="02070309020205020404" pitchFamily="49" charset="0"/>
                <a:cs typeface="Courier New" panose="02070309020205020404" pitchFamily="49" charset="0"/>
              </a:rPr>
              <a:t>R1#</a:t>
            </a:r>
          </a:p>
        </p:txBody>
      </p:sp>
      <p:sp>
        <p:nvSpPr>
          <p:cNvPr id="9" name="TextBox 8">
            <a:extLst>
              <a:ext uri="{FF2B5EF4-FFF2-40B4-BE49-F238E27FC236}">
                <a16:creationId xmlns:a16="http://schemas.microsoft.com/office/drawing/2014/main" id="{3D345167-82FC-49E7-B10D-34FE13887791}"/>
              </a:ext>
            </a:extLst>
          </p:cNvPr>
          <p:cNvSpPr txBox="1"/>
          <p:nvPr/>
        </p:nvSpPr>
        <p:spPr>
          <a:xfrm>
            <a:off x="2295188" y="3905477"/>
            <a:ext cx="7601624" cy="1938992"/>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ipv6 interface brief</a:t>
            </a:r>
          </a:p>
          <a:p>
            <a:r>
              <a:rPr lang="en-US" sz="1200" dirty="0">
                <a:solidFill>
                  <a:schemeClr val="bg1"/>
                </a:solidFill>
                <a:latin typeface="Courier New" panose="02070309020205020404" pitchFamily="49" charset="0"/>
                <a:cs typeface="Courier New" panose="02070309020205020404" pitchFamily="49" charset="0"/>
              </a:rPr>
              <a:t>GigabitEthernet0/0/0       [up/up]</a:t>
            </a:r>
          </a:p>
          <a:p>
            <a:r>
              <a:rPr lang="en-US" sz="1200" dirty="0">
                <a:solidFill>
                  <a:schemeClr val="bg1"/>
                </a:solidFill>
                <a:latin typeface="Courier New" panose="02070309020205020404" pitchFamily="49" charset="0"/>
                <a:cs typeface="Courier New" panose="02070309020205020404" pitchFamily="49" charset="0"/>
              </a:rPr>
              <a:t>    FE80::201:C9FF:FE89:4501</a:t>
            </a:r>
          </a:p>
          <a:p>
            <a:r>
              <a:rPr lang="en-US" sz="1200" dirty="0">
                <a:solidFill>
                  <a:schemeClr val="bg1"/>
                </a:solidFill>
                <a:latin typeface="Courier New" panose="02070309020205020404" pitchFamily="49" charset="0"/>
                <a:cs typeface="Courier New" panose="02070309020205020404" pitchFamily="49" charset="0"/>
              </a:rPr>
              <a:t>    2001:DB8:ACAD:10::1</a:t>
            </a:r>
          </a:p>
          <a:p>
            <a:r>
              <a:rPr lang="en-US" sz="1200" dirty="0">
                <a:solidFill>
                  <a:schemeClr val="bg1"/>
                </a:solidFill>
                <a:latin typeface="Courier New" panose="02070309020205020404" pitchFamily="49" charset="0"/>
                <a:cs typeface="Courier New" panose="02070309020205020404" pitchFamily="49" charset="0"/>
              </a:rPr>
              <a:t>GigabitEthernet0/0/1       [up/up]</a:t>
            </a:r>
          </a:p>
          <a:p>
            <a:r>
              <a:rPr lang="en-US" sz="1200" dirty="0">
                <a:solidFill>
                  <a:schemeClr val="bg1"/>
                </a:solidFill>
                <a:latin typeface="Courier New" panose="02070309020205020404" pitchFamily="49" charset="0"/>
                <a:cs typeface="Courier New" panose="02070309020205020404" pitchFamily="49" charset="0"/>
              </a:rPr>
              <a:t>    FE80::201:C9FF:FE89:4502</a:t>
            </a:r>
          </a:p>
          <a:p>
            <a:r>
              <a:rPr lang="en-US" sz="1200" dirty="0">
                <a:solidFill>
                  <a:schemeClr val="bg1"/>
                </a:solidFill>
                <a:latin typeface="Courier New" panose="02070309020205020404" pitchFamily="49" charset="0"/>
                <a:cs typeface="Courier New" panose="02070309020205020404" pitchFamily="49" charset="0"/>
              </a:rPr>
              <a:t>    2001:DB8:FEED:224::1</a:t>
            </a:r>
          </a:p>
          <a:p>
            <a:r>
              <a:rPr lang="en-US" sz="1200" dirty="0">
                <a:solidFill>
                  <a:schemeClr val="bg1"/>
                </a:solidFill>
                <a:latin typeface="Courier New" panose="02070309020205020404" pitchFamily="49" charset="0"/>
                <a:cs typeface="Courier New" panose="02070309020205020404" pitchFamily="49" charset="0"/>
              </a:rPr>
              <a:t>Vlan1                      [administratively down/down]</a:t>
            </a:r>
          </a:p>
          <a:p>
            <a:r>
              <a:rPr lang="en-US" sz="1200" dirty="0">
                <a:solidFill>
                  <a:schemeClr val="bg1"/>
                </a:solidFill>
                <a:latin typeface="Courier New" panose="02070309020205020404" pitchFamily="49" charset="0"/>
                <a:cs typeface="Courier New" panose="02070309020205020404" pitchFamily="49" charset="0"/>
              </a:rPr>
              <a:t>    unassigned </a:t>
            </a:r>
          </a:p>
          <a:p>
            <a:r>
              <a:rPr lang="en-US" sz="1200" dirty="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3048821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Verification Commands (Cont.)</a:t>
            </a:r>
          </a:p>
        </p:txBody>
      </p:sp>
      <p:sp>
        <p:nvSpPr>
          <p:cNvPr id="5" name="TextBox 4">
            <a:extLst>
              <a:ext uri="{FF2B5EF4-FFF2-40B4-BE49-F238E27FC236}">
                <a16:creationId xmlns:a16="http://schemas.microsoft.com/office/drawing/2014/main" id="{4857A863-7491-0041-AF26-F779D70A7E36}"/>
              </a:ext>
            </a:extLst>
          </p:cNvPr>
          <p:cNvSpPr txBox="1"/>
          <p:nvPr/>
        </p:nvSpPr>
        <p:spPr>
          <a:xfrm>
            <a:off x="632884" y="1187940"/>
            <a:ext cx="10793209" cy="748795"/>
          </a:xfrm>
          <a:prstGeom prst="rect">
            <a:avLst/>
          </a:prstGeom>
          <a:noFill/>
        </p:spPr>
        <p:txBody>
          <a:bodyPr wrap="square" rtlCol="0">
            <a:spAutoFit/>
          </a:bodyPr>
          <a:lstStyle/>
          <a:p>
            <a:r>
              <a:rPr lang="en-US" sz="2133" dirty="0">
                <a:solidFill>
                  <a:srgbClr val="000000"/>
                </a:solidFill>
              </a:rPr>
              <a:t>Display the contents of the IP routing tables with the </a:t>
            </a:r>
            <a:r>
              <a:rPr lang="en-US" sz="2133" b="1" dirty="0">
                <a:solidFill>
                  <a:srgbClr val="000000"/>
                </a:solidFill>
              </a:rPr>
              <a:t>show ip route </a:t>
            </a:r>
            <a:r>
              <a:rPr lang="en-US" sz="2133" dirty="0">
                <a:solidFill>
                  <a:srgbClr val="000000"/>
                </a:solidFill>
              </a:rPr>
              <a:t>and </a:t>
            </a:r>
            <a:r>
              <a:rPr lang="en-US" sz="2133" b="1" dirty="0">
                <a:solidFill>
                  <a:srgbClr val="000000"/>
                </a:solidFill>
              </a:rPr>
              <a:t>show ipv6 route </a:t>
            </a:r>
            <a:r>
              <a:rPr lang="en-US" sz="2133" dirty="0">
                <a:solidFill>
                  <a:srgbClr val="000000"/>
                </a:solidFill>
              </a:rPr>
              <a:t>commands as shown here:</a:t>
            </a:r>
          </a:p>
        </p:txBody>
      </p:sp>
      <p:sp>
        <p:nvSpPr>
          <p:cNvPr id="8" name="TextBox 7">
            <a:extLst>
              <a:ext uri="{FF2B5EF4-FFF2-40B4-BE49-F238E27FC236}">
                <a16:creationId xmlns:a16="http://schemas.microsoft.com/office/drawing/2014/main" id="{A707EA06-7465-4C52-AE81-CBACEDBD6441}"/>
              </a:ext>
            </a:extLst>
          </p:cNvPr>
          <p:cNvSpPr txBox="1"/>
          <p:nvPr/>
        </p:nvSpPr>
        <p:spPr>
          <a:xfrm>
            <a:off x="2268311" y="1967639"/>
            <a:ext cx="7601624" cy="1938992"/>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ip route</a:t>
            </a:r>
          </a:p>
          <a:p>
            <a:r>
              <a:rPr lang="en-US" sz="1200" dirty="0">
                <a:solidFill>
                  <a:schemeClr val="bg1"/>
                </a:solidFill>
                <a:latin typeface="Courier New" panose="02070309020205020404" pitchFamily="49" charset="0"/>
                <a:cs typeface="Courier New" panose="02070309020205020404" pitchFamily="49" charset="0"/>
              </a:rPr>
              <a:t>&lt; output omitted&gt;</a:t>
            </a:r>
          </a:p>
          <a:p>
            <a:r>
              <a:rPr lang="en-US" sz="1200" dirty="0">
                <a:solidFill>
                  <a:schemeClr val="bg1"/>
                </a:solidFill>
                <a:latin typeface="Courier New" panose="02070309020205020404" pitchFamily="49" charset="0"/>
                <a:cs typeface="Courier New" panose="02070309020205020404" pitchFamily="49" charset="0"/>
              </a:rPr>
              <a:t>Gateway of last resort is not set</a:t>
            </a:r>
          </a:p>
          <a:p>
            <a:r>
              <a:rPr lang="en-US" sz="1200" dirty="0">
                <a:solidFill>
                  <a:schemeClr val="bg1"/>
                </a:solidFill>
                <a:latin typeface="Courier New" panose="02070309020205020404" pitchFamily="49" charset="0"/>
                <a:cs typeface="Courier New" panose="02070309020205020404" pitchFamily="49" charset="0"/>
              </a:rPr>
              <a:t>      192.168.10.0/24 is variably subnetted, 2 subnets, 2 masks</a:t>
            </a:r>
          </a:p>
          <a:p>
            <a:r>
              <a:rPr lang="en-US" sz="1200" dirty="0">
                <a:solidFill>
                  <a:schemeClr val="bg1"/>
                </a:solidFill>
                <a:latin typeface="Courier New" panose="02070309020205020404" pitchFamily="49" charset="0"/>
                <a:cs typeface="Courier New" panose="02070309020205020404" pitchFamily="49" charset="0"/>
              </a:rPr>
              <a:t>C        192.168.10.0/24 is directly connected, GigabitEthernet0/0/0</a:t>
            </a:r>
          </a:p>
          <a:p>
            <a:r>
              <a:rPr lang="en-US" sz="1200" dirty="0">
                <a:solidFill>
                  <a:schemeClr val="bg1"/>
                </a:solidFill>
                <a:latin typeface="Courier New" panose="02070309020205020404" pitchFamily="49" charset="0"/>
                <a:cs typeface="Courier New" panose="02070309020205020404" pitchFamily="49" charset="0"/>
              </a:rPr>
              <a:t>L        192.168.10.1/32 is directly connected, GigabitEthernet0/0/0</a:t>
            </a:r>
          </a:p>
          <a:p>
            <a:r>
              <a:rPr lang="en-US" sz="1200" dirty="0">
                <a:solidFill>
                  <a:schemeClr val="bg1"/>
                </a:solidFill>
                <a:latin typeface="Courier New" panose="02070309020205020404" pitchFamily="49" charset="0"/>
                <a:cs typeface="Courier New" panose="02070309020205020404" pitchFamily="49" charset="0"/>
              </a:rPr>
              <a:t>      209.165.200.0/24 is variably subnetted, 2 subnets, 2 masks</a:t>
            </a:r>
          </a:p>
          <a:p>
            <a:r>
              <a:rPr lang="en-US" sz="1200" dirty="0">
                <a:solidFill>
                  <a:schemeClr val="bg1"/>
                </a:solidFill>
                <a:latin typeface="Courier New" panose="02070309020205020404" pitchFamily="49" charset="0"/>
                <a:cs typeface="Courier New" panose="02070309020205020404" pitchFamily="49" charset="0"/>
              </a:rPr>
              <a:t>C        209.165.200.224/30 is directly connected, GigabitEthernet0/0/1</a:t>
            </a:r>
          </a:p>
          <a:p>
            <a:r>
              <a:rPr lang="en-US" sz="1200" dirty="0">
                <a:solidFill>
                  <a:schemeClr val="bg1"/>
                </a:solidFill>
                <a:latin typeface="Courier New" panose="02070309020205020404" pitchFamily="49" charset="0"/>
                <a:cs typeface="Courier New" panose="02070309020205020404" pitchFamily="49" charset="0"/>
              </a:rPr>
              <a:t>L        209.165.200.225/32 is directly connected, GigabitEthernet0/0/1</a:t>
            </a:r>
          </a:p>
          <a:p>
            <a:r>
              <a:rPr lang="en-US" sz="1200" dirty="0">
                <a:solidFill>
                  <a:schemeClr val="bg1"/>
                </a:solidFill>
                <a:latin typeface="Courier New" panose="02070309020205020404" pitchFamily="49" charset="0"/>
                <a:cs typeface="Courier New" panose="02070309020205020404" pitchFamily="49" charset="0"/>
              </a:rPr>
              <a:t>R1#</a:t>
            </a:r>
          </a:p>
        </p:txBody>
      </p:sp>
      <p:sp>
        <p:nvSpPr>
          <p:cNvPr id="9" name="TextBox 8">
            <a:extLst>
              <a:ext uri="{FF2B5EF4-FFF2-40B4-BE49-F238E27FC236}">
                <a16:creationId xmlns:a16="http://schemas.microsoft.com/office/drawing/2014/main" id="{3D345167-82FC-49E7-B10D-34FE13887791}"/>
              </a:ext>
            </a:extLst>
          </p:cNvPr>
          <p:cNvSpPr txBox="1"/>
          <p:nvPr/>
        </p:nvSpPr>
        <p:spPr>
          <a:xfrm>
            <a:off x="2295188" y="4047852"/>
            <a:ext cx="7601624" cy="2492990"/>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 show ipv6 route</a:t>
            </a:r>
          </a:p>
          <a:p>
            <a:r>
              <a:rPr lang="en-US" sz="1200" dirty="0">
                <a:solidFill>
                  <a:schemeClr val="bg1"/>
                </a:solidFill>
                <a:latin typeface="Courier New" panose="02070309020205020404" pitchFamily="49" charset="0"/>
                <a:cs typeface="Courier New" panose="02070309020205020404" pitchFamily="49" charset="0"/>
              </a:rPr>
              <a:t>&lt;output omitted&gt;</a:t>
            </a:r>
          </a:p>
          <a:p>
            <a:r>
              <a:rPr lang="en-US" sz="1200" dirty="0">
                <a:solidFill>
                  <a:schemeClr val="bg1"/>
                </a:solidFill>
                <a:latin typeface="Courier New" panose="02070309020205020404" pitchFamily="49" charset="0"/>
                <a:cs typeface="Courier New" panose="02070309020205020404" pitchFamily="49" charset="0"/>
              </a:rPr>
              <a:t>C   2001:DB8:ACAD:10::/64 [0/0]</a:t>
            </a:r>
          </a:p>
          <a:p>
            <a:r>
              <a:rPr lang="en-US" sz="1200" dirty="0">
                <a:solidFill>
                  <a:schemeClr val="bg1"/>
                </a:solidFill>
                <a:latin typeface="Courier New" panose="02070309020205020404" pitchFamily="49" charset="0"/>
                <a:cs typeface="Courier New" panose="02070309020205020404" pitchFamily="49" charset="0"/>
              </a:rPr>
              <a:t>     via GigabitEthernet0/0/0, directly connected</a:t>
            </a:r>
          </a:p>
          <a:p>
            <a:r>
              <a:rPr lang="en-US" sz="1200" dirty="0">
                <a:solidFill>
                  <a:schemeClr val="bg1"/>
                </a:solidFill>
                <a:latin typeface="Courier New" panose="02070309020205020404" pitchFamily="49" charset="0"/>
                <a:cs typeface="Courier New" panose="02070309020205020404" pitchFamily="49" charset="0"/>
              </a:rPr>
              <a:t>L   2001:DB8:ACAD:10::1/128 [0/0]</a:t>
            </a:r>
          </a:p>
          <a:p>
            <a:r>
              <a:rPr lang="en-US" sz="1200" dirty="0">
                <a:solidFill>
                  <a:schemeClr val="bg1"/>
                </a:solidFill>
                <a:latin typeface="Courier New" panose="02070309020205020404" pitchFamily="49" charset="0"/>
                <a:cs typeface="Courier New" panose="02070309020205020404" pitchFamily="49" charset="0"/>
              </a:rPr>
              <a:t>     via GigabitEthernet0/0/0, receive</a:t>
            </a:r>
          </a:p>
          <a:p>
            <a:r>
              <a:rPr lang="en-US" sz="1200" dirty="0">
                <a:solidFill>
                  <a:schemeClr val="bg1"/>
                </a:solidFill>
                <a:latin typeface="Courier New" panose="02070309020205020404" pitchFamily="49" charset="0"/>
                <a:cs typeface="Courier New" panose="02070309020205020404" pitchFamily="49" charset="0"/>
              </a:rPr>
              <a:t>C   2001:DB8:FEED:224::/64 [0/0]</a:t>
            </a:r>
          </a:p>
          <a:p>
            <a:r>
              <a:rPr lang="en-US" sz="1200" dirty="0">
                <a:solidFill>
                  <a:schemeClr val="bg1"/>
                </a:solidFill>
                <a:latin typeface="Courier New" panose="02070309020205020404" pitchFamily="49" charset="0"/>
                <a:cs typeface="Courier New" panose="02070309020205020404" pitchFamily="49" charset="0"/>
              </a:rPr>
              <a:t>     via GigabitEthernet0/0/1, directly connected</a:t>
            </a:r>
          </a:p>
          <a:p>
            <a:r>
              <a:rPr lang="en-US" sz="1200" dirty="0">
                <a:solidFill>
                  <a:schemeClr val="bg1"/>
                </a:solidFill>
                <a:latin typeface="Courier New" panose="02070309020205020404" pitchFamily="49" charset="0"/>
                <a:cs typeface="Courier New" panose="02070309020205020404" pitchFamily="49" charset="0"/>
              </a:rPr>
              <a:t>L   2001:DB8:FEED:224::1/128 [0/0]</a:t>
            </a:r>
          </a:p>
          <a:p>
            <a:r>
              <a:rPr lang="en-US" sz="1200" dirty="0">
                <a:solidFill>
                  <a:schemeClr val="bg1"/>
                </a:solidFill>
                <a:latin typeface="Courier New" panose="02070309020205020404" pitchFamily="49" charset="0"/>
                <a:cs typeface="Courier New" panose="02070309020205020404" pitchFamily="49" charset="0"/>
              </a:rPr>
              <a:t>     via GigabitEthernet0/0/1, receive</a:t>
            </a:r>
          </a:p>
          <a:p>
            <a:r>
              <a:rPr lang="en-US" sz="1200" dirty="0">
                <a:solidFill>
                  <a:schemeClr val="bg1"/>
                </a:solidFill>
                <a:latin typeface="Courier New" panose="02070309020205020404" pitchFamily="49" charset="0"/>
                <a:cs typeface="Courier New" panose="02070309020205020404" pitchFamily="49" charset="0"/>
              </a:rPr>
              <a:t>L   FF00::/8 [0/0]</a:t>
            </a:r>
          </a:p>
          <a:p>
            <a:r>
              <a:rPr lang="en-US" sz="1200" dirty="0">
                <a:solidFill>
                  <a:schemeClr val="bg1"/>
                </a:solidFill>
                <a:latin typeface="Courier New" panose="02070309020205020404" pitchFamily="49" charset="0"/>
                <a:cs typeface="Courier New" panose="02070309020205020404" pitchFamily="49" charset="0"/>
              </a:rPr>
              <a:t>     via Null0, receive</a:t>
            </a:r>
          </a:p>
          <a:p>
            <a:r>
              <a:rPr lang="en-US" sz="1200" dirty="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246884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Verification Commands (Cont.)</a:t>
            </a:r>
          </a:p>
        </p:txBody>
      </p:sp>
      <p:sp>
        <p:nvSpPr>
          <p:cNvPr id="5" name="TextBox 4">
            <a:extLst>
              <a:ext uri="{FF2B5EF4-FFF2-40B4-BE49-F238E27FC236}">
                <a16:creationId xmlns:a16="http://schemas.microsoft.com/office/drawing/2014/main" id="{4857A863-7491-0041-AF26-F779D70A7E36}"/>
              </a:ext>
            </a:extLst>
          </p:cNvPr>
          <p:cNvSpPr txBox="1"/>
          <p:nvPr/>
        </p:nvSpPr>
        <p:spPr>
          <a:xfrm>
            <a:off x="632883" y="1187939"/>
            <a:ext cx="3518203" cy="1405256"/>
          </a:xfrm>
          <a:prstGeom prst="rect">
            <a:avLst/>
          </a:prstGeom>
          <a:noFill/>
        </p:spPr>
        <p:txBody>
          <a:bodyPr wrap="square" rtlCol="0">
            <a:spAutoFit/>
          </a:bodyPr>
          <a:lstStyle/>
          <a:p>
            <a:r>
              <a:rPr lang="en-US" sz="2133" dirty="0">
                <a:solidFill>
                  <a:srgbClr val="000000"/>
                </a:solidFill>
              </a:rPr>
              <a:t>Display statistics for all interfaces with the </a:t>
            </a:r>
            <a:r>
              <a:rPr lang="en-US" sz="2133" b="1" dirty="0">
                <a:solidFill>
                  <a:srgbClr val="000000"/>
                </a:solidFill>
              </a:rPr>
              <a:t>show interfaces </a:t>
            </a:r>
            <a:r>
              <a:rPr lang="en-US" sz="2133" dirty="0">
                <a:solidFill>
                  <a:srgbClr val="000000"/>
                </a:solidFill>
              </a:rPr>
              <a:t>command, as shown here:</a:t>
            </a:r>
          </a:p>
        </p:txBody>
      </p:sp>
      <p:sp>
        <p:nvSpPr>
          <p:cNvPr id="8" name="TextBox 7">
            <a:extLst>
              <a:ext uri="{FF2B5EF4-FFF2-40B4-BE49-F238E27FC236}">
                <a16:creationId xmlns:a16="http://schemas.microsoft.com/office/drawing/2014/main" id="{A707EA06-7465-4C52-AE81-CBACEDBD6441}"/>
              </a:ext>
            </a:extLst>
          </p:cNvPr>
          <p:cNvSpPr txBox="1"/>
          <p:nvPr/>
        </p:nvSpPr>
        <p:spPr>
          <a:xfrm>
            <a:off x="4427957" y="1187939"/>
            <a:ext cx="7225920" cy="4893647"/>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interfaces gig0/0/0</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200" dirty="0">
                <a:solidFill>
                  <a:schemeClr val="bg1"/>
                </a:solidFill>
                <a:latin typeface="Courier New" panose="02070309020205020404" pitchFamily="49" charset="0"/>
                <a:cs typeface="Courier New" panose="02070309020205020404" pitchFamily="49" charset="0"/>
              </a:rPr>
              <a:t>  Hardware is ISR4321-2x1GE, address is a0e0.af0d.e140 (bia  a0e0.af0d.e140)</a:t>
            </a:r>
          </a:p>
          <a:p>
            <a:r>
              <a:rPr lang="en-US" sz="1200" dirty="0">
                <a:solidFill>
                  <a:schemeClr val="bg1"/>
                </a:solidFill>
                <a:latin typeface="Courier New" panose="02070309020205020404" pitchFamily="49" charset="0"/>
                <a:cs typeface="Courier New" panose="02070309020205020404" pitchFamily="49" charset="0"/>
              </a:rPr>
              <a:t>  Description: Link to LAN</a:t>
            </a:r>
          </a:p>
          <a:p>
            <a:r>
              <a:rPr lang="en-US" sz="1200" dirty="0">
                <a:solidFill>
                  <a:schemeClr val="bg1"/>
                </a:solidFill>
                <a:latin typeface="Courier New" panose="02070309020205020404" pitchFamily="49" charset="0"/>
                <a:cs typeface="Courier New" panose="02070309020205020404" pitchFamily="49" charset="0"/>
              </a:rPr>
              <a:t>  Internet address is 192.168.10.1/24</a:t>
            </a:r>
          </a:p>
          <a:p>
            <a:r>
              <a:rPr lang="en-US" sz="1200" dirty="0">
                <a:solidFill>
                  <a:schemeClr val="bg1"/>
                </a:solidFill>
                <a:latin typeface="Courier New" panose="02070309020205020404" pitchFamily="49" charset="0"/>
                <a:cs typeface="Courier New" panose="02070309020205020404" pitchFamily="49" charset="0"/>
              </a:rPr>
              <a:t>  MTU 1500 bytes, BW 100000 Kbit/sec, DLY 100 usec, </a:t>
            </a:r>
          </a:p>
          <a:p>
            <a:r>
              <a:rPr lang="en-US" sz="1200" dirty="0">
                <a:solidFill>
                  <a:schemeClr val="bg1"/>
                </a:solidFill>
                <a:latin typeface="Courier New" panose="02070309020205020404" pitchFamily="49" charset="0"/>
                <a:cs typeface="Courier New" panose="02070309020205020404" pitchFamily="49" charset="0"/>
              </a:rPr>
              <a:t>     reliability 255/255, txload 1/255, rxload 1/255</a:t>
            </a:r>
          </a:p>
          <a:p>
            <a:r>
              <a:rPr lang="en-US" sz="1200" dirty="0">
                <a:solidFill>
                  <a:schemeClr val="bg1"/>
                </a:solidFill>
                <a:latin typeface="Courier New" panose="02070309020205020404" pitchFamily="49" charset="0"/>
                <a:cs typeface="Courier New" panose="02070309020205020404" pitchFamily="49" charset="0"/>
              </a:rPr>
              <a:t>  Encapsulation ARPA, loopback not set</a:t>
            </a:r>
          </a:p>
          <a:p>
            <a:r>
              <a:rPr lang="en-US" sz="1200" dirty="0">
                <a:solidFill>
                  <a:schemeClr val="bg1"/>
                </a:solidFill>
                <a:latin typeface="Courier New" panose="02070309020205020404" pitchFamily="49" charset="0"/>
                <a:cs typeface="Courier New" panose="02070309020205020404" pitchFamily="49" charset="0"/>
              </a:rPr>
              <a:t>  Keepalive not supported </a:t>
            </a:r>
          </a:p>
          <a:p>
            <a:r>
              <a:rPr lang="en-US" sz="1200" dirty="0">
                <a:solidFill>
                  <a:schemeClr val="bg1"/>
                </a:solidFill>
                <a:latin typeface="Courier New" panose="02070309020205020404" pitchFamily="49" charset="0"/>
                <a:cs typeface="Courier New" panose="02070309020205020404" pitchFamily="49" charset="0"/>
              </a:rPr>
              <a:t>  Full Duplex, 100Mbps, link type is auto, media type is RJ45</a:t>
            </a:r>
          </a:p>
          <a:p>
            <a:r>
              <a:rPr lang="en-US" sz="1200" dirty="0">
                <a:solidFill>
                  <a:schemeClr val="bg1"/>
                </a:solidFill>
                <a:latin typeface="Courier New" panose="02070309020205020404" pitchFamily="49" charset="0"/>
                <a:cs typeface="Courier New" panose="02070309020205020404" pitchFamily="49" charset="0"/>
              </a:rPr>
              <a:t>  output flow-control is off, input flow-control is off</a:t>
            </a:r>
          </a:p>
          <a:p>
            <a:r>
              <a:rPr lang="en-US" sz="1200" dirty="0">
                <a:solidFill>
                  <a:schemeClr val="bg1"/>
                </a:solidFill>
                <a:latin typeface="Courier New" panose="02070309020205020404" pitchFamily="49" charset="0"/>
                <a:cs typeface="Courier New" panose="02070309020205020404" pitchFamily="49" charset="0"/>
              </a:rPr>
              <a:t>  ARP type: ARPA, ARP Timeout 04:00:00</a:t>
            </a:r>
          </a:p>
          <a:p>
            <a:r>
              <a:rPr lang="en-US" sz="1200" dirty="0">
                <a:solidFill>
                  <a:schemeClr val="bg1"/>
                </a:solidFill>
                <a:latin typeface="Courier New" panose="02070309020205020404" pitchFamily="49" charset="0"/>
                <a:cs typeface="Courier New" panose="02070309020205020404" pitchFamily="49" charset="0"/>
              </a:rPr>
              <a:t>  Last input 00:00:01, output 00:00:35, output hang never</a:t>
            </a:r>
          </a:p>
          <a:p>
            <a:r>
              <a:rPr lang="en-US" sz="1200" dirty="0">
                <a:solidFill>
                  <a:schemeClr val="bg1"/>
                </a:solidFill>
                <a:latin typeface="Courier New" panose="02070309020205020404" pitchFamily="49" charset="0"/>
                <a:cs typeface="Courier New" panose="02070309020205020404" pitchFamily="49" charset="0"/>
              </a:rPr>
              <a:t>  Last clearing of "show interface" counters never</a:t>
            </a:r>
          </a:p>
          <a:p>
            <a:r>
              <a:rPr lang="en-US" sz="1200" dirty="0">
                <a:solidFill>
                  <a:schemeClr val="bg1"/>
                </a:solidFill>
                <a:latin typeface="Courier New" panose="02070309020205020404" pitchFamily="49" charset="0"/>
                <a:cs typeface="Courier New" panose="02070309020205020404" pitchFamily="49" charset="0"/>
              </a:rPr>
              <a:t>  Input queue: 0/375/0/0 (size/max/drops/flushes); Total output     drops: 0</a:t>
            </a:r>
          </a:p>
          <a:p>
            <a:r>
              <a:rPr lang="en-US" sz="1200" dirty="0">
                <a:solidFill>
                  <a:schemeClr val="bg1"/>
                </a:solidFill>
                <a:latin typeface="Courier New" panose="02070309020205020404" pitchFamily="49" charset="0"/>
                <a:cs typeface="Courier New" panose="02070309020205020404" pitchFamily="49" charset="0"/>
              </a:rPr>
              <a:t>  Queueing strategy: fifo</a:t>
            </a:r>
          </a:p>
          <a:p>
            <a:r>
              <a:rPr lang="en-US" sz="1200" dirty="0">
                <a:solidFill>
                  <a:schemeClr val="bg1"/>
                </a:solidFill>
                <a:latin typeface="Courier New" panose="02070309020205020404" pitchFamily="49" charset="0"/>
                <a:cs typeface="Courier New" panose="02070309020205020404" pitchFamily="49" charset="0"/>
              </a:rPr>
              <a:t>  Output queue: 0/40 (size/max)</a:t>
            </a:r>
          </a:p>
          <a:p>
            <a:r>
              <a:rPr lang="en-US" sz="1200" dirty="0">
                <a:solidFill>
                  <a:schemeClr val="bg1"/>
                </a:solidFill>
                <a:latin typeface="Courier New" panose="02070309020205020404" pitchFamily="49" charset="0"/>
                <a:cs typeface="Courier New" panose="02070309020205020404" pitchFamily="49" charset="0"/>
              </a:rPr>
              <a:t>  5 minute input rate 0 bits/sec, 0 packets/sec</a:t>
            </a:r>
          </a:p>
          <a:p>
            <a:r>
              <a:rPr lang="en-US" sz="1200" dirty="0">
                <a:solidFill>
                  <a:schemeClr val="bg1"/>
                </a:solidFill>
                <a:latin typeface="Courier New" panose="02070309020205020404" pitchFamily="49" charset="0"/>
                <a:cs typeface="Courier New" panose="02070309020205020404" pitchFamily="49" charset="0"/>
              </a:rPr>
              <a:t>  5 minute output rate 0 bits/sec, 0 packets/sec</a:t>
            </a:r>
          </a:p>
          <a:p>
            <a:r>
              <a:rPr lang="en-US" sz="1200" dirty="0">
                <a:solidFill>
                  <a:schemeClr val="bg1"/>
                </a:solidFill>
                <a:latin typeface="Courier New" panose="02070309020205020404" pitchFamily="49" charset="0"/>
                <a:cs typeface="Courier New" panose="02070309020205020404" pitchFamily="49" charset="0"/>
              </a:rPr>
              <a:t>     1180 packets input, 109486 bytes, 0 no buffer</a:t>
            </a:r>
          </a:p>
          <a:p>
            <a:r>
              <a:rPr lang="en-US" sz="1200" dirty="0">
                <a:solidFill>
                  <a:schemeClr val="bg1"/>
                </a:solidFill>
                <a:latin typeface="Courier New" panose="02070309020205020404" pitchFamily="49" charset="0"/>
                <a:cs typeface="Courier New" panose="02070309020205020404" pitchFamily="49" charset="0"/>
              </a:rPr>
              <a:t>     Received 84 broadcasts (0 IP multicasts)</a:t>
            </a:r>
          </a:p>
          <a:p>
            <a:r>
              <a:rPr lang="en-US" sz="1200" dirty="0">
                <a:solidFill>
                  <a:schemeClr val="bg1"/>
                </a:solidFill>
                <a:latin typeface="Courier New" panose="02070309020205020404" pitchFamily="49" charset="0"/>
                <a:cs typeface="Courier New" panose="02070309020205020404" pitchFamily="49" charset="0"/>
              </a:rPr>
              <a:t>     0 runts, 0 giants, 0 throttles </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a:solidFill>
                  <a:schemeClr val="bg1"/>
                </a:solidFill>
                <a:latin typeface="Courier New" panose="02070309020205020404" pitchFamily="49" charset="0"/>
                <a:cs typeface="Courier New" panose="02070309020205020404" pitchFamily="49" charset="0"/>
              </a:rPr>
              <a:t>&lt;output omitted&gt;</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429997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Verification Commands (Cont.)</a:t>
            </a:r>
          </a:p>
        </p:txBody>
      </p:sp>
      <p:sp>
        <p:nvSpPr>
          <p:cNvPr id="5" name="TextBox 4">
            <a:extLst>
              <a:ext uri="{FF2B5EF4-FFF2-40B4-BE49-F238E27FC236}">
                <a16:creationId xmlns:a16="http://schemas.microsoft.com/office/drawing/2014/main" id="{4857A863-7491-0041-AF26-F779D70A7E36}"/>
              </a:ext>
            </a:extLst>
          </p:cNvPr>
          <p:cNvSpPr txBox="1"/>
          <p:nvPr/>
        </p:nvSpPr>
        <p:spPr>
          <a:xfrm>
            <a:off x="632883" y="1187939"/>
            <a:ext cx="3518203" cy="1405256"/>
          </a:xfrm>
          <a:prstGeom prst="rect">
            <a:avLst/>
          </a:prstGeom>
          <a:noFill/>
        </p:spPr>
        <p:txBody>
          <a:bodyPr wrap="square" rtlCol="0">
            <a:spAutoFit/>
          </a:bodyPr>
          <a:lstStyle/>
          <a:p>
            <a:r>
              <a:rPr lang="en-US" sz="2133" dirty="0">
                <a:solidFill>
                  <a:srgbClr val="000000"/>
                </a:solidFill>
              </a:rPr>
              <a:t>Display IPv4 statistics for router interfaces with the </a:t>
            </a:r>
            <a:r>
              <a:rPr lang="en-US" sz="2133" b="1" dirty="0">
                <a:solidFill>
                  <a:srgbClr val="000000"/>
                </a:solidFill>
              </a:rPr>
              <a:t>show ip interface </a:t>
            </a:r>
            <a:r>
              <a:rPr lang="en-US" sz="2133" dirty="0">
                <a:solidFill>
                  <a:srgbClr val="000000"/>
                </a:solidFill>
              </a:rPr>
              <a:t>command, as shown here:</a:t>
            </a:r>
          </a:p>
        </p:txBody>
      </p:sp>
      <p:sp>
        <p:nvSpPr>
          <p:cNvPr id="8" name="TextBox 7">
            <a:extLst>
              <a:ext uri="{FF2B5EF4-FFF2-40B4-BE49-F238E27FC236}">
                <a16:creationId xmlns:a16="http://schemas.microsoft.com/office/drawing/2014/main" id="{A707EA06-7465-4C52-AE81-CBACEDBD6441}"/>
              </a:ext>
            </a:extLst>
          </p:cNvPr>
          <p:cNvSpPr txBox="1"/>
          <p:nvPr/>
        </p:nvSpPr>
        <p:spPr>
          <a:xfrm>
            <a:off x="4737480" y="1187939"/>
            <a:ext cx="6606875" cy="5220340"/>
          </a:xfrm>
          <a:prstGeom prst="rect">
            <a:avLst/>
          </a:prstGeom>
          <a:solidFill>
            <a:srgbClr val="000000"/>
          </a:solidFill>
        </p:spPr>
        <p:txBody>
          <a:bodyPr wrap="square" rtlCol="0">
            <a:spAutoFit/>
          </a:bodyPr>
          <a:lstStyle/>
          <a:p>
            <a:r>
              <a:rPr lang="en-US" sz="1333" dirty="0">
                <a:solidFill>
                  <a:schemeClr val="bg1"/>
                </a:solidFill>
                <a:latin typeface="Courier New" panose="02070309020205020404" pitchFamily="49" charset="0"/>
                <a:cs typeface="Courier New" panose="02070309020205020404" pitchFamily="49" charset="0"/>
              </a:rPr>
              <a:t>R1# </a:t>
            </a:r>
            <a:r>
              <a:rPr lang="en-US" sz="1333" b="1" dirty="0">
                <a:solidFill>
                  <a:schemeClr val="bg1"/>
                </a:solidFill>
                <a:latin typeface="Courier New" panose="02070309020205020404" pitchFamily="49" charset="0"/>
                <a:cs typeface="Courier New" panose="02070309020205020404" pitchFamily="49" charset="0"/>
              </a:rPr>
              <a:t>show ip interface g0/0/0</a:t>
            </a:r>
          </a:p>
          <a:p>
            <a:r>
              <a:rPr lang="en-US" sz="1333" dirty="0">
                <a:solidFill>
                  <a:schemeClr val="bg1"/>
                </a:solidFill>
                <a:latin typeface="Courier New" panose="02070309020205020404" pitchFamily="49" charset="0"/>
                <a:cs typeface="Courier New" panose="02070309020205020404" pitchFamily="49" charset="0"/>
              </a:rPr>
              <a:t>GigabitEthernet0/0/0 is up, line protocol is up</a:t>
            </a:r>
          </a:p>
          <a:p>
            <a:r>
              <a:rPr lang="en-US" sz="1333" dirty="0">
                <a:solidFill>
                  <a:schemeClr val="bg1"/>
                </a:solidFill>
                <a:latin typeface="Courier New" panose="02070309020205020404" pitchFamily="49" charset="0"/>
                <a:cs typeface="Courier New" panose="02070309020205020404" pitchFamily="49" charset="0"/>
              </a:rPr>
              <a:t>  Internet address is 192.168.10.1/24</a:t>
            </a:r>
          </a:p>
          <a:p>
            <a:r>
              <a:rPr lang="en-US" sz="1333" dirty="0">
                <a:solidFill>
                  <a:schemeClr val="bg1"/>
                </a:solidFill>
                <a:latin typeface="Courier New" panose="02070309020205020404" pitchFamily="49" charset="0"/>
                <a:cs typeface="Courier New" panose="02070309020205020404" pitchFamily="49" charset="0"/>
              </a:rPr>
              <a:t>  Broadcast address is 255.255.255.255</a:t>
            </a:r>
          </a:p>
          <a:p>
            <a:r>
              <a:rPr lang="en-US" sz="1333" dirty="0">
                <a:solidFill>
                  <a:schemeClr val="bg1"/>
                </a:solidFill>
                <a:latin typeface="Courier New" panose="02070309020205020404" pitchFamily="49" charset="0"/>
                <a:cs typeface="Courier New" panose="02070309020205020404" pitchFamily="49" charset="0"/>
              </a:rPr>
              <a:t>  Address determined by setup command</a:t>
            </a:r>
          </a:p>
          <a:p>
            <a:r>
              <a:rPr lang="en-US" sz="1333" dirty="0">
                <a:solidFill>
                  <a:schemeClr val="bg1"/>
                </a:solidFill>
                <a:latin typeface="Courier New" panose="02070309020205020404" pitchFamily="49" charset="0"/>
                <a:cs typeface="Courier New" panose="02070309020205020404" pitchFamily="49" charset="0"/>
              </a:rPr>
              <a:t>  MTU is 1500 bytes</a:t>
            </a:r>
          </a:p>
          <a:p>
            <a:r>
              <a:rPr lang="en-US" sz="1333" dirty="0">
                <a:solidFill>
                  <a:schemeClr val="bg1"/>
                </a:solidFill>
                <a:latin typeface="Courier New" panose="02070309020205020404" pitchFamily="49" charset="0"/>
                <a:cs typeface="Courier New" panose="02070309020205020404" pitchFamily="49" charset="0"/>
              </a:rPr>
              <a:t>  Helper address is not set</a:t>
            </a:r>
          </a:p>
          <a:p>
            <a:r>
              <a:rPr lang="en-US" sz="1333" dirty="0">
                <a:solidFill>
                  <a:schemeClr val="bg1"/>
                </a:solidFill>
                <a:latin typeface="Courier New" panose="02070309020205020404" pitchFamily="49" charset="0"/>
                <a:cs typeface="Courier New" panose="02070309020205020404" pitchFamily="49" charset="0"/>
              </a:rPr>
              <a:t>  Directed broadcast forwarding is disabled</a:t>
            </a:r>
          </a:p>
          <a:p>
            <a:r>
              <a:rPr lang="en-US" sz="1333" dirty="0">
                <a:solidFill>
                  <a:schemeClr val="bg1"/>
                </a:solidFill>
                <a:latin typeface="Courier New" panose="02070309020205020404" pitchFamily="49" charset="0"/>
                <a:cs typeface="Courier New" panose="02070309020205020404" pitchFamily="49" charset="0"/>
              </a:rPr>
              <a:t>  Outgoing Common access list is not set </a:t>
            </a:r>
          </a:p>
          <a:p>
            <a:r>
              <a:rPr lang="en-US" sz="1333" dirty="0">
                <a:solidFill>
                  <a:schemeClr val="bg1"/>
                </a:solidFill>
                <a:latin typeface="Courier New" panose="02070309020205020404" pitchFamily="49" charset="0"/>
                <a:cs typeface="Courier New" panose="02070309020205020404" pitchFamily="49" charset="0"/>
              </a:rPr>
              <a:t>  Outgoing access list is not set</a:t>
            </a:r>
          </a:p>
          <a:p>
            <a:r>
              <a:rPr lang="en-US" sz="1333" dirty="0">
                <a:solidFill>
                  <a:schemeClr val="bg1"/>
                </a:solidFill>
                <a:latin typeface="Courier New" panose="02070309020205020404" pitchFamily="49" charset="0"/>
                <a:cs typeface="Courier New" panose="02070309020205020404" pitchFamily="49" charset="0"/>
              </a:rPr>
              <a:t>  Inbound Common access list is not set </a:t>
            </a:r>
          </a:p>
          <a:p>
            <a:r>
              <a:rPr lang="en-US" sz="1333" dirty="0">
                <a:solidFill>
                  <a:schemeClr val="bg1"/>
                </a:solidFill>
                <a:latin typeface="Courier New" panose="02070309020205020404" pitchFamily="49" charset="0"/>
                <a:cs typeface="Courier New" panose="02070309020205020404" pitchFamily="49" charset="0"/>
              </a:rPr>
              <a:t>  Inbound  access list is not set</a:t>
            </a:r>
          </a:p>
          <a:p>
            <a:r>
              <a:rPr lang="en-US" sz="1333" dirty="0">
                <a:solidFill>
                  <a:schemeClr val="bg1"/>
                </a:solidFill>
                <a:latin typeface="Courier New" panose="02070309020205020404" pitchFamily="49" charset="0"/>
                <a:cs typeface="Courier New" panose="02070309020205020404" pitchFamily="49" charset="0"/>
              </a:rPr>
              <a:t>  Proxy ARP is enabled</a:t>
            </a:r>
          </a:p>
          <a:p>
            <a:r>
              <a:rPr lang="en-US" sz="1333" dirty="0">
                <a:solidFill>
                  <a:schemeClr val="bg1"/>
                </a:solidFill>
                <a:latin typeface="Courier New" panose="02070309020205020404" pitchFamily="49" charset="0"/>
                <a:cs typeface="Courier New" panose="02070309020205020404" pitchFamily="49" charset="0"/>
              </a:rPr>
              <a:t>  Local Proxy ARP is disabled</a:t>
            </a:r>
          </a:p>
          <a:p>
            <a:r>
              <a:rPr lang="en-US" sz="1333" dirty="0">
                <a:solidFill>
                  <a:schemeClr val="bg1"/>
                </a:solidFill>
                <a:latin typeface="Courier New" panose="02070309020205020404" pitchFamily="49" charset="0"/>
                <a:cs typeface="Courier New" panose="02070309020205020404" pitchFamily="49" charset="0"/>
              </a:rPr>
              <a:t>  Security level is default</a:t>
            </a:r>
          </a:p>
          <a:p>
            <a:r>
              <a:rPr lang="en-US" sz="1333" dirty="0">
                <a:solidFill>
                  <a:schemeClr val="bg1"/>
                </a:solidFill>
                <a:latin typeface="Courier New" panose="02070309020205020404" pitchFamily="49" charset="0"/>
                <a:cs typeface="Courier New" panose="02070309020205020404" pitchFamily="49" charset="0"/>
              </a:rPr>
              <a:t>  Split horizon is enabled</a:t>
            </a:r>
          </a:p>
          <a:p>
            <a:r>
              <a:rPr lang="en-US" sz="1333" dirty="0">
                <a:solidFill>
                  <a:schemeClr val="bg1"/>
                </a:solidFill>
                <a:latin typeface="Courier New" panose="02070309020205020404" pitchFamily="49" charset="0"/>
                <a:cs typeface="Courier New" panose="02070309020205020404" pitchFamily="49" charset="0"/>
              </a:rPr>
              <a:t>  ICMP redirects are always sent</a:t>
            </a:r>
          </a:p>
          <a:p>
            <a:r>
              <a:rPr lang="en-US" sz="1333" dirty="0">
                <a:solidFill>
                  <a:schemeClr val="bg1"/>
                </a:solidFill>
                <a:latin typeface="Courier New" panose="02070309020205020404" pitchFamily="49" charset="0"/>
                <a:cs typeface="Courier New" panose="02070309020205020404" pitchFamily="49" charset="0"/>
              </a:rPr>
              <a:t>  ICMP unreachables are always sent</a:t>
            </a:r>
          </a:p>
          <a:p>
            <a:r>
              <a:rPr lang="en-US" sz="1333" dirty="0">
                <a:solidFill>
                  <a:schemeClr val="bg1"/>
                </a:solidFill>
                <a:latin typeface="Courier New" panose="02070309020205020404" pitchFamily="49" charset="0"/>
                <a:cs typeface="Courier New" panose="02070309020205020404" pitchFamily="49" charset="0"/>
              </a:rPr>
              <a:t>  ICMP mask replies are never sent</a:t>
            </a:r>
          </a:p>
          <a:p>
            <a:r>
              <a:rPr lang="en-US" sz="1333" dirty="0">
                <a:solidFill>
                  <a:schemeClr val="bg1"/>
                </a:solidFill>
                <a:latin typeface="Courier New" panose="02070309020205020404" pitchFamily="49" charset="0"/>
                <a:cs typeface="Courier New" panose="02070309020205020404" pitchFamily="49" charset="0"/>
              </a:rPr>
              <a:t>  IP fast switching is enabled</a:t>
            </a:r>
          </a:p>
          <a:p>
            <a:r>
              <a:rPr lang="en-US" sz="1333" dirty="0">
                <a:solidFill>
                  <a:schemeClr val="bg1"/>
                </a:solidFill>
                <a:latin typeface="Courier New" panose="02070309020205020404" pitchFamily="49" charset="0"/>
                <a:cs typeface="Courier New" panose="02070309020205020404" pitchFamily="49" charset="0"/>
              </a:rPr>
              <a:t>  IP Flow switching is disabled</a:t>
            </a:r>
          </a:p>
          <a:p>
            <a:endParaRPr lang="en-US" sz="1333" dirty="0">
              <a:solidFill>
                <a:schemeClr val="bg1"/>
              </a:solidFill>
              <a:latin typeface="Courier New" panose="02070309020205020404" pitchFamily="49" charset="0"/>
              <a:cs typeface="Courier New" panose="02070309020205020404" pitchFamily="49" charset="0"/>
            </a:endParaRPr>
          </a:p>
          <a:p>
            <a:r>
              <a:rPr lang="en-US" sz="1333" dirty="0">
                <a:solidFill>
                  <a:schemeClr val="bg1"/>
                </a:solidFill>
                <a:latin typeface="Courier New" panose="02070309020205020404" pitchFamily="49" charset="0"/>
                <a:cs typeface="Courier New" panose="02070309020205020404" pitchFamily="49" charset="0"/>
              </a:rPr>
              <a:t>&lt;output omitted&gt;</a:t>
            </a:r>
          </a:p>
          <a:p>
            <a:endParaRPr lang="en-US" sz="1333" dirty="0">
              <a:solidFill>
                <a:schemeClr val="bg1"/>
              </a:solidFill>
              <a:latin typeface="Courier New" panose="02070309020205020404" pitchFamily="49" charset="0"/>
              <a:cs typeface="Courier New" panose="02070309020205020404" pitchFamily="49" charset="0"/>
            </a:endParaRPr>
          </a:p>
          <a:p>
            <a:r>
              <a:rPr lang="en-US" sz="1333" dirty="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714707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Interfaces</a:t>
            </a:r>
            <a:br>
              <a:rPr lang="en-US" dirty="0"/>
            </a:br>
            <a:r>
              <a:rPr lang="en-US" sz="3200" dirty="0"/>
              <a:t>Configure Verification Commands (Cont.)</a:t>
            </a:r>
          </a:p>
        </p:txBody>
      </p:sp>
      <p:sp>
        <p:nvSpPr>
          <p:cNvPr id="5" name="TextBox 4">
            <a:extLst>
              <a:ext uri="{FF2B5EF4-FFF2-40B4-BE49-F238E27FC236}">
                <a16:creationId xmlns:a16="http://schemas.microsoft.com/office/drawing/2014/main" id="{4857A863-7491-0041-AF26-F779D70A7E36}"/>
              </a:ext>
            </a:extLst>
          </p:cNvPr>
          <p:cNvSpPr txBox="1"/>
          <p:nvPr/>
        </p:nvSpPr>
        <p:spPr>
          <a:xfrm>
            <a:off x="632883" y="1187939"/>
            <a:ext cx="3518203" cy="1405256"/>
          </a:xfrm>
          <a:prstGeom prst="rect">
            <a:avLst/>
          </a:prstGeom>
          <a:noFill/>
        </p:spPr>
        <p:txBody>
          <a:bodyPr wrap="square" rtlCol="0">
            <a:spAutoFit/>
          </a:bodyPr>
          <a:lstStyle/>
          <a:p>
            <a:r>
              <a:rPr lang="en-US" sz="2133" dirty="0">
                <a:solidFill>
                  <a:srgbClr val="000000"/>
                </a:solidFill>
              </a:rPr>
              <a:t>Display IPv6 statistics for router interfaces with the </a:t>
            </a:r>
            <a:r>
              <a:rPr lang="en-US" sz="2133" b="1" dirty="0">
                <a:solidFill>
                  <a:srgbClr val="000000"/>
                </a:solidFill>
              </a:rPr>
              <a:t>show ipv6 interface </a:t>
            </a:r>
            <a:r>
              <a:rPr lang="en-US" sz="2133" dirty="0">
                <a:solidFill>
                  <a:srgbClr val="000000"/>
                </a:solidFill>
              </a:rPr>
              <a:t>command shown here:</a:t>
            </a:r>
          </a:p>
        </p:txBody>
      </p:sp>
      <p:sp>
        <p:nvSpPr>
          <p:cNvPr id="8" name="TextBox 7">
            <a:extLst>
              <a:ext uri="{FF2B5EF4-FFF2-40B4-BE49-F238E27FC236}">
                <a16:creationId xmlns:a16="http://schemas.microsoft.com/office/drawing/2014/main" id="{A707EA06-7465-4C52-AE81-CBACEDBD6441}"/>
              </a:ext>
            </a:extLst>
          </p:cNvPr>
          <p:cNvSpPr txBox="1"/>
          <p:nvPr/>
        </p:nvSpPr>
        <p:spPr>
          <a:xfrm>
            <a:off x="4737480" y="1187939"/>
            <a:ext cx="6606875" cy="4399859"/>
          </a:xfrm>
          <a:prstGeom prst="rect">
            <a:avLst/>
          </a:prstGeom>
          <a:solidFill>
            <a:srgbClr val="000000"/>
          </a:solidFill>
        </p:spPr>
        <p:txBody>
          <a:bodyPr wrap="square" rtlCol="0">
            <a:spAutoFit/>
          </a:bodyPr>
          <a:lstStyle/>
          <a:p>
            <a:r>
              <a:rPr lang="en-US" sz="1333" dirty="0">
                <a:solidFill>
                  <a:schemeClr val="bg1"/>
                </a:solidFill>
                <a:latin typeface="Courier New" panose="02070309020205020404" pitchFamily="49" charset="0"/>
                <a:cs typeface="Courier New" panose="02070309020205020404" pitchFamily="49" charset="0"/>
              </a:rPr>
              <a:t>R1# </a:t>
            </a:r>
            <a:r>
              <a:rPr lang="en-US" sz="1333" b="1" dirty="0">
                <a:solidFill>
                  <a:schemeClr val="bg1"/>
                </a:solidFill>
                <a:latin typeface="Courier New" panose="02070309020205020404" pitchFamily="49" charset="0"/>
                <a:cs typeface="Courier New" panose="02070309020205020404" pitchFamily="49" charset="0"/>
              </a:rPr>
              <a:t>show ipv6 interface g0/0/0</a:t>
            </a:r>
          </a:p>
          <a:p>
            <a:r>
              <a:rPr lang="en-US" sz="1333" dirty="0">
                <a:solidFill>
                  <a:schemeClr val="bg1"/>
                </a:solidFill>
                <a:latin typeface="Courier New" panose="02070309020205020404" pitchFamily="49" charset="0"/>
                <a:cs typeface="Courier New" panose="02070309020205020404" pitchFamily="49" charset="0"/>
              </a:rPr>
              <a:t>GigabitEthernet0/0/0 is up, line protocol is up</a:t>
            </a:r>
          </a:p>
          <a:p>
            <a:r>
              <a:rPr lang="en-US" sz="1333" dirty="0">
                <a:solidFill>
                  <a:schemeClr val="bg1"/>
                </a:solidFill>
                <a:latin typeface="Courier New" panose="02070309020205020404" pitchFamily="49" charset="0"/>
                <a:cs typeface="Courier New" panose="02070309020205020404" pitchFamily="49" charset="0"/>
              </a:rPr>
              <a:t>  IPv6 is enabled, link-local address is FE80::868A:8DFF:FE44:49B0</a:t>
            </a:r>
          </a:p>
          <a:p>
            <a:r>
              <a:rPr lang="en-US" sz="1333" dirty="0">
                <a:solidFill>
                  <a:schemeClr val="bg1"/>
                </a:solidFill>
                <a:latin typeface="Courier New" panose="02070309020205020404" pitchFamily="49" charset="0"/>
                <a:cs typeface="Courier New" panose="02070309020205020404" pitchFamily="49" charset="0"/>
              </a:rPr>
              <a:t>  No Virtual link-local address(es):</a:t>
            </a:r>
          </a:p>
          <a:p>
            <a:r>
              <a:rPr lang="en-US" sz="1333" dirty="0">
                <a:solidFill>
                  <a:schemeClr val="bg1"/>
                </a:solidFill>
                <a:latin typeface="Courier New" panose="02070309020205020404" pitchFamily="49" charset="0"/>
                <a:cs typeface="Courier New" panose="02070309020205020404" pitchFamily="49" charset="0"/>
              </a:rPr>
              <a:t>  Description: Link to LAN</a:t>
            </a:r>
          </a:p>
          <a:p>
            <a:r>
              <a:rPr lang="en-US" sz="1333" dirty="0">
                <a:solidFill>
                  <a:schemeClr val="bg1"/>
                </a:solidFill>
                <a:latin typeface="Courier New" panose="02070309020205020404" pitchFamily="49" charset="0"/>
                <a:cs typeface="Courier New" panose="02070309020205020404" pitchFamily="49" charset="0"/>
              </a:rPr>
              <a:t>  Global unicast address(es):</a:t>
            </a:r>
          </a:p>
          <a:p>
            <a:r>
              <a:rPr lang="en-US" sz="1333" dirty="0">
                <a:solidFill>
                  <a:schemeClr val="bg1"/>
                </a:solidFill>
                <a:latin typeface="Courier New" panose="02070309020205020404" pitchFamily="49" charset="0"/>
                <a:cs typeface="Courier New" panose="02070309020205020404" pitchFamily="49" charset="0"/>
              </a:rPr>
              <a:t>    2001:DB8:ACAD:10::1, subnet is 2001:DB8:ACAD:10::/64</a:t>
            </a:r>
          </a:p>
          <a:p>
            <a:r>
              <a:rPr lang="en-US" sz="1333" dirty="0">
                <a:solidFill>
                  <a:schemeClr val="bg1"/>
                </a:solidFill>
                <a:latin typeface="Courier New" panose="02070309020205020404" pitchFamily="49" charset="0"/>
                <a:cs typeface="Courier New" panose="02070309020205020404" pitchFamily="49" charset="0"/>
              </a:rPr>
              <a:t>  Joined group address(es):</a:t>
            </a:r>
          </a:p>
          <a:p>
            <a:r>
              <a:rPr lang="en-US" sz="1333" dirty="0">
                <a:solidFill>
                  <a:schemeClr val="bg1"/>
                </a:solidFill>
                <a:latin typeface="Courier New" panose="02070309020205020404" pitchFamily="49" charset="0"/>
                <a:cs typeface="Courier New" panose="02070309020205020404" pitchFamily="49" charset="0"/>
              </a:rPr>
              <a:t>    FF02::1</a:t>
            </a:r>
          </a:p>
          <a:p>
            <a:r>
              <a:rPr lang="en-US" sz="1333" dirty="0">
                <a:solidFill>
                  <a:schemeClr val="bg1"/>
                </a:solidFill>
                <a:latin typeface="Courier New" panose="02070309020205020404" pitchFamily="49" charset="0"/>
                <a:cs typeface="Courier New" panose="02070309020205020404" pitchFamily="49" charset="0"/>
              </a:rPr>
              <a:t>    FF02::1:FF00:1</a:t>
            </a:r>
          </a:p>
          <a:p>
            <a:r>
              <a:rPr lang="en-US" sz="1333" dirty="0">
                <a:solidFill>
                  <a:schemeClr val="bg1"/>
                </a:solidFill>
                <a:latin typeface="Courier New" panose="02070309020205020404" pitchFamily="49" charset="0"/>
                <a:cs typeface="Courier New" panose="02070309020205020404" pitchFamily="49" charset="0"/>
              </a:rPr>
              <a:t>    FF02::1:FF44:49B0</a:t>
            </a:r>
          </a:p>
          <a:p>
            <a:r>
              <a:rPr lang="en-US" sz="1333" dirty="0">
                <a:solidFill>
                  <a:schemeClr val="bg1"/>
                </a:solidFill>
                <a:latin typeface="Courier New" panose="02070309020205020404" pitchFamily="49" charset="0"/>
                <a:cs typeface="Courier New" panose="02070309020205020404" pitchFamily="49" charset="0"/>
              </a:rPr>
              <a:t>  MTU is 1500 bytes</a:t>
            </a:r>
          </a:p>
          <a:p>
            <a:r>
              <a:rPr lang="en-US" sz="1333" dirty="0">
                <a:solidFill>
                  <a:schemeClr val="bg1"/>
                </a:solidFill>
                <a:latin typeface="Courier New" panose="02070309020205020404" pitchFamily="49" charset="0"/>
                <a:cs typeface="Courier New" panose="02070309020205020404" pitchFamily="49" charset="0"/>
              </a:rPr>
              <a:t>  ICMP error messages limited to one every 100 milliseconds</a:t>
            </a:r>
          </a:p>
          <a:p>
            <a:r>
              <a:rPr lang="en-US" sz="1333" dirty="0">
                <a:solidFill>
                  <a:schemeClr val="bg1"/>
                </a:solidFill>
                <a:latin typeface="Courier New" panose="02070309020205020404" pitchFamily="49" charset="0"/>
                <a:cs typeface="Courier New" panose="02070309020205020404" pitchFamily="49" charset="0"/>
              </a:rPr>
              <a:t>  ICMP redirects are enabled</a:t>
            </a:r>
          </a:p>
          <a:p>
            <a:r>
              <a:rPr lang="en-US" sz="1333" dirty="0">
                <a:solidFill>
                  <a:schemeClr val="bg1"/>
                </a:solidFill>
                <a:latin typeface="Courier New" panose="02070309020205020404" pitchFamily="49" charset="0"/>
                <a:cs typeface="Courier New" panose="02070309020205020404" pitchFamily="49" charset="0"/>
              </a:rPr>
              <a:t>  ICMP unreachables are sent</a:t>
            </a:r>
          </a:p>
          <a:p>
            <a:r>
              <a:rPr lang="en-US" sz="1333" dirty="0">
                <a:solidFill>
                  <a:schemeClr val="bg1"/>
                </a:solidFill>
                <a:latin typeface="Courier New" panose="02070309020205020404" pitchFamily="49" charset="0"/>
                <a:cs typeface="Courier New" panose="02070309020205020404" pitchFamily="49" charset="0"/>
              </a:rPr>
              <a:t>  ND DAD is enabled, number of DAD attempts: 1</a:t>
            </a:r>
          </a:p>
          <a:p>
            <a:r>
              <a:rPr lang="en-US" sz="1333" dirty="0">
                <a:solidFill>
                  <a:schemeClr val="bg1"/>
                </a:solidFill>
                <a:latin typeface="Courier New" panose="02070309020205020404" pitchFamily="49" charset="0"/>
                <a:cs typeface="Courier New" panose="02070309020205020404" pitchFamily="49" charset="0"/>
              </a:rPr>
              <a:t>  ND reachable time is 30000 milliseconds (using 30000)</a:t>
            </a:r>
          </a:p>
          <a:p>
            <a:r>
              <a:rPr lang="en-US" sz="1333" dirty="0">
                <a:solidFill>
                  <a:schemeClr val="bg1"/>
                </a:solidFill>
                <a:latin typeface="Courier New" panose="02070309020205020404" pitchFamily="49" charset="0"/>
                <a:cs typeface="Courier New" panose="02070309020205020404" pitchFamily="49" charset="0"/>
              </a:rPr>
              <a:t>  ND NS retransmit interval is 1000 milliseconds</a:t>
            </a:r>
          </a:p>
          <a:p>
            <a:endParaRPr lang="en-US" sz="1333" dirty="0">
              <a:solidFill>
                <a:schemeClr val="bg1"/>
              </a:solidFill>
              <a:latin typeface="Courier New" panose="02070309020205020404" pitchFamily="49" charset="0"/>
              <a:cs typeface="Courier New" panose="02070309020205020404" pitchFamily="49" charset="0"/>
            </a:endParaRPr>
          </a:p>
          <a:p>
            <a:r>
              <a:rPr lang="en-US" sz="1333" dirty="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16618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5233" y="2384213"/>
            <a:ext cx="10130723" cy="1239520"/>
          </a:xfrm>
        </p:spPr>
        <p:txBody>
          <a:bodyPr/>
          <a:lstStyle/>
          <a:p>
            <a:r>
              <a:rPr lang="en-IE" dirty="0"/>
              <a:t>Configure Default Gateway</a:t>
            </a:r>
            <a:endParaRPr lang="en-US" dirty="0">
              <a:solidFill>
                <a:schemeClr val="accent5">
                  <a:lumMod val="40000"/>
                  <a:lumOff val="60000"/>
                </a:schemeClr>
              </a:solidFill>
            </a:endParaRPr>
          </a:p>
        </p:txBody>
      </p:sp>
      <p:pic>
        <p:nvPicPr>
          <p:cNvPr id="3" name="Picture 2">
            <a:extLst>
              <a:ext uri="{FF2B5EF4-FFF2-40B4-BE49-F238E27FC236}">
                <a16:creationId xmlns:a16="http://schemas.microsoft.com/office/drawing/2014/main" id="{4392D3CD-7499-4D10-B460-323EB1DC146B}"/>
              </a:ext>
            </a:extLst>
          </p:cNvPr>
          <p:cNvPicPr>
            <a:picLocks noChangeAspect="1"/>
          </p:cNvPicPr>
          <p:nvPr/>
        </p:nvPicPr>
        <p:blipFill>
          <a:blip r:embed="rId4"/>
          <a:stretch>
            <a:fillRect/>
          </a:stretch>
        </p:blipFill>
        <p:spPr>
          <a:xfrm flipV="1">
            <a:off x="0" y="6244221"/>
            <a:ext cx="12192000" cy="282033"/>
          </a:xfrm>
          <a:prstGeom prst="rect">
            <a:avLst/>
          </a:prstGeom>
        </p:spPr>
      </p:pic>
    </p:spTree>
    <p:custDataLst>
      <p:tags r:id="rId1"/>
    </p:custDataLst>
    <p:extLst>
      <p:ext uri="{BB962C8B-B14F-4D97-AF65-F5344CB8AC3E}">
        <p14:creationId xmlns:p14="http://schemas.microsoft.com/office/powerpoint/2010/main" val="197335015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the Default Gateway</a:t>
            </a:r>
            <a:br>
              <a:rPr lang="en-US" dirty="0"/>
            </a:br>
            <a:r>
              <a:rPr lang="en-US" sz="3200" dirty="0"/>
              <a:t>Default Gateway on a Host</a:t>
            </a:r>
          </a:p>
        </p:txBody>
      </p:sp>
      <p:sp>
        <p:nvSpPr>
          <p:cNvPr id="10" name="TextBox 9">
            <a:extLst>
              <a:ext uri="{FF2B5EF4-FFF2-40B4-BE49-F238E27FC236}">
                <a16:creationId xmlns:a16="http://schemas.microsoft.com/office/drawing/2014/main" id="{31718114-4447-471E-989F-8789EBF19550}"/>
              </a:ext>
            </a:extLst>
          </p:cNvPr>
          <p:cNvSpPr txBox="1"/>
          <p:nvPr/>
        </p:nvSpPr>
        <p:spPr>
          <a:xfrm>
            <a:off x="632883" y="1187940"/>
            <a:ext cx="4523317" cy="4031104"/>
          </a:xfrm>
          <a:prstGeom prst="rect">
            <a:avLst/>
          </a:prstGeom>
          <a:noFill/>
        </p:spPr>
        <p:txBody>
          <a:bodyPr wrap="square" rtlCol="0">
            <a:spAutoFit/>
          </a:bodyPr>
          <a:lstStyle/>
          <a:p>
            <a:pPr marL="380990" indent="-380990">
              <a:buFont typeface="Arial" panose="020B0604020202020204" pitchFamily="34" charset="0"/>
              <a:buChar char="•"/>
            </a:pPr>
            <a:r>
              <a:rPr lang="en-US" sz="2133" dirty="0">
                <a:solidFill>
                  <a:srgbClr val="000000"/>
                </a:solidFill>
              </a:rPr>
              <a:t>The default gateway is used when a host sends a packet to a device on another network.</a:t>
            </a:r>
          </a:p>
          <a:p>
            <a:pPr marL="380990" indent="-380990">
              <a:buFont typeface="Arial" panose="020B0604020202020204" pitchFamily="34" charset="0"/>
              <a:buChar char="•"/>
            </a:pPr>
            <a:r>
              <a:rPr lang="en-US" sz="2133" dirty="0">
                <a:solidFill>
                  <a:srgbClr val="000000"/>
                </a:solidFill>
              </a:rPr>
              <a:t>The default gateway address is generally the router interface address attached to the local network of the host.</a:t>
            </a:r>
          </a:p>
          <a:p>
            <a:pPr marL="380990" indent="-380990">
              <a:buFont typeface="Arial" panose="020B0604020202020204" pitchFamily="34" charset="0"/>
              <a:buChar char="•"/>
            </a:pPr>
            <a:r>
              <a:rPr lang="en-US" sz="2133" dirty="0">
                <a:solidFill>
                  <a:srgbClr val="000000"/>
                </a:solidFill>
              </a:rPr>
              <a:t>To reach PC3, PC1 addresses a packet with the IPv4 address of PC3, but forwards the packet to its default gateway, the G0/0/0 interface of R1.</a:t>
            </a:r>
          </a:p>
        </p:txBody>
      </p:sp>
      <p:sp>
        <p:nvSpPr>
          <p:cNvPr id="4" name="TextBox 3">
            <a:extLst>
              <a:ext uri="{FF2B5EF4-FFF2-40B4-BE49-F238E27FC236}">
                <a16:creationId xmlns:a16="http://schemas.microsoft.com/office/drawing/2014/main" id="{C76866AA-E301-488D-96AD-D9CEE8D1E785}"/>
              </a:ext>
            </a:extLst>
          </p:cNvPr>
          <p:cNvSpPr txBox="1"/>
          <p:nvPr/>
        </p:nvSpPr>
        <p:spPr>
          <a:xfrm>
            <a:off x="5677959" y="5027899"/>
            <a:ext cx="5924843" cy="748795"/>
          </a:xfrm>
          <a:prstGeom prst="rect">
            <a:avLst/>
          </a:prstGeom>
          <a:noFill/>
        </p:spPr>
        <p:txBody>
          <a:bodyPr wrap="square" rtlCol="0">
            <a:spAutoFit/>
          </a:bodyPr>
          <a:lstStyle/>
          <a:p>
            <a:r>
              <a:rPr lang="en-US" sz="2133" b="1" dirty="0">
                <a:solidFill>
                  <a:srgbClr val="000000"/>
                </a:solidFill>
              </a:rPr>
              <a:t>Note</a:t>
            </a:r>
            <a:r>
              <a:rPr lang="en-US" sz="2133" dirty="0">
                <a:solidFill>
                  <a:srgbClr val="000000"/>
                </a:solidFill>
              </a:rPr>
              <a:t>: The IP address of the host and the router interface must be in the same network.</a:t>
            </a:r>
          </a:p>
        </p:txBody>
      </p:sp>
      <p:pic>
        <p:nvPicPr>
          <p:cNvPr id="6" name="Picture 5">
            <a:extLst>
              <a:ext uri="{FF2B5EF4-FFF2-40B4-BE49-F238E27FC236}">
                <a16:creationId xmlns:a16="http://schemas.microsoft.com/office/drawing/2014/main" id="{4A54100A-4BDC-504D-85D6-01A2B41EE33B}"/>
              </a:ext>
            </a:extLst>
          </p:cNvPr>
          <p:cNvPicPr>
            <a:picLocks noChangeAspect="1"/>
          </p:cNvPicPr>
          <p:nvPr/>
        </p:nvPicPr>
        <p:blipFill>
          <a:blip r:embed="rId3"/>
          <a:stretch>
            <a:fillRect/>
          </a:stretch>
        </p:blipFill>
        <p:spPr>
          <a:xfrm>
            <a:off x="6272696" y="954072"/>
            <a:ext cx="4028661" cy="3918424"/>
          </a:xfrm>
          <a:prstGeom prst="rect">
            <a:avLst/>
          </a:prstGeom>
        </p:spPr>
      </p:pic>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dirty="0"/>
              <a:t>Configure the Default Gateway</a:t>
            </a:r>
            <a:br>
              <a:rPr lang="en-US" dirty="0"/>
            </a:br>
            <a:r>
              <a:rPr lang="en-US" sz="3200" dirty="0"/>
              <a:t>Default Gateway on a Switch</a:t>
            </a:r>
          </a:p>
        </p:txBody>
      </p:sp>
      <p:sp>
        <p:nvSpPr>
          <p:cNvPr id="10" name="TextBox 9">
            <a:extLst>
              <a:ext uri="{FF2B5EF4-FFF2-40B4-BE49-F238E27FC236}">
                <a16:creationId xmlns:a16="http://schemas.microsoft.com/office/drawing/2014/main" id="{31718114-4447-471E-989F-8789EBF19550}"/>
              </a:ext>
            </a:extLst>
          </p:cNvPr>
          <p:cNvSpPr txBox="1"/>
          <p:nvPr/>
        </p:nvSpPr>
        <p:spPr>
          <a:xfrm>
            <a:off x="292386" y="1336119"/>
            <a:ext cx="4193117" cy="3785652"/>
          </a:xfrm>
          <a:prstGeom prst="rect">
            <a:avLst/>
          </a:prstGeom>
          <a:noFill/>
        </p:spPr>
        <p:txBody>
          <a:bodyPr wrap="square" rtlCol="0">
            <a:spAutoFit/>
          </a:bodyPr>
          <a:lstStyle/>
          <a:p>
            <a:pPr marL="380990" indent="-380990">
              <a:buFont typeface="Arial" panose="020B0604020202020204" pitchFamily="34" charset="0"/>
              <a:buChar char="•"/>
            </a:pPr>
            <a:r>
              <a:rPr lang="en-US" sz="2400" dirty="0">
                <a:solidFill>
                  <a:srgbClr val="000000"/>
                </a:solidFill>
              </a:rPr>
              <a:t>A switch must have a default gateway address configured to remotely manage the switch from another network.</a:t>
            </a:r>
          </a:p>
          <a:p>
            <a:pPr marL="380990" indent="-380990">
              <a:buFont typeface="Arial" panose="020B0604020202020204" pitchFamily="34" charset="0"/>
              <a:buChar char="•"/>
            </a:pPr>
            <a:r>
              <a:rPr lang="en-US" sz="2400" dirty="0">
                <a:solidFill>
                  <a:srgbClr val="000000"/>
                </a:solidFill>
              </a:rPr>
              <a:t>To configure an IPv4 default gateway on a switch, use the </a:t>
            </a:r>
            <a:r>
              <a:rPr lang="en-US" sz="2400" b="1" dirty="0">
                <a:solidFill>
                  <a:srgbClr val="000000"/>
                </a:solidFill>
              </a:rPr>
              <a:t>ip default-gateway</a:t>
            </a:r>
            <a:r>
              <a:rPr lang="en-US" sz="2400" dirty="0">
                <a:solidFill>
                  <a:srgbClr val="000000"/>
                </a:solidFill>
              </a:rPr>
              <a:t> </a:t>
            </a:r>
            <a:r>
              <a:rPr lang="en-US" sz="2400" i="1" dirty="0">
                <a:solidFill>
                  <a:srgbClr val="000000"/>
                </a:solidFill>
              </a:rPr>
              <a:t>ip-address </a:t>
            </a:r>
            <a:r>
              <a:rPr lang="en-US" sz="2400" dirty="0">
                <a:solidFill>
                  <a:srgbClr val="000000"/>
                </a:solidFill>
              </a:rPr>
              <a:t>global configuration command.</a:t>
            </a:r>
          </a:p>
        </p:txBody>
      </p:sp>
      <p:pic>
        <p:nvPicPr>
          <p:cNvPr id="6" name="Picture 5">
            <a:extLst>
              <a:ext uri="{FF2B5EF4-FFF2-40B4-BE49-F238E27FC236}">
                <a16:creationId xmlns:a16="http://schemas.microsoft.com/office/drawing/2014/main" id="{94B4248E-5148-4873-906F-3B7C00131E65}"/>
              </a:ext>
            </a:extLst>
          </p:cNvPr>
          <p:cNvPicPr>
            <a:picLocks noChangeAspect="1"/>
          </p:cNvPicPr>
          <p:nvPr/>
        </p:nvPicPr>
        <p:blipFill>
          <a:blip r:embed="rId3"/>
          <a:stretch>
            <a:fillRect/>
          </a:stretch>
        </p:blipFill>
        <p:spPr>
          <a:xfrm>
            <a:off x="4287785" y="1336119"/>
            <a:ext cx="7765073" cy="4803816"/>
          </a:xfrm>
          <a:prstGeom prst="rect">
            <a:avLst/>
          </a:prstGeom>
        </p:spPr>
      </p:pic>
    </p:spTree>
    <p:extLst>
      <p:ext uri="{BB962C8B-B14F-4D97-AF65-F5344CB8AC3E}">
        <p14:creationId xmlns:p14="http://schemas.microsoft.com/office/powerpoint/2010/main" val="355675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7B1FB1A458AA4FB1520DBCEEEF84AB" ma:contentTypeVersion="12" ma:contentTypeDescription="Create a new document." ma:contentTypeScope="" ma:versionID="1e36a6e3acf469d288ca5924e281fce4">
  <xsd:schema xmlns:xsd="http://www.w3.org/2001/XMLSchema" xmlns:xs="http://www.w3.org/2001/XMLSchema" xmlns:p="http://schemas.microsoft.com/office/2006/metadata/properties" xmlns:ns3="2ce51dc8-c7fd-4e9f-aab7-66ee981bb74f" xmlns:ns4="4fa34961-db85-4b4a-bce8-6d4fac0faa91" targetNamespace="http://schemas.microsoft.com/office/2006/metadata/properties" ma:root="true" ma:fieldsID="6156cdd135d49b7aa70247738826da10" ns3:_="" ns4:_="">
    <xsd:import namespace="2ce51dc8-c7fd-4e9f-aab7-66ee981bb74f"/>
    <xsd:import namespace="4fa34961-db85-4b4a-bce8-6d4fac0faa9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e51dc8-c7fd-4e9f-aab7-66ee981bb74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fa34961-db85-4b4a-bce8-6d4fac0faa9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EC65B6D-7D5A-4183-BAAE-4BE4E6C64048}">
  <ds:schemaRefs>
    <ds:schemaRef ds:uri="2ce51dc8-c7fd-4e9f-aab7-66ee981bb74f"/>
    <ds:schemaRef ds:uri="http://schemas.microsoft.com/office/2006/metadata/properties"/>
    <ds:schemaRef ds:uri="http://www.w3.org/XML/1998/namespace"/>
    <ds:schemaRef ds:uri="http://purl.org/dc/dcmitype/"/>
    <ds:schemaRef ds:uri="http://purl.org/dc/elements/1.1/"/>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4fa34961-db85-4b4a-bce8-6d4fac0faa91"/>
  </ds:schemaRefs>
</ds:datastoreItem>
</file>

<file path=customXml/itemProps2.xml><?xml version="1.0" encoding="utf-8"?>
<ds:datastoreItem xmlns:ds="http://schemas.openxmlformats.org/officeDocument/2006/customXml" ds:itemID="{D2BA282D-F6C5-4540-874A-AF79A5B1B9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e51dc8-c7fd-4e9f-aab7-66ee981bb74f"/>
    <ds:schemaRef ds:uri="4fa34961-db85-4b4a-bce8-6d4fac0faa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AEA60D-C59C-4956-9730-7FEF75B391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1033</TotalTime>
  <Words>2740</Words>
  <Application>Microsoft Office PowerPoint</Application>
  <PresentationFormat>Widescreen</PresentationFormat>
  <Paragraphs>317</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CiscoSans</vt:lpstr>
      <vt:lpstr>Courier New</vt:lpstr>
      <vt:lpstr>Office Theme</vt:lpstr>
      <vt:lpstr>Router Configuration and IP Addressing By: Mujahid Tabassum - 2026</vt:lpstr>
      <vt:lpstr>Learning Objectives</vt:lpstr>
      <vt:lpstr>Configure Initial Router Settings Basic Router Configuration Steps</vt:lpstr>
      <vt:lpstr>Configure Initial Router Settings Basic Router Configuration Example</vt:lpstr>
      <vt:lpstr>Configure Interfaces</vt:lpstr>
      <vt:lpstr>Configure Interfaces Configure Router Interfaces</vt:lpstr>
      <vt:lpstr>Configure Interfaces Configure Router Interfaces Example</vt:lpstr>
      <vt:lpstr>Configure Interfaces Configure Router Interfaces Example (Cont.)</vt:lpstr>
      <vt:lpstr>Configure Interfaces Verify Interface Configuration</vt:lpstr>
      <vt:lpstr>Configure Interfaces Configure Verification Commands</vt:lpstr>
      <vt:lpstr>Configure Interfaces Configure Verification Commands (Cont.)</vt:lpstr>
      <vt:lpstr>Configure Interfaces Configure Verification Commands (Cont.)</vt:lpstr>
      <vt:lpstr>Configure Interfaces Configure Verification Commands (Cont.)</vt:lpstr>
      <vt:lpstr>Configure Interfaces Configure Verification Commands (Cont.)</vt:lpstr>
      <vt:lpstr>Configure Interfaces Configure Verification Commands (Cont.)</vt:lpstr>
      <vt:lpstr>Configure Default Gateway</vt:lpstr>
      <vt:lpstr>Configure the Default Gateway Default Gateway on a Host</vt:lpstr>
      <vt:lpstr>Configure the Default Gateway Default Gateway on a Switch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Router Configuration</dc:title>
  <dc:creator>Frank X Walsh</dc:creator>
  <cp:lastModifiedBy>Mujahid Tabassum</cp:lastModifiedBy>
  <cp:revision>7</cp:revision>
  <dcterms:created xsi:type="dcterms:W3CDTF">2021-10-06T10:34:05Z</dcterms:created>
  <dcterms:modified xsi:type="dcterms:W3CDTF">2026-03-04T11:21:10Z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0x010100027B1FB1A458AA4FB1520DBCEEEF84AB</vt:lpwstr>
  </property>
</Properties>
</file>