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81" r:id="rId6"/>
    <p:sldId id="288" r:id="rId7"/>
    <p:sldId id="271" r:id="rId8"/>
    <p:sldId id="279" r:id="rId9"/>
    <p:sldId id="285" r:id="rId10"/>
    <p:sldId id="286" r:id="rId11"/>
    <p:sldId id="282" r:id="rId12"/>
    <p:sldId id="28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CFD"/>
    <a:srgbClr val="EEFBFD"/>
    <a:srgbClr val="EEFAFD"/>
    <a:srgbClr val="FCCA3A"/>
    <a:srgbClr val="4354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722"/>
  </p:normalViewPr>
  <p:slideViewPr>
    <p:cSldViewPr snapToGrid="0" snapToObjects="1">
      <p:cViewPr varScale="1">
        <p:scale>
          <a:sx n="101" d="100"/>
          <a:sy n="101" d="100"/>
        </p:scale>
        <p:origin x="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BCE77-B54E-3A42-B83D-E47948276DF4}" type="datetimeFigureOut">
              <a:rPr lang="en-IE" smtClean="0"/>
              <a:t>12/05/2026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AF12F-5E31-5D40-A1F6-531073725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76351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AF12F-5E31-5D40-A1F6-5310737259C7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29617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AF12F-5E31-5D40-A1F6-5310737259C7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3422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0CC24-EB80-800B-0291-A78F10E2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0B834-2835-7CF9-6AE2-CECE20447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BFA70-E49B-8E36-C26F-825397A06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B23D5-CC95-8F59-FAE7-44BD94739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AF12F-5E31-5D40-A1F6-5310737259C7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6602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Sol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D581C-CAB0-510C-82E0-00B56B500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000" y="1404000"/>
            <a:ext cx="4795777" cy="1894785"/>
          </a:xfrm>
        </p:spPr>
        <p:txBody>
          <a:bodyPr anchor="t">
            <a:normAutofit/>
          </a:bodyPr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603E4-3719-5019-A637-4BDBAFE6D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000" y="3298785"/>
            <a:ext cx="4795777" cy="993681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9ED394B-2456-048A-F0B1-2FFF136732AE}"/>
              </a:ext>
            </a:extLst>
          </p:cNvPr>
          <p:cNvSpPr>
            <a:spLocks noChangeAspect="1"/>
          </p:cNvSpPr>
          <p:nvPr userDrawn="1"/>
        </p:nvSpPr>
        <p:spPr>
          <a:xfrm>
            <a:off x="6804000" y="1"/>
            <a:ext cx="4644000" cy="5153487"/>
          </a:xfrm>
          <a:custGeom>
            <a:avLst/>
            <a:gdLst>
              <a:gd name="connsiteX0" fmla="*/ 0 w 5562600"/>
              <a:gd name="connsiteY0" fmla="*/ 0 h 6172200"/>
              <a:gd name="connsiteX1" fmla="*/ 5562600 w 5562600"/>
              <a:gd name="connsiteY1" fmla="*/ 0 h 6172200"/>
              <a:gd name="connsiteX2" fmla="*/ 5562600 w 5562600"/>
              <a:gd name="connsiteY2" fmla="*/ 3818433 h 6172200"/>
              <a:gd name="connsiteX3" fmla="*/ 5562600 w 5562600"/>
              <a:gd name="connsiteY3" fmla="*/ 3979266 h 6172200"/>
              <a:gd name="connsiteX4" fmla="*/ 5553004 w 5562600"/>
              <a:gd name="connsiteY4" fmla="*/ 3979266 h 6172200"/>
              <a:gd name="connsiteX5" fmla="*/ 5548240 w 5562600"/>
              <a:gd name="connsiteY5" fmla="*/ 4059092 h 6172200"/>
              <a:gd name="connsiteX6" fmla="*/ 2781300 w 5562600"/>
              <a:gd name="connsiteY6" fmla="*/ 6172200 h 6172200"/>
              <a:gd name="connsiteX7" fmla="*/ 14360 w 5562600"/>
              <a:gd name="connsiteY7" fmla="*/ 4059092 h 6172200"/>
              <a:gd name="connsiteX8" fmla="*/ 9597 w 5562600"/>
              <a:gd name="connsiteY8" fmla="*/ 3979266 h 6172200"/>
              <a:gd name="connsiteX9" fmla="*/ 0 w 5562600"/>
              <a:gd name="connsiteY9" fmla="*/ 3979266 h 6172200"/>
              <a:gd name="connsiteX10" fmla="*/ 0 w 5562600"/>
              <a:gd name="connsiteY10" fmla="*/ 3818433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562600" h="6172200">
                <a:moveTo>
                  <a:pt x="0" y="0"/>
                </a:moveTo>
                <a:lnTo>
                  <a:pt x="5562600" y="0"/>
                </a:lnTo>
                <a:lnTo>
                  <a:pt x="5562600" y="3818433"/>
                </a:lnTo>
                <a:lnTo>
                  <a:pt x="5562600" y="3979266"/>
                </a:lnTo>
                <a:lnTo>
                  <a:pt x="5553004" y="3979266"/>
                </a:lnTo>
                <a:lnTo>
                  <a:pt x="5548240" y="4059092"/>
                </a:lnTo>
                <a:cubicBezTo>
                  <a:pt x="5405810" y="5245994"/>
                  <a:pt x="4221366" y="6172200"/>
                  <a:pt x="2781300" y="6172200"/>
                </a:cubicBezTo>
                <a:cubicBezTo>
                  <a:pt x="1341235" y="6172200"/>
                  <a:pt x="156790" y="5245994"/>
                  <a:pt x="14360" y="4059092"/>
                </a:cubicBezTo>
                <a:lnTo>
                  <a:pt x="9597" y="3979266"/>
                </a:lnTo>
                <a:lnTo>
                  <a:pt x="0" y="3979266"/>
                </a:lnTo>
                <a:lnTo>
                  <a:pt x="0" y="38184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>
              <a:solidFill>
                <a:schemeClr val="bg1"/>
              </a:solidFill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F1B8DA2-9CF4-95BB-C088-07152AE89F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00000" y="5724000"/>
            <a:ext cx="14986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54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ic opt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B71B9E8-787C-BFC6-50C9-FF536DFE59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11113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915BD-96FB-EDF9-2DB5-2FFB3D57D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000" y="2232001"/>
            <a:ext cx="4440000" cy="1719514"/>
          </a:xfrm>
        </p:spPr>
        <p:txBody>
          <a:bodyPr anchor="t">
            <a:norm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ECB8F-268E-894D-75CC-E746A8937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6000" y="3951515"/>
            <a:ext cx="4440000" cy="109014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323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ic opt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B71B9E8-787C-BFC6-50C9-FF536DFE59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11113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915BD-96FB-EDF9-2DB5-2FFB3D57D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000" y="2232001"/>
            <a:ext cx="4440000" cy="1719514"/>
          </a:xfrm>
        </p:spPr>
        <p:txBody>
          <a:bodyPr anchor="t">
            <a:norm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ECB8F-268E-894D-75CC-E746A8937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6000" y="3951515"/>
            <a:ext cx="4440000" cy="109014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887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0DC37C2-C5F4-2F46-E244-F459EA590B5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11113" indent="0" algn="ctr">
              <a:buNone/>
              <a:defRPr>
                <a:solidFill>
                  <a:srgbClr val="435465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AD581C-CAB0-510C-82E0-00B56B500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4000" y="1404000"/>
            <a:ext cx="4795777" cy="1894785"/>
          </a:xfrm>
        </p:spPr>
        <p:txBody>
          <a:bodyPr anchor="t">
            <a:normAutofit/>
          </a:bodyPr>
          <a:lstStyle>
            <a:lvl1pPr algn="l">
              <a:defRPr sz="4200">
                <a:solidFill>
                  <a:srgbClr val="43546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603E4-3719-5019-A637-4BDBAFE6D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4000" y="3298785"/>
            <a:ext cx="4795777" cy="993681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354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01728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AAEB-1F04-C6C3-D097-5035F446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0" y="720000"/>
            <a:ext cx="5022000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rgbClr val="43546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2248C-0CB2-C53C-7A89-AB886BB6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75853-1759-118B-503B-CC1045EB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924288-5A6F-2E71-1819-16487FBDA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000" y="2395544"/>
            <a:ext cx="5022000" cy="3348000"/>
          </a:xfrm>
        </p:spPr>
        <p:txBody>
          <a:bodyPr/>
          <a:lstStyle>
            <a:lvl1pPr>
              <a:defRPr>
                <a:solidFill>
                  <a:srgbClr val="435465"/>
                </a:solidFill>
              </a:defRPr>
            </a:lvl1pPr>
            <a:lvl2pPr>
              <a:defRPr>
                <a:solidFill>
                  <a:srgbClr val="435465"/>
                </a:solidFill>
              </a:defRPr>
            </a:lvl2pPr>
            <a:lvl3pPr>
              <a:defRPr>
                <a:solidFill>
                  <a:srgbClr val="435465"/>
                </a:solidFill>
              </a:defRPr>
            </a:lvl3pPr>
            <a:lvl4pPr>
              <a:defRPr>
                <a:solidFill>
                  <a:srgbClr val="435465"/>
                </a:solidFill>
              </a:defRPr>
            </a:lvl4pPr>
            <a:lvl5pPr>
              <a:defRPr>
                <a:solidFill>
                  <a:srgbClr val="435465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58DFC2-2D2A-A288-E682-B00B02DDB0AA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255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1835E2D1-7D18-3674-9511-2450B7CAA4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11113" indent="0" algn="ctr">
              <a:buNone/>
              <a:defRPr>
                <a:solidFill>
                  <a:srgbClr val="435465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24AAEB-1F04-C6C3-D097-5035F446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0" y="720000"/>
            <a:ext cx="5022000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rgbClr val="43546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2248C-0CB2-C53C-7A89-AB886BB6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75853-1759-118B-503B-CC1045EB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924288-5A6F-2E71-1819-16487FBDA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000" y="2395544"/>
            <a:ext cx="5022000" cy="3348000"/>
          </a:xfrm>
        </p:spPr>
        <p:txBody>
          <a:bodyPr/>
          <a:lstStyle>
            <a:lvl1pPr>
              <a:defRPr>
                <a:solidFill>
                  <a:srgbClr val="435465"/>
                </a:solidFill>
              </a:defRPr>
            </a:lvl1pPr>
            <a:lvl2pPr>
              <a:defRPr>
                <a:solidFill>
                  <a:srgbClr val="435465"/>
                </a:solidFill>
              </a:defRPr>
            </a:lvl2pPr>
            <a:lvl3pPr>
              <a:defRPr>
                <a:solidFill>
                  <a:srgbClr val="435465"/>
                </a:solidFill>
              </a:defRPr>
            </a:lvl3pPr>
            <a:lvl4pPr>
              <a:defRPr>
                <a:solidFill>
                  <a:srgbClr val="435465"/>
                </a:solidFill>
              </a:defRPr>
            </a:lvl4pPr>
            <a:lvl5pPr>
              <a:defRPr>
                <a:solidFill>
                  <a:srgbClr val="435465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69B910-7084-2A45-53F6-92544F0F233C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44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AAEB-1F04-C6C3-D097-5035F446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20000"/>
            <a:ext cx="3248229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2248C-0CB2-C53C-7A89-AB886BB6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75853-1759-118B-503B-CC1045EB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D6AE94F-8A91-54B3-3103-4CD6705B4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EC2DDB-9DB4-9001-A328-07219DC6A27A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23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814A-94C2-DE5A-0245-1BFDD4F5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9AC-F949-294E-F4B1-934CB4F12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9BB27-67B0-04CE-0234-3D6301DF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95C37-86FC-8938-CBD5-FE8614B2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8F21E6-B6C2-EEAF-F707-B44661A7198B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20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94AE-2E6A-0641-FF5B-8990792F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19999"/>
            <a:ext cx="3348000" cy="33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EBCE07BB-A77C-E6C1-170F-F31B22AD8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rgbClr val="435465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65906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814A-94C2-DE5A-0245-1BFDD4F5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9AC-F949-294E-F4B1-934CB4F12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000" y="2254147"/>
            <a:ext cx="5652000" cy="334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9BB27-67B0-04CE-0234-3D6301DF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95C37-86FC-8938-CBD5-FE8614B2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8F21E6-B6C2-EEAF-F707-B44661A7198B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AD5FA3AB-99EB-58AE-1302-73F7EA825391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112000" y="719999"/>
            <a:ext cx="5652000" cy="1531586"/>
          </a:xfrm>
        </p:spPr>
        <p:txBody>
          <a:bodyPr>
            <a:noAutofit/>
          </a:bodyPr>
          <a:lstStyle>
            <a:lvl1pPr marL="0" indent="0" algn="l">
              <a:buNone/>
              <a:defRPr sz="2500" b="1">
                <a:solidFill>
                  <a:srgbClr val="435465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0399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814A-94C2-DE5A-0245-1BFDD4F5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19999"/>
            <a:ext cx="3348000" cy="3348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9AC-F949-294E-F4B1-934CB4F12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000" y="2254147"/>
            <a:ext cx="5652000" cy="33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9BB27-67B0-04CE-0234-3D6301DF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95C37-86FC-8938-CBD5-FE8614B2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8F21E6-B6C2-EEAF-F707-B44661A7198B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AD5FA3AB-99EB-58AE-1302-73F7EA825391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112000" y="719999"/>
            <a:ext cx="5652000" cy="1531586"/>
          </a:xfrm>
        </p:spPr>
        <p:txBody>
          <a:bodyPr>
            <a:noAutofit/>
          </a:bodyPr>
          <a:lstStyle>
            <a:lvl1pPr marL="0" indent="0" algn="l">
              <a:buNone/>
              <a:defRPr sz="2500" b="1">
                <a:solidFill>
                  <a:schemeClr val="bg1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24959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94AE-2E6A-0641-FF5B-8990792F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19999"/>
            <a:ext cx="3348000" cy="33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EBCE07BB-A77C-E6C1-170F-F31B22AD8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rgbClr val="435465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37067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EBCE07BB-A77C-E6C1-170F-F31B22AD8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43228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EBCE07BB-A77C-E6C1-170F-F31B22AD8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70922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AAEB-1F04-C6C3-D097-5035F446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20000"/>
            <a:ext cx="3248229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2248C-0CB2-C53C-7A89-AB886BB6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75853-1759-118B-503B-CC1045EB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EC2DDB-9DB4-9001-A328-07219DC6A27A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855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465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5465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B545C8AD-259F-BA8D-C0DE-AE5048E26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20000"/>
            <a:ext cx="3248229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13364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1E26-6996-89FF-60AB-7C4DC388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001" y="720000"/>
            <a:ext cx="3213500" cy="1600200"/>
          </a:xfrm>
        </p:spPr>
        <p:txBody>
          <a:bodyPr anchor="t">
            <a:normAutofit/>
          </a:bodyPr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49609-D089-C079-F4B5-57924D080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2001" y="2320200"/>
            <a:ext cx="3213500" cy="2217601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7886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CA9681-BE8D-F619-D023-E77CB9F1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3CB05-A16F-35DA-765C-EBF5216F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16FAD2-001C-07FB-417E-94C3DC37AA5C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170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5E687A-4D6B-8296-F847-C4445372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719999"/>
            <a:ext cx="3348000" cy="334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A6E7-BBAA-FDE9-8605-4FCACA0D3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2000" y="720000"/>
            <a:ext cx="5652000" cy="4882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21B2E-3CD1-2CFE-F6F5-3AB8B3D8E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5802" y="6135438"/>
            <a:ext cx="1387997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435465"/>
                </a:solidFill>
                <a:latin typeface="DM Sans" pitchFamily="2" charset="77"/>
              </a:defRPr>
            </a:lvl1pPr>
          </a:lstStyle>
          <a:p>
            <a:r>
              <a:rPr lang="en-IE"/>
              <a:t>setu.ie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3B787-9E01-7A5B-ABFB-82364CA38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1550" y="6138000"/>
            <a:ext cx="456449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435465"/>
                </a:solidFill>
                <a:latin typeface="DM Sans" pitchFamily="2" charset="77"/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1417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8" r:id="rId3"/>
    <p:sldLayoutId id="2147483659" r:id="rId4"/>
    <p:sldLayoutId id="2147483654" r:id="rId5"/>
    <p:sldLayoutId id="2147483660" r:id="rId6"/>
    <p:sldLayoutId id="2147483661" r:id="rId7"/>
    <p:sldLayoutId id="2147483650" r:id="rId8"/>
    <p:sldLayoutId id="2147483652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57" r:id="rId17"/>
    <p:sldLayoutId id="2147483655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435465"/>
          </a:solidFill>
          <a:latin typeface="DM Sans" pitchFamily="2" charset="77"/>
          <a:ea typeface="+mj-ea"/>
          <a:cs typeface="+mj-cs"/>
        </a:defRPr>
      </a:lvl1pPr>
    </p:titleStyle>
    <p:bodyStyle>
      <a:lvl1pPr marL="541338" indent="-530225" algn="l" defTabSz="914400" rtl="0" eaLnBrk="1" latinLnBrk="0" hangingPunct="1">
        <a:lnSpc>
          <a:spcPct val="90000"/>
        </a:lnSpc>
        <a:spcBef>
          <a:spcPts val="1000"/>
        </a:spcBef>
        <a:buClr>
          <a:srgbClr val="FCCA3A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1pPr>
      <a:lvl2pPr marL="541338" indent="-530225" algn="l" defTabSz="914400" rtl="0" eaLnBrk="1" latinLnBrk="0" hangingPunct="1">
        <a:lnSpc>
          <a:spcPct val="90000"/>
        </a:lnSpc>
        <a:spcBef>
          <a:spcPts val="500"/>
        </a:spcBef>
        <a:buClr>
          <a:srgbClr val="FCCA3A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2pPr>
      <a:lvl3pPr marL="541338" indent="-530225" algn="l" defTabSz="914400" rtl="0" eaLnBrk="1" latinLnBrk="0" hangingPunct="1">
        <a:lnSpc>
          <a:spcPct val="90000"/>
        </a:lnSpc>
        <a:spcBef>
          <a:spcPts val="500"/>
        </a:spcBef>
        <a:buClr>
          <a:srgbClr val="FCCA3A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3pPr>
      <a:lvl4pPr marL="541338" indent="-530225" algn="l" defTabSz="914400" rtl="0" eaLnBrk="1" latinLnBrk="0" hangingPunct="1">
        <a:lnSpc>
          <a:spcPct val="90000"/>
        </a:lnSpc>
        <a:spcBef>
          <a:spcPts val="500"/>
        </a:spcBef>
        <a:buClr>
          <a:srgbClr val="FCCA3A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4pPr>
      <a:lvl5pPr marL="541338" indent="-530225" algn="l" defTabSz="914400" rtl="0" eaLnBrk="1" latinLnBrk="0" hangingPunct="1">
        <a:lnSpc>
          <a:spcPct val="90000"/>
        </a:lnSpc>
        <a:spcBef>
          <a:spcPts val="500"/>
        </a:spcBef>
        <a:buClr>
          <a:srgbClr val="FCCA3A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1D7D-8C54-C4A2-27D6-A29215AE5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536" y="906052"/>
            <a:ext cx="5884085" cy="3343098"/>
          </a:xfrm>
        </p:spPr>
        <p:txBody>
          <a:bodyPr>
            <a:normAutofit fontScale="90000"/>
          </a:bodyPr>
          <a:lstStyle/>
          <a:p>
            <a:r>
              <a:rPr lang="en-GB" sz="3600" dirty="0" err="1"/>
              <a:t>HDip</a:t>
            </a:r>
            <a:r>
              <a:rPr lang="en-GB" sz="3600" dirty="0"/>
              <a:t>/Cert in Computer Science</a:t>
            </a:r>
            <a:br>
              <a:rPr lang="en-GB" sz="3600" dirty="0"/>
            </a:br>
            <a:r>
              <a:rPr lang="en-GB" sz="3600" dirty="0"/>
              <a:t>Progression Pathways</a:t>
            </a:r>
            <a:br>
              <a:rPr lang="en-IE" sz="3600" dirty="0"/>
            </a:br>
            <a:br>
              <a:rPr lang="en-IE" sz="3600" dirty="0"/>
            </a:br>
            <a:br>
              <a:rPr lang="en-IE" dirty="0"/>
            </a:br>
            <a:r>
              <a:rPr lang="en-IE" sz="1800" dirty="0"/>
              <a:t>Department of Computing and Mathematics </a:t>
            </a:r>
            <a:br>
              <a:rPr lang="en-IE" sz="1800" dirty="0"/>
            </a:br>
            <a:br>
              <a:rPr lang="en-IE" sz="1800" dirty="0"/>
            </a:br>
            <a:r>
              <a:rPr lang="en-IE" sz="1600" dirty="0"/>
              <a:t>15/12/2025</a:t>
            </a:r>
            <a:endParaRPr lang="en-IE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3297DC4-DB8D-745E-85C1-2FC96274C4C1}"/>
              </a:ext>
            </a:extLst>
          </p:cNvPr>
          <p:cNvSpPr>
            <a:spLocks noChangeAspect="1"/>
          </p:cNvSpPr>
          <p:nvPr/>
        </p:nvSpPr>
        <p:spPr>
          <a:xfrm>
            <a:off x="6804000" y="1"/>
            <a:ext cx="4644000" cy="5155200"/>
          </a:xfrm>
          <a:custGeom>
            <a:avLst/>
            <a:gdLst>
              <a:gd name="connsiteX0" fmla="*/ 0 w 5562600"/>
              <a:gd name="connsiteY0" fmla="*/ 0 h 6172200"/>
              <a:gd name="connsiteX1" fmla="*/ 5562600 w 5562600"/>
              <a:gd name="connsiteY1" fmla="*/ 0 h 6172200"/>
              <a:gd name="connsiteX2" fmla="*/ 5562600 w 5562600"/>
              <a:gd name="connsiteY2" fmla="*/ 3818433 h 6172200"/>
              <a:gd name="connsiteX3" fmla="*/ 5562600 w 5562600"/>
              <a:gd name="connsiteY3" fmla="*/ 3979266 h 6172200"/>
              <a:gd name="connsiteX4" fmla="*/ 5553004 w 5562600"/>
              <a:gd name="connsiteY4" fmla="*/ 3979266 h 6172200"/>
              <a:gd name="connsiteX5" fmla="*/ 5548240 w 5562600"/>
              <a:gd name="connsiteY5" fmla="*/ 4059092 h 6172200"/>
              <a:gd name="connsiteX6" fmla="*/ 2781300 w 5562600"/>
              <a:gd name="connsiteY6" fmla="*/ 6172200 h 6172200"/>
              <a:gd name="connsiteX7" fmla="*/ 14360 w 5562600"/>
              <a:gd name="connsiteY7" fmla="*/ 4059092 h 6172200"/>
              <a:gd name="connsiteX8" fmla="*/ 9597 w 5562600"/>
              <a:gd name="connsiteY8" fmla="*/ 3979266 h 6172200"/>
              <a:gd name="connsiteX9" fmla="*/ 0 w 5562600"/>
              <a:gd name="connsiteY9" fmla="*/ 3979266 h 6172200"/>
              <a:gd name="connsiteX10" fmla="*/ 0 w 5562600"/>
              <a:gd name="connsiteY10" fmla="*/ 3818433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562600" h="6172200">
                <a:moveTo>
                  <a:pt x="0" y="0"/>
                </a:moveTo>
                <a:lnTo>
                  <a:pt x="5562600" y="0"/>
                </a:lnTo>
                <a:lnTo>
                  <a:pt x="5562600" y="3818433"/>
                </a:lnTo>
                <a:lnTo>
                  <a:pt x="5562600" y="3979266"/>
                </a:lnTo>
                <a:lnTo>
                  <a:pt x="5553004" y="3979266"/>
                </a:lnTo>
                <a:lnTo>
                  <a:pt x="5548240" y="4059092"/>
                </a:lnTo>
                <a:cubicBezTo>
                  <a:pt x="5405810" y="5245994"/>
                  <a:pt x="4221366" y="6172200"/>
                  <a:pt x="2781300" y="6172200"/>
                </a:cubicBezTo>
                <a:cubicBezTo>
                  <a:pt x="1341235" y="6172200"/>
                  <a:pt x="156790" y="5245994"/>
                  <a:pt x="14360" y="4059092"/>
                </a:cubicBezTo>
                <a:lnTo>
                  <a:pt x="9597" y="3979266"/>
                </a:lnTo>
                <a:lnTo>
                  <a:pt x="0" y="3979266"/>
                </a:lnTo>
                <a:lnTo>
                  <a:pt x="0" y="3818433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12016" t="-19834" r="-12016" b="-4776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>
              <a:solidFill>
                <a:schemeClr val="bg1"/>
              </a:solidFill>
            </a:endParaRPr>
          </a:p>
        </p:txBody>
      </p:sp>
      <p:pic>
        <p:nvPicPr>
          <p:cNvPr id="3" name="Picture 4" descr=" Certificate in Computer Science 2025">
            <a:extLst>
              <a:ext uri="{FF2B5EF4-FFF2-40B4-BE49-F238E27FC236}">
                <a16:creationId xmlns:a16="http://schemas.microsoft.com/office/drawing/2014/main" id="{03A5D582-DEF4-53AD-F792-B1B219ACE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462" y="2269777"/>
            <a:ext cx="810703" cy="81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31F70B-878D-46F8-38C1-516AA585134E}"/>
              </a:ext>
            </a:extLst>
          </p:cNvPr>
          <p:cNvSpPr txBox="1"/>
          <p:nvPr/>
        </p:nvSpPr>
        <p:spPr>
          <a:xfrm>
            <a:off x="3047475" y="3245910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connecting to </a:t>
            </a:r>
            <a:r>
              <a:rPr lang="en-GB" dirty="0" err="1"/>
              <a:t>blynk.cloud</a:t>
            </a:r>
            <a:r>
              <a:rPr lang="en-GB" dirty="0"/>
              <a:t> 443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45983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computer with a question mark on it&#10;&#10;AI-generated content may be incorrect.">
            <a:extLst>
              <a:ext uri="{FF2B5EF4-FFF2-40B4-BE49-F238E27FC236}">
                <a16:creationId xmlns:a16="http://schemas.microsoft.com/office/drawing/2014/main" id="{A2CF4550-AB14-7CB8-1B24-B32AA6E7483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7813" b="7813"/>
          <a:stretch>
            <a:fillRect/>
          </a:stretch>
        </p:blipFill>
        <p:spPr>
          <a:xfrm>
            <a:off x="6874311" y="1854382"/>
            <a:ext cx="4891509" cy="275147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36C8BC9-8A70-33C0-B707-2AD6A33FA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are the options at SETU once I finish the Cert? 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6D2F8-37CF-FD56-3B0A-CF4A39B42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7061" y="4446465"/>
            <a:ext cx="4440000" cy="1090146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Direct Entry onto the Higher Diploma in Computer Science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Specialism Certificate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I’m good thanks – </a:t>
            </a:r>
            <a:r>
              <a:rPr lang="en-GB" dirty="0" err="1"/>
              <a:t>Slán</a:t>
            </a:r>
            <a:r>
              <a:rPr lang="en-GB" dirty="0"/>
              <a:t>!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01209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72959B7-25AD-53EC-CF43-FC7210C3BF9E}"/>
              </a:ext>
            </a:extLst>
          </p:cNvPr>
          <p:cNvSpPr/>
          <p:nvPr/>
        </p:nvSpPr>
        <p:spPr>
          <a:xfrm>
            <a:off x="3188458" y="151614"/>
            <a:ext cx="4452354" cy="2310432"/>
          </a:xfrm>
          <a:prstGeom prst="roundRect">
            <a:avLst/>
          </a:prstGeom>
          <a:solidFill>
            <a:srgbClr val="EDFC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7789DC-C4FC-7CAF-546F-C0BBE618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EF8968-811E-2CFE-0470-DFFFAEB29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3</a:t>
            </a:fld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C41E3D-8E4F-046C-12A5-3C94AEA93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50" y="186442"/>
            <a:ext cx="1930499" cy="1378021"/>
          </a:xfrm>
          <a:prstGeom prst="rect">
            <a:avLst/>
          </a:prstGeom>
        </p:spPr>
      </p:pic>
      <p:sp>
        <p:nvSpPr>
          <p:cNvPr id="6" name="Call-out: Line 5">
            <a:extLst>
              <a:ext uri="{FF2B5EF4-FFF2-40B4-BE49-F238E27FC236}">
                <a16:creationId xmlns:a16="http://schemas.microsoft.com/office/drawing/2014/main" id="{70948E67-96A1-EAB9-9009-444F29238F56}"/>
              </a:ext>
            </a:extLst>
          </p:cNvPr>
          <p:cNvSpPr/>
          <p:nvPr/>
        </p:nvSpPr>
        <p:spPr>
          <a:xfrm>
            <a:off x="3726820" y="1659814"/>
            <a:ext cx="3257973" cy="690880"/>
          </a:xfrm>
          <a:prstGeom prst="borderCallout1">
            <a:avLst>
              <a:gd name="adj1" fmla="val 18750"/>
              <a:gd name="adj2" fmla="val -8333"/>
              <a:gd name="adj3" fmla="val 16404"/>
              <a:gd name="adj4" fmla="val -8503"/>
            </a:avLst>
          </a:prstGeom>
          <a:solidFill>
            <a:srgbClr val="EEFA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Cert in Computer Science: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Results confirmed 5</a:t>
            </a:r>
            <a:r>
              <a:rPr lang="en-GB" baseline="30000" dirty="0">
                <a:solidFill>
                  <a:schemeClr val="tx1"/>
                </a:solidFill>
              </a:rPr>
              <a:t>th</a:t>
            </a:r>
            <a:r>
              <a:rPr lang="en-GB" dirty="0">
                <a:solidFill>
                  <a:schemeClr val="tx1"/>
                </a:solidFill>
              </a:rPr>
              <a:t> June</a:t>
            </a:r>
            <a:endParaRPr lang="en-IE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B7D45C-C304-B33A-51C6-A612A0887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172" y="310273"/>
            <a:ext cx="1187511" cy="1130358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980C93D5-6A75-133E-E3CC-08F9AA5DEB4B}"/>
              </a:ext>
            </a:extLst>
          </p:cNvPr>
          <p:cNvGrpSpPr/>
          <p:nvPr/>
        </p:nvGrpSpPr>
        <p:grpSpPr>
          <a:xfrm>
            <a:off x="5593172" y="877053"/>
            <a:ext cx="6377155" cy="5794505"/>
            <a:chOff x="5593172" y="877053"/>
            <a:chExt cx="6377155" cy="5794505"/>
          </a:xfrm>
        </p:grpSpPr>
        <p:sp>
          <p:nvSpPr>
            <p:cNvPr id="29" name="Arrow: Bent 28">
              <a:extLst>
                <a:ext uri="{FF2B5EF4-FFF2-40B4-BE49-F238E27FC236}">
                  <a16:creationId xmlns:a16="http://schemas.microsoft.com/office/drawing/2014/main" id="{909AD70C-6BCB-69CC-E013-12928E35364A}"/>
                </a:ext>
              </a:extLst>
            </p:cNvPr>
            <p:cNvSpPr/>
            <p:nvPr/>
          </p:nvSpPr>
          <p:spPr>
            <a:xfrm rot="5400000">
              <a:off x="7521647" y="996218"/>
              <a:ext cx="1674406" cy="1436076"/>
            </a:xfrm>
            <a:prstGeom prst="bentArrow">
              <a:avLst>
                <a:gd name="adj1" fmla="val 25000"/>
                <a:gd name="adj2" fmla="val 24020"/>
                <a:gd name="adj3" fmla="val 25000"/>
                <a:gd name="adj4" fmla="val 4375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 anchorCtr="1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Certs</a:t>
              </a:r>
              <a:endParaRPr lang="en-IE" dirty="0">
                <a:solidFill>
                  <a:schemeClr val="bg1"/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D9E57A7-F23E-5E19-0F5E-AA38504E5401}"/>
                </a:ext>
              </a:extLst>
            </p:cNvPr>
            <p:cNvGrpSpPr/>
            <p:nvPr/>
          </p:nvGrpSpPr>
          <p:grpSpPr>
            <a:xfrm>
              <a:off x="5593172" y="2564712"/>
              <a:ext cx="6377155" cy="4106846"/>
              <a:chOff x="5593172" y="2564712"/>
              <a:chExt cx="6377155" cy="4106846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91756F76-390E-2AA3-67E1-A0F511B3EB2A}"/>
                  </a:ext>
                </a:extLst>
              </p:cNvPr>
              <p:cNvSpPr/>
              <p:nvPr/>
            </p:nvSpPr>
            <p:spPr>
              <a:xfrm>
                <a:off x="5593172" y="2564712"/>
                <a:ext cx="6377155" cy="4106846"/>
              </a:xfrm>
              <a:prstGeom prst="roundRect">
                <a:avLst/>
              </a:prstGeom>
              <a:solidFill>
                <a:srgbClr val="EDFCF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DAE74AB4-F2B4-6020-BCBF-C6753A8222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91656" y="2654125"/>
                <a:ext cx="5534671" cy="3914767"/>
              </a:xfrm>
              <a:prstGeom prst="rect">
                <a:avLst/>
              </a:prstGeom>
            </p:spPr>
          </p:pic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6D8FC8F-C592-A359-22F7-8DD61B4C2DD6}"/>
                  </a:ext>
                </a:extLst>
              </p:cNvPr>
              <p:cNvSpPr/>
              <p:nvPr/>
            </p:nvSpPr>
            <p:spPr>
              <a:xfrm>
                <a:off x="6095999" y="3299676"/>
                <a:ext cx="887909" cy="965031"/>
              </a:xfrm>
              <a:prstGeom prst="rect">
                <a:avLst/>
              </a:prstGeom>
              <a:solidFill>
                <a:srgbClr val="EEFB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CA098E-DCC8-D30E-C959-097BC261372B}"/>
                  </a:ext>
                </a:extLst>
              </p:cNvPr>
              <p:cNvSpPr/>
              <p:nvPr/>
            </p:nvSpPr>
            <p:spPr>
              <a:xfrm>
                <a:off x="7871082" y="3429000"/>
                <a:ext cx="887909" cy="835707"/>
              </a:xfrm>
              <a:prstGeom prst="rect">
                <a:avLst/>
              </a:prstGeom>
              <a:solidFill>
                <a:srgbClr val="EEFB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49BB731-B68E-F666-87EA-AD6A321DB631}"/>
                  </a:ext>
                </a:extLst>
              </p:cNvPr>
              <p:cNvSpPr/>
              <p:nvPr/>
            </p:nvSpPr>
            <p:spPr>
              <a:xfrm>
                <a:off x="8911392" y="3428999"/>
                <a:ext cx="734774" cy="835707"/>
              </a:xfrm>
              <a:prstGeom prst="rect">
                <a:avLst/>
              </a:prstGeom>
              <a:solidFill>
                <a:srgbClr val="EEFB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5F3D61C-C5D9-C6F8-05C9-F72AEB177CE3}"/>
                  </a:ext>
                </a:extLst>
              </p:cNvPr>
              <p:cNvSpPr/>
              <p:nvPr/>
            </p:nvSpPr>
            <p:spPr>
              <a:xfrm>
                <a:off x="10685741" y="3402588"/>
                <a:ext cx="887909" cy="835707"/>
              </a:xfrm>
              <a:prstGeom prst="rect">
                <a:avLst/>
              </a:prstGeom>
              <a:solidFill>
                <a:srgbClr val="EEFB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A08E9FE-609C-EF1E-6E22-B697EC43584B}"/>
              </a:ext>
            </a:extLst>
          </p:cNvPr>
          <p:cNvGrpSpPr/>
          <p:nvPr/>
        </p:nvGrpSpPr>
        <p:grpSpPr>
          <a:xfrm>
            <a:off x="285076" y="877053"/>
            <a:ext cx="6639243" cy="5889507"/>
            <a:chOff x="285076" y="909554"/>
            <a:chExt cx="6639243" cy="5889507"/>
          </a:xfrm>
        </p:grpSpPr>
        <p:sp>
          <p:nvSpPr>
            <p:cNvPr id="30" name="Arrow: Bent 29">
              <a:extLst>
                <a:ext uri="{FF2B5EF4-FFF2-40B4-BE49-F238E27FC236}">
                  <a16:creationId xmlns:a16="http://schemas.microsoft.com/office/drawing/2014/main" id="{32DE5608-89C3-9ADB-E893-0AB59DCF7620}"/>
                </a:ext>
              </a:extLst>
            </p:cNvPr>
            <p:cNvSpPr/>
            <p:nvPr/>
          </p:nvSpPr>
          <p:spPr>
            <a:xfrm rot="5400000" flipV="1">
              <a:off x="1542176" y="937678"/>
              <a:ext cx="1674406" cy="1618158"/>
            </a:xfrm>
            <a:prstGeom prst="bentArrow">
              <a:avLst>
                <a:gd name="adj1" fmla="val 25000"/>
                <a:gd name="adj2" fmla="val 24020"/>
                <a:gd name="adj3" fmla="val 25000"/>
                <a:gd name="adj4" fmla="val 4375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t" anchorCtr="1"/>
            <a:lstStyle/>
            <a:p>
              <a:pPr algn="ctr"/>
              <a:r>
                <a:rPr lang="en-GB" dirty="0" err="1">
                  <a:solidFill>
                    <a:schemeClr val="bg1"/>
                  </a:solidFill>
                </a:rPr>
                <a:t>HDip</a:t>
              </a:r>
              <a:endParaRPr lang="en-IE" dirty="0">
                <a:solidFill>
                  <a:schemeClr val="bg1"/>
                </a:solidFill>
              </a:endParaRP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EA3AE62-AEA5-4E39-A090-6240E611297C}"/>
                </a:ext>
              </a:extLst>
            </p:cNvPr>
            <p:cNvGrpSpPr/>
            <p:nvPr/>
          </p:nvGrpSpPr>
          <p:grpSpPr>
            <a:xfrm>
              <a:off x="285076" y="2597213"/>
              <a:ext cx="6639243" cy="4201848"/>
              <a:chOff x="422006" y="2951330"/>
              <a:chExt cx="6639243" cy="4201848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B69FD9FA-A818-0091-2EC4-548898A94941}"/>
                  </a:ext>
                </a:extLst>
              </p:cNvPr>
              <p:cNvGrpSpPr/>
              <p:nvPr/>
            </p:nvGrpSpPr>
            <p:grpSpPr>
              <a:xfrm>
                <a:off x="422006" y="2951330"/>
                <a:ext cx="4710251" cy="4201848"/>
                <a:chOff x="554911" y="2551459"/>
                <a:chExt cx="4710251" cy="4201848"/>
              </a:xfrm>
            </p:grpSpPr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DEEA622E-0D4A-7AA4-D06D-DFB947E03720}"/>
                    </a:ext>
                  </a:extLst>
                </p:cNvPr>
                <p:cNvSpPr/>
                <p:nvPr/>
              </p:nvSpPr>
              <p:spPr>
                <a:xfrm>
                  <a:off x="554911" y="2551459"/>
                  <a:ext cx="4710251" cy="4201848"/>
                </a:xfrm>
                <a:prstGeom prst="roundRect">
                  <a:avLst/>
                </a:prstGeom>
                <a:solidFill>
                  <a:srgbClr val="EDFCFD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E"/>
                </a:p>
              </p:txBody>
            </p:sp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B74A7DFA-FD2E-8C27-7E7D-F23B2781FE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20588" y="2999568"/>
                  <a:ext cx="1006005" cy="844191"/>
                </a:xfrm>
                <a:prstGeom prst="rect">
                  <a:avLst/>
                </a:prstGeom>
              </p:spPr>
            </p:pic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35CE0E9-287A-DAE3-4E02-CC62A27FC1F8}"/>
                    </a:ext>
                  </a:extLst>
                </p:cNvPr>
                <p:cNvSpPr txBox="1"/>
                <p:nvPr/>
              </p:nvSpPr>
              <p:spPr>
                <a:xfrm>
                  <a:off x="640756" y="3114712"/>
                  <a:ext cx="1859087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b="1" dirty="0"/>
                    <a:t>Entry to Year 2</a:t>
                  </a:r>
                </a:p>
                <a:p>
                  <a:r>
                    <a:rPr lang="en-GB" sz="1200" dirty="0"/>
                    <a:t>Apply via SETU Website</a:t>
                  </a:r>
                </a:p>
                <a:p>
                  <a:r>
                    <a:rPr lang="en-GB" sz="1200" dirty="0"/>
                    <a:t>Fee €3500 (Y2 Entry) </a:t>
                  </a:r>
                  <a:endParaRPr lang="en-IE" sz="1200" dirty="0"/>
                </a:p>
              </p:txBody>
            </p: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6768A6DE-E79E-C9AF-3982-21F40A6E8859}"/>
                    </a:ext>
                  </a:extLst>
                </p:cNvPr>
                <p:cNvGrpSpPr/>
                <p:nvPr/>
              </p:nvGrpSpPr>
              <p:grpSpPr>
                <a:xfrm>
                  <a:off x="741979" y="3992599"/>
                  <a:ext cx="4305715" cy="1650148"/>
                  <a:chOff x="665673" y="4829331"/>
                  <a:chExt cx="4305715" cy="1650148"/>
                </a:xfrm>
              </p:grpSpPr>
              <p:pic>
                <p:nvPicPr>
                  <p:cNvPr id="18" name="Picture 17">
                    <a:extLst>
                      <a:ext uri="{FF2B5EF4-FFF2-40B4-BE49-F238E27FC236}">
                        <a16:creationId xmlns:a16="http://schemas.microsoft.com/office/drawing/2014/main" id="{5C4837C9-EF94-C7FC-1142-94152F922DA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665673" y="4829331"/>
                    <a:ext cx="4305715" cy="1650148"/>
                  </a:xfrm>
                  <a:prstGeom prst="rect">
                    <a:avLst/>
                  </a:prstGeom>
                </p:spPr>
              </p:pic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20081D46-1B06-483D-0451-34F9914F95AF}"/>
                      </a:ext>
                    </a:extLst>
                  </p:cNvPr>
                  <p:cNvSpPr/>
                  <p:nvPr/>
                </p:nvSpPr>
                <p:spPr>
                  <a:xfrm>
                    <a:off x="3009413" y="4829331"/>
                    <a:ext cx="1811969" cy="174931"/>
                  </a:xfrm>
                  <a:prstGeom prst="rect">
                    <a:avLst/>
                  </a:prstGeom>
                  <a:solidFill>
                    <a:srgbClr val="EDFCFD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dirty="0">
                        <a:solidFill>
                          <a:schemeClr val="tx1"/>
                        </a:solidFill>
                      </a:rPr>
                      <a:t>Streams</a:t>
                    </a:r>
                    <a:endParaRPr lang="en-I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4AA0974F-7D37-1FE9-EEAE-C19C6DF8A6BF}"/>
                      </a:ext>
                    </a:extLst>
                  </p:cNvPr>
                  <p:cNvSpPr/>
                  <p:nvPr/>
                </p:nvSpPr>
                <p:spPr>
                  <a:xfrm>
                    <a:off x="665673" y="5479712"/>
                    <a:ext cx="668177" cy="593917"/>
                  </a:xfrm>
                  <a:prstGeom prst="rect">
                    <a:avLst/>
                  </a:prstGeom>
                  <a:solidFill>
                    <a:srgbClr val="EEFBF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E"/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A6DA7DD4-A5C3-315D-7792-E277E13406FE}"/>
                      </a:ext>
                    </a:extLst>
                  </p:cNvPr>
                  <p:cNvSpPr/>
                  <p:nvPr/>
                </p:nvSpPr>
                <p:spPr>
                  <a:xfrm>
                    <a:off x="2096925" y="5471548"/>
                    <a:ext cx="668177" cy="663890"/>
                  </a:xfrm>
                  <a:prstGeom prst="rect">
                    <a:avLst/>
                  </a:prstGeom>
                  <a:solidFill>
                    <a:srgbClr val="EEFBF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E"/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1522D08C-059A-E5C9-2150-C95679BE3CC7}"/>
                      </a:ext>
                    </a:extLst>
                  </p:cNvPr>
                  <p:cNvSpPr/>
                  <p:nvPr/>
                </p:nvSpPr>
                <p:spPr>
                  <a:xfrm>
                    <a:off x="2829497" y="5450771"/>
                    <a:ext cx="668177" cy="663890"/>
                  </a:xfrm>
                  <a:prstGeom prst="rect">
                    <a:avLst/>
                  </a:prstGeom>
                  <a:solidFill>
                    <a:srgbClr val="EEFBF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E"/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E58C5A5F-34D7-A505-7FF9-54DEE73DF902}"/>
                      </a:ext>
                    </a:extLst>
                  </p:cNvPr>
                  <p:cNvSpPr/>
                  <p:nvPr/>
                </p:nvSpPr>
                <p:spPr>
                  <a:xfrm>
                    <a:off x="4303211" y="5421301"/>
                    <a:ext cx="668177" cy="663890"/>
                  </a:xfrm>
                  <a:prstGeom prst="rect">
                    <a:avLst/>
                  </a:prstGeom>
                  <a:solidFill>
                    <a:srgbClr val="EEFBF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E"/>
                  </a:p>
                </p:txBody>
              </p:sp>
            </p:grpSp>
            <p:pic>
              <p:nvPicPr>
                <p:cNvPr id="41" name="Picture 40">
                  <a:extLst>
                    <a:ext uri="{FF2B5EF4-FFF2-40B4-BE49-F238E27FC236}">
                      <a16:creationId xmlns:a16="http://schemas.microsoft.com/office/drawing/2014/main" id="{5D08ACDD-7D2D-DE8A-558A-89ECF2E120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 rot="10800000" flipH="1">
                  <a:off x="1422942" y="5630293"/>
                  <a:ext cx="2980566" cy="520765"/>
                </a:xfrm>
                <a:prstGeom prst="rect">
                  <a:avLst/>
                </a:prstGeom>
              </p:spPr>
            </p:pic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F05FF0B1-8391-1ADD-177E-DA113403355F}"/>
                    </a:ext>
                  </a:extLst>
                </p:cNvPr>
                <p:cNvSpPr/>
                <p:nvPr/>
              </p:nvSpPr>
              <p:spPr>
                <a:xfrm>
                  <a:off x="3563672" y="6006517"/>
                  <a:ext cx="949605" cy="257670"/>
                </a:xfrm>
                <a:prstGeom prst="rect">
                  <a:avLst/>
                </a:prstGeom>
                <a:solidFill>
                  <a:srgbClr val="EDFCF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E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846826EB-C354-4036-407F-02373629EB38}"/>
                    </a:ext>
                  </a:extLst>
                </p:cNvPr>
                <p:cNvSpPr/>
                <p:nvPr/>
              </p:nvSpPr>
              <p:spPr>
                <a:xfrm>
                  <a:off x="1460862" y="6115036"/>
                  <a:ext cx="2684200" cy="59134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/>
                    <a:t>Project/Industry Pathways</a:t>
                  </a:r>
                  <a:br>
                    <a:rPr lang="en-GB" dirty="0"/>
                  </a:br>
                  <a:r>
                    <a:rPr lang="en-GB" dirty="0"/>
                    <a:t>(Placement)</a:t>
                  </a:r>
                  <a:endParaRPr lang="en-IE" dirty="0"/>
                </a:p>
              </p:txBody>
            </p: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9324AF1-13C3-5D10-FF72-D2D54EFABF2F}"/>
                  </a:ext>
                </a:extLst>
              </p:cNvPr>
              <p:cNvSpPr txBox="1"/>
              <p:nvPr/>
            </p:nvSpPr>
            <p:spPr>
              <a:xfrm>
                <a:off x="966647" y="2984905"/>
                <a:ext cx="60946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800" b="1" dirty="0" err="1"/>
                  <a:t>HDip</a:t>
                </a:r>
                <a:r>
                  <a:rPr lang="en-GB" sz="1800" b="1" dirty="0"/>
                  <a:t> in Computer Science</a:t>
                </a:r>
                <a:endParaRPr lang="en-IE" dirty="0"/>
              </a:p>
            </p:txBody>
          </p:sp>
        </p:grpSp>
      </p:grp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D1635E22-7945-B1B4-BBFC-F0B4A75C00FC}"/>
              </a:ext>
            </a:extLst>
          </p:cNvPr>
          <p:cNvSpPr/>
          <p:nvPr/>
        </p:nvSpPr>
        <p:spPr>
          <a:xfrm>
            <a:off x="1986672" y="3453946"/>
            <a:ext cx="1116758" cy="804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2756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05D8F8-9574-208C-DFCB-6BDA1B873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3553" y="5501116"/>
            <a:ext cx="1387997" cy="180000"/>
          </a:xfrm>
        </p:spPr>
        <p:txBody>
          <a:bodyPr/>
          <a:lstStyle/>
          <a:p>
            <a:r>
              <a:rPr lang="en-IE" dirty="0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C63F47-FA41-BF88-0A03-EEAD80A2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5898" y="5542342"/>
            <a:ext cx="456449" cy="180000"/>
          </a:xfrm>
        </p:spPr>
        <p:txBody>
          <a:bodyPr/>
          <a:lstStyle/>
          <a:p>
            <a:fld id="{95850013-0FED-DB4F-A95E-FFF4A5127B9C}" type="slidenum">
              <a:rPr lang="en-IE" smtClean="0"/>
              <a:t>4</a:t>
            </a:fld>
            <a:endParaRPr lang="en-I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B7B0F8-5E15-5B7F-3891-AF2986BA85B5}"/>
              </a:ext>
            </a:extLst>
          </p:cNvPr>
          <p:cNvSpPr txBox="1"/>
          <p:nvPr/>
        </p:nvSpPr>
        <p:spPr>
          <a:xfrm>
            <a:off x="1331680" y="256825"/>
            <a:ext cx="6805892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435465"/>
                </a:solidFill>
                <a:latin typeface="DM Sans" pitchFamily="2" charset="77"/>
                <a:ea typeface="+mj-ea"/>
                <a:cs typeface="+mj-cs"/>
              </a:rPr>
              <a:t>1. Direct Entry onto the Higher Diploma in Computer Science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55CD63-87A1-85D4-CFA4-0E3061C57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52" y="1581321"/>
            <a:ext cx="4077523" cy="1472064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B1C05A-95D9-229A-0CE0-6408FB339ADF}"/>
              </a:ext>
            </a:extLst>
          </p:cNvPr>
          <p:cNvCxnSpPr>
            <a:cxnSpLocks/>
          </p:cNvCxnSpPr>
          <p:nvPr/>
        </p:nvCxnSpPr>
        <p:spPr>
          <a:xfrm>
            <a:off x="4688140" y="2317353"/>
            <a:ext cx="6140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C6DA162-D165-0222-1867-15E0618F1A6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692075" y="2317353"/>
            <a:ext cx="614001" cy="1314835"/>
          </a:xfrm>
          <a:prstGeom prst="bentConnector3">
            <a:avLst>
              <a:gd name="adj1" fmla="val 391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19E8D6A6-4E1E-69E1-82F6-0B9D8F2D0C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32"/>
          <a:stretch>
            <a:fillRect/>
          </a:stretch>
        </p:blipFill>
        <p:spPr>
          <a:xfrm>
            <a:off x="5288689" y="3258320"/>
            <a:ext cx="4094910" cy="1516165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55111C5-66E3-38BF-4C54-6FAF41620CFA}"/>
              </a:ext>
            </a:extLst>
          </p:cNvPr>
          <p:cNvCxnSpPr>
            <a:cxnSpLocks/>
          </p:cNvCxnSpPr>
          <p:nvPr/>
        </p:nvCxnSpPr>
        <p:spPr>
          <a:xfrm flipV="1">
            <a:off x="9392756" y="2298634"/>
            <a:ext cx="503803" cy="2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0AFEEFAD-E3AF-7771-BA2C-FFDC3ABD4164}"/>
              </a:ext>
            </a:extLst>
          </p:cNvPr>
          <p:cNvCxnSpPr>
            <a:cxnSpLocks/>
            <a:stCxn id="55" idx="3"/>
          </p:cNvCxnSpPr>
          <p:nvPr/>
        </p:nvCxnSpPr>
        <p:spPr>
          <a:xfrm flipV="1">
            <a:off x="9383599" y="2331316"/>
            <a:ext cx="297291" cy="1685087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E5C29E0-B000-8D7F-436B-2051F427A786}"/>
              </a:ext>
            </a:extLst>
          </p:cNvPr>
          <p:cNvSpPr txBox="1"/>
          <p:nvPr/>
        </p:nvSpPr>
        <p:spPr>
          <a:xfrm>
            <a:off x="1942016" y="1591190"/>
            <a:ext cx="336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General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57780AC-71A5-DBBC-A450-CDA77069FCF1}"/>
              </a:ext>
            </a:extLst>
          </p:cNvPr>
          <p:cNvSpPr txBox="1"/>
          <p:nvPr/>
        </p:nvSpPr>
        <p:spPr>
          <a:xfrm>
            <a:off x="6032631" y="3286590"/>
            <a:ext cx="4525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100" b="1" dirty="0"/>
              <a:t>Artificial Intelligence &amp; Machine Learning</a:t>
            </a:r>
          </a:p>
        </p:txBody>
      </p:sp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93553DD7-D07A-3E1F-3155-C5BEACF855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5117" y="1723949"/>
            <a:ext cx="2268885" cy="11493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F5E718-381C-1B7E-0141-947EF63FB87E}"/>
              </a:ext>
            </a:extLst>
          </p:cNvPr>
          <p:cNvSpPr txBox="1"/>
          <p:nvPr/>
        </p:nvSpPr>
        <p:spPr>
          <a:xfrm>
            <a:off x="882032" y="1192839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Sept 25</a:t>
            </a:r>
            <a:endParaRPr lang="en-I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E8E1B-30CC-A248-1687-C998E37120DA}"/>
              </a:ext>
            </a:extLst>
          </p:cNvPr>
          <p:cNvSpPr txBox="1"/>
          <p:nvPr/>
        </p:nvSpPr>
        <p:spPr>
          <a:xfrm>
            <a:off x="5393899" y="1229538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Sept 26</a:t>
            </a:r>
            <a:endParaRPr lang="en-I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037635-B6A8-2A48-32AB-0BFA4D81C438}"/>
              </a:ext>
            </a:extLst>
          </p:cNvPr>
          <p:cNvSpPr txBox="1"/>
          <p:nvPr/>
        </p:nvSpPr>
        <p:spPr>
          <a:xfrm>
            <a:off x="2653313" y="1181539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Jan 26</a:t>
            </a:r>
            <a:endParaRPr lang="en-I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51D082-48B0-3EF6-FEC8-A47F1A71D93A}"/>
              </a:ext>
            </a:extLst>
          </p:cNvPr>
          <p:cNvSpPr txBox="1"/>
          <p:nvPr/>
        </p:nvSpPr>
        <p:spPr>
          <a:xfrm>
            <a:off x="9895117" y="1293174"/>
            <a:ext cx="17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June 27 – Dec27</a:t>
            </a:r>
            <a:endParaRPr lang="en-I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7F66D-A93C-61A6-AB61-76C0B30FD988}"/>
              </a:ext>
            </a:extLst>
          </p:cNvPr>
          <p:cNvSpPr txBox="1"/>
          <p:nvPr/>
        </p:nvSpPr>
        <p:spPr>
          <a:xfrm>
            <a:off x="7359795" y="1229220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Jan 27</a:t>
            </a:r>
            <a:endParaRPr lang="en-IE" dirty="0"/>
          </a:p>
        </p:txBody>
      </p:sp>
      <p:pic>
        <p:nvPicPr>
          <p:cNvPr id="1028" name="Picture 4" descr=" Certificate in Computer Science 2025">
            <a:extLst>
              <a:ext uri="{FF2B5EF4-FFF2-40B4-BE49-F238E27FC236}">
                <a16:creationId xmlns:a16="http://schemas.microsoft.com/office/drawing/2014/main" id="{071A4645-F896-9816-308A-EB93648B6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80" y="298738"/>
            <a:ext cx="810703" cy="81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FD5AE3A-7507-4006-1C76-984438B56A0D}"/>
              </a:ext>
            </a:extLst>
          </p:cNvPr>
          <p:cNvSpPr txBox="1"/>
          <p:nvPr/>
        </p:nvSpPr>
        <p:spPr>
          <a:xfrm>
            <a:off x="732562" y="3676574"/>
            <a:ext cx="3514318" cy="8125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GB" dirty="0">
                <a:solidFill>
                  <a:srgbClr val="435465"/>
                </a:solidFill>
                <a:latin typeface="Inter Medium" panose="02000603000000020004" pitchFamily="2" charset="0"/>
              </a:rPr>
              <a:t>You have completed Cert in Computer Science</a:t>
            </a:r>
            <a:endParaRPr lang="en-IE" dirty="0">
              <a:solidFill>
                <a:srgbClr val="435465"/>
              </a:solidFill>
              <a:latin typeface="Inter Medium" panose="02000603000000020004" pitchFamily="2" charset="0"/>
            </a:endParaRPr>
          </a:p>
          <a:p>
            <a:endParaRPr lang="en-I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0423AA-9890-E620-8E58-D88243DE8BA5}"/>
              </a:ext>
            </a:extLst>
          </p:cNvPr>
          <p:cNvSpPr txBox="1"/>
          <p:nvPr/>
        </p:nvSpPr>
        <p:spPr>
          <a:xfrm>
            <a:off x="5169177" y="749813"/>
            <a:ext cx="3949799" cy="6051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Advanced Entry to </a:t>
            </a:r>
            <a:r>
              <a:rPr lang="en-IE" b="1" dirty="0" err="1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HDip</a:t>
            </a: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 </a:t>
            </a:r>
            <a:r>
              <a:rPr lang="en-IE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from Cert</a:t>
            </a:r>
          </a:p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No Springboard Funding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D87F62BD-0E4D-FC72-FD6E-D1E8A1306D66}"/>
              </a:ext>
            </a:extLst>
          </p:cNvPr>
          <p:cNvSpPr/>
          <p:nvPr/>
        </p:nvSpPr>
        <p:spPr>
          <a:xfrm rot="10800000">
            <a:off x="2394360" y="3056937"/>
            <a:ext cx="500520" cy="5752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04403E29-AED7-C52D-89A2-C89B4BC09EE3}"/>
              </a:ext>
            </a:extLst>
          </p:cNvPr>
          <p:cNvSpPr/>
          <p:nvPr/>
        </p:nvSpPr>
        <p:spPr>
          <a:xfrm>
            <a:off x="6951528" y="1340863"/>
            <a:ext cx="211708" cy="2876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19AF6C-4677-93EE-D346-46C720202859}"/>
              </a:ext>
            </a:extLst>
          </p:cNvPr>
          <p:cNvSpPr txBox="1"/>
          <p:nvPr/>
        </p:nvSpPr>
        <p:spPr>
          <a:xfrm>
            <a:off x="9765430" y="3310194"/>
            <a:ext cx="2398572" cy="7626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Placement </a:t>
            </a:r>
            <a:b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</a:b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timeframe </a:t>
            </a:r>
            <a:b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</a:b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 </a:t>
            </a:r>
            <a:r>
              <a:rPr lang="en-IE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June-Sept</a:t>
            </a:r>
            <a:endParaRPr lang="en-IE" b="1" dirty="0">
              <a:solidFill>
                <a:srgbClr val="435465"/>
              </a:solidFill>
              <a:latin typeface="Inter Medium" panose="02000603000000020004" pitchFamily="2" charset="0"/>
              <a:ea typeface="Inter Medium" panose="02000603000000020004" pitchFamily="2" charset="0"/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3AE1A8AC-5446-C1E9-927B-7A31621C310E}"/>
              </a:ext>
            </a:extLst>
          </p:cNvPr>
          <p:cNvSpPr/>
          <p:nvPr/>
        </p:nvSpPr>
        <p:spPr>
          <a:xfrm rot="10800000">
            <a:off x="10708306" y="2820892"/>
            <a:ext cx="438034" cy="4893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3E5E1E-FB81-09C6-0B3B-5A03A9DBF1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0393" y="1650787"/>
            <a:ext cx="4054974" cy="154609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C6E798DE-1E17-0E41-5617-F783DA1AB0C8}"/>
              </a:ext>
            </a:extLst>
          </p:cNvPr>
          <p:cNvSpPr txBox="1"/>
          <p:nvPr/>
        </p:nvSpPr>
        <p:spPr>
          <a:xfrm>
            <a:off x="6397073" y="1700454"/>
            <a:ext cx="336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41111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1" grpId="0"/>
      <p:bldP spid="7" grpId="0"/>
      <p:bldP spid="9" grpId="0"/>
      <p:bldP spid="11" grpId="0"/>
      <p:bldP spid="13" grpId="0"/>
      <p:bldP spid="14" grpId="0"/>
      <p:bldP spid="18" grpId="0" animBg="1"/>
      <p:bldP spid="20" grpId="0" animBg="1"/>
      <p:bldP spid="21" grpId="0" animBg="1"/>
      <p:bldP spid="22" grpId="0" animBg="1"/>
      <p:bldP spid="24" grpId="0" animBg="1"/>
      <p:bldP spid="27" grpId="0" animBg="1"/>
      <p:bldP spid="8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BBC5B-4797-4FFE-EDB1-5EFD2A34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6E224E-3469-CBD8-C8AE-59B1ACD12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838" y="2177856"/>
            <a:ext cx="4054974" cy="139670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1EEE2-DF9B-7135-FBB1-19B52CCAA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3553" y="6134664"/>
            <a:ext cx="1387997" cy="180000"/>
          </a:xfrm>
        </p:spPr>
        <p:txBody>
          <a:bodyPr/>
          <a:lstStyle/>
          <a:p>
            <a:r>
              <a:rPr lang="en-IE" dirty="0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9C55-7A93-25C6-3297-3B4516356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5898" y="6175890"/>
            <a:ext cx="456449" cy="180000"/>
          </a:xfrm>
        </p:spPr>
        <p:txBody>
          <a:bodyPr/>
          <a:lstStyle/>
          <a:p>
            <a:fld id="{95850013-0FED-DB4F-A95E-FFF4A5127B9C}" type="slidenum">
              <a:rPr lang="en-IE" smtClean="0"/>
              <a:t>5</a:t>
            </a:fld>
            <a:endParaRPr lang="en-I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1A721F-DBB6-7D97-4F01-81B1B8A82727}"/>
              </a:ext>
            </a:extLst>
          </p:cNvPr>
          <p:cNvSpPr txBox="1"/>
          <p:nvPr/>
        </p:nvSpPr>
        <p:spPr>
          <a:xfrm>
            <a:off x="1442383" y="250811"/>
            <a:ext cx="10023515" cy="1261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435465"/>
                </a:solidFill>
                <a:latin typeface="DM Sans" pitchFamily="2" charset="77"/>
                <a:ea typeface="+mj-ea"/>
                <a:cs typeface="+mj-cs"/>
              </a:rPr>
              <a:t>2. Cert in Computer </a:t>
            </a:r>
            <a:br>
              <a:rPr lang="en-GB" sz="2800" b="1" dirty="0">
                <a:solidFill>
                  <a:srgbClr val="435465"/>
                </a:solidFill>
                <a:latin typeface="DM Sans" pitchFamily="2" charset="77"/>
                <a:ea typeface="+mj-ea"/>
                <a:cs typeface="+mj-cs"/>
              </a:rPr>
            </a:br>
            <a:r>
              <a:rPr lang="en-GB" sz="2800" b="1" dirty="0">
                <a:solidFill>
                  <a:srgbClr val="435465"/>
                </a:solidFill>
                <a:latin typeface="DM Sans" pitchFamily="2" charset="77"/>
                <a:ea typeface="+mj-ea"/>
                <a:cs typeface="+mj-cs"/>
              </a:rPr>
              <a:t>Science:</a:t>
            </a:r>
            <a:br>
              <a:rPr lang="en-GB" sz="2800" b="1" dirty="0">
                <a:solidFill>
                  <a:srgbClr val="435465"/>
                </a:solidFill>
                <a:latin typeface="DM Sans" pitchFamily="2" charset="77"/>
                <a:ea typeface="+mj-ea"/>
                <a:cs typeface="+mj-cs"/>
              </a:rPr>
            </a:br>
            <a:r>
              <a:rPr lang="en-GB" sz="2800" b="1" dirty="0">
                <a:solidFill>
                  <a:srgbClr val="435465"/>
                </a:solidFill>
                <a:latin typeface="DM Sans" pitchFamily="2" charset="77"/>
                <a:ea typeface="+mj-ea"/>
                <a:cs typeface="+mj-cs"/>
              </a:rPr>
              <a:t>Specialism Cert Progression</a:t>
            </a:r>
            <a:endParaRPr lang="en-IE" sz="2800" b="1" dirty="0">
              <a:solidFill>
                <a:srgbClr val="435465"/>
              </a:solidFill>
              <a:latin typeface="DM Sans" pitchFamily="2" charset="77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EC4241-CC50-E695-46A8-B73776EE4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52" y="2214869"/>
            <a:ext cx="4077523" cy="1472064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3D0AF5-0A3F-49CB-04A6-089CC1ADB509}"/>
              </a:ext>
            </a:extLst>
          </p:cNvPr>
          <p:cNvCxnSpPr>
            <a:cxnSpLocks/>
          </p:cNvCxnSpPr>
          <p:nvPr/>
        </p:nvCxnSpPr>
        <p:spPr>
          <a:xfrm>
            <a:off x="4688140" y="2950901"/>
            <a:ext cx="6140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C658BF4-7CAA-9511-3D12-15DCDEFF11C6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692075" y="2950901"/>
            <a:ext cx="614001" cy="1314835"/>
          </a:xfrm>
          <a:prstGeom prst="bentConnector3">
            <a:avLst>
              <a:gd name="adj1" fmla="val 391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32124C16-FBE7-F2C6-386B-D8C5ECC537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32"/>
          <a:stretch>
            <a:fillRect/>
          </a:stretch>
        </p:blipFill>
        <p:spPr>
          <a:xfrm>
            <a:off x="5306078" y="3663032"/>
            <a:ext cx="4094910" cy="1516165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E0DFD066-81D1-4B91-74C5-D98A20538BF4}"/>
              </a:ext>
            </a:extLst>
          </p:cNvPr>
          <p:cNvSpPr txBox="1"/>
          <p:nvPr/>
        </p:nvSpPr>
        <p:spPr>
          <a:xfrm>
            <a:off x="1942016" y="2224738"/>
            <a:ext cx="336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General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928FD5C-7966-BA2E-D94B-79239F690761}"/>
              </a:ext>
            </a:extLst>
          </p:cNvPr>
          <p:cNvSpPr txBox="1"/>
          <p:nvPr/>
        </p:nvSpPr>
        <p:spPr>
          <a:xfrm>
            <a:off x="6024399" y="2214869"/>
            <a:ext cx="336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Software Engineering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FA3F997-F65D-9C26-599B-C2C948A039A4}"/>
              </a:ext>
            </a:extLst>
          </p:cNvPr>
          <p:cNvSpPr txBox="1"/>
          <p:nvPr/>
        </p:nvSpPr>
        <p:spPr>
          <a:xfrm>
            <a:off x="6040861" y="3708543"/>
            <a:ext cx="4525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100" b="1" dirty="0"/>
              <a:t>Artificial Intelligence &amp; Machine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8443F-D5E8-57A4-50F1-FA565B8FFF9D}"/>
              </a:ext>
            </a:extLst>
          </p:cNvPr>
          <p:cNvSpPr txBox="1"/>
          <p:nvPr/>
        </p:nvSpPr>
        <p:spPr>
          <a:xfrm>
            <a:off x="882032" y="1826387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Sept 25</a:t>
            </a:r>
            <a:endParaRPr lang="en-I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CCC5D-DE4E-46C6-8461-32F762B13681}"/>
              </a:ext>
            </a:extLst>
          </p:cNvPr>
          <p:cNvSpPr txBox="1"/>
          <p:nvPr/>
        </p:nvSpPr>
        <p:spPr>
          <a:xfrm>
            <a:off x="5393899" y="1863086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Sept 26</a:t>
            </a:r>
            <a:endParaRPr lang="en-I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9CFD33-67ED-93C1-7314-9E3C86837A4E}"/>
              </a:ext>
            </a:extLst>
          </p:cNvPr>
          <p:cNvSpPr txBox="1"/>
          <p:nvPr/>
        </p:nvSpPr>
        <p:spPr>
          <a:xfrm>
            <a:off x="2653313" y="1815087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Jan 26</a:t>
            </a:r>
            <a:endParaRPr lang="en-I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82330E-4E5B-0336-1928-3E25E373CD69}"/>
              </a:ext>
            </a:extLst>
          </p:cNvPr>
          <p:cNvSpPr txBox="1"/>
          <p:nvPr/>
        </p:nvSpPr>
        <p:spPr>
          <a:xfrm>
            <a:off x="7359795" y="1862768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Jan 27</a:t>
            </a:r>
            <a:endParaRPr lang="en-IE" dirty="0"/>
          </a:p>
        </p:txBody>
      </p:sp>
      <p:pic>
        <p:nvPicPr>
          <p:cNvPr id="1028" name="Picture 4" descr=" Certificate in Computer Science 2025">
            <a:extLst>
              <a:ext uri="{FF2B5EF4-FFF2-40B4-BE49-F238E27FC236}">
                <a16:creationId xmlns:a16="http://schemas.microsoft.com/office/drawing/2014/main" id="{32A523E2-C83D-1B06-36AB-86F7951B4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80" y="298738"/>
            <a:ext cx="810703" cy="81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2091254-3AE1-D517-7E4C-B09E24322177}"/>
              </a:ext>
            </a:extLst>
          </p:cNvPr>
          <p:cNvSpPr txBox="1"/>
          <p:nvPr/>
        </p:nvSpPr>
        <p:spPr>
          <a:xfrm>
            <a:off x="732562" y="4310122"/>
            <a:ext cx="3514318" cy="8125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GB" dirty="0">
                <a:solidFill>
                  <a:srgbClr val="435465"/>
                </a:solidFill>
                <a:latin typeface="Inter Medium" panose="02000603000000020004" pitchFamily="2" charset="0"/>
              </a:rPr>
              <a:t>You have completed Cert in Computer Science</a:t>
            </a:r>
            <a:endParaRPr lang="en-IE" dirty="0">
              <a:solidFill>
                <a:srgbClr val="435465"/>
              </a:solidFill>
              <a:latin typeface="Inter Medium" panose="02000603000000020004" pitchFamily="2" charset="0"/>
            </a:endParaRPr>
          </a:p>
          <a:p>
            <a:endParaRPr lang="en-I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8E7130-B02B-3498-516A-B0605E22A0BA}"/>
              </a:ext>
            </a:extLst>
          </p:cNvPr>
          <p:cNvSpPr txBox="1"/>
          <p:nvPr/>
        </p:nvSpPr>
        <p:spPr>
          <a:xfrm>
            <a:off x="6454140" y="135686"/>
            <a:ext cx="4660699" cy="8908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No Springboard Funding for Soft Eng Cert</a:t>
            </a:r>
          </a:p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Springboard funding for AI/ML Cert </a:t>
            </a:r>
          </a:p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No Project/Placement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43A2CA5-08F2-0A27-BA3C-8558C372F544}"/>
              </a:ext>
            </a:extLst>
          </p:cNvPr>
          <p:cNvSpPr/>
          <p:nvPr/>
        </p:nvSpPr>
        <p:spPr>
          <a:xfrm rot="10800000">
            <a:off x="2394360" y="3690485"/>
            <a:ext cx="500520" cy="5752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DA5A94B5-AB57-9BE7-7F33-10B0AF003552}"/>
              </a:ext>
            </a:extLst>
          </p:cNvPr>
          <p:cNvSpPr/>
          <p:nvPr/>
        </p:nvSpPr>
        <p:spPr>
          <a:xfrm>
            <a:off x="6848897" y="1487583"/>
            <a:ext cx="500520" cy="5752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0356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1" grpId="0"/>
      <p:bldP spid="7" grpId="0"/>
      <p:bldP spid="9" grpId="0"/>
      <p:bldP spid="11" grpId="0"/>
      <p:bldP spid="14" grpId="0"/>
      <p:bldP spid="18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366AE-B1F8-25B6-41F7-28E0E268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 Process:</a:t>
            </a:r>
            <a:br>
              <a:rPr lang="en-GB" dirty="0"/>
            </a:br>
            <a:r>
              <a:rPr lang="en-GB" dirty="0" err="1"/>
              <a:t>HDip</a:t>
            </a:r>
            <a:r>
              <a:rPr lang="en-GB" dirty="0"/>
              <a:t> Entry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2BE4-7F78-2D49-B3DD-F808BEC74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Applicants must apply via </a:t>
            </a:r>
            <a:r>
              <a:rPr lang="en-GB" dirty="0" err="1"/>
              <a:t>HDip</a:t>
            </a:r>
            <a:r>
              <a:rPr lang="en-GB" dirty="0"/>
              <a:t> in Comp Sci page on the SETU Website</a:t>
            </a:r>
          </a:p>
          <a:p>
            <a:r>
              <a:rPr lang="en-GB" dirty="0"/>
              <a:t>Can apply once grades confirmed at Course Board on June 5</a:t>
            </a:r>
            <a:r>
              <a:rPr lang="en-GB" baseline="30000" dirty="0"/>
              <a:t>th</a:t>
            </a:r>
            <a:endParaRPr lang="en-GB" dirty="0"/>
          </a:p>
          <a:p>
            <a:r>
              <a:rPr lang="en-GB" dirty="0"/>
              <a:t>Application will be processed by </a:t>
            </a:r>
            <a:r>
              <a:rPr lang="en-GB" dirty="0" err="1"/>
              <a:t>HDip</a:t>
            </a:r>
            <a:r>
              <a:rPr lang="en-GB" dirty="0"/>
              <a:t> team</a:t>
            </a:r>
          </a:p>
          <a:p>
            <a:r>
              <a:rPr lang="en-IE" dirty="0"/>
              <a:t>Fees: €3500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B1CECD-B278-52C0-A4C8-3CD3AE91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EBAFE-84D1-A60A-A966-A5CBD3CA7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6</a:t>
            </a:fld>
            <a:endParaRPr lang="en-I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F0473E-A90C-B578-47C1-E842BAFA5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64" y="2662535"/>
            <a:ext cx="3970236" cy="347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04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84E7-7C9B-C09E-8549-F67D4A07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Application Process: </a:t>
            </a:r>
            <a:br>
              <a:rPr lang="en-GB" dirty="0"/>
            </a:br>
            <a:r>
              <a:rPr lang="en-GB" dirty="0"/>
              <a:t>Certificate in AI and Machine Learning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EC010-0BF6-19BD-1B68-664186554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113" indent="0">
              <a:buNone/>
            </a:pPr>
            <a:r>
              <a:rPr lang="en-GB" dirty="0"/>
              <a:t>1. Springboard Funded</a:t>
            </a:r>
          </a:p>
          <a:p>
            <a:r>
              <a:rPr lang="en-GB" dirty="0"/>
              <a:t>If eligible, apply via Springboard+ Website</a:t>
            </a:r>
          </a:p>
          <a:p>
            <a:r>
              <a:rPr lang="en-GB" dirty="0"/>
              <a:t>Funded in same way as Certificate in Computer Science</a:t>
            </a:r>
          </a:p>
          <a:p>
            <a:r>
              <a:rPr lang="en-GB" dirty="0"/>
              <a:t>Can progress onto </a:t>
            </a:r>
            <a:r>
              <a:rPr lang="en-GB" dirty="0" err="1"/>
              <a:t>HDip</a:t>
            </a:r>
            <a:r>
              <a:rPr lang="en-GB" dirty="0"/>
              <a:t> once complete</a:t>
            </a:r>
          </a:p>
          <a:p>
            <a:pPr marL="11113" indent="0">
              <a:buNone/>
            </a:pPr>
            <a:r>
              <a:rPr lang="en-GB" dirty="0"/>
              <a:t>2. Direct Entry(not Springboard Eligible)</a:t>
            </a:r>
          </a:p>
          <a:p>
            <a:r>
              <a:rPr lang="en-GB" dirty="0"/>
              <a:t>Apply via SETU Website</a:t>
            </a:r>
          </a:p>
          <a:p>
            <a:r>
              <a:rPr lang="en-GB" dirty="0"/>
              <a:t>Fees 2500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4115B0-995C-7F4F-E7D7-FA9D3CBD4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7E3B6-ACD3-E1FD-48EB-34CD2920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7</a:t>
            </a:fld>
            <a:endParaRPr lang="en-I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C8D6D-7BE1-DE89-C90C-A1A0990F4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3808610"/>
            <a:ext cx="2588802" cy="261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82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7AC2-D5FA-96A6-CA30-CBA326FA4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Cert in Software Engineering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69074-9C99-E561-0D82-EB2712973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Stage 2 of the existing </a:t>
            </a:r>
            <a:r>
              <a:rPr lang="en-GB" b="1" dirty="0" err="1"/>
              <a:t>HDip</a:t>
            </a:r>
            <a:r>
              <a:rPr lang="en-GB" dirty="0"/>
              <a:t>, retaining core modules but redesigned to integrate AI tools, techniques, and industry practices.</a:t>
            </a:r>
          </a:p>
          <a:p>
            <a:r>
              <a:rPr lang="en-GB" b="1" dirty="0"/>
              <a:t>Strong industry alignment</a:t>
            </a:r>
            <a:r>
              <a:rPr lang="en-GB" dirty="0"/>
              <a:t>, with continuous monitoring of trends and guidance from core industry partners.</a:t>
            </a:r>
          </a:p>
          <a:p>
            <a:r>
              <a:rPr lang="en-GB" b="1" dirty="0"/>
              <a:t>AI-augmented development</a:t>
            </a:r>
          </a:p>
          <a:p>
            <a:r>
              <a:rPr lang="en-GB" dirty="0"/>
              <a:t>Emphasis on developer expertise and judgement</a:t>
            </a:r>
          </a:p>
          <a:p>
            <a:r>
              <a:rPr lang="en-GB" b="1" dirty="0"/>
              <a:t>Practical curriculum</a:t>
            </a:r>
            <a:r>
              <a:rPr lang="en-GB" dirty="0"/>
              <a:t> covering modern full-stack, cloud, microservices, testing, DevOps, and mobile development, reflecting major changes of the last 5 years.</a:t>
            </a:r>
          </a:p>
          <a:p>
            <a:r>
              <a:rPr lang="en-GB" b="1" dirty="0"/>
              <a:t>Elective Choice: </a:t>
            </a:r>
            <a:r>
              <a:rPr lang="en-GB" dirty="0"/>
              <a:t>Mobile App Dev OR Software Security &amp; Forensics in Sem 2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C19D3-3206-140F-6C8B-DF22625C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5744AC-299B-17B3-7839-90CB1964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8</a:t>
            </a:fld>
            <a:endParaRPr lang="en-IE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0F0705-19D5-DC88-B940-7E30ED183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66" y="2388028"/>
            <a:ext cx="4054974" cy="15460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C8CF6A-6778-D59E-6C23-FBB05FC83079}"/>
              </a:ext>
            </a:extLst>
          </p:cNvPr>
          <p:cNvSpPr txBox="1"/>
          <p:nvPr/>
        </p:nvSpPr>
        <p:spPr>
          <a:xfrm>
            <a:off x="1811386" y="2394790"/>
            <a:ext cx="336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Software Engineering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4F73380-7381-53DC-6663-E76C96A14F3B}"/>
              </a:ext>
            </a:extLst>
          </p:cNvPr>
          <p:cNvSpPr/>
          <p:nvPr/>
        </p:nvSpPr>
        <p:spPr>
          <a:xfrm rot="12466278">
            <a:off x="4381083" y="4194675"/>
            <a:ext cx="1433002" cy="3038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781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BAB14-B10C-5C2F-106E-58D18FBB4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Cert in AI and Machine Learning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AC174-59A5-222C-4003-DD37F1F55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Hands-on focus</a:t>
            </a:r>
            <a:r>
              <a:rPr lang="en-GB" dirty="0"/>
              <a:t> on AI model development, data handling, ML infrastructure, and performance optimisation</a:t>
            </a:r>
          </a:p>
          <a:p>
            <a:r>
              <a:rPr lang="en-GB" b="1" dirty="0"/>
              <a:t>Industry-aligned curriculum</a:t>
            </a:r>
            <a:r>
              <a:rPr lang="en-GB" dirty="0"/>
              <a:t> addressing real-world AI/ML engineering needs across sectors</a:t>
            </a:r>
          </a:p>
          <a:p>
            <a:r>
              <a:rPr lang="en-GB" b="1" dirty="0"/>
              <a:t>Rigorous, practical learning experience</a:t>
            </a:r>
            <a:r>
              <a:rPr lang="en-GB" dirty="0"/>
              <a:t> designed for workplace relevance</a:t>
            </a:r>
          </a:p>
          <a:p>
            <a:r>
              <a:rPr lang="en-GB" b="1" dirty="0"/>
              <a:t>Supports upskilling and reskilling </a:t>
            </a:r>
            <a:r>
              <a:rPr lang="en-GB" dirty="0"/>
              <a:t>into high-demand AI engineering roles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DE337-B905-EDBE-A50B-0A9E5FF3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A6868-A2B3-1F3D-535D-01568A47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9</a:t>
            </a:fld>
            <a:endParaRPr lang="en-IE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3883CB-444A-765E-E2CF-1481643CA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59" y="2905190"/>
            <a:ext cx="4551276" cy="158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48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TU PowerPoint Template (Purple)" id="{474F3846-BAA5-384B-B021-4577DA3A1E10}" vid="{7D99CD64-B3B0-9F47-9396-2B92AFE195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2604f75-035f-4bcf-b8d3-05bab17d453d">
      <Terms xmlns="http://schemas.microsoft.com/office/infopath/2007/PartnerControls"/>
    </lcf76f155ced4ddcb4097134ff3c332f>
    <TaxCatchAll xmlns="e6b9e509-b424-4da0-b943-ec4d48415bb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21EDCB449F27409E57881B74983F07" ma:contentTypeVersion="15" ma:contentTypeDescription="Create a new document." ma:contentTypeScope="" ma:versionID="e8cbf1bc234d9e75b3fb47cf0ddbe8d2">
  <xsd:schema xmlns:xsd="http://www.w3.org/2001/XMLSchema" xmlns:xs="http://www.w3.org/2001/XMLSchema" xmlns:p="http://schemas.microsoft.com/office/2006/metadata/properties" xmlns:ns2="c2604f75-035f-4bcf-b8d3-05bab17d453d" xmlns:ns3="e6b9e509-b424-4da0-b943-ec4d48415bba" targetNamespace="http://schemas.microsoft.com/office/2006/metadata/properties" ma:root="true" ma:fieldsID="cb20f4739b4a7f2dc429abb756e3d79e" ns2:_="" ns3:_="">
    <xsd:import namespace="c2604f75-035f-4bcf-b8d3-05bab17d453d"/>
    <xsd:import namespace="e6b9e509-b424-4da0-b943-ec4d48415b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604f75-035f-4bcf-b8d3-05bab17d45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bddb5b50-755e-41d6-8a3f-9a0e5bc6dc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b9e509-b424-4da0-b943-ec4d48415bb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8c067be-7639-43bd-96c4-89d39a4ba8b5}" ma:internalName="TaxCatchAll" ma:showField="CatchAllData" ma:web="e6b9e509-b424-4da0-b943-ec4d48415b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46DA6C-89EC-4967-8C19-7EBFCAA2A1F8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c2604f75-035f-4bcf-b8d3-05bab17d453d"/>
    <ds:schemaRef ds:uri="e6b9e509-b424-4da0-b943-ec4d48415bba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4F77FB5-FDA5-4BDF-9B87-8F7258BB9D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604f75-035f-4bcf-b8d3-05bab17d453d"/>
    <ds:schemaRef ds:uri="e6b9e509-b424-4da0-b943-ec4d48415b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68CD22B-FC50-4133-B8A8-D875165869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470</Words>
  <Application>Microsoft Office PowerPoint</Application>
  <PresentationFormat>Widescreen</PresentationFormat>
  <Paragraphs>83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.PingFang SC Regular</vt:lpstr>
      <vt:lpstr>Arial</vt:lpstr>
      <vt:lpstr>Calibri</vt:lpstr>
      <vt:lpstr>DM Sans</vt:lpstr>
      <vt:lpstr>Inter Medium</vt:lpstr>
      <vt:lpstr>Office Theme</vt:lpstr>
      <vt:lpstr>HDip/Cert in Computer Science Progression Pathways   Department of Computing and Mathematics   15/12/2025</vt:lpstr>
      <vt:lpstr>What are the options at SETU once I finish the Cert? </vt:lpstr>
      <vt:lpstr>PowerPoint Presentation</vt:lpstr>
      <vt:lpstr>PowerPoint Presentation</vt:lpstr>
      <vt:lpstr>PowerPoint Presentation</vt:lpstr>
      <vt:lpstr>Application Process: HDip Entry</vt:lpstr>
      <vt:lpstr>Application Process:  Certificate in AI and Machine Learning</vt:lpstr>
      <vt:lpstr>Cert in Software Engineering</vt:lpstr>
      <vt:lpstr>Cert in AI and 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Davy</dc:creator>
  <cp:lastModifiedBy>Frank Walsh</cp:lastModifiedBy>
  <cp:revision>36</cp:revision>
  <dcterms:created xsi:type="dcterms:W3CDTF">2025-06-05T14:27:31Z</dcterms:created>
  <dcterms:modified xsi:type="dcterms:W3CDTF">2026-05-12T11:19:32Z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0x0101005121EDCB449F27409E57881B74983F07</vt:lpwstr>
  </property>
  <property fmtid="{D5CDD505-2E9C-101B-9397-08002B2CF9AE}" pid="3" name="MediaServiceImageTags">
    <vt:lpwstr/>
  </property>
</Properties>
</file>