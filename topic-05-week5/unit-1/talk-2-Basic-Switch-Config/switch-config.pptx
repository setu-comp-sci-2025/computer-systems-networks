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928" r:id="rId5"/>
    <p:sldId id="929" r:id="rId6"/>
    <p:sldId id="973" r:id="rId7"/>
    <p:sldId id="968" r:id="rId8"/>
    <p:sldId id="792" r:id="rId9"/>
    <p:sldId id="881" r:id="rId10"/>
    <p:sldId id="795" r:id="rId11"/>
    <p:sldId id="959" r:id="rId12"/>
    <p:sldId id="969" r:id="rId13"/>
    <p:sldId id="960" r:id="rId14"/>
    <p:sldId id="932" r:id="rId15"/>
    <p:sldId id="933" r:id="rId16"/>
    <p:sldId id="970" r:id="rId17"/>
    <p:sldId id="865" r:id="rId18"/>
    <p:sldId id="934" r:id="rId19"/>
    <p:sldId id="935" r:id="rId20"/>
    <p:sldId id="964" r:id="rId21"/>
    <p:sldId id="936" r:id="rId22"/>
    <p:sldId id="937" r:id="rId23"/>
    <p:sldId id="971" r:id="rId24"/>
    <p:sldId id="940" r:id="rId25"/>
    <p:sldId id="941" r:id="rId26"/>
    <p:sldId id="972" r:id="rId27"/>
    <p:sldId id="974" r:id="rId28"/>
    <p:sldId id="975" r:id="rId29"/>
    <p:sldId id="976" r:id="rId30"/>
    <p:sldId id="977" r:id="rId31"/>
    <p:sldId id="978" r:id="rId32"/>
    <p:sldId id="966" r:id="rId33"/>
    <p:sldId id="979" r:id="rId34"/>
    <p:sldId id="967" r:id="rId35"/>
    <p:sldId id="980" r:id="rId36"/>
    <p:sldId id="981" r:id="rId37"/>
    <p:sldId id="98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4" autoAdjust="0"/>
    <p:restoredTop sz="62470" autoAdjust="0"/>
  </p:normalViewPr>
  <p:slideViewPr>
    <p:cSldViewPr snapToGrid="0">
      <p:cViewPr varScale="1">
        <p:scale>
          <a:sx n="69" d="100"/>
          <a:sy n="69" d="100"/>
        </p:scale>
        <p:origin x="1302"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4AF568-3540-4BD1-AFB4-36902361B8F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622DB68-7FCE-4146-9974-80899B2ACC8C}">
      <dgm:prSet/>
      <dgm:spPr/>
      <dgm:t>
        <a:bodyPr/>
        <a:lstStyle/>
        <a:p>
          <a:r>
            <a:rPr lang="en-IE"/>
            <a:t>Cisco IOS</a:t>
          </a:r>
          <a:endParaRPr lang="en-US"/>
        </a:p>
      </dgm:t>
    </dgm:pt>
    <dgm:pt modelId="{1C25CCB5-C7D3-4FCD-AA52-674A9B47E34A}" type="parTrans" cxnId="{E41663D7-C3AB-4CA8-B17C-CD4EE891EB6F}">
      <dgm:prSet/>
      <dgm:spPr/>
      <dgm:t>
        <a:bodyPr/>
        <a:lstStyle/>
        <a:p>
          <a:endParaRPr lang="en-US"/>
        </a:p>
      </dgm:t>
    </dgm:pt>
    <dgm:pt modelId="{14D28FF8-2304-42C7-AF6A-3DDAE6B37089}" type="sibTrans" cxnId="{E41663D7-C3AB-4CA8-B17C-CD4EE891EB6F}">
      <dgm:prSet/>
      <dgm:spPr/>
      <dgm:t>
        <a:bodyPr/>
        <a:lstStyle/>
        <a:p>
          <a:endParaRPr lang="en-US"/>
        </a:p>
      </dgm:t>
    </dgm:pt>
    <dgm:pt modelId="{C4EA3B52-9DB2-4E07-9716-9EB892DB0319}">
      <dgm:prSet/>
      <dgm:spPr/>
      <dgm:t>
        <a:bodyPr/>
        <a:lstStyle/>
        <a:p>
          <a:r>
            <a:rPr lang="en-IE" dirty="0"/>
            <a:t>Configure a Cisco Switch</a:t>
          </a:r>
          <a:endParaRPr lang="en-US" dirty="0"/>
        </a:p>
      </dgm:t>
    </dgm:pt>
    <dgm:pt modelId="{FC965FAC-C543-4579-966F-C494ABEFA729}" type="parTrans" cxnId="{DE5ED8FC-8747-4FD3-9E10-159390BC351B}">
      <dgm:prSet/>
      <dgm:spPr/>
      <dgm:t>
        <a:bodyPr/>
        <a:lstStyle/>
        <a:p>
          <a:endParaRPr lang="en-US"/>
        </a:p>
      </dgm:t>
    </dgm:pt>
    <dgm:pt modelId="{1EAE8C92-94D4-4B37-A8B9-6AA85E82249B}" type="sibTrans" cxnId="{DE5ED8FC-8747-4FD3-9E10-159390BC351B}">
      <dgm:prSet/>
      <dgm:spPr/>
      <dgm:t>
        <a:bodyPr/>
        <a:lstStyle/>
        <a:p>
          <a:endParaRPr lang="en-US"/>
        </a:p>
      </dgm:t>
    </dgm:pt>
    <dgm:pt modelId="{F87546D8-27B9-4259-92CA-15447BCE0AF9}">
      <dgm:prSet/>
      <dgm:spPr/>
      <dgm:t>
        <a:bodyPr/>
        <a:lstStyle/>
        <a:p>
          <a:r>
            <a:rPr lang="en-IE" dirty="0"/>
            <a:t>Save a Config</a:t>
          </a:r>
          <a:endParaRPr lang="en-US" dirty="0"/>
        </a:p>
      </dgm:t>
    </dgm:pt>
    <dgm:pt modelId="{18D2E82C-ADAA-4812-934F-D9941176BE1F}" type="parTrans" cxnId="{5C50E890-9F1A-4212-BCFE-13DB498D306E}">
      <dgm:prSet/>
      <dgm:spPr/>
      <dgm:t>
        <a:bodyPr/>
        <a:lstStyle/>
        <a:p>
          <a:endParaRPr lang="en-US"/>
        </a:p>
      </dgm:t>
    </dgm:pt>
    <dgm:pt modelId="{F9650DDE-3C7F-4D11-9E2F-A13B882065E6}" type="sibTrans" cxnId="{5C50E890-9F1A-4212-BCFE-13DB498D306E}">
      <dgm:prSet/>
      <dgm:spPr/>
      <dgm:t>
        <a:bodyPr/>
        <a:lstStyle/>
        <a:p>
          <a:endParaRPr lang="en-US"/>
        </a:p>
      </dgm:t>
    </dgm:pt>
    <dgm:pt modelId="{BE3C2083-083B-453A-98B2-F2631693214A}">
      <dgm:prSet/>
      <dgm:spPr/>
      <dgm:t>
        <a:bodyPr/>
        <a:lstStyle/>
        <a:p>
          <a:r>
            <a:rPr lang="en-IE" dirty="0"/>
            <a:t>Basic Switch Security</a:t>
          </a:r>
          <a:endParaRPr lang="en-US" dirty="0"/>
        </a:p>
      </dgm:t>
    </dgm:pt>
    <dgm:pt modelId="{076239FF-E91A-4E7C-AF68-B6DE7E99002A}" type="parTrans" cxnId="{7A3D8534-1BEB-4C84-BD54-ED2FE13F170A}">
      <dgm:prSet/>
      <dgm:spPr/>
      <dgm:t>
        <a:bodyPr/>
        <a:lstStyle/>
        <a:p>
          <a:endParaRPr lang="en-US"/>
        </a:p>
      </dgm:t>
    </dgm:pt>
    <dgm:pt modelId="{25409916-C772-4F82-9B43-1503D30C258C}" type="sibTrans" cxnId="{7A3D8534-1BEB-4C84-BD54-ED2FE13F170A}">
      <dgm:prSet/>
      <dgm:spPr/>
      <dgm:t>
        <a:bodyPr/>
        <a:lstStyle/>
        <a:p>
          <a:endParaRPr lang="en-US"/>
        </a:p>
      </dgm:t>
    </dgm:pt>
    <dgm:pt modelId="{DEC49E5E-9C69-463D-B7E6-E7426A187C97}" type="pres">
      <dgm:prSet presAssocID="{7D4AF568-3540-4BD1-AFB4-36902361B8F1}" presName="linear" presStyleCnt="0">
        <dgm:presLayoutVars>
          <dgm:animLvl val="lvl"/>
          <dgm:resizeHandles val="exact"/>
        </dgm:presLayoutVars>
      </dgm:prSet>
      <dgm:spPr/>
    </dgm:pt>
    <dgm:pt modelId="{90981C3F-0039-47DF-939C-170323A505C7}" type="pres">
      <dgm:prSet presAssocID="{9622DB68-7FCE-4146-9974-80899B2ACC8C}" presName="parentText" presStyleLbl="node1" presStyleIdx="0" presStyleCnt="4">
        <dgm:presLayoutVars>
          <dgm:chMax val="0"/>
          <dgm:bulletEnabled val="1"/>
        </dgm:presLayoutVars>
      </dgm:prSet>
      <dgm:spPr/>
    </dgm:pt>
    <dgm:pt modelId="{83D3BDC6-B7C9-4052-B181-1E9C69D87B72}" type="pres">
      <dgm:prSet presAssocID="{14D28FF8-2304-42C7-AF6A-3DDAE6B37089}" presName="spacer" presStyleCnt="0"/>
      <dgm:spPr/>
    </dgm:pt>
    <dgm:pt modelId="{589F8E0D-7CD4-4010-BF1E-9FA42A44A1C4}" type="pres">
      <dgm:prSet presAssocID="{C4EA3B52-9DB2-4E07-9716-9EB892DB0319}" presName="parentText" presStyleLbl="node1" presStyleIdx="1" presStyleCnt="4">
        <dgm:presLayoutVars>
          <dgm:chMax val="0"/>
          <dgm:bulletEnabled val="1"/>
        </dgm:presLayoutVars>
      </dgm:prSet>
      <dgm:spPr/>
    </dgm:pt>
    <dgm:pt modelId="{C6DEAC61-2CFA-4282-B0A6-DE3F0EB4F1BF}" type="pres">
      <dgm:prSet presAssocID="{1EAE8C92-94D4-4B37-A8B9-6AA85E82249B}" presName="spacer" presStyleCnt="0"/>
      <dgm:spPr/>
    </dgm:pt>
    <dgm:pt modelId="{65EC9482-04B5-458F-9143-7E3E7CE9160C}" type="pres">
      <dgm:prSet presAssocID="{F87546D8-27B9-4259-92CA-15447BCE0AF9}" presName="parentText" presStyleLbl="node1" presStyleIdx="2" presStyleCnt="4">
        <dgm:presLayoutVars>
          <dgm:chMax val="0"/>
          <dgm:bulletEnabled val="1"/>
        </dgm:presLayoutVars>
      </dgm:prSet>
      <dgm:spPr/>
    </dgm:pt>
    <dgm:pt modelId="{B55E8056-9598-4916-B2D6-ACF93FD1E8E7}" type="pres">
      <dgm:prSet presAssocID="{F9650DDE-3C7F-4D11-9E2F-A13B882065E6}" presName="spacer" presStyleCnt="0"/>
      <dgm:spPr/>
    </dgm:pt>
    <dgm:pt modelId="{E99A0B32-9245-45B6-B226-B31B67699D71}" type="pres">
      <dgm:prSet presAssocID="{BE3C2083-083B-453A-98B2-F2631693214A}" presName="parentText" presStyleLbl="node1" presStyleIdx="3" presStyleCnt="4">
        <dgm:presLayoutVars>
          <dgm:chMax val="0"/>
          <dgm:bulletEnabled val="1"/>
        </dgm:presLayoutVars>
      </dgm:prSet>
      <dgm:spPr/>
    </dgm:pt>
  </dgm:ptLst>
  <dgm:cxnLst>
    <dgm:cxn modelId="{7A3D8534-1BEB-4C84-BD54-ED2FE13F170A}" srcId="{7D4AF568-3540-4BD1-AFB4-36902361B8F1}" destId="{BE3C2083-083B-453A-98B2-F2631693214A}" srcOrd="3" destOrd="0" parTransId="{076239FF-E91A-4E7C-AF68-B6DE7E99002A}" sibTransId="{25409916-C772-4F82-9B43-1503D30C258C}"/>
    <dgm:cxn modelId="{52322F36-6E40-4E6F-BAAC-BFA7B86F5B3C}" type="presOf" srcId="{F87546D8-27B9-4259-92CA-15447BCE0AF9}" destId="{65EC9482-04B5-458F-9143-7E3E7CE9160C}" srcOrd="0" destOrd="0" presId="urn:microsoft.com/office/officeart/2005/8/layout/vList2"/>
    <dgm:cxn modelId="{D40F638C-6AFF-4297-A2DA-424184FB2648}" type="presOf" srcId="{7D4AF568-3540-4BD1-AFB4-36902361B8F1}" destId="{DEC49E5E-9C69-463D-B7E6-E7426A187C97}" srcOrd="0" destOrd="0" presId="urn:microsoft.com/office/officeart/2005/8/layout/vList2"/>
    <dgm:cxn modelId="{7599AC90-0027-45BF-952D-478CE17CB7FA}" type="presOf" srcId="{9622DB68-7FCE-4146-9974-80899B2ACC8C}" destId="{90981C3F-0039-47DF-939C-170323A505C7}" srcOrd="0" destOrd="0" presId="urn:microsoft.com/office/officeart/2005/8/layout/vList2"/>
    <dgm:cxn modelId="{5C50E890-9F1A-4212-BCFE-13DB498D306E}" srcId="{7D4AF568-3540-4BD1-AFB4-36902361B8F1}" destId="{F87546D8-27B9-4259-92CA-15447BCE0AF9}" srcOrd="2" destOrd="0" parTransId="{18D2E82C-ADAA-4812-934F-D9941176BE1F}" sibTransId="{F9650DDE-3C7F-4D11-9E2F-A13B882065E6}"/>
    <dgm:cxn modelId="{CDA727D2-8E58-47D4-A9F7-ED85D64CA40F}" type="presOf" srcId="{C4EA3B52-9DB2-4E07-9716-9EB892DB0319}" destId="{589F8E0D-7CD4-4010-BF1E-9FA42A44A1C4}" srcOrd="0" destOrd="0" presId="urn:microsoft.com/office/officeart/2005/8/layout/vList2"/>
    <dgm:cxn modelId="{E41663D7-C3AB-4CA8-B17C-CD4EE891EB6F}" srcId="{7D4AF568-3540-4BD1-AFB4-36902361B8F1}" destId="{9622DB68-7FCE-4146-9974-80899B2ACC8C}" srcOrd="0" destOrd="0" parTransId="{1C25CCB5-C7D3-4FCD-AA52-674A9B47E34A}" sibTransId="{14D28FF8-2304-42C7-AF6A-3DDAE6B37089}"/>
    <dgm:cxn modelId="{0B2611F1-B423-4410-9EFB-8B5827EEA575}" type="presOf" srcId="{BE3C2083-083B-453A-98B2-F2631693214A}" destId="{E99A0B32-9245-45B6-B226-B31B67699D71}" srcOrd="0" destOrd="0" presId="urn:microsoft.com/office/officeart/2005/8/layout/vList2"/>
    <dgm:cxn modelId="{DE5ED8FC-8747-4FD3-9E10-159390BC351B}" srcId="{7D4AF568-3540-4BD1-AFB4-36902361B8F1}" destId="{C4EA3B52-9DB2-4E07-9716-9EB892DB0319}" srcOrd="1" destOrd="0" parTransId="{FC965FAC-C543-4579-966F-C494ABEFA729}" sibTransId="{1EAE8C92-94D4-4B37-A8B9-6AA85E82249B}"/>
    <dgm:cxn modelId="{A38DE316-D82C-4BD4-92A2-CAAB165C232A}" type="presParOf" srcId="{DEC49E5E-9C69-463D-B7E6-E7426A187C97}" destId="{90981C3F-0039-47DF-939C-170323A505C7}" srcOrd="0" destOrd="0" presId="urn:microsoft.com/office/officeart/2005/8/layout/vList2"/>
    <dgm:cxn modelId="{17EA5CFB-36CA-4DB5-9580-ACB94EAE16CC}" type="presParOf" srcId="{DEC49E5E-9C69-463D-B7E6-E7426A187C97}" destId="{83D3BDC6-B7C9-4052-B181-1E9C69D87B72}" srcOrd="1" destOrd="0" presId="urn:microsoft.com/office/officeart/2005/8/layout/vList2"/>
    <dgm:cxn modelId="{B8FC5AB0-9FDD-41AD-A7E4-6DCE0EC47578}" type="presParOf" srcId="{DEC49E5E-9C69-463D-B7E6-E7426A187C97}" destId="{589F8E0D-7CD4-4010-BF1E-9FA42A44A1C4}" srcOrd="2" destOrd="0" presId="urn:microsoft.com/office/officeart/2005/8/layout/vList2"/>
    <dgm:cxn modelId="{34CB82B8-0436-4A10-8BDB-C1FFE2EC5297}" type="presParOf" srcId="{DEC49E5E-9C69-463D-B7E6-E7426A187C97}" destId="{C6DEAC61-2CFA-4282-B0A6-DE3F0EB4F1BF}" srcOrd="3" destOrd="0" presId="urn:microsoft.com/office/officeart/2005/8/layout/vList2"/>
    <dgm:cxn modelId="{08183E6C-8F49-4058-B2C7-CEB4FADE89B1}" type="presParOf" srcId="{DEC49E5E-9C69-463D-B7E6-E7426A187C97}" destId="{65EC9482-04B5-458F-9143-7E3E7CE9160C}" srcOrd="4" destOrd="0" presId="urn:microsoft.com/office/officeart/2005/8/layout/vList2"/>
    <dgm:cxn modelId="{744CDB40-00CC-42DC-80B5-F0BC5D12B75F}" type="presParOf" srcId="{DEC49E5E-9C69-463D-B7E6-E7426A187C97}" destId="{B55E8056-9598-4916-B2D6-ACF93FD1E8E7}" srcOrd="5" destOrd="0" presId="urn:microsoft.com/office/officeart/2005/8/layout/vList2"/>
    <dgm:cxn modelId="{1686AA19-479B-4A85-9387-B988906A7199}" type="presParOf" srcId="{DEC49E5E-9C69-463D-B7E6-E7426A187C97}" destId="{E99A0B32-9245-45B6-B226-B31B67699D7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981C3F-0039-47DF-939C-170323A505C7}">
      <dsp:nvSpPr>
        <dsp:cNvPr id="0" name=""/>
        <dsp:cNvSpPr/>
      </dsp:nvSpPr>
      <dsp:spPr>
        <a:xfrm>
          <a:off x="0" y="347003"/>
          <a:ext cx="6263640" cy="110331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l" defTabSz="2044700">
            <a:lnSpc>
              <a:spcPct val="90000"/>
            </a:lnSpc>
            <a:spcBef>
              <a:spcPct val="0"/>
            </a:spcBef>
            <a:spcAft>
              <a:spcPct val="35000"/>
            </a:spcAft>
            <a:buNone/>
          </a:pPr>
          <a:r>
            <a:rPr lang="en-IE" sz="4600" kern="1200"/>
            <a:t>Cisco IOS</a:t>
          </a:r>
          <a:endParaRPr lang="en-US" sz="4600" kern="1200"/>
        </a:p>
      </dsp:txBody>
      <dsp:txXfrm>
        <a:off x="53859" y="400862"/>
        <a:ext cx="6155922" cy="995592"/>
      </dsp:txXfrm>
    </dsp:sp>
    <dsp:sp modelId="{589F8E0D-7CD4-4010-BF1E-9FA42A44A1C4}">
      <dsp:nvSpPr>
        <dsp:cNvPr id="0" name=""/>
        <dsp:cNvSpPr/>
      </dsp:nvSpPr>
      <dsp:spPr>
        <a:xfrm>
          <a:off x="0" y="1582793"/>
          <a:ext cx="6263640" cy="110331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l" defTabSz="2044700">
            <a:lnSpc>
              <a:spcPct val="90000"/>
            </a:lnSpc>
            <a:spcBef>
              <a:spcPct val="0"/>
            </a:spcBef>
            <a:spcAft>
              <a:spcPct val="35000"/>
            </a:spcAft>
            <a:buNone/>
          </a:pPr>
          <a:r>
            <a:rPr lang="en-IE" sz="4600" kern="1200" dirty="0"/>
            <a:t>Configure a Cisco Switch</a:t>
          </a:r>
          <a:endParaRPr lang="en-US" sz="4600" kern="1200" dirty="0"/>
        </a:p>
      </dsp:txBody>
      <dsp:txXfrm>
        <a:off x="53859" y="1636652"/>
        <a:ext cx="6155922" cy="995592"/>
      </dsp:txXfrm>
    </dsp:sp>
    <dsp:sp modelId="{65EC9482-04B5-458F-9143-7E3E7CE9160C}">
      <dsp:nvSpPr>
        <dsp:cNvPr id="0" name=""/>
        <dsp:cNvSpPr/>
      </dsp:nvSpPr>
      <dsp:spPr>
        <a:xfrm>
          <a:off x="0" y="2818583"/>
          <a:ext cx="6263640" cy="110331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l" defTabSz="2044700">
            <a:lnSpc>
              <a:spcPct val="90000"/>
            </a:lnSpc>
            <a:spcBef>
              <a:spcPct val="0"/>
            </a:spcBef>
            <a:spcAft>
              <a:spcPct val="35000"/>
            </a:spcAft>
            <a:buNone/>
          </a:pPr>
          <a:r>
            <a:rPr lang="en-IE" sz="4600" kern="1200" dirty="0"/>
            <a:t>Save a Config</a:t>
          </a:r>
          <a:endParaRPr lang="en-US" sz="4600" kern="1200" dirty="0"/>
        </a:p>
      </dsp:txBody>
      <dsp:txXfrm>
        <a:off x="53859" y="2872442"/>
        <a:ext cx="6155922" cy="995592"/>
      </dsp:txXfrm>
    </dsp:sp>
    <dsp:sp modelId="{E99A0B32-9245-45B6-B226-B31B67699D71}">
      <dsp:nvSpPr>
        <dsp:cNvPr id="0" name=""/>
        <dsp:cNvSpPr/>
      </dsp:nvSpPr>
      <dsp:spPr>
        <a:xfrm>
          <a:off x="0" y="4054374"/>
          <a:ext cx="6263640" cy="110331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l" defTabSz="2044700">
            <a:lnSpc>
              <a:spcPct val="90000"/>
            </a:lnSpc>
            <a:spcBef>
              <a:spcPct val="0"/>
            </a:spcBef>
            <a:spcAft>
              <a:spcPct val="35000"/>
            </a:spcAft>
            <a:buNone/>
          </a:pPr>
          <a:r>
            <a:rPr lang="en-IE" sz="4600" kern="1200" dirty="0"/>
            <a:t>Basic Switch Security</a:t>
          </a:r>
          <a:endParaRPr lang="en-US" sz="4600" kern="1200" dirty="0"/>
        </a:p>
      </dsp:txBody>
      <dsp:txXfrm>
        <a:off x="53859" y="4108233"/>
        <a:ext cx="6155922" cy="9955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E3C64-C30A-4CBF-B58B-65257BD2EFFC}" type="datetimeFigureOut">
              <a:rPr lang="en-IE" smtClean="0"/>
              <a:t>25/02/2026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D14258-FDD1-4B55-9B94-7C84AC73559E}" type="slidenum">
              <a:rPr lang="en-IE" smtClean="0"/>
              <a:t>‹#›</a:t>
            </a:fld>
            <a:endParaRPr lang="en-IE"/>
          </a:p>
        </p:txBody>
      </p:sp>
    </p:spTree>
    <p:extLst>
      <p:ext uri="{BB962C8B-B14F-4D97-AF65-F5344CB8AC3E}">
        <p14:creationId xmlns:p14="http://schemas.microsoft.com/office/powerpoint/2010/main" val="1964479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4</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2.1 – </a:t>
            </a:r>
            <a:r>
              <a:rPr lang="en-US" sz="1200" kern="1200" dirty="0">
                <a:solidFill>
                  <a:schemeClr val="accent5">
                    <a:lumMod val="40000"/>
                    <a:lumOff val="60000"/>
                  </a:schemeClr>
                </a:solidFill>
                <a:latin typeface="Arial" charset="0"/>
                <a:ea typeface="ＭＳ Ｐゴシック" charset="0"/>
                <a:cs typeface="ＭＳ Ｐゴシック" charset="0"/>
              </a:rPr>
              <a:t>Cisco IOS Access</a:t>
            </a:r>
            <a:endParaRPr lang="en-GB" b="0" dirty="0"/>
          </a:p>
          <a:p>
            <a:pPr>
              <a:lnSpc>
                <a:spcPct val="80000"/>
              </a:lnSpc>
              <a:buFontTx/>
              <a:buNone/>
            </a:pPr>
            <a:r>
              <a:rPr lang="en-US" dirty="0">
                <a:latin typeface="Arial" charset="0"/>
              </a:rPr>
              <a:t>2.1.4 – Access Methods</a:t>
            </a:r>
            <a:endParaRPr lang="en-US" dirty="0"/>
          </a:p>
          <a:p>
            <a:pPr>
              <a:lnSpc>
                <a:spcPct val="80000"/>
              </a:lnSpc>
              <a:buFontTx/>
              <a:buNone/>
            </a:pPr>
            <a:endParaRPr lang="en-US" dirty="0"/>
          </a:p>
        </p:txBody>
      </p:sp>
    </p:spTree>
    <p:extLst>
      <p:ext uri="{BB962C8B-B14F-4D97-AF65-F5344CB8AC3E}">
        <p14:creationId xmlns:p14="http://schemas.microsoft.com/office/powerpoint/2010/main" val="4050493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5</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2.1 – </a:t>
            </a:r>
            <a:r>
              <a:rPr lang="en-US" sz="1200" kern="1200" dirty="0">
                <a:solidFill>
                  <a:schemeClr val="accent5">
                    <a:lumMod val="40000"/>
                    <a:lumOff val="60000"/>
                  </a:schemeClr>
                </a:solidFill>
                <a:latin typeface="Arial" charset="0"/>
                <a:ea typeface="ＭＳ Ｐゴシック" charset="0"/>
                <a:cs typeface="ＭＳ Ｐゴシック" charset="0"/>
              </a:rPr>
              <a:t>Cisco IOS Access</a:t>
            </a:r>
            <a:endParaRPr lang="en-GB" b="0" dirty="0"/>
          </a:p>
          <a:p>
            <a:pPr>
              <a:lnSpc>
                <a:spcPct val="80000"/>
              </a:lnSpc>
              <a:buFontTx/>
              <a:buNone/>
            </a:pPr>
            <a:r>
              <a:rPr lang="en-US" dirty="0">
                <a:latin typeface="Arial" charset="0"/>
              </a:rPr>
              <a:t>2.1.5 – Terminal Emulation Programs</a:t>
            </a:r>
          </a:p>
          <a:p>
            <a:pPr>
              <a:lnSpc>
                <a:spcPct val="80000"/>
              </a:lnSpc>
              <a:buFontTx/>
              <a:buNone/>
            </a:pPr>
            <a:r>
              <a:rPr lang="en-US" dirty="0">
                <a:latin typeface="Arial" charset="0"/>
              </a:rPr>
              <a:t>2.1.6 – Check Your Understanding - Cisco IOS Access</a:t>
            </a:r>
            <a:endParaRPr lang="en-US" dirty="0"/>
          </a:p>
          <a:p>
            <a:pPr>
              <a:lnSpc>
                <a:spcPct val="80000"/>
              </a:lnSpc>
              <a:buFontTx/>
              <a:buNone/>
            </a:pPr>
            <a:endParaRPr lang="en-US" dirty="0"/>
          </a:p>
        </p:txBody>
      </p:sp>
    </p:spTree>
    <p:extLst>
      <p:ext uri="{BB962C8B-B14F-4D97-AF65-F5344CB8AC3E}">
        <p14:creationId xmlns:p14="http://schemas.microsoft.com/office/powerpoint/2010/main" val="2708579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2.2 – IOS </a:t>
            </a:r>
            <a:r>
              <a:rPr lang="en-US" sz="1200" kern="1200" dirty="0">
                <a:solidFill>
                  <a:schemeClr val="accent5">
                    <a:lumMod val="40000"/>
                    <a:lumOff val="60000"/>
                  </a:schemeClr>
                </a:solidFill>
                <a:latin typeface="Arial" charset="0"/>
                <a:ea typeface="ＭＳ Ｐゴシック" charset="0"/>
                <a:cs typeface="ＭＳ Ｐゴシック" charset="0"/>
              </a:rPr>
              <a:t>Navigation</a:t>
            </a:r>
            <a:endParaRPr lang="en-GB" b="0" dirty="0"/>
          </a:p>
          <a:p>
            <a:pPr>
              <a:lnSpc>
                <a:spcPct val="80000"/>
              </a:lnSpc>
              <a:buFontTx/>
              <a:buNone/>
            </a:pPr>
            <a:r>
              <a:rPr lang="en-US" dirty="0">
                <a:latin typeface="Arial" charset="0"/>
              </a:rPr>
              <a:t>2.2.1 – Primary Command Modes</a:t>
            </a:r>
            <a:endParaRPr lang="en-US" dirty="0"/>
          </a:p>
          <a:p>
            <a:pPr>
              <a:lnSpc>
                <a:spcPct val="80000"/>
              </a:lnSpc>
              <a:buFontTx/>
              <a:buNone/>
            </a:pPr>
            <a:endParaRPr lang="en-US" dirty="0"/>
          </a:p>
        </p:txBody>
      </p:sp>
    </p:spTree>
    <p:extLst>
      <p:ext uri="{BB962C8B-B14F-4D97-AF65-F5344CB8AC3E}">
        <p14:creationId xmlns:p14="http://schemas.microsoft.com/office/powerpoint/2010/main" val="1156604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2.2 – IOS </a:t>
            </a:r>
            <a:r>
              <a:rPr lang="en-US" sz="1200" kern="1200" dirty="0">
                <a:solidFill>
                  <a:schemeClr val="accent5">
                    <a:lumMod val="40000"/>
                    <a:lumOff val="60000"/>
                  </a:schemeClr>
                </a:solidFill>
                <a:latin typeface="Arial" charset="0"/>
                <a:ea typeface="ＭＳ Ｐゴシック" charset="0"/>
                <a:cs typeface="ＭＳ Ｐゴシック" charset="0"/>
              </a:rPr>
              <a:t>Navigation</a:t>
            </a:r>
            <a:endParaRPr lang="en-GB" b="0" dirty="0"/>
          </a:p>
          <a:p>
            <a:pPr>
              <a:lnSpc>
                <a:spcPct val="80000"/>
              </a:lnSpc>
              <a:buFontTx/>
              <a:buNone/>
            </a:pPr>
            <a:r>
              <a:rPr lang="en-US" dirty="0">
                <a:latin typeface="Arial" charset="0"/>
              </a:rPr>
              <a:t>2.2.2 – Configuration Mode and Subconfiguration Modes</a:t>
            </a:r>
            <a:endParaRPr lang="en-US" dirty="0"/>
          </a:p>
          <a:p>
            <a:pPr>
              <a:lnSpc>
                <a:spcPct val="80000"/>
              </a:lnSpc>
              <a:buFontTx/>
              <a:buNone/>
            </a:pPr>
            <a:endParaRPr lang="en-US" dirty="0"/>
          </a:p>
        </p:txBody>
      </p:sp>
    </p:spTree>
    <p:extLst>
      <p:ext uri="{BB962C8B-B14F-4D97-AF65-F5344CB8AC3E}">
        <p14:creationId xmlns:p14="http://schemas.microsoft.com/office/powerpoint/2010/main" val="4222691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2.2 – IOS </a:t>
            </a:r>
            <a:r>
              <a:rPr lang="en-US" sz="1200" kern="1200" dirty="0">
                <a:solidFill>
                  <a:schemeClr val="accent5">
                    <a:lumMod val="40000"/>
                    <a:lumOff val="60000"/>
                  </a:schemeClr>
                </a:solidFill>
                <a:latin typeface="Arial" charset="0"/>
                <a:ea typeface="ＭＳ Ｐゴシック" charset="0"/>
                <a:cs typeface="ＭＳ Ｐゴシック" charset="0"/>
              </a:rPr>
              <a:t>Navigation</a:t>
            </a:r>
            <a:endParaRPr lang="en-GB" b="0" dirty="0"/>
          </a:p>
          <a:p>
            <a:pPr>
              <a:lnSpc>
                <a:spcPct val="80000"/>
              </a:lnSpc>
              <a:buFontTx/>
              <a:buNone/>
            </a:pPr>
            <a:r>
              <a:rPr lang="en-US" dirty="0">
                <a:latin typeface="Arial" charset="0"/>
              </a:rPr>
              <a:t>2.2.4 – Navigate Between IOS Modes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10</a:t>
            </a:fld>
            <a:endParaRPr lang="en-US" dirty="0">
              <a:solidFill>
                <a:prstClr val="black"/>
              </a:solidFill>
            </a:endParaRPr>
          </a:p>
        </p:txBody>
      </p:sp>
    </p:spTree>
    <p:extLst>
      <p:ext uri="{BB962C8B-B14F-4D97-AF65-F5344CB8AC3E}">
        <p14:creationId xmlns:p14="http://schemas.microsoft.com/office/powerpoint/2010/main" val="876528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2.2 – IOS </a:t>
            </a:r>
            <a:r>
              <a:rPr lang="en-US" sz="1200" kern="1200" dirty="0">
                <a:solidFill>
                  <a:schemeClr val="accent5">
                    <a:lumMod val="40000"/>
                    <a:lumOff val="60000"/>
                  </a:schemeClr>
                </a:solidFill>
                <a:latin typeface="Arial" charset="0"/>
                <a:ea typeface="ＭＳ Ｐゴシック" charset="0"/>
                <a:cs typeface="ＭＳ Ｐゴシック" charset="0"/>
              </a:rPr>
              <a:t>Navigation</a:t>
            </a:r>
            <a:endParaRPr lang="en-GB" b="0" dirty="0"/>
          </a:p>
          <a:p>
            <a:pPr>
              <a:lnSpc>
                <a:spcPct val="80000"/>
              </a:lnSpc>
              <a:buFontTx/>
              <a:buNone/>
            </a:pPr>
            <a:r>
              <a:rPr lang="en-US" dirty="0">
                <a:latin typeface="Arial" charset="0"/>
              </a:rPr>
              <a:t>2.2.4 – Navigate Between IOS Modes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793235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2.3 – The Command Structure</a:t>
            </a:r>
            <a:endParaRPr lang="en-GB" b="0" dirty="0"/>
          </a:p>
          <a:p>
            <a:pPr>
              <a:lnSpc>
                <a:spcPct val="80000"/>
              </a:lnSpc>
              <a:buFontTx/>
              <a:buNone/>
            </a:pPr>
            <a:r>
              <a:rPr lang="en-US" dirty="0">
                <a:latin typeface="Arial" charset="0"/>
              </a:rPr>
              <a:t>2.3.1 – Basic IOS Command Structure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2130154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2.3 – The Command Structure</a:t>
            </a:r>
            <a:endParaRPr lang="en-GB" b="0" dirty="0"/>
          </a:p>
          <a:p>
            <a:pPr>
              <a:lnSpc>
                <a:spcPct val="80000"/>
              </a:lnSpc>
              <a:buFontTx/>
              <a:buNone/>
            </a:pPr>
            <a:r>
              <a:rPr lang="en-US" dirty="0">
                <a:latin typeface="Arial" charset="0"/>
              </a:rPr>
              <a:t>2.3.3 – IOS Help Features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2626446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2.3 – The Command Structure</a:t>
            </a:r>
            <a:endParaRPr lang="en-GB" b="0" dirty="0"/>
          </a:p>
          <a:p>
            <a:pPr>
              <a:lnSpc>
                <a:spcPct val="80000"/>
              </a:lnSpc>
              <a:buFontTx/>
              <a:buNone/>
            </a:pPr>
            <a:r>
              <a:rPr lang="en-US" dirty="0">
                <a:latin typeface="Arial" charset="0"/>
              </a:rPr>
              <a:t>2.3.5 – Hot Keys and Shortcuts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15</a:t>
            </a:fld>
            <a:endParaRPr lang="en-US" dirty="0">
              <a:solidFill>
                <a:prstClr val="black"/>
              </a:solidFill>
            </a:endParaRPr>
          </a:p>
        </p:txBody>
      </p:sp>
    </p:spTree>
    <p:extLst>
      <p:ext uri="{BB962C8B-B14F-4D97-AF65-F5344CB8AC3E}">
        <p14:creationId xmlns:p14="http://schemas.microsoft.com/office/powerpoint/2010/main" val="3175765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2.4 – Basic Device Configuration</a:t>
            </a:r>
            <a:endParaRPr lang="en-GB" b="0" dirty="0"/>
          </a:p>
          <a:p>
            <a:pPr>
              <a:lnSpc>
                <a:spcPct val="80000"/>
              </a:lnSpc>
              <a:buFontTx/>
              <a:buNone/>
            </a:pPr>
            <a:r>
              <a:rPr lang="en-US" dirty="0">
                <a:latin typeface="Arial" charset="0"/>
              </a:rPr>
              <a:t>2.4.1 – Device Names</a:t>
            </a:r>
            <a:endParaRPr lang="en-US" dirty="0"/>
          </a:p>
          <a:p>
            <a:endParaRPr lang="en-US" dirty="0"/>
          </a:p>
        </p:txBody>
      </p:sp>
    </p:spTree>
    <p:extLst>
      <p:ext uri="{BB962C8B-B14F-4D97-AF65-F5344CB8AC3E}">
        <p14:creationId xmlns:p14="http://schemas.microsoft.com/office/powerpoint/2010/main" val="3255448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2.4 – Basic Device Configuration</a:t>
            </a:r>
            <a:endParaRPr lang="en-GB" b="0" dirty="0"/>
          </a:p>
          <a:p>
            <a:pPr>
              <a:lnSpc>
                <a:spcPct val="80000"/>
              </a:lnSpc>
              <a:buFontTx/>
              <a:buNone/>
            </a:pPr>
            <a:r>
              <a:rPr lang="en-US" dirty="0">
                <a:latin typeface="Arial" charset="0"/>
              </a:rPr>
              <a:t>2.4.2 – Password Guidelines</a:t>
            </a:r>
            <a:endParaRPr lang="en-US" dirty="0"/>
          </a:p>
          <a:p>
            <a:endParaRPr lang="en-US" dirty="0"/>
          </a:p>
        </p:txBody>
      </p:sp>
    </p:spTree>
    <p:extLst>
      <p:ext uri="{BB962C8B-B14F-4D97-AF65-F5344CB8AC3E}">
        <p14:creationId xmlns:p14="http://schemas.microsoft.com/office/powerpoint/2010/main" val="3317125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2.4 – Basic Device Configuration</a:t>
            </a:r>
            <a:endParaRPr lang="en-GB" b="0" dirty="0"/>
          </a:p>
          <a:p>
            <a:pPr>
              <a:lnSpc>
                <a:spcPct val="80000"/>
              </a:lnSpc>
              <a:buFontTx/>
              <a:buNone/>
            </a:pPr>
            <a:r>
              <a:rPr lang="en-US" dirty="0">
                <a:latin typeface="Arial" charset="0"/>
              </a:rPr>
              <a:t>2.4.3 – Configure Passwords</a:t>
            </a:r>
            <a:endParaRPr lang="en-US" dirty="0"/>
          </a:p>
          <a:p>
            <a:endParaRPr lang="en-US" dirty="0"/>
          </a:p>
        </p:txBody>
      </p:sp>
    </p:spTree>
    <p:extLst>
      <p:ext uri="{BB962C8B-B14F-4D97-AF65-F5344CB8AC3E}">
        <p14:creationId xmlns:p14="http://schemas.microsoft.com/office/powerpoint/2010/main" val="2552993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2.4 – Basic Device Configuration</a:t>
            </a:r>
            <a:endParaRPr lang="en-GB" b="0" dirty="0"/>
          </a:p>
          <a:p>
            <a:pPr>
              <a:lnSpc>
                <a:spcPct val="80000"/>
              </a:lnSpc>
              <a:buFontTx/>
              <a:buNone/>
            </a:pPr>
            <a:r>
              <a:rPr lang="en-US" dirty="0">
                <a:latin typeface="Arial" charset="0"/>
              </a:rPr>
              <a:t>2.4.3 – Configure Passwords</a:t>
            </a:r>
            <a:endParaRPr lang="en-US" dirty="0"/>
          </a:p>
          <a:p>
            <a:endParaRPr lang="en-US" dirty="0"/>
          </a:p>
          <a:p>
            <a:endParaRPr lang="en-US" dirty="0"/>
          </a:p>
        </p:txBody>
      </p:sp>
    </p:spTree>
    <p:extLst>
      <p:ext uri="{BB962C8B-B14F-4D97-AF65-F5344CB8AC3E}">
        <p14:creationId xmlns:p14="http://schemas.microsoft.com/office/powerpoint/2010/main" val="603551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2.4 – Basic Device Configuration</a:t>
            </a:r>
            <a:endParaRPr lang="en-GB" b="0" dirty="0"/>
          </a:p>
          <a:p>
            <a:pPr>
              <a:lnSpc>
                <a:spcPct val="80000"/>
              </a:lnSpc>
              <a:buFontTx/>
              <a:buNone/>
            </a:pPr>
            <a:r>
              <a:rPr lang="en-US" dirty="0">
                <a:latin typeface="Arial" charset="0"/>
              </a:rPr>
              <a:t>2.4.4 – Encrypt Passwords</a:t>
            </a:r>
            <a:endParaRPr lang="en-US" dirty="0"/>
          </a:p>
          <a:p>
            <a:endParaRPr lang="en-US" dirty="0"/>
          </a:p>
          <a:p>
            <a:endParaRPr lang="en-US" dirty="0"/>
          </a:p>
        </p:txBody>
      </p:sp>
    </p:spTree>
    <p:extLst>
      <p:ext uri="{BB962C8B-B14F-4D97-AF65-F5344CB8AC3E}">
        <p14:creationId xmlns:p14="http://schemas.microsoft.com/office/powerpoint/2010/main" val="2469662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2.4 – Basic Device Configuration</a:t>
            </a:r>
            <a:endParaRPr lang="en-GB" b="0" dirty="0"/>
          </a:p>
          <a:p>
            <a:pPr>
              <a:lnSpc>
                <a:spcPct val="80000"/>
              </a:lnSpc>
              <a:buFontTx/>
              <a:buNone/>
            </a:pPr>
            <a:r>
              <a:rPr lang="en-US" dirty="0">
                <a:latin typeface="Arial" charset="0"/>
              </a:rPr>
              <a:t>2.4.5 – Banner Messages</a:t>
            </a:r>
            <a:endParaRPr lang="en-US" dirty="0"/>
          </a:p>
          <a:p>
            <a:endParaRPr lang="en-US" dirty="0"/>
          </a:p>
          <a:p>
            <a:endParaRPr lang="en-US" dirty="0"/>
          </a:p>
        </p:txBody>
      </p:sp>
    </p:spTree>
    <p:extLst>
      <p:ext uri="{BB962C8B-B14F-4D97-AF65-F5344CB8AC3E}">
        <p14:creationId xmlns:p14="http://schemas.microsoft.com/office/powerpoint/2010/main" val="3842115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2.5 – Save Configurations</a:t>
            </a:r>
            <a:endParaRPr lang="en-GB" b="0" dirty="0"/>
          </a:p>
          <a:p>
            <a:pPr>
              <a:lnSpc>
                <a:spcPct val="80000"/>
              </a:lnSpc>
              <a:buFontTx/>
              <a:buNone/>
            </a:pPr>
            <a:r>
              <a:rPr lang="en-US" dirty="0">
                <a:latin typeface="Arial" charset="0"/>
              </a:rPr>
              <a:t>2.5.1 – Configuration Files</a:t>
            </a:r>
            <a:endParaRPr lang="en-US" dirty="0"/>
          </a:p>
          <a:p>
            <a:endParaRPr lang="en-US" dirty="0"/>
          </a:p>
        </p:txBody>
      </p:sp>
    </p:spTree>
    <p:extLst>
      <p:ext uri="{BB962C8B-B14F-4D97-AF65-F5344CB8AC3E}">
        <p14:creationId xmlns:p14="http://schemas.microsoft.com/office/powerpoint/2010/main" val="1289058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2.5 – Save Configurations</a:t>
            </a:r>
            <a:endParaRPr lang="en-GB" b="0" dirty="0"/>
          </a:p>
          <a:p>
            <a:pPr>
              <a:lnSpc>
                <a:spcPct val="80000"/>
              </a:lnSpc>
              <a:buFontTx/>
              <a:buNone/>
            </a:pPr>
            <a:r>
              <a:rPr lang="en-US" dirty="0">
                <a:latin typeface="Arial" charset="0"/>
              </a:rPr>
              <a:t>2.5.2 – Alter the Running Configuration</a:t>
            </a:r>
            <a:endParaRPr lang="en-US" dirty="0"/>
          </a:p>
          <a:p>
            <a:endParaRPr lang="en-US" dirty="0"/>
          </a:p>
        </p:txBody>
      </p:sp>
    </p:spTree>
    <p:extLst>
      <p:ext uri="{BB962C8B-B14F-4D97-AF65-F5344CB8AC3E}">
        <p14:creationId xmlns:p14="http://schemas.microsoft.com/office/powerpoint/2010/main" val="12431991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b="1" dirty="0">
                <a:solidFill>
                  <a:srgbClr val="000000"/>
                </a:solidFill>
              </a:rPr>
              <a:t>Local AAA Authentication: </a:t>
            </a:r>
          </a:p>
          <a:p>
            <a:pPr marL="342900" indent="-342900" algn="l">
              <a:buFont typeface="Arial" panose="020B0604020202020204" pitchFamily="34" charset="0"/>
              <a:buChar char="•"/>
            </a:pPr>
            <a:r>
              <a:rPr lang="en-US" sz="1200" dirty="0">
                <a:solidFill>
                  <a:srgbClr val="000000"/>
                </a:solidFill>
              </a:rPr>
              <a:t>Method stores usernames and passwords locally in a network device (e.g., Cisco router). </a:t>
            </a:r>
          </a:p>
          <a:p>
            <a:pPr marL="342900" indent="-342900" algn="l">
              <a:buFont typeface="Arial" panose="020B0604020202020204" pitchFamily="34" charset="0"/>
              <a:buChar char="•"/>
            </a:pPr>
            <a:r>
              <a:rPr lang="en-US" sz="1200" dirty="0">
                <a:solidFill>
                  <a:srgbClr val="000000"/>
                </a:solidFill>
              </a:rPr>
              <a:t>Users authenticate against the local database. </a:t>
            </a:r>
          </a:p>
          <a:p>
            <a:pPr marL="342900" indent="-342900" algn="l">
              <a:buFont typeface="Arial" panose="020B0604020202020204" pitchFamily="34" charset="0"/>
              <a:buChar char="•"/>
            </a:pPr>
            <a:r>
              <a:rPr lang="en-US" sz="1200" dirty="0">
                <a:solidFill>
                  <a:srgbClr val="000000"/>
                </a:solidFill>
              </a:rPr>
              <a:t>Local AAA is ideal for small networks.</a:t>
            </a:r>
          </a:p>
          <a:p>
            <a:pPr marL="342900" indent="-342900" algn="l">
              <a:buFont typeface="Arial" panose="020B0604020202020204" pitchFamily="34" charset="0"/>
              <a:buChar char="•"/>
            </a:pPr>
            <a:endParaRPr lang="en-US" sz="1200" b="1" dirty="0">
              <a:solidFill>
                <a:srgbClr val="000000"/>
              </a:solidFill>
            </a:endParaRPr>
          </a:p>
          <a:p>
            <a:pPr marL="0" indent="0" algn="l"/>
            <a:r>
              <a:rPr lang="en-US" sz="1200" b="1" dirty="0">
                <a:solidFill>
                  <a:srgbClr val="000000"/>
                </a:solidFill>
              </a:rPr>
              <a:t>Server-Based AAA Authentication: </a:t>
            </a:r>
          </a:p>
          <a:p>
            <a:pPr marL="342900" indent="-342900" algn="l">
              <a:buFont typeface="Arial" panose="020B0604020202020204" pitchFamily="34" charset="0"/>
              <a:buChar char="•"/>
            </a:pPr>
            <a:r>
              <a:rPr lang="en-US" sz="1200" dirty="0">
                <a:solidFill>
                  <a:srgbClr val="000000"/>
                </a:solidFill>
              </a:rPr>
              <a:t>With the server-based method, the router accesses a central AAA server. </a:t>
            </a:r>
          </a:p>
          <a:p>
            <a:pPr marL="342900" indent="-342900" algn="l">
              <a:buFont typeface="Arial" panose="020B0604020202020204" pitchFamily="34" charset="0"/>
              <a:buChar char="•"/>
            </a:pPr>
            <a:r>
              <a:rPr lang="en-US" sz="1200" dirty="0">
                <a:solidFill>
                  <a:srgbClr val="000000"/>
                </a:solidFill>
              </a:rPr>
              <a:t>The AAA server contains the usernames and password for all users. </a:t>
            </a:r>
          </a:p>
          <a:p>
            <a:pPr marL="342900" indent="-342900" algn="l">
              <a:buFont typeface="Arial" panose="020B0604020202020204" pitchFamily="34" charset="0"/>
              <a:buChar char="•"/>
            </a:pPr>
            <a:r>
              <a:rPr lang="en-US" sz="1200" dirty="0">
                <a:solidFill>
                  <a:srgbClr val="000000"/>
                </a:solidFill>
              </a:rPr>
              <a:t>The router uses either the Remote Authentication Dial-In User Service (RADIUS) or Terminal Access Controller Access Control System (TACACS+) protocols to communicate with the AAA server. </a:t>
            </a:r>
          </a:p>
          <a:p>
            <a:pPr marL="342900" indent="-342900" algn="l">
              <a:buFont typeface="Arial" panose="020B0604020202020204" pitchFamily="34" charset="0"/>
              <a:buChar char="•"/>
            </a:pPr>
            <a:r>
              <a:rPr lang="en-US" sz="1200" dirty="0">
                <a:solidFill>
                  <a:srgbClr val="000000"/>
                </a:solidFill>
              </a:rPr>
              <a:t>When there are multiple routers and switches, server-based AAA is more appropriate</a:t>
            </a:r>
          </a:p>
          <a:p>
            <a:pPr marL="342900" indent="-342900" algn="l">
              <a:buFont typeface="Arial" panose="020B0604020202020204" pitchFamily="34" charset="0"/>
              <a:buChar char="•"/>
            </a:pPr>
            <a:endParaRPr lang="en-US" sz="120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000000"/>
                </a:solidFill>
              </a:rPr>
              <a:t>Authorization uses a set of attributes that describes the user’s access to the network. These attributes are used by the AAA server to determine privileges and restrictions for that user.</a:t>
            </a:r>
          </a:p>
          <a:p>
            <a:pPr marL="0" indent="0" algn="l">
              <a:buFont typeface="Arial" panose="020B0604020202020204" pitchFamily="34" charset="0"/>
              <a:buNone/>
            </a:pPr>
            <a:endParaRPr lang="en-GB" dirty="0"/>
          </a:p>
          <a:p>
            <a:pPr marL="0" indent="0" algn="l"/>
            <a:r>
              <a:rPr lang="en-US" sz="1600" dirty="0">
                <a:solidFill>
                  <a:srgbClr val="000000"/>
                </a:solidFill>
              </a:rPr>
              <a:t>A primary use of accounting is to combine it with AAA authentication. </a:t>
            </a:r>
          </a:p>
          <a:p>
            <a:pPr marL="415985" lvl="1" indent="-342900">
              <a:buFont typeface="Arial" panose="020B0604020202020204" pitchFamily="34" charset="0"/>
              <a:buChar char="•"/>
            </a:pPr>
            <a:r>
              <a:rPr lang="en-US" sz="1600" dirty="0">
                <a:solidFill>
                  <a:srgbClr val="000000"/>
                </a:solidFill>
              </a:rPr>
              <a:t>The AAA server keeps a detailed log of exactly what the authenticated user does on the device, as shown in the figure. This includes all EXEC and configuration commands issued by the user. </a:t>
            </a:r>
          </a:p>
          <a:p>
            <a:pPr marL="415985" lvl="1" indent="-342900">
              <a:buFont typeface="Arial" panose="020B0604020202020204" pitchFamily="34" charset="0"/>
              <a:buChar char="•"/>
            </a:pPr>
            <a:r>
              <a:rPr lang="en-US" sz="1600" dirty="0">
                <a:solidFill>
                  <a:srgbClr val="000000"/>
                </a:solidFill>
              </a:rPr>
              <a:t>The log contains numerous data fields, including the username, the date and time, and the actual command that was entered by the user. This information is useful when troubleshooting devices. It also provides evidence for when individuals perform malicious acts.</a:t>
            </a:r>
          </a:p>
          <a:p>
            <a:pPr marL="0" indent="0" algn="l">
              <a:buFont typeface="Arial" panose="020B0604020202020204" pitchFamily="34" charset="0"/>
              <a:buNone/>
            </a:pPr>
            <a:endParaRPr lang="en-GB" dirty="0"/>
          </a:p>
        </p:txBody>
      </p:sp>
      <p:sp>
        <p:nvSpPr>
          <p:cNvPr id="4" name="Slide Number Placeholder 3"/>
          <p:cNvSpPr>
            <a:spLocks noGrp="1"/>
          </p:cNvSpPr>
          <p:nvPr>
            <p:ph type="sldNum" sz="quarter" idx="5"/>
          </p:nvPr>
        </p:nvSpPr>
        <p:spPr/>
        <p:txBody>
          <a:bodyPr/>
          <a:lstStyle/>
          <a:p>
            <a:fld id="{70D14258-FDD1-4B55-9B94-7C84AC73559E}" type="slidenum">
              <a:rPr lang="en-IE" smtClean="0"/>
              <a:t>31</a:t>
            </a:fld>
            <a:endParaRPr lang="en-IE"/>
          </a:p>
        </p:txBody>
      </p:sp>
    </p:spTree>
    <p:extLst>
      <p:ext uri="{BB962C8B-B14F-4D97-AF65-F5344CB8AC3E}">
        <p14:creationId xmlns:p14="http://schemas.microsoft.com/office/powerpoint/2010/main" val="3043408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Port security is enabled with the </a:t>
            </a:r>
            <a:r>
              <a:rPr lang="en-US" sz="1200" b="1" dirty="0">
                <a:solidFill>
                  <a:srgbClr val="000000"/>
                </a:solidFill>
              </a:rPr>
              <a:t>switchport port-security </a:t>
            </a:r>
            <a:r>
              <a:rPr lang="en-US" sz="1200" dirty="0">
                <a:solidFill>
                  <a:srgbClr val="000000"/>
                </a:solidFill>
              </a:rPr>
              <a:t>interface configuration command.</a:t>
            </a:r>
          </a:p>
          <a:p>
            <a:pPr marL="0" indent="0" algn="l"/>
            <a:endParaRPr lang="en-US" sz="1200" dirty="0">
              <a:solidFill>
                <a:srgbClr val="000000"/>
              </a:solidFill>
            </a:endParaRPr>
          </a:p>
          <a:p>
            <a:pPr marL="0" indent="0" algn="l"/>
            <a:r>
              <a:rPr lang="en-US" sz="1200" dirty="0">
                <a:solidFill>
                  <a:srgbClr val="000000"/>
                </a:solidFill>
              </a:rPr>
              <a:t>Use the </a:t>
            </a:r>
            <a:r>
              <a:rPr lang="en-US" sz="1200" b="1" dirty="0">
                <a:solidFill>
                  <a:srgbClr val="000000"/>
                </a:solidFill>
              </a:rPr>
              <a:t>show port-security interface</a:t>
            </a:r>
            <a:r>
              <a:rPr lang="en-US" sz="1200" dirty="0">
                <a:solidFill>
                  <a:srgbClr val="000000"/>
                </a:solidFill>
              </a:rPr>
              <a:t> command to display the current port security settings for </a:t>
            </a:r>
            <a:r>
              <a:rPr lang="en-US" sz="1200" dirty="0" err="1">
                <a:solidFill>
                  <a:srgbClr val="000000"/>
                </a:solidFill>
              </a:rPr>
              <a:t>FastEthernet</a:t>
            </a:r>
            <a:r>
              <a:rPr lang="en-US" sz="1200" dirty="0">
                <a:solidFill>
                  <a:srgbClr val="000000"/>
                </a:solidFill>
              </a:rPr>
              <a:t> 0/1. </a:t>
            </a:r>
          </a:p>
          <a:p>
            <a:pPr marL="285750" indent="-285750" algn="l">
              <a:buFont typeface="Arial" panose="020B0604020202020204" pitchFamily="34" charset="0"/>
              <a:buChar char="•"/>
            </a:pPr>
            <a:r>
              <a:rPr lang="en-US" sz="1200" dirty="0">
                <a:solidFill>
                  <a:srgbClr val="000000"/>
                </a:solidFill>
              </a:rPr>
              <a:t>Notice how port security is enabled, the violation mode is shutdown, and how the maximum number of MAC addresses is 1. </a:t>
            </a:r>
          </a:p>
          <a:p>
            <a:pPr marL="285750" indent="-285750" algn="l">
              <a:buFont typeface="Arial" panose="020B0604020202020204" pitchFamily="34" charset="0"/>
              <a:buChar char="•"/>
            </a:pPr>
            <a:r>
              <a:rPr lang="en-US" sz="1200" dirty="0">
                <a:solidFill>
                  <a:srgbClr val="000000"/>
                </a:solidFill>
              </a:rPr>
              <a:t>If a device is connected to the port, the switch will automatically add the device’s MAC address as a secure MAC. In this example, no device is connected to the port.</a:t>
            </a:r>
          </a:p>
          <a:p>
            <a:pPr marL="0" indent="0" algn="l"/>
            <a:endParaRPr lang="en-US" sz="1100" b="1" dirty="0">
              <a:solidFill>
                <a:srgbClr val="000000"/>
              </a:solidFill>
            </a:endParaRPr>
          </a:p>
          <a:p>
            <a:pPr marL="0" indent="0" algn="l"/>
            <a:r>
              <a:rPr lang="en-US" sz="1100" b="1" dirty="0">
                <a:solidFill>
                  <a:srgbClr val="000000"/>
                </a:solidFill>
              </a:rPr>
              <a:t>Note</a:t>
            </a:r>
            <a:r>
              <a:rPr lang="en-US" sz="1100" dirty="0">
                <a:solidFill>
                  <a:srgbClr val="000000"/>
                </a:solidFill>
              </a:rPr>
              <a:t>: If an active port is configured with the </a:t>
            </a:r>
            <a:r>
              <a:rPr lang="en-US" sz="1100" b="1" dirty="0">
                <a:solidFill>
                  <a:srgbClr val="000000"/>
                </a:solidFill>
              </a:rPr>
              <a:t>switchport port-security</a:t>
            </a:r>
            <a:r>
              <a:rPr lang="en-US" sz="1100" dirty="0">
                <a:solidFill>
                  <a:srgbClr val="000000"/>
                </a:solidFill>
              </a:rPr>
              <a:t> command and more than one device is connected to that port, the port will transition to the error-disabled state.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To set the maximum number of MAC addresses allowed on a port, use the following command:</a:t>
            </a:r>
          </a:p>
          <a:p>
            <a:endParaRPr lang="en-GB" dirty="0"/>
          </a:p>
          <a:p>
            <a:pPr marL="285750" indent="-285750" algn="l">
              <a:buFont typeface="Arial" panose="020B0604020202020204" pitchFamily="34" charset="0"/>
              <a:buChar char="•"/>
            </a:pPr>
            <a:r>
              <a:rPr lang="en-US" sz="1200" dirty="0">
                <a:solidFill>
                  <a:srgbClr val="000000"/>
                </a:solidFill>
              </a:rPr>
              <a:t>The default port security value is 1. </a:t>
            </a:r>
          </a:p>
          <a:p>
            <a:pPr marL="285750" indent="-285750" algn="l">
              <a:buFont typeface="Arial" panose="020B0604020202020204" pitchFamily="34" charset="0"/>
              <a:buChar char="•"/>
            </a:pPr>
            <a:r>
              <a:rPr lang="en-US" sz="1200" dirty="0">
                <a:solidFill>
                  <a:srgbClr val="000000"/>
                </a:solidFill>
              </a:rPr>
              <a:t>The maximum number of secure MAC addresses that can be configured depends the switch and the IOS. </a:t>
            </a:r>
          </a:p>
          <a:p>
            <a:pPr marL="285750" indent="-285750" algn="l">
              <a:buFont typeface="Arial" panose="020B0604020202020204" pitchFamily="34" charset="0"/>
              <a:buChar char="•"/>
            </a:pPr>
            <a:r>
              <a:rPr lang="en-US" sz="1200" dirty="0">
                <a:solidFill>
                  <a:srgbClr val="000000"/>
                </a:solidFill>
              </a:rPr>
              <a:t>In this example, the maximum is 8192.</a:t>
            </a:r>
          </a:p>
          <a:p>
            <a:endParaRPr lang="en-GB" dirty="0"/>
          </a:p>
        </p:txBody>
      </p:sp>
      <p:sp>
        <p:nvSpPr>
          <p:cNvPr id="4" name="Slide Number Placeholder 3"/>
          <p:cNvSpPr>
            <a:spLocks noGrp="1"/>
          </p:cNvSpPr>
          <p:nvPr>
            <p:ph type="sldNum" sz="quarter" idx="5"/>
          </p:nvPr>
        </p:nvSpPr>
        <p:spPr/>
        <p:txBody>
          <a:bodyPr/>
          <a:lstStyle/>
          <a:p>
            <a:fld id="{70D14258-FDD1-4B55-9B94-7C84AC73559E}" type="slidenum">
              <a:rPr lang="en-IE" smtClean="0"/>
              <a:t>34</a:t>
            </a:fld>
            <a:endParaRPr lang="en-IE"/>
          </a:p>
        </p:txBody>
      </p:sp>
    </p:spTree>
    <p:extLst>
      <p:ext uri="{BB962C8B-B14F-4D97-AF65-F5344CB8AC3E}">
        <p14:creationId xmlns:p14="http://schemas.microsoft.com/office/powerpoint/2010/main" val="25859055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0DB9E-8B56-1935-BC09-B189C29D8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C10D6D-D4D5-9BF3-4D9A-1A29D87A2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C30E9-9CFA-DED3-841E-66C1FDCE4DA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3334FC-D4BC-362F-B725-F0DD077D9913}"/>
              </a:ext>
            </a:extLst>
          </p:cNvPr>
          <p:cNvSpPr>
            <a:spLocks noGrp="1"/>
          </p:cNvSpPr>
          <p:nvPr>
            <p:ph type="sldNum" sz="quarter" idx="5"/>
          </p:nvPr>
        </p:nvSpPr>
        <p:spPr/>
        <p:txBody>
          <a:bodyPr/>
          <a:lstStyle/>
          <a:p>
            <a:fld id="{70D14258-FDD1-4B55-9B94-7C84AC73559E}" type="slidenum">
              <a:rPr lang="en-IE" smtClean="0"/>
              <a:t>35</a:t>
            </a:fld>
            <a:endParaRPr lang="en-IE"/>
          </a:p>
        </p:txBody>
      </p:sp>
    </p:spTree>
    <p:extLst>
      <p:ext uri="{BB962C8B-B14F-4D97-AF65-F5344CB8AC3E}">
        <p14:creationId xmlns:p14="http://schemas.microsoft.com/office/powerpoint/2010/main" val="17555003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AB4AA-799C-F567-A1A1-A3F3F40BD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016D8-24FC-1F3E-FC1D-C0E4EBE08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6C2234-E3D9-2A40-ADA5-0E90C2E7EA7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91DF7EA-4FFB-C2C4-8897-60C716DC0F1C}"/>
              </a:ext>
            </a:extLst>
          </p:cNvPr>
          <p:cNvSpPr>
            <a:spLocks noGrp="1"/>
          </p:cNvSpPr>
          <p:nvPr>
            <p:ph type="sldNum" sz="quarter" idx="5"/>
          </p:nvPr>
        </p:nvSpPr>
        <p:spPr/>
        <p:txBody>
          <a:bodyPr/>
          <a:lstStyle/>
          <a:p>
            <a:fld id="{70D14258-FDD1-4B55-9B94-7C84AC73559E}" type="slidenum">
              <a:rPr lang="en-IE" smtClean="0"/>
              <a:t>36</a:t>
            </a:fld>
            <a:endParaRPr lang="en-IE"/>
          </a:p>
        </p:txBody>
      </p:sp>
    </p:spTree>
    <p:extLst>
      <p:ext uri="{BB962C8B-B14F-4D97-AF65-F5344CB8AC3E}">
        <p14:creationId xmlns:p14="http://schemas.microsoft.com/office/powerpoint/2010/main" val="10836118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9AA53-2C86-38B7-D5FE-060D88298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C34C2-716D-840F-C817-1C8D4A7E36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5E13C-17E1-7357-CE46-7A232462E17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802D614-2821-0746-4BDF-BB177021EEFE}"/>
              </a:ext>
            </a:extLst>
          </p:cNvPr>
          <p:cNvSpPr>
            <a:spLocks noGrp="1"/>
          </p:cNvSpPr>
          <p:nvPr>
            <p:ph type="sldNum" sz="quarter" idx="5"/>
          </p:nvPr>
        </p:nvSpPr>
        <p:spPr/>
        <p:txBody>
          <a:bodyPr/>
          <a:lstStyle/>
          <a:p>
            <a:fld id="{70D14258-FDD1-4B55-9B94-7C84AC73559E}" type="slidenum">
              <a:rPr lang="en-IE" smtClean="0"/>
              <a:t>37</a:t>
            </a:fld>
            <a:endParaRPr lang="en-IE"/>
          </a:p>
        </p:txBody>
      </p:sp>
    </p:spTree>
    <p:extLst>
      <p:ext uri="{BB962C8B-B14F-4D97-AF65-F5344CB8AC3E}">
        <p14:creationId xmlns:p14="http://schemas.microsoft.com/office/powerpoint/2010/main" val="3062775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EFE57-B5A2-47BA-AE41-5BE29C3077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FCCE6661-7B38-43DA-96F1-0BF722A233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4A4AEAC1-1C33-443D-8ED4-F2E2241B1074}"/>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5" name="Footer Placeholder 4">
            <a:extLst>
              <a:ext uri="{FF2B5EF4-FFF2-40B4-BE49-F238E27FC236}">
                <a16:creationId xmlns:a16="http://schemas.microsoft.com/office/drawing/2014/main" id="{5948E554-7598-458F-9386-2D84E400EF7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E11D545-FE1C-43C3-BA28-111FC4180AE9}"/>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3361173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7ED52-8988-4AB5-B67D-1FF091012D0E}"/>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611252D2-860D-4CFE-A88B-D53C043573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3DFA9B2-B72F-4D14-951E-EAD298874333}"/>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5" name="Footer Placeholder 4">
            <a:extLst>
              <a:ext uri="{FF2B5EF4-FFF2-40B4-BE49-F238E27FC236}">
                <a16:creationId xmlns:a16="http://schemas.microsoft.com/office/drawing/2014/main" id="{7A4DB7E0-D6EB-4508-BE24-7AD2BDF8B63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547A44C9-A40A-4D96-BFA4-02C0BCDF94D3}"/>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2977556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441B7-2FA5-4062-9DA4-3B4F634DEA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FC1D4DA7-E22F-4738-A5B5-BB363DC7B8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443FD8-5D0B-44E5-9F44-13A906242A56}"/>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5" name="Footer Placeholder 4">
            <a:extLst>
              <a:ext uri="{FF2B5EF4-FFF2-40B4-BE49-F238E27FC236}">
                <a16:creationId xmlns:a16="http://schemas.microsoft.com/office/drawing/2014/main" id="{8EC3F732-8568-4533-B3E3-2BCD897E995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C56BC7BE-CF9E-429B-97DC-C06A9073CA10}"/>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3170440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E379B-59F5-4CCD-80F2-65C158DFE82B}"/>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49890D87-D593-45DD-9B0F-E0F341FF15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3211AD62-21B1-4697-BFD7-EF17C3EF6E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9B54B8AD-9C2D-4867-8AC8-145BE5A79C63}"/>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6" name="Footer Placeholder 5">
            <a:extLst>
              <a:ext uri="{FF2B5EF4-FFF2-40B4-BE49-F238E27FC236}">
                <a16:creationId xmlns:a16="http://schemas.microsoft.com/office/drawing/2014/main" id="{E76E4694-1EC5-416D-A772-3D29B9D49E19}"/>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8A1733DD-F836-4C6F-9C9E-81D87FD7686F}"/>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1957673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4DC17-5E43-4937-8967-553D0B2399C1}"/>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985328ED-EE9E-4463-B26E-1DA76E0752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2E80ED-99DC-4E08-B30B-F12D88DFAA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9B4C83AE-75D8-4FFD-A815-A5C941BA82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65C8BE-60B1-49B4-A79A-EE0A5B3E83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C87FA75B-B8A8-4D35-844E-AAC74FDF1C5E}"/>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8" name="Footer Placeholder 7">
            <a:extLst>
              <a:ext uri="{FF2B5EF4-FFF2-40B4-BE49-F238E27FC236}">
                <a16:creationId xmlns:a16="http://schemas.microsoft.com/office/drawing/2014/main" id="{84D30033-AC2F-4213-B88C-F9EBCCC683EB}"/>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4466537-1F8B-4350-9590-95139686B94B}"/>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3826972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3936B-5E05-433C-A3A7-415545A540C3}"/>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E85D07BF-9BFD-48F9-AA85-79CDE0968CA5}"/>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4" name="Footer Placeholder 3">
            <a:extLst>
              <a:ext uri="{FF2B5EF4-FFF2-40B4-BE49-F238E27FC236}">
                <a16:creationId xmlns:a16="http://schemas.microsoft.com/office/drawing/2014/main" id="{BF1F4181-8BB6-4B41-917D-FCB26ED525B2}"/>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F31C56EF-E660-4C8C-9F99-A826AEB03AAA}"/>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3106461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B6423E-5285-4300-BB7B-BBEED23CE40A}"/>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3" name="Footer Placeholder 2">
            <a:extLst>
              <a:ext uri="{FF2B5EF4-FFF2-40B4-BE49-F238E27FC236}">
                <a16:creationId xmlns:a16="http://schemas.microsoft.com/office/drawing/2014/main" id="{2BB1370E-B6ED-495F-B0DE-836C59DDA62F}"/>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4C80F97E-4739-4132-9CDB-AAF95D5FE2EE}"/>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770755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009C8-D922-4B07-91A3-AA2C2F417B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4D85BB55-9DD8-4C8C-944F-57314F1AC7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131672E7-FD3B-4D09-98B3-810DDE1071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BAC598-1B60-43BB-AB5F-AF611B525604}"/>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6" name="Footer Placeholder 5">
            <a:extLst>
              <a:ext uri="{FF2B5EF4-FFF2-40B4-BE49-F238E27FC236}">
                <a16:creationId xmlns:a16="http://schemas.microsoft.com/office/drawing/2014/main" id="{55FE73F3-0BCA-42A2-B092-96499DE50062}"/>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2929FE93-CA6F-4D35-84F8-E6277DAC03D6}"/>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4111743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3A465-5931-4CB4-A309-22C6F7EB1B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E4A9E575-35A0-475E-9705-D619652EBC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1BF0B03D-A6D2-4D05-B04A-46CC0A67C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728442-71F7-492A-AD1B-CFA5D4C20A0F}"/>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6" name="Footer Placeholder 5">
            <a:extLst>
              <a:ext uri="{FF2B5EF4-FFF2-40B4-BE49-F238E27FC236}">
                <a16:creationId xmlns:a16="http://schemas.microsoft.com/office/drawing/2014/main" id="{F66B208B-E2CB-46F2-B29F-64F32AD89A11}"/>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987BEBD5-CF83-4C18-8139-2D67DC78C35A}"/>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2304689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ACB81-1DD8-4310-A0D0-A140C499312C}"/>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32DCF4F1-B773-4474-8BB8-CCCE65F4C3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B1DF4C4-6B69-4904-AE3E-3D2EF6BB9D8B}"/>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5" name="Footer Placeholder 4">
            <a:extLst>
              <a:ext uri="{FF2B5EF4-FFF2-40B4-BE49-F238E27FC236}">
                <a16:creationId xmlns:a16="http://schemas.microsoft.com/office/drawing/2014/main" id="{3E61867E-42E8-4C72-A11F-5CA6F11CAEA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32D4A2C-6F47-4FF2-974B-4FEDA9AA15F8}"/>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3588616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72C583-0FCB-43F1-8A7A-6ED59061D9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E64C28F7-D92A-4289-BFAF-BE6E85E4C3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BF53A504-D3B4-4DE9-A164-DAF1E6398EE4}"/>
              </a:ext>
            </a:extLst>
          </p:cNvPr>
          <p:cNvSpPr>
            <a:spLocks noGrp="1"/>
          </p:cNvSpPr>
          <p:nvPr>
            <p:ph type="dt" sz="half" idx="10"/>
          </p:nvPr>
        </p:nvSpPr>
        <p:spPr/>
        <p:txBody>
          <a:bodyPr/>
          <a:lstStyle/>
          <a:p>
            <a:fld id="{55A62B0C-8449-47FB-8EAA-276AF3C6B3CA}" type="datetimeFigureOut">
              <a:rPr lang="en-IE" smtClean="0"/>
              <a:t>25/02/2026</a:t>
            </a:fld>
            <a:endParaRPr lang="en-IE"/>
          </a:p>
        </p:txBody>
      </p:sp>
      <p:sp>
        <p:nvSpPr>
          <p:cNvPr id="5" name="Footer Placeholder 4">
            <a:extLst>
              <a:ext uri="{FF2B5EF4-FFF2-40B4-BE49-F238E27FC236}">
                <a16:creationId xmlns:a16="http://schemas.microsoft.com/office/drawing/2014/main" id="{79B61B08-3108-4ADA-A743-938ACA264B8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722E911-9DCE-4967-B3B0-9095A78D8C9A}"/>
              </a:ext>
            </a:extLst>
          </p:cNvPr>
          <p:cNvSpPr>
            <a:spLocks noGrp="1"/>
          </p:cNvSpPr>
          <p:nvPr>
            <p:ph type="sldNum" sz="quarter" idx="12"/>
          </p:nvPr>
        </p:nvSpPr>
        <p:spPr/>
        <p:txBody>
          <a:bodyPr/>
          <a:lstStyle/>
          <a:p>
            <a:fld id="{184D4225-49C3-439D-BBCD-3A98C912D90F}" type="slidenum">
              <a:rPr lang="en-IE" smtClean="0"/>
              <a:t>‹#›</a:t>
            </a:fld>
            <a:endParaRPr lang="en-IE"/>
          </a:p>
        </p:txBody>
      </p:sp>
    </p:spTree>
    <p:extLst>
      <p:ext uri="{BB962C8B-B14F-4D97-AF65-F5344CB8AC3E}">
        <p14:creationId xmlns:p14="http://schemas.microsoft.com/office/powerpoint/2010/main" val="2089616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9612F6-1872-41AF-8CDD-E7E9E06212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88E36621-D3F8-4303-BB55-74E922D4AB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A8D3BDB-1CA5-4F36-84D2-EC0F2F7CED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A62B0C-8449-47FB-8EAA-276AF3C6B3CA}" type="datetimeFigureOut">
              <a:rPr lang="en-IE" smtClean="0"/>
              <a:t>25/02/2026</a:t>
            </a:fld>
            <a:endParaRPr lang="en-IE"/>
          </a:p>
        </p:txBody>
      </p:sp>
      <p:sp>
        <p:nvSpPr>
          <p:cNvPr id="5" name="Footer Placeholder 4">
            <a:extLst>
              <a:ext uri="{FF2B5EF4-FFF2-40B4-BE49-F238E27FC236}">
                <a16:creationId xmlns:a16="http://schemas.microsoft.com/office/drawing/2014/main" id="{08C31C02-ED04-4BD4-9A3C-3FA850E15A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7EF51C51-D5C9-4342-A809-85379C5DBA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4D4225-49C3-439D-BBCD-3A98C912D90F}" type="slidenum">
              <a:rPr lang="en-IE" smtClean="0"/>
              <a:t>‹#›</a:t>
            </a:fld>
            <a:endParaRPr lang="en-IE"/>
          </a:p>
        </p:txBody>
      </p:sp>
    </p:spTree>
    <p:extLst>
      <p:ext uri="{BB962C8B-B14F-4D97-AF65-F5344CB8AC3E}">
        <p14:creationId xmlns:p14="http://schemas.microsoft.com/office/powerpoint/2010/main" val="1816239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gif"/><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6.tiff"/><Relationship Id="rId4" Type="http://schemas.openxmlformats.org/officeDocument/2006/relationships/image" Target="../media/image5.tiff"/></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1.tiff"/><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tif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4.tiff"/><Relationship Id="rId5" Type="http://schemas.openxmlformats.org/officeDocument/2006/relationships/image" Target="../media/image13.tiff"/><Relationship Id="rId4" Type="http://schemas.openxmlformats.org/officeDocument/2006/relationships/image" Target="../media/image12.tif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7.tiff"/><Relationship Id="rId5" Type="http://schemas.openxmlformats.org/officeDocument/2006/relationships/image" Target="../media/image16.tiff"/><Relationship Id="rId4" Type="http://schemas.openxmlformats.org/officeDocument/2006/relationships/image" Target="../media/image15.tif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9.tiff"/><Relationship Id="rId4" Type="http://schemas.openxmlformats.org/officeDocument/2006/relationships/image" Target="../media/image18.tif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2.tiff"/><Relationship Id="rId4" Type="http://schemas.openxmlformats.org/officeDocument/2006/relationships/image" Target="../media/image21.tif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24.tiff"/><Relationship Id="rId4" Type="http://schemas.openxmlformats.org/officeDocument/2006/relationships/image" Target="../media/image23.tif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25.tif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28.tiff"/><Relationship Id="rId4" Type="http://schemas.openxmlformats.org/officeDocument/2006/relationships/image" Target="../media/image27.tif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29.tif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31.tiff"/><Relationship Id="rId4" Type="http://schemas.openxmlformats.org/officeDocument/2006/relationships/image" Target="../media/image30.tif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35.tiff"/><Relationship Id="rId4" Type="http://schemas.openxmlformats.org/officeDocument/2006/relationships/image" Target="../media/image34.tif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37.png"/><Relationship Id="rId4" Type="http://schemas.openxmlformats.org/officeDocument/2006/relationships/image" Target="../media/image36.tif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7E17C-C4BB-466E-80AB-E13A6EAA5169}"/>
              </a:ext>
            </a:extLst>
          </p:cNvPr>
          <p:cNvSpPr>
            <a:spLocks noGrp="1"/>
          </p:cNvSpPr>
          <p:nvPr>
            <p:ph type="ctrTitle"/>
          </p:nvPr>
        </p:nvSpPr>
        <p:spPr>
          <a:xfrm>
            <a:off x="214745" y="410134"/>
            <a:ext cx="5334001" cy="1669471"/>
          </a:xfrm>
        </p:spPr>
        <p:txBody>
          <a:bodyPr>
            <a:normAutofit fontScale="90000"/>
          </a:bodyPr>
          <a:lstStyle/>
          <a:p>
            <a:r>
              <a:rPr lang="en-IE" dirty="0"/>
              <a:t>Basic Switch Configuration</a:t>
            </a:r>
          </a:p>
        </p:txBody>
      </p:sp>
      <p:sp>
        <p:nvSpPr>
          <p:cNvPr id="3" name="Subtitle 2">
            <a:extLst>
              <a:ext uri="{FF2B5EF4-FFF2-40B4-BE49-F238E27FC236}">
                <a16:creationId xmlns:a16="http://schemas.microsoft.com/office/drawing/2014/main" id="{C6E5B412-761D-4284-B496-2F565E6BD97E}"/>
              </a:ext>
            </a:extLst>
          </p:cNvPr>
          <p:cNvSpPr>
            <a:spLocks noGrp="1"/>
          </p:cNvSpPr>
          <p:nvPr>
            <p:ph type="subTitle" idx="1"/>
          </p:nvPr>
        </p:nvSpPr>
        <p:spPr>
          <a:xfrm>
            <a:off x="214745" y="5846618"/>
            <a:ext cx="2812474" cy="761999"/>
          </a:xfrm>
        </p:spPr>
        <p:txBody>
          <a:bodyPr>
            <a:normAutofit fontScale="92500" lnSpcReduction="10000"/>
          </a:bodyPr>
          <a:lstStyle/>
          <a:p>
            <a:pPr algn="l"/>
            <a:r>
              <a:rPr lang="en-IE" b="1" dirty="0"/>
              <a:t>By: Mujahid Tabassum</a:t>
            </a:r>
          </a:p>
          <a:p>
            <a:pPr algn="l"/>
            <a:r>
              <a:rPr lang="en-IE" b="1" dirty="0"/>
              <a:t>2026</a:t>
            </a:r>
          </a:p>
        </p:txBody>
      </p:sp>
      <p:pic>
        <p:nvPicPr>
          <p:cNvPr id="7" name="Picture 6">
            <a:extLst>
              <a:ext uri="{FF2B5EF4-FFF2-40B4-BE49-F238E27FC236}">
                <a16:creationId xmlns:a16="http://schemas.microsoft.com/office/drawing/2014/main" id="{AB1B8288-B201-8277-F957-678438B90973}"/>
              </a:ext>
            </a:extLst>
          </p:cNvPr>
          <p:cNvPicPr>
            <a:picLocks noChangeAspect="1"/>
          </p:cNvPicPr>
          <p:nvPr/>
        </p:nvPicPr>
        <p:blipFill>
          <a:blip r:embed="rId2"/>
          <a:stretch>
            <a:fillRect/>
          </a:stretch>
        </p:blipFill>
        <p:spPr>
          <a:xfrm>
            <a:off x="5216237" y="570886"/>
            <a:ext cx="6761018" cy="6037731"/>
          </a:xfrm>
          <a:prstGeom prst="rect">
            <a:avLst/>
          </a:prstGeom>
        </p:spPr>
      </p:pic>
    </p:spTree>
    <p:extLst>
      <p:ext uri="{BB962C8B-B14F-4D97-AF65-F5344CB8AC3E}">
        <p14:creationId xmlns:p14="http://schemas.microsoft.com/office/powerpoint/2010/main" val="1487707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1C71EC3-0B5B-41DE-B851-3F4639C9517D}"/>
              </a:ext>
            </a:extLst>
          </p:cNvPr>
          <p:cNvSpPr>
            <a:spLocks noGrp="1"/>
          </p:cNvSpPr>
          <p:nvPr>
            <p:ph type="title"/>
          </p:nvPr>
        </p:nvSpPr>
        <p:spPr>
          <a:xfrm>
            <a:off x="524741" y="620392"/>
            <a:ext cx="3808268" cy="5504688"/>
          </a:xfrm>
        </p:spPr>
        <p:txBody>
          <a:bodyPr>
            <a:normAutofit/>
          </a:bodyPr>
          <a:lstStyle/>
          <a:p>
            <a:r>
              <a:rPr lang="en-IE" sz="6000">
                <a:solidFill>
                  <a:schemeClr val="bg1"/>
                </a:solidFill>
              </a:rPr>
              <a:t>Agenda</a:t>
            </a:r>
          </a:p>
        </p:txBody>
      </p:sp>
      <p:graphicFrame>
        <p:nvGraphicFramePr>
          <p:cNvPr id="5" name="Content Placeholder 2">
            <a:extLst>
              <a:ext uri="{FF2B5EF4-FFF2-40B4-BE49-F238E27FC236}">
                <a16:creationId xmlns:a16="http://schemas.microsoft.com/office/drawing/2014/main" id="{8FEC02DB-1137-49F2-BC73-E0BE80887876}"/>
              </a:ext>
            </a:extLst>
          </p:cNvPr>
          <p:cNvGraphicFramePr>
            <a:graphicFrameLocks noGrp="1"/>
          </p:cNvGraphicFramePr>
          <p:nvPr>
            <p:ph idx="1"/>
            <p:extLst>
              <p:ext uri="{D42A27DB-BD31-4B8C-83A1-F6EECF244321}">
                <p14:modId xmlns:p14="http://schemas.microsoft.com/office/powerpoint/2010/main" val="1995521311"/>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7441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4"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FCE91760-9E09-49C5-BE68-C5F7101E3FC5}"/>
              </a:ext>
            </a:extLst>
          </p:cNvPr>
          <p:cNvSpPr>
            <a:spLocks noGrp="1"/>
          </p:cNvSpPr>
          <p:nvPr>
            <p:ph type="title"/>
          </p:nvPr>
        </p:nvSpPr>
        <p:spPr>
          <a:xfrm>
            <a:off x="1047280" y="759805"/>
            <a:ext cx="10306520" cy="1325563"/>
          </a:xfrm>
        </p:spPr>
        <p:txBody>
          <a:bodyPr>
            <a:normAutofit/>
          </a:bodyPr>
          <a:lstStyle/>
          <a:p>
            <a:r>
              <a:rPr lang="en-IE" sz="4000">
                <a:solidFill>
                  <a:srgbClr val="FFFFFF"/>
                </a:solidFill>
              </a:rPr>
              <a:t>Cisco IOS</a:t>
            </a:r>
          </a:p>
        </p:txBody>
      </p:sp>
      <p:sp>
        <p:nvSpPr>
          <p:cNvPr id="3" name="Content Placeholder 2">
            <a:extLst>
              <a:ext uri="{FF2B5EF4-FFF2-40B4-BE49-F238E27FC236}">
                <a16:creationId xmlns:a16="http://schemas.microsoft.com/office/drawing/2014/main" id="{2FBF5150-4378-471C-A59F-3679B34C3693}"/>
              </a:ext>
            </a:extLst>
          </p:cNvPr>
          <p:cNvSpPr>
            <a:spLocks noGrp="1"/>
          </p:cNvSpPr>
          <p:nvPr>
            <p:ph idx="1"/>
          </p:nvPr>
        </p:nvSpPr>
        <p:spPr>
          <a:xfrm>
            <a:off x="1424904" y="2494450"/>
            <a:ext cx="4053545" cy="3563159"/>
          </a:xfrm>
        </p:spPr>
        <p:txBody>
          <a:bodyPr>
            <a:normAutofit/>
          </a:bodyPr>
          <a:lstStyle/>
          <a:p>
            <a:r>
              <a:rPr lang="en-GB" sz="2400" dirty="0"/>
              <a:t>Cisco Internetwork Operating System (IOS) </a:t>
            </a:r>
          </a:p>
          <a:p>
            <a:r>
              <a:rPr lang="en-GB" sz="2400" dirty="0"/>
              <a:t>Used on Cisco Systems switches and routers</a:t>
            </a:r>
          </a:p>
          <a:p>
            <a:pPr marL="0" indent="0">
              <a:buNone/>
            </a:pPr>
            <a:endParaRPr lang="en-IE" sz="2400" dirty="0"/>
          </a:p>
        </p:txBody>
      </p:sp>
      <p:pic>
        <p:nvPicPr>
          <p:cNvPr id="12" name="Picture 11">
            <a:extLst>
              <a:ext uri="{FF2B5EF4-FFF2-40B4-BE49-F238E27FC236}">
                <a16:creationId xmlns:a16="http://schemas.microsoft.com/office/drawing/2014/main" id="{77AA1069-E832-4867-A124-868B72D8B080}"/>
              </a:ext>
            </a:extLst>
          </p:cNvPr>
          <p:cNvPicPr>
            <a:picLocks noChangeAspect="1"/>
          </p:cNvPicPr>
          <p:nvPr/>
        </p:nvPicPr>
        <p:blipFill>
          <a:blip r:embed="rId2"/>
          <a:stretch>
            <a:fillRect/>
          </a:stretch>
        </p:blipFill>
        <p:spPr>
          <a:xfrm>
            <a:off x="8819602" y="2704184"/>
            <a:ext cx="2962688" cy="3143689"/>
          </a:xfrm>
          <a:prstGeom prst="rect">
            <a:avLst/>
          </a:prstGeom>
        </p:spPr>
      </p:pic>
    </p:spTree>
    <p:extLst>
      <p:ext uri="{BB962C8B-B14F-4D97-AF65-F5344CB8AC3E}">
        <p14:creationId xmlns:p14="http://schemas.microsoft.com/office/powerpoint/2010/main" val="384598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r>
              <a:rPr lang="en-US" altLang="en-US" dirty="0"/>
              <a:t>Access Methods</a:t>
            </a:r>
          </a:p>
        </p:txBody>
      </p:sp>
      <p:sp>
        <p:nvSpPr>
          <p:cNvPr id="8195" name="Rectangle 2"/>
          <p:cNvSpPr>
            <a:spLocks noGrp="1" noChangeArrowheads="1"/>
          </p:cNvSpPr>
          <p:nvPr>
            <p:ph idx="1"/>
          </p:nvPr>
        </p:nvSpPr>
        <p:spPr>
          <a:xfrm>
            <a:off x="164677" y="1554600"/>
            <a:ext cx="5252835" cy="5131121"/>
          </a:xfrm>
        </p:spPr>
        <p:txBody>
          <a:bodyPr>
            <a:normAutofit fontScale="92500" lnSpcReduction="10000"/>
          </a:bodyPr>
          <a:lstStyle/>
          <a:p>
            <a:pPr>
              <a:buFont typeface="Arial" panose="020B0604020202020204" pitchFamily="34" charset="0"/>
              <a:buChar char="•"/>
            </a:pPr>
            <a:r>
              <a:rPr lang="en-US" b="1" dirty="0"/>
              <a:t>Console</a:t>
            </a:r>
            <a:r>
              <a:rPr lang="en-US" dirty="0"/>
              <a:t> – A physical management port used to access a device in order to provide maintenance, such as performing the initial configurations.</a:t>
            </a:r>
          </a:p>
          <a:p>
            <a:pPr>
              <a:buFont typeface="Arial" panose="020B0604020202020204" pitchFamily="34" charset="0"/>
              <a:buChar char="•"/>
            </a:pPr>
            <a:r>
              <a:rPr lang="en-US" b="1" dirty="0"/>
              <a:t>Secure Shell (SSH) </a:t>
            </a:r>
            <a:r>
              <a:rPr lang="en-US" dirty="0"/>
              <a:t>– Establishes a secure remote CLI connection to a device, through a virtual interface, over a network. (</a:t>
            </a:r>
            <a:r>
              <a:rPr lang="en-US" sz="1867" dirty="0"/>
              <a:t>Note: This is the recommended method for remotely connecting to a device.)</a:t>
            </a:r>
            <a:endParaRPr lang="en-US" dirty="0"/>
          </a:p>
          <a:p>
            <a:pPr>
              <a:buFont typeface="Arial" panose="020B0604020202020204" pitchFamily="34" charset="0"/>
              <a:buChar char="•"/>
            </a:pPr>
            <a:r>
              <a:rPr lang="en-US" b="1" dirty="0"/>
              <a:t>Telnet</a:t>
            </a:r>
            <a:r>
              <a:rPr lang="en-US" dirty="0"/>
              <a:t> – Establishes an insecure remote CLI connection to a device over the network. </a:t>
            </a:r>
            <a:r>
              <a:rPr lang="en-US" sz="1867" dirty="0"/>
              <a:t>(Note: User authentication, passwords and commands are sent over the network in plaintext.) </a:t>
            </a:r>
          </a:p>
          <a:p>
            <a:endParaRPr lang="en-US" dirty="0"/>
          </a:p>
        </p:txBody>
      </p:sp>
      <p:pic>
        <p:nvPicPr>
          <p:cNvPr id="1030" name="Picture 6" descr="Computer, Utp, Network, Cisco, Color, Jack, Electronics">
            <a:extLst>
              <a:ext uri="{FF2B5EF4-FFF2-40B4-BE49-F238E27FC236}">
                <a16:creationId xmlns:a16="http://schemas.microsoft.com/office/drawing/2014/main" id="{4C65664B-D975-564C-9CD3-D54002E341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626" y="560225"/>
            <a:ext cx="3006935" cy="225207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2">
            <a:extLst>
              <a:ext uri="{FF2B5EF4-FFF2-40B4-BE49-F238E27FC236}">
                <a16:creationId xmlns:a16="http://schemas.microsoft.com/office/drawing/2014/main" id="{278A32F5-A519-9740-94B3-F014EAE863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0152" y="3274512"/>
            <a:ext cx="6407171" cy="272221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94242075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502025" y="182613"/>
            <a:ext cx="12192000" cy="1010068"/>
          </a:xfrm>
        </p:spPr>
        <p:txBody>
          <a:bodyPr>
            <a:normAutofit/>
          </a:bodyPr>
          <a:lstStyle/>
          <a:p>
            <a:r>
              <a:rPr lang="en-US" altLang="en-US" dirty="0"/>
              <a:t>Terminal Emulation Programs</a:t>
            </a:r>
          </a:p>
        </p:txBody>
      </p:sp>
      <p:sp>
        <p:nvSpPr>
          <p:cNvPr id="8195" name="Rectangle 2"/>
          <p:cNvSpPr>
            <a:spLocks noGrp="1" noChangeArrowheads="1"/>
          </p:cNvSpPr>
          <p:nvPr>
            <p:ph idx="1"/>
          </p:nvPr>
        </p:nvSpPr>
        <p:spPr>
          <a:xfrm>
            <a:off x="193810" y="1097399"/>
            <a:ext cx="11613877" cy="1500028"/>
          </a:xfrm>
        </p:spPr>
        <p:txBody>
          <a:bodyPr/>
          <a:lstStyle/>
          <a:p>
            <a:pPr>
              <a:buFont typeface="Arial" panose="020B0604020202020204" pitchFamily="34" charset="0"/>
              <a:buChar char="•"/>
            </a:pPr>
            <a:r>
              <a:rPr lang="en-US" sz="2133" dirty="0"/>
              <a:t>Terminal emulation programs are used to connect to a network device by either a console port(directly to the device) or by an SSH/Telnet connection(usually over a network). </a:t>
            </a:r>
          </a:p>
          <a:p>
            <a:pPr>
              <a:buFont typeface="Arial" panose="020B0604020202020204" pitchFamily="34" charset="0"/>
              <a:buChar char="•"/>
            </a:pPr>
            <a:r>
              <a:rPr lang="en-US" sz="2133" dirty="0"/>
              <a:t>There are several terminal emulation programs to chose from such as PuTTY, Tera Term and SecureCRT. </a:t>
            </a:r>
          </a:p>
          <a:p>
            <a:endParaRPr lang="en-US" dirty="0"/>
          </a:p>
        </p:txBody>
      </p:sp>
      <p:pic>
        <p:nvPicPr>
          <p:cNvPr id="4" name="Picture 1">
            <a:extLst>
              <a:ext uri="{FF2B5EF4-FFF2-40B4-BE49-F238E27FC236}">
                <a16:creationId xmlns:a16="http://schemas.microsoft.com/office/drawing/2014/main" id="{7F0AF5D8-D9EB-024A-817B-C5DEB0242C1B}"/>
              </a:ext>
            </a:extLst>
          </p:cNvPr>
          <p:cNvPicPr>
            <a:picLocks noChangeAspect="1"/>
          </p:cNvPicPr>
          <p:nvPr/>
        </p:nvPicPr>
        <p:blipFill>
          <a:blip r:embed="rId4"/>
          <a:stretch>
            <a:fillRect/>
          </a:stretch>
        </p:blipFill>
        <p:spPr>
          <a:xfrm>
            <a:off x="1688550" y="3007179"/>
            <a:ext cx="3137397" cy="3091124"/>
          </a:xfrm>
          <a:prstGeom prst="rect">
            <a:avLst/>
          </a:prstGeom>
        </p:spPr>
      </p:pic>
      <p:pic>
        <p:nvPicPr>
          <p:cNvPr id="2" name="Picture 2">
            <a:extLst>
              <a:ext uri="{FF2B5EF4-FFF2-40B4-BE49-F238E27FC236}">
                <a16:creationId xmlns:a16="http://schemas.microsoft.com/office/drawing/2014/main" id="{A4A3A789-DD45-614B-B429-DF1B86DEE16E}"/>
              </a:ext>
            </a:extLst>
          </p:cNvPr>
          <p:cNvPicPr>
            <a:picLocks noChangeAspect="1"/>
          </p:cNvPicPr>
          <p:nvPr/>
        </p:nvPicPr>
        <p:blipFill>
          <a:blip r:embed="rId5"/>
          <a:stretch>
            <a:fillRect/>
          </a:stretch>
        </p:blipFill>
        <p:spPr>
          <a:xfrm>
            <a:off x="5839710" y="3007179"/>
            <a:ext cx="5455479" cy="3063765"/>
          </a:xfrm>
          <a:prstGeom prst="rect">
            <a:avLst/>
          </a:prstGeom>
        </p:spPr>
      </p:pic>
    </p:spTree>
    <p:custDataLst>
      <p:tags r:id="rId1"/>
    </p:custDataLst>
    <p:extLst>
      <p:ext uri="{BB962C8B-B14F-4D97-AF65-F5344CB8AC3E}">
        <p14:creationId xmlns:p14="http://schemas.microsoft.com/office/powerpoint/2010/main" val="3147162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A6FFA-D10A-ABDF-0739-8AE2C48EFFC7}"/>
              </a:ext>
            </a:extLst>
          </p:cNvPr>
          <p:cNvSpPr>
            <a:spLocks noGrp="1"/>
          </p:cNvSpPr>
          <p:nvPr>
            <p:ph type="title"/>
          </p:nvPr>
        </p:nvSpPr>
        <p:spPr>
          <a:xfrm>
            <a:off x="152400" y="188059"/>
            <a:ext cx="11353800" cy="1325563"/>
          </a:xfrm>
        </p:spPr>
        <p:txBody>
          <a:bodyPr/>
          <a:lstStyle/>
          <a:p>
            <a:r>
              <a:rPr lang="en-IE" dirty="0"/>
              <a:t>Cisco Device interfaces: Port naming Convention</a:t>
            </a:r>
          </a:p>
        </p:txBody>
      </p:sp>
      <p:sp>
        <p:nvSpPr>
          <p:cNvPr id="3" name="Content Placeholder 2">
            <a:extLst>
              <a:ext uri="{FF2B5EF4-FFF2-40B4-BE49-F238E27FC236}">
                <a16:creationId xmlns:a16="http://schemas.microsoft.com/office/drawing/2014/main" id="{FE76B1F9-96AA-73B1-DE4D-ABA5BEC7DF03}"/>
              </a:ext>
            </a:extLst>
          </p:cNvPr>
          <p:cNvSpPr>
            <a:spLocks noGrp="1"/>
          </p:cNvSpPr>
          <p:nvPr>
            <p:ph idx="1"/>
          </p:nvPr>
        </p:nvSpPr>
        <p:spPr/>
        <p:txBody>
          <a:bodyPr/>
          <a:lstStyle/>
          <a:p>
            <a:r>
              <a:rPr lang="en-GB" dirty="0"/>
              <a:t>Cisco router interfaces are named with the following convention:</a:t>
            </a:r>
          </a:p>
          <a:p>
            <a:pPr lvl="1"/>
            <a:r>
              <a:rPr lang="en-IE" dirty="0"/>
              <a:t>Media-type slot-number/port-number</a:t>
            </a:r>
            <a:br>
              <a:rPr lang="en-IE" dirty="0"/>
            </a:br>
            <a:r>
              <a:rPr lang="en-IE" dirty="0"/>
              <a:t>OR</a:t>
            </a:r>
          </a:p>
          <a:p>
            <a:pPr lvl="1"/>
            <a:r>
              <a:rPr lang="en-IE" dirty="0"/>
              <a:t>Media-type slot-number/interface-slot-number/port-number</a:t>
            </a:r>
          </a:p>
        </p:txBody>
      </p:sp>
      <p:pic>
        <p:nvPicPr>
          <p:cNvPr id="5" name="Picture 4">
            <a:extLst>
              <a:ext uri="{FF2B5EF4-FFF2-40B4-BE49-F238E27FC236}">
                <a16:creationId xmlns:a16="http://schemas.microsoft.com/office/drawing/2014/main" id="{9A40970C-8C64-F6E8-A30E-430C104F166C}"/>
              </a:ext>
            </a:extLst>
          </p:cNvPr>
          <p:cNvPicPr>
            <a:picLocks noChangeAspect="1"/>
          </p:cNvPicPr>
          <p:nvPr/>
        </p:nvPicPr>
        <p:blipFill>
          <a:blip r:embed="rId2"/>
          <a:stretch>
            <a:fillRect/>
          </a:stretch>
        </p:blipFill>
        <p:spPr>
          <a:xfrm>
            <a:off x="956636" y="3490208"/>
            <a:ext cx="9949316" cy="2056331"/>
          </a:xfrm>
          <a:prstGeom prst="rect">
            <a:avLst/>
          </a:prstGeom>
        </p:spPr>
      </p:pic>
      <p:sp>
        <p:nvSpPr>
          <p:cNvPr id="6" name="Callout: Line 5">
            <a:extLst>
              <a:ext uri="{FF2B5EF4-FFF2-40B4-BE49-F238E27FC236}">
                <a16:creationId xmlns:a16="http://schemas.microsoft.com/office/drawing/2014/main" id="{61879F33-514F-DF20-730B-7C42F25CA7C6}"/>
              </a:ext>
            </a:extLst>
          </p:cNvPr>
          <p:cNvSpPr/>
          <p:nvPr/>
        </p:nvSpPr>
        <p:spPr>
          <a:xfrm>
            <a:off x="838200" y="5778796"/>
            <a:ext cx="2408110" cy="796333"/>
          </a:xfrm>
          <a:prstGeom prst="borderCallout1">
            <a:avLst>
              <a:gd name="adj1" fmla="val 33727"/>
              <a:gd name="adj2" fmla="val 103931"/>
              <a:gd name="adj3" fmla="val -237685"/>
              <a:gd name="adj4" fmla="val 1897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err="1"/>
              <a:t>FastEthernet</a:t>
            </a:r>
            <a:r>
              <a:rPr lang="en-IE" dirty="0"/>
              <a:t> 0/1</a:t>
            </a:r>
            <a:br>
              <a:rPr lang="en-IE" dirty="0"/>
            </a:br>
            <a:r>
              <a:rPr lang="en-IE" dirty="0"/>
              <a:t>fa0/1</a:t>
            </a:r>
          </a:p>
        </p:txBody>
      </p:sp>
      <p:sp>
        <p:nvSpPr>
          <p:cNvPr id="4" name="Callout: Line 3">
            <a:extLst>
              <a:ext uri="{FF2B5EF4-FFF2-40B4-BE49-F238E27FC236}">
                <a16:creationId xmlns:a16="http://schemas.microsoft.com/office/drawing/2014/main" id="{57F7B719-02EC-CD2B-0AA4-9654DEF07373}"/>
              </a:ext>
            </a:extLst>
          </p:cNvPr>
          <p:cNvSpPr/>
          <p:nvPr/>
        </p:nvSpPr>
        <p:spPr>
          <a:xfrm>
            <a:off x="5142316" y="5778796"/>
            <a:ext cx="2408110" cy="796333"/>
          </a:xfrm>
          <a:prstGeom prst="borderCallout1">
            <a:avLst>
              <a:gd name="adj1" fmla="val 33727"/>
              <a:gd name="adj2" fmla="val 103931"/>
              <a:gd name="adj3" fmla="val -188474"/>
              <a:gd name="adj4" fmla="val 1982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err="1"/>
              <a:t>GigabitEthernet</a:t>
            </a:r>
            <a:r>
              <a:rPr lang="en-IE" dirty="0"/>
              <a:t> 0/1</a:t>
            </a:r>
          </a:p>
          <a:p>
            <a:pPr algn="ctr"/>
            <a:r>
              <a:rPr lang="en-IE" dirty="0"/>
              <a:t>G0/1</a:t>
            </a:r>
          </a:p>
        </p:txBody>
      </p:sp>
    </p:spTree>
    <p:extLst>
      <p:ext uri="{BB962C8B-B14F-4D97-AF65-F5344CB8AC3E}">
        <p14:creationId xmlns:p14="http://schemas.microsoft.com/office/powerpoint/2010/main" val="1176098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8A424-732E-4005-8256-B06F1F9041EA}"/>
              </a:ext>
            </a:extLst>
          </p:cNvPr>
          <p:cNvSpPr>
            <a:spLocks noGrp="1"/>
          </p:cNvSpPr>
          <p:nvPr>
            <p:ph type="title"/>
          </p:nvPr>
        </p:nvSpPr>
        <p:spPr/>
        <p:txBody>
          <a:bodyPr/>
          <a:lstStyle/>
          <a:p>
            <a:r>
              <a:rPr lang="en-IE" dirty="0"/>
              <a:t>IOS Navigation</a:t>
            </a:r>
          </a:p>
        </p:txBody>
      </p:sp>
    </p:spTree>
    <p:extLst>
      <p:ext uri="{BB962C8B-B14F-4D97-AF65-F5344CB8AC3E}">
        <p14:creationId xmlns:p14="http://schemas.microsoft.com/office/powerpoint/2010/main" val="2809149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23942" y="148981"/>
            <a:ext cx="10515600" cy="1325563"/>
          </a:xfrm>
        </p:spPr>
        <p:txBody>
          <a:bodyPr/>
          <a:lstStyle/>
          <a:p>
            <a:r>
              <a:rPr lang="en-US" altLang="en-US" dirty="0"/>
              <a:t>Primary Command Modes</a:t>
            </a:r>
          </a:p>
        </p:txBody>
      </p:sp>
      <p:sp>
        <p:nvSpPr>
          <p:cNvPr id="8195" name="Rectangle 6"/>
          <p:cNvSpPr>
            <a:spLocks noGrp="1" noChangeArrowheads="1"/>
          </p:cNvSpPr>
          <p:nvPr>
            <p:ph idx="1"/>
          </p:nvPr>
        </p:nvSpPr>
        <p:spPr>
          <a:xfrm>
            <a:off x="438208" y="1451698"/>
            <a:ext cx="5242156" cy="2108920"/>
          </a:xfrm>
        </p:spPr>
        <p:txBody>
          <a:bodyPr>
            <a:normAutofit lnSpcReduction="10000"/>
          </a:bodyPr>
          <a:lstStyle/>
          <a:p>
            <a:pPr marL="0" indent="0">
              <a:buNone/>
            </a:pPr>
            <a:r>
              <a:rPr lang="en-US" b="1" dirty="0"/>
              <a:t>User EXEC Mode: </a:t>
            </a:r>
          </a:p>
          <a:p>
            <a:pPr lvl="1"/>
            <a:r>
              <a:rPr lang="en-US" dirty="0"/>
              <a:t>Allows access to only a limited number of basic monitoring commands</a:t>
            </a:r>
          </a:p>
          <a:p>
            <a:pPr lvl="1"/>
            <a:r>
              <a:rPr lang="en-US" dirty="0"/>
              <a:t>Identified by the CLI prompt that ends with the </a:t>
            </a:r>
            <a:r>
              <a:rPr lang="en-US" b="1" dirty="0"/>
              <a:t>&gt;</a:t>
            </a:r>
            <a:r>
              <a:rPr lang="en-US" dirty="0"/>
              <a:t> symbol</a:t>
            </a:r>
          </a:p>
          <a:p>
            <a:pPr lvl="1"/>
            <a:endParaRPr lang="en-US" dirty="0"/>
          </a:p>
          <a:p>
            <a:endParaRPr lang="en-US" dirty="0"/>
          </a:p>
          <a:p>
            <a:pPr marL="0" indent="0">
              <a:buNone/>
            </a:pPr>
            <a:endParaRPr lang="en-US" dirty="0"/>
          </a:p>
        </p:txBody>
      </p:sp>
      <p:sp>
        <p:nvSpPr>
          <p:cNvPr id="23" name="Rectangle 6">
            <a:extLst>
              <a:ext uri="{FF2B5EF4-FFF2-40B4-BE49-F238E27FC236}">
                <a16:creationId xmlns:a16="http://schemas.microsoft.com/office/drawing/2014/main" id="{42D0F156-D90C-5047-9BB3-63A540FE7053}"/>
              </a:ext>
            </a:extLst>
          </p:cNvPr>
          <p:cNvSpPr txBox="1">
            <a:spLocks noChangeArrowheads="1"/>
          </p:cNvSpPr>
          <p:nvPr/>
        </p:nvSpPr>
        <p:spPr bwMode="auto">
          <a:xfrm>
            <a:off x="438208" y="3865458"/>
            <a:ext cx="5160468" cy="241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defTabSz="914400">
              <a:lnSpc>
                <a:spcPct val="90000"/>
              </a:lnSpc>
              <a:spcBef>
                <a:spcPts val="1000"/>
              </a:spcBef>
              <a:buNone/>
            </a:pPr>
            <a:r>
              <a:rPr lang="en-US" sz="2600" b="1" dirty="0">
                <a:solidFill>
                  <a:schemeClr val="tx1"/>
                </a:solidFill>
                <a:ea typeface="+mn-ea"/>
                <a:cs typeface="+mn-cs"/>
              </a:rPr>
              <a:t>Privileged EXEC Mode: </a:t>
            </a:r>
          </a:p>
          <a:p>
            <a:pPr lvl="1"/>
            <a:r>
              <a:rPr lang="en-US" sz="2200" dirty="0"/>
              <a:t>Allows access to all commands and features</a:t>
            </a:r>
          </a:p>
          <a:p>
            <a:pPr lvl="1"/>
            <a:r>
              <a:rPr lang="en-US" sz="2200" dirty="0"/>
              <a:t>Identified by the CLI prompt that ends with the </a:t>
            </a:r>
            <a:r>
              <a:rPr lang="en-US" sz="2200" b="1" dirty="0"/>
              <a:t>#</a:t>
            </a:r>
            <a:r>
              <a:rPr lang="en-US" sz="2200" dirty="0"/>
              <a:t> symbol</a:t>
            </a:r>
          </a:p>
          <a:p>
            <a:pPr lvl="1"/>
            <a:endParaRPr lang="en-US" sz="1867" dirty="0"/>
          </a:p>
          <a:p>
            <a:endParaRPr lang="en-US" sz="2000" dirty="0"/>
          </a:p>
          <a:p>
            <a:pPr marL="0" indent="0">
              <a:buNone/>
            </a:pPr>
            <a:endParaRPr lang="en-US" sz="2000" dirty="0"/>
          </a:p>
        </p:txBody>
      </p:sp>
      <p:pic>
        <p:nvPicPr>
          <p:cNvPr id="26" name="Picture 25">
            <a:extLst>
              <a:ext uri="{FF2B5EF4-FFF2-40B4-BE49-F238E27FC236}">
                <a16:creationId xmlns:a16="http://schemas.microsoft.com/office/drawing/2014/main" id="{9452C8CA-3845-FE4F-BF60-6D89C2D657BE}"/>
              </a:ext>
            </a:extLst>
          </p:cNvPr>
          <p:cNvPicPr>
            <a:picLocks noChangeAspect="1"/>
          </p:cNvPicPr>
          <p:nvPr/>
        </p:nvPicPr>
        <p:blipFill>
          <a:blip r:embed="rId4"/>
          <a:stretch>
            <a:fillRect/>
          </a:stretch>
        </p:blipFill>
        <p:spPr>
          <a:xfrm>
            <a:off x="8136367" y="1827493"/>
            <a:ext cx="2828544" cy="926012"/>
          </a:xfrm>
          <a:prstGeom prst="rect">
            <a:avLst/>
          </a:prstGeom>
        </p:spPr>
      </p:pic>
      <p:pic>
        <p:nvPicPr>
          <p:cNvPr id="25" name="Picture 24">
            <a:extLst>
              <a:ext uri="{FF2B5EF4-FFF2-40B4-BE49-F238E27FC236}">
                <a16:creationId xmlns:a16="http://schemas.microsoft.com/office/drawing/2014/main" id="{B8862851-51F3-B34C-8669-3E72C60F2E33}"/>
              </a:ext>
            </a:extLst>
          </p:cNvPr>
          <p:cNvPicPr>
            <a:picLocks noChangeAspect="1"/>
          </p:cNvPicPr>
          <p:nvPr/>
        </p:nvPicPr>
        <p:blipFill>
          <a:blip r:embed="rId5"/>
          <a:stretch>
            <a:fillRect/>
          </a:stretch>
        </p:blipFill>
        <p:spPr>
          <a:xfrm>
            <a:off x="8136705" y="2761037"/>
            <a:ext cx="2827867" cy="931333"/>
          </a:xfrm>
          <a:prstGeom prst="rect">
            <a:avLst/>
          </a:prstGeom>
        </p:spPr>
      </p:pic>
      <p:pic>
        <p:nvPicPr>
          <p:cNvPr id="17" name="Picture 16">
            <a:extLst>
              <a:ext uri="{FF2B5EF4-FFF2-40B4-BE49-F238E27FC236}">
                <a16:creationId xmlns:a16="http://schemas.microsoft.com/office/drawing/2014/main" id="{13A0C0C3-E181-E84E-9208-4792B7E7CC20}"/>
              </a:ext>
            </a:extLst>
          </p:cNvPr>
          <p:cNvPicPr>
            <a:picLocks noChangeAspect="1"/>
          </p:cNvPicPr>
          <p:nvPr/>
        </p:nvPicPr>
        <p:blipFill>
          <a:blip r:embed="rId6"/>
          <a:stretch>
            <a:fillRect/>
          </a:stretch>
        </p:blipFill>
        <p:spPr>
          <a:xfrm>
            <a:off x="8119433" y="4129831"/>
            <a:ext cx="2844800" cy="931333"/>
          </a:xfrm>
          <a:prstGeom prst="rect">
            <a:avLst/>
          </a:prstGeom>
        </p:spPr>
      </p:pic>
      <p:pic>
        <p:nvPicPr>
          <p:cNvPr id="21" name="Picture 20">
            <a:extLst>
              <a:ext uri="{FF2B5EF4-FFF2-40B4-BE49-F238E27FC236}">
                <a16:creationId xmlns:a16="http://schemas.microsoft.com/office/drawing/2014/main" id="{DEA24282-3258-8243-BECA-D551022599D2}"/>
              </a:ext>
            </a:extLst>
          </p:cNvPr>
          <p:cNvPicPr>
            <a:picLocks noChangeAspect="1"/>
          </p:cNvPicPr>
          <p:nvPr/>
        </p:nvPicPr>
        <p:blipFill>
          <a:blip r:embed="rId7"/>
          <a:stretch>
            <a:fillRect/>
          </a:stretch>
        </p:blipFill>
        <p:spPr>
          <a:xfrm>
            <a:off x="8119433" y="5070783"/>
            <a:ext cx="2844800" cy="863600"/>
          </a:xfrm>
          <a:prstGeom prst="rect">
            <a:avLst/>
          </a:prstGeom>
        </p:spPr>
      </p:pic>
    </p:spTree>
    <p:custDataLst>
      <p:tags r:id="rId1"/>
    </p:custDataLst>
    <p:extLst>
      <p:ext uri="{BB962C8B-B14F-4D97-AF65-F5344CB8AC3E}">
        <p14:creationId xmlns:p14="http://schemas.microsoft.com/office/powerpoint/2010/main" val="370727055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527" y="189743"/>
            <a:ext cx="11492346" cy="1140629"/>
          </a:xfrm>
        </p:spPr>
        <p:txBody>
          <a:bodyPr>
            <a:normAutofit/>
          </a:bodyPr>
          <a:lstStyle/>
          <a:p>
            <a:r>
              <a:rPr lang="en-US" altLang="en-US" dirty="0"/>
              <a:t>Configuration Mode and Subconfiguration Modes</a:t>
            </a:r>
          </a:p>
        </p:txBody>
      </p:sp>
      <p:sp>
        <p:nvSpPr>
          <p:cNvPr id="7" name="Rectangle 6">
            <a:extLst>
              <a:ext uri="{FF2B5EF4-FFF2-40B4-BE49-F238E27FC236}">
                <a16:creationId xmlns:a16="http://schemas.microsoft.com/office/drawing/2014/main" id="{1E3EA599-9EF6-BE44-900E-A2949CF66BC2}"/>
              </a:ext>
            </a:extLst>
          </p:cNvPr>
          <p:cNvSpPr>
            <a:spLocks noGrp="1" noChangeArrowheads="1"/>
          </p:cNvSpPr>
          <p:nvPr>
            <p:ph idx="1"/>
          </p:nvPr>
        </p:nvSpPr>
        <p:spPr>
          <a:xfrm>
            <a:off x="401782" y="1676736"/>
            <a:ext cx="4547807" cy="4169883"/>
          </a:xfrm>
        </p:spPr>
        <p:txBody>
          <a:bodyPr/>
          <a:lstStyle/>
          <a:p>
            <a:pPr marL="0" indent="0">
              <a:spcAft>
                <a:spcPts val="133"/>
              </a:spcAft>
              <a:buNone/>
            </a:pPr>
            <a:r>
              <a:rPr lang="en-US" sz="2133" b="1" dirty="0"/>
              <a:t>Global Configuration Mode:</a:t>
            </a:r>
          </a:p>
          <a:p>
            <a:pPr lvl="1">
              <a:spcAft>
                <a:spcPts val="133"/>
              </a:spcAft>
            </a:pPr>
            <a:r>
              <a:rPr lang="en-US" sz="2133" dirty="0"/>
              <a:t>Used to access configuration options on the device </a:t>
            </a:r>
          </a:p>
          <a:p>
            <a:pPr marL="190495" lvl="1" indent="0">
              <a:spcAft>
                <a:spcPts val="133"/>
              </a:spcAft>
              <a:buNone/>
            </a:pPr>
            <a:endParaRPr lang="en-US" sz="2133" dirty="0"/>
          </a:p>
          <a:p>
            <a:pPr marL="0" indent="0">
              <a:spcAft>
                <a:spcPts val="133"/>
              </a:spcAft>
              <a:buNone/>
            </a:pPr>
            <a:r>
              <a:rPr lang="en-US" sz="2133" b="1" dirty="0"/>
              <a:t>Line Configuration Mode: </a:t>
            </a:r>
          </a:p>
          <a:p>
            <a:pPr lvl="1"/>
            <a:r>
              <a:rPr lang="en-US" sz="2133" dirty="0"/>
              <a:t>Used to configure console, SSH, Telnet or AUX access</a:t>
            </a:r>
          </a:p>
          <a:p>
            <a:pPr marL="190495" lvl="1" indent="0">
              <a:spcAft>
                <a:spcPts val="133"/>
              </a:spcAft>
              <a:buNone/>
            </a:pPr>
            <a:endParaRPr lang="en-US" sz="2133" dirty="0"/>
          </a:p>
          <a:p>
            <a:pPr marL="0" indent="0">
              <a:spcAft>
                <a:spcPts val="133"/>
              </a:spcAft>
              <a:buNone/>
            </a:pPr>
            <a:r>
              <a:rPr lang="en-US" sz="2133" b="1" dirty="0"/>
              <a:t>Interface Configuration Mode:</a:t>
            </a:r>
            <a:r>
              <a:rPr lang="en-US" sz="2133" dirty="0"/>
              <a:t> </a:t>
            </a:r>
          </a:p>
          <a:p>
            <a:pPr lvl="1"/>
            <a:r>
              <a:rPr lang="en-US" sz="2133" dirty="0"/>
              <a:t>Used to configure a switch port or router interface</a:t>
            </a:r>
            <a:endParaRPr lang="en-US" dirty="0"/>
          </a:p>
        </p:txBody>
      </p:sp>
      <p:pic>
        <p:nvPicPr>
          <p:cNvPr id="11" name="Picture 10">
            <a:extLst>
              <a:ext uri="{FF2B5EF4-FFF2-40B4-BE49-F238E27FC236}">
                <a16:creationId xmlns:a16="http://schemas.microsoft.com/office/drawing/2014/main" id="{22966FC2-4F98-F245-A162-5BB7C58819FE}"/>
              </a:ext>
            </a:extLst>
          </p:cNvPr>
          <p:cNvPicPr>
            <a:picLocks noChangeAspect="1"/>
          </p:cNvPicPr>
          <p:nvPr/>
        </p:nvPicPr>
        <p:blipFill>
          <a:blip r:embed="rId4"/>
          <a:stretch>
            <a:fillRect/>
          </a:stretch>
        </p:blipFill>
        <p:spPr>
          <a:xfrm>
            <a:off x="7547213" y="1522335"/>
            <a:ext cx="3810000" cy="1032933"/>
          </a:xfrm>
          <a:prstGeom prst="rect">
            <a:avLst/>
          </a:prstGeom>
        </p:spPr>
      </p:pic>
      <p:pic>
        <p:nvPicPr>
          <p:cNvPr id="5" name="Picture 4">
            <a:extLst>
              <a:ext uri="{FF2B5EF4-FFF2-40B4-BE49-F238E27FC236}">
                <a16:creationId xmlns:a16="http://schemas.microsoft.com/office/drawing/2014/main" id="{8EE4C97E-6654-054B-91B6-B1B5807F4128}"/>
              </a:ext>
            </a:extLst>
          </p:cNvPr>
          <p:cNvPicPr>
            <a:picLocks noChangeAspect="1"/>
          </p:cNvPicPr>
          <p:nvPr/>
        </p:nvPicPr>
        <p:blipFill>
          <a:blip r:embed="rId5"/>
          <a:stretch>
            <a:fillRect/>
          </a:stretch>
        </p:blipFill>
        <p:spPr>
          <a:xfrm>
            <a:off x="7547213" y="3090179"/>
            <a:ext cx="3810000" cy="1032933"/>
          </a:xfrm>
          <a:prstGeom prst="rect">
            <a:avLst/>
          </a:prstGeom>
        </p:spPr>
      </p:pic>
      <p:pic>
        <p:nvPicPr>
          <p:cNvPr id="10" name="Picture 9">
            <a:extLst>
              <a:ext uri="{FF2B5EF4-FFF2-40B4-BE49-F238E27FC236}">
                <a16:creationId xmlns:a16="http://schemas.microsoft.com/office/drawing/2014/main" id="{181EA0E3-6FD1-244C-9DE6-99BF741C0365}"/>
              </a:ext>
            </a:extLst>
          </p:cNvPr>
          <p:cNvPicPr>
            <a:picLocks noChangeAspect="1"/>
          </p:cNvPicPr>
          <p:nvPr/>
        </p:nvPicPr>
        <p:blipFill>
          <a:blip r:embed="rId6"/>
          <a:stretch>
            <a:fillRect/>
          </a:stretch>
        </p:blipFill>
        <p:spPr>
          <a:xfrm>
            <a:off x="7547213" y="4658025"/>
            <a:ext cx="3810000" cy="1032933"/>
          </a:xfrm>
          <a:prstGeom prst="rect">
            <a:avLst/>
          </a:prstGeom>
        </p:spPr>
      </p:pic>
    </p:spTree>
    <p:custDataLst>
      <p:tags r:id="rId1"/>
    </p:custDataLst>
    <p:extLst>
      <p:ext uri="{BB962C8B-B14F-4D97-AF65-F5344CB8AC3E}">
        <p14:creationId xmlns:p14="http://schemas.microsoft.com/office/powerpoint/2010/main" val="427442252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04696" y="116642"/>
            <a:ext cx="11230103" cy="922449"/>
          </a:xfrm>
        </p:spPr>
        <p:txBody>
          <a:bodyPr/>
          <a:lstStyle/>
          <a:p>
            <a:r>
              <a:rPr lang="en-US" altLang="en-US" dirty="0"/>
              <a:t>Navigation Between IOS Modes</a:t>
            </a:r>
          </a:p>
        </p:txBody>
      </p:sp>
      <p:sp>
        <p:nvSpPr>
          <p:cNvPr id="6" name="Rectangle 6">
            <a:extLst>
              <a:ext uri="{FF2B5EF4-FFF2-40B4-BE49-F238E27FC236}">
                <a16:creationId xmlns:a16="http://schemas.microsoft.com/office/drawing/2014/main" id="{FDB50C7D-A789-1947-A197-D4C18A6B4C22}"/>
              </a:ext>
            </a:extLst>
          </p:cNvPr>
          <p:cNvSpPr>
            <a:spLocks noGrp="1" noChangeArrowheads="1"/>
          </p:cNvSpPr>
          <p:nvPr>
            <p:ph idx="1"/>
          </p:nvPr>
        </p:nvSpPr>
        <p:spPr>
          <a:xfrm>
            <a:off x="301161" y="1677267"/>
            <a:ext cx="5461336" cy="4901037"/>
          </a:xfrm>
        </p:spPr>
        <p:txBody>
          <a:bodyPr>
            <a:normAutofit fontScale="92500" lnSpcReduction="20000"/>
          </a:bodyPr>
          <a:lstStyle/>
          <a:p>
            <a:r>
              <a:rPr lang="en-US" b="1" dirty="0"/>
              <a:t>Privileged EXEC Mode:</a:t>
            </a:r>
          </a:p>
          <a:p>
            <a:pPr lvl="1">
              <a:spcAft>
                <a:spcPts val="533"/>
              </a:spcAft>
            </a:pPr>
            <a:r>
              <a:rPr lang="en-US" dirty="0"/>
              <a:t>To move from user EXEC mode to privilege EXEC mode, use the </a:t>
            </a:r>
            <a:r>
              <a:rPr lang="en-US" b="1" dirty="0"/>
              <a:t>enabled </a:t>
            </a:r>
            <a:r>
              <a:rPr lang="en-US" dirty="0"/>
              <a:t>command.</a:t>
            </a:r>
            <a:endParaRPr lang="en-US" b="1" dirty="0"/>
          </a:p>
          <a:p>
            <a:r>
              <a:rPr lang="en-US" b="1" dirty="0"/>
              <a:t>Global Configuration Mode: </a:t>
            </a:r>
          </a:p>
          <a:p>
            <a:pPr lvl="1"/>
            <a:r>
              <a:rPr lang="en-US" dirty="0"/>
              <a:t>To move in and out of global configuration mode, use the </a:t>
            </a:r>
            <a:r>
              <a:rPr lang="en-US" b="1" dirty="0"/>
              <a:t>configure terminal </a:t>
            </a:r>
            <a:r>
              <a:rPr lang="en-US" dirty="0"/>
              <a:t>command. To return to privilege EXEC mode, use the </a:t>
            </a:r>
            <a:r>
              <a:rPr lang="en-US" b="1" dirty="0"/>
              <a:t>exit</a:t>
            </a:r>
            <a:r>
              <a:rPr lang="en-US" dirty="0"/>
              <a:t> command. </a:t>
            </a:r>
          </a:p>
          <a:p>
            <a:r>
              <a:rPr lang="en-US" b="1" dirty="0"/>
              <a:t>Line Configuration Mode: </a:t>
            </a:r>
          </a:p>
          <a:p>
            <a:pPr lvl="1"/>
            <a:r>
              <a:rPr lang="en-US" dirty="0"/>
              <a:t>To move in and out of line configuration mode, use the </a:t>
            </a:r>
            <a:r>
              <a:rPr lang="en-US" b="1" dirty="0"/>
              <a:t>line </a:t>
            </a:r>
            <a:r>
              <a:rPr lang="en-US" dirty="0"/>
              <a:t>command followed by the management line type. To return to global configuration mode, use the </a:t>
            </a:r>
            <a:r>
              <a:rPr lang="en-US" b="1" dirty="0"/>
              <a:t>exit</a:t>
            </a:r>
            <a:r>
              <a:rPr lang="en-US" dirty="0"/>
              <a:t> command. </a:t>
            </a:r>
          </a:p>
          <a:p>
            <a:endParaRPr lang="en-US" dirty="0"/>
          </a:p>
          <a:p>
            <a:pPr marL="0" indent="0">
              <a:buNone/>
            </a:pPr>
            <a:endParaRPr lang="en-US" dirty="0"/>
          </a:p>
          <a:p>
            <a:endParaRPr lang="en-US" altLang="ja-JP" dirty="0"/>
          </a:p>
        </p:txBody>
      </p:sp>
      <p:pic>
        <p:nvPicPr>
          <p:cNvPr id="16" name="Picture 15">
            <a:extLst>
              <a:ext uri="{FF2B5EF4-FFF2-40B4-BE49-F238E27FC236}">
                <a16:creationId xmlns:a16="http://schemas.microsoft.com/office/drawing/2014/main" id="{EFA3A149-BACA-2349-9D11-C0BE82F379B7}"/>
              </a:ext>
            </a:extLst>
          </p:cNvPr>
          <p:cNvPicPr>
            <a:picLocks noChangeAspect="1"/>
          </p:cNvPicPr>
          <p:nvPr/>
        </p:nvPicPr>
        <p:blipFill>
          <a:blip r:embed="rId4"/>
          <a:stretch>
            <a:fillRect/>
          </a:stretch>
        </p:blipFill>
        <p:spPr>
          <a:xfrm>
            <a:off x="7405369" y="1812486"/>
            <a:ext cx="3877733" cy="728133"/>
          </a:xfrm>
          <a:prstGeom prst="rect">
            <a:avLst/>
          </a:prstGeom>
        </p:spPr>
      </p:pic>
      <p:pic>
        <p:nvPicPr>
          <p:cNvPr id="11" name="Picture 10">
            <a:extLst>
              <a:ext uri="{FF2B5EF4-FFF2-40B4-BE49-F238E27FC236}">
                <a16:creationId xmlns:a16="http://schemas.microsoft.com/office/drawing/2014/main" id="{54F9FD8A-05C8-D44A-8F30-79A483FB6C37}"/>
              </a:ext>
            </a:extLst>
          </p:cNvPr>
          <p:cNvPicPr>
            <a:picLocks noChangeAspect="1"/>
          </p:cNvPicPr>
          <p:nvPr/>
        </p:nvPicPr>
        <p:blipFill>
          <a:blip r:embed="rId5"/>
          <a:stretch>
            <a:fillRect/>
          </a:stretch>
        </p:blipFill>
        <p:spPr>
          <a:xfrm>
            <a:off x="7405369" y="3162499"/>
            <a:ext cx="3989001" cy="743712"/>
          </a:xfrm>
          <a:prstGeom prst="rect">
            <a:avLst/>
          </a:prstGeom>
        </p:spPr>
      </p:pic>
      <p:pic>
        <p:nvPicPr>
          <p:cNvPr id="12" name="Picture 11">
            <a:extLst>
              <a:ext uri="{FF2B5EF4-FFF2-40B4-BE49-F238E27FC236}">
                <a16:creationId xmlns:a16="http://schemas.microsoft.com/office/drawing/2014/main" id="{640DB018-9109-864C-B0B8-85608C19AAE9}"/>
              </a:ext>
            </a:extLst>
          </p:cNvPr>
          <p:cNvPicPr>
            <a:picLocks noChangeAspect="1"/>
          </p:cNvPicPr>
          <p:nvPr/>
        </p:nvPicPr>
        <p:blipFill>
          <a:blip r:embed="rId6"/>
          <a:stretch>
            <a:fillRect/>
          </a:stretch>
        </p:blipFill>
        <p:spPr>
          <a:xfrm>
            <a:off x="7405369" y="5091695"/>
            <a:ext cx="4013200" cy="711200"/>
          </a:xfrm>
          <a:prstGeom prst="rect">
            <a:avLst/>
          </a:prstGeom>
        </p:spPr>
      </p:pic>
    </p:spTree>
    <p:custDataLst>
      <p:tags r:id="rId1"/>
    </p:custDataLst>
    <p:extLst>
      <p:ext uri="{BB962C8B-B14F-4D97-AF65-F5344CB8AC3E}">
        <p14:creationId xmlns:p14="http://schemas.microsoft.com/office/powerpoint/2010/main" val="290083012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83837" y="204113"/>
            <a:ext cx="10515600" cy="964911"/>
          </a:xfrm>
        </p:spPr>
        <p:txBody>
          <a:bodyPr/>
          <a:lstStyle/>
          <a:p>
            <a:r>
              <a:rPr lang="en-US" altLang="en-US" dirty="0"/>
              <a:t>Navigation Between IOS Modes (Cont.)</a:t>
            </a:r>
          </a:p>
        </p:txBody>
      </p:sp>
      <p:sp>
        <p:nvSpPr>
          <p:cNvPr id="6" name="Rectangle 6">
            <a:extLst>
              <a:ext uri="{FF2B5EF4-FFF2-40B4-BE49-F238E27FC236}">
                <a16:creationId xmlns:a16="http://schemas.microsoft.com/office/drawing/2014/main" id="{FDB50C7D-A789-1947-A197-D4C18A6B4C22}"/>
              </a:ext>
            </a:extLst>
          </p:cNvPr>
          <p:cNvSpPr>
            <a:spLocks noGrp="1" noChangeArrowheads="1"/>
          </p:cNvSpPr>
          <p:nvPr>
            <p:ph idx="1"/>
          </p:nvPr>
        </p:nvSpPr>
        <p:spPr>
          <a:xfrm>
            <a:off x="263237" y="1690255"/>
            <a:ext cx="5694218" cy="4724399"/>
          </a:xfrm>
        </p:spPr>
        <p:txBody>
          <a:bodyPr>
            <a:normAutofit lnSpcReduction="10000"/>
          </a:bodyPr>
          <a:lstStyle/>
          <a:p>
            <a:pPr marL="0" indent="0">
              <a:buNone/>
            </a:pPr>
            <a:r>
              <a:rPr lang="en-US" b="1" dirty="0" err="1"/>
              <a:t>Subconfiguration</a:t>
            </a:r>
            <a:r>
              <a:rPr lang="en-US" b="1" dirty="0"/>
              <a:t> Modes: </a:t>
            </a:r>
          </a:p>
          <a:p>
            <a:pPr lvl="1"/>
            <a:r>
              <a:rPr lang="en-US" dirty="0"/>
              <a:t>To move out of any subconfiguration mode to get back to global configuration mode, use the </a:t>
            </a:r>
            <a:r>
              <a:rPr lang="en-US" b="1" dirty="0"/>
              <a:t>exit</a:t>
            </a:r>
            <a:r>
              <a:rPr lang="en-US" b="1" i="1" dirty="0"/>
              <a:t> </a:t>
            </a:r>
            <a:r>
              <a:rPr lang="en-US" dirty="0"/>
              <a:t>command. To return to privilege EXEC mode, use the </a:t>
            </a:r>
            <a:r>
              <a:rPr lang="en-US" b="1" dirty="0"/>
              <a:t>end</a:t>
            </a:r>
            <a:r>
              <a:rPr lang="en-US" dirty="0"/>
              <a:t> command or key combination </a:t>
            </a:r>
            <a:r>
              <a:rPr lang="en-US" b="1" dirty="0"/>
              <a:t>Ctrl +Z</a:t>
            </a:r>
            <a:r>
              <a:rPr lang="en-US" dirty="0"/>
              <a:t>. </a:t>
            </a:r>
          </a:p>
          <a:p>
            <a:pPr marL="190495" lvl="1" indent="0">
              <a:buNone/>
            </a:pPr>
            <a:endParaRPr lang="en-US" dirty="0"/>
          </a:p>
          <a:p>
            <a:pPr lvl="1"/>
            <a:r>
              <a:rPr lang="en-US" dirty="0"/>
              <a:t>To move directly from one subconfiguration mode to another, type in the desired subconfiguration mode command. In the example, the command prompt changes from </a:t>
            </a:r>
            <a:r>
              <a:rPr lang="en-US" b="1" dirty="0"/>
              <a:t>(config-line)# </a:t>
            </a:r>
            <a:r>
              <a:rPr lang="en-US" dirty="0"/>
              <a:t>to </a:t>
            </a:r>
            <a:r>
              <a:rPr lang="en-US" b="1" dirty="0"/>
              <a:t>(config-if)#</a:t>
            </a:r>
            <a:r>
              <a:rPr lang="en-US" dirty="0"/>
              <a:t>. </a:t>
            </a:r>
            <a:r>
              <a:rPr lang="en-US" b="1" dirty="0"/>
              <a:t> </a:t>
            </a:r>
          </a:p>
          <a:p>
            <a:pPr marL="0" indent="0">
              <a:buNone/>
            </a:pPr>
            <a:endParaRPr lang="en-US" dirty="0"/>
          </a:p>
          <a:p>
            <a:endParaRPr lang="en-US" altLang="ja-JP" dirty="0"/>
          </a:p>
        </p:txBody>
      </p:sp>
      <p:pic>
        <p:nvPicPr>
          <p:cNvPr id="7" name="Picture 6">
            <a:extLst>
              <a:ext uri="{FF2B5EF4-FFF2-40B4-BE49-F238E27FC236}">
                <a16:creationId xmlns:a16="http://schemas.microsoft.com/office/drawing/2014/main" id="{124761F0-3B51-F447-AF31-ED4259157781}"/>
              </a:ext>
            </a:extLst>
          </p:cNvPr>
          <p:cNvPicPr>
            <a:picLocks noChangeAspect="1"/>
          </p:cNvPicPr>
          <p:nvPr/>
        </p:nvPicPr>
        <p:blipFill>
          <a:blip r:embed="rId4"/>
          <a:stretch>
            <a:fillRect/>
          </a:stretch>
        </p:blipFill>
        <p:spPr>
          <a:xfrm>
            <a:off x="5957455" y="2335801"/>
            <a:ext cx="6120856" cy="780513"/>
          </a:xfrm>
          <a:prstGeom prst="rect">
            <a:avLst/>
          </a:prstGeom>
        </p:spPr>
      </p:pic>
      <p:pic>
        <p:nvPicPr>
          <p:cNvPr id="4" name="Picture 3">
            <a:extLst>
              <a:ext uri="{FF2B5EF4-FFF2-40B4-BE49-F238E27FC236}">
                <a16:creationId xmlns:a16="http://schemas.microsoft.com/office/drawing/2014/main" id="{F1E61373-4A92-7647-872A-CA2E86F98386}"/>
              </a:ext>
            </a:extLst>
          </p:cNvPr>
          <p:cNvPicPr>
            <a:picLocks noChangeAspect="1"/>
          </p:cNvPicPr>
          <p:nvPr/>
        </p:nvPicPr>
        <p:blipFill>
          <a:blip r:embed="rId5"/>
          <a:stretch>
            <a:fillRect/>
          </a:stretch>
        </p:blipFill>
        <p:spPr>
          <a:xfrm>
            <a:off x="6096000" y="4747823"/>
            <a:ext cx="5478658" cy="643467"/>
          </a:xfrm>
          <a:prstGeom prst="rect">
            <a:avLst/>
          </a:prstGeom>
        </p:spPr>
      </p:pic>
    </p:spTree>
    <p:custDataLst>
      <p:tags r:id="rId1"/>
    </p:custDataLst>
    <p:extLst>
      <p:ext uri="{BB962C8B-B14F-4D97-AF65-F5344CB8AC3E}">
        <p14:creationId xmlns:p14="http://schemas.microsoft.com/office/powerpoint/2010/main" val="67933383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93360-267A-4891-86CD-57DAB9DB036D}"/>
              </a:ext>
            </a:extLst>
          </p:cNvPr>
          <p:cNvSpPr>
            <a:spLocks noGrp="1"/>
          </p:cNvSpPr>
          <p:nvPr>
            <p:ph type="title"/>
          </p:nvPr>
        </p:nvSpPr>
        <p:spPr/>
        <p:txBody>
          <a:bodyPr/>
          <a:lstStyle/>
          <a:p>
            <a:r>
              <a:rPr lang="en-IE" dirty="0"/>
              <a:t>IOS Command Structure</a:t>
            </a:r>
          </a:p>
        </p:txBody>
      </p:sp>
    </p:spTree>
    <p:extLst>
      <p:ext uri="{BB962C8B-B14F-4D97-AF65-F5344CB8AC3E}">
        <p14:creationId xmlns:p14="http://schemas.microsoft.com/office/powerpoint/2010/main" val="1297061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Basic IOS Command Structure</a:t>
            </a:r>
          </a:p>
        </p:txBody>
      </p:sp>
      <p:sp>
        <p:nvSpPr>
          <p:cNvPr id="5" name="Rectangle 6">
            <a:extLst>
              <a:ext uri="{FF2B5EF4-FFF2-40B4-BE49-F238E27FC236}">
                <a16:creationId xmlns:a16="http://schemas.microsoft.com/office/drawing/2014/main" id="{8A3AB3B0-9D4C-4845-86A8-9CDB13B2A872}"/>
              </a:ext>
            </a:extLst>
          </p:cNvPr>
          <p:cNvSpPr>
            <a:spLocks noGrp="1" noChangeArrowheads="1"/>
          </p:cNvSpPr>
          <p:nvPr>
            <p:ph idx="1"/>
          </p:nvPr>
        </p:nvSpPr>
        <p:spPr>
          <a:xfrm>
            <a:off x="1128347" y="4815896"/>
            <a:ext cx="10058401" cy="1602024"/>
          </a:xfrm>
        </p:spPr>
        <p:txBody>
          <a:bodyPr/>
          <a:lstStyle/>
          <a:p>
            <a:pPr>
              <a:buFont typeface="Arial" panose="020B0604020202020204" pitchFamily="34" charset="0"/>
              <a:buChar char="•"/>
            </a:pPr>
            <a:r>
              <a:rPr lang="en-US" b="1" dirty="0"/>
              <a:t>Keyword</a:t>
            </a:r>
            <a:r>
              <a:rPr lang="en-US" dirty="0"/>
              <a:t> – </a:t>
            </a:r>
            <a:r>
              <a:rPr lang="en-US" sz="1867" dirty="0"/>
              <a:t>This is a specific parameter defined in the operating system (in the figure, </a:t>
            </a:r>
            <a:r>
              <a:rPr lang="en-US" sz="1867" b="1" dirty="0"/>
              <a:t>ip protocols</a:t>
            </a:r>
            <a:r>
              <a:rPr lang="en-US" sz="1867" dirty="0"/>
              <a:t>).</a:t>
            </a:r>
          </a:p>
          <a:p>
            <a:pPr>
              <a:buFont typeface="Arial" panose="020B0604020202020204" pitchFamily="34" charset="0"/>
              <a:buChar char="•"/>
            </a:pPr>
            <a:r>
              <a:rPr lang="en-US" b="1" dirty="0"/>
              <a:t>Argument</a:t>
            </a:r>
            <a:r>
              <a:rPr lang="en-US" dirty="0"/>
              <a:t> - </a:t>
            </a:r>
            <a:r>
              <a:rPr lang="en-US" sz="1867" dirty="0"/>
              <a:t>This is not predefined; it is a value or variable defined by the user (in the figure, </a:t>
            </a:r>
            <a:r>
              <a:rPr lang="en-US" sz="1867" b="1" dirty="0"/>
              <a:t>192.168.10.5</a:t>
            </a:r>
            <a:r>
              <a:rPr lang="en-US" sz="1867" dirty="0"/>
              <a:t>).</a:t>
            </a:r>
          </a:p>
          <a:p>
            <a:pPr marL="0" indent="0">
              <a:buNone/>
            </a:pPr>
            <a:endParaRPr lang="en-US" dirty="0"/>
          </a:p>
          <a:p>
            <a:endParaRPr lang="en-US" altLang="ja-JP" dirty="0"/>
          </a:p>
        </p:txBody>
      </p:sp>
      <p:pic>
        <p:nvPicPr>
          <p:cNvPr id="2" name="Picture 1">
            <a:extLst>
              <a:ext uri="{FF2B5EF4-FFF2-40B4-BE49-F238E27FC236}">
                <a16:creationId xmlns:a16="http://schemas.microsoft.com/office/drawing/2014/main" id="{1AFC5DF7-E4C5-654F-89C0-5DF1D6C2B78C}"/>
              </a:ext>
            </a:extLst>
          </p:cNvPr>
          <p:cNvPicPr>
            <a:picLocks noChangeAspect="1"/>
          </p:cNvPicPr>
          <p:nvPr/>
        </p:nvPicPr>
        <p:blipFill>
          <a:blip r:embed="rId4"/>
          <a:stretch>
            <a:fillRect/>
          </a:stretch>
        </p:blipFill>
        <p:spPr>
          <a:xfrm>
            <a:off x="2545862" y="1648167"/>
            <a:ext cx="6959600" cy="2810933"/>
          </a:xfrm>
          <a:prstGeom prst="rect">
            <a:avLst/>
          </a:prstGeom>
        </p:spPr>
      </p:pic>
    </p:spTree>
    <p:custDataLst>
      <p:tags r:id="rId1"/>
    </p:custDataLst>
    <p:extLst>
      <p:ext uri="{BB962C8B-B14F-4D97-AF65-F5344CB8AC3E}">
        <p14:creationId xmlns:p14="http://schemas.microsoft.com/office/powerpoint/2010/main" val="306145413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55191"/>
            <a:ext cx="12192000" cy="1010068"/>
          </a:xfrm>
        </p:spPr>
        <p:txBody>
          <a:bodyPr>
            <a:normAutofit/>
          </a:bodyPr>
          <a:lstStyle/>
          <a:p>
            <a:r>
              <a:rPr lang="en-US" dirty="0"/>
              <a:t>IOS Help Features</a:t>
            </a:r>
          </a:p>
        </p:txBody>
      </p:sp>
      <p:sp>
        <p:nvSpPr>
          <p:cNvPr id="5" name="Rectangle 6">
            <a:extLst>
              <a:ext uri="{FF2B5EF4-FFF2-40B4-BE49-F238E27FC236}">
                <a16:creationId xmlns:a16="http://schemas.microsoft.com/office/drawing/2014/main" id="{0508BDD6-5B8B-CF4E-B525-A3D2A9FA98A2}"/>
              </a:ext>
            </a:extLst>
          </p:cNvPr>
          <p:cNvSpPr>
            <a:spLocks noGrp="1" noChangeArrowheads="1"/>
          </p:cNvSpPr>
          <p:nvPr>
            <p:ph idx="1"/>
          </p:nvPr>
        </p:nvSpPr>
        <p:spPr>
          <a:xfrm>
            <a:off x="197044" y="1036318"/>
            <a:ext cx="11773283" cy="404047"/>
          </a:xfrm>
        </p:spPr>
        <p:txBody>
          <a:bodyPr>
            <a:noAutofit/>
          </a:bodyPr>
          <a:lstStyle/>
          <a:p>
            <a:pPr marL="0" indent="0">
              <a:buNone/>
            </a:pPr>
            <a:r>
              <a:rPr lang="en-US" sz="2400" dirty="0"/>
              <a:t>The IOS has two forms of help available: context-sensitive help and command syntax check.</a:t>
            </a:r>
          </a:p>
        </p:txBody>
      </p:sp>
      <p:sp>
        <p:nvSpPr>
          <p:cNvPr id="9" name="Rectangle 6">
            <a:extLst>
              <a:ext uri="{FF2B5EF4-FFF2-40B4-BE49-F238E27FC236}">
                <a16:creationId xmlns:a16="http://schemas.microsoft.com/office/drawing/2014/main" id="{E37E77DC-6EC5-C740-A91D-90AA88B5DC83}"/>
              </a:ext>
            </a:extLst>
          </p:cNvPr>
          <p:cNvSpPr txBox="1">
            <a:spLocks noChangeArrowheads="1"/>
          </p:cNvSpPr>
          <p:nvPr/>
        </p:nvSpPr>
        <p:spPr bwMode="auto">
          <a:xfrm>
            <a:off x="197044" y="1828911"/>
            <a:ext cx="6198460" cy="2424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2000" dirty="0"/>
              <a:t>Context-sensitive help enables you to quickly find answers to these questions:</a:t>
            </a:r>
          </a:p>
          <a:p>
            <a:pPr lvl="2"/>
            <a:r>
              <a:rPr lang="en-US" sz="1800" dirty="0"/>
              <a:t>Which commands are available in each command mode?</a:t>
            </a:r>
          </a:p>
          <a:p>
            <a:pPr lvl="2"/>
            <a:r>
              <a:rPr lang="en-US" sz="1800" dirty="0"/>
              <a:t>Which commands start with specific characters or group of characters?</a:t>
            </a:r>
          </a:p>
          <a:p>
            <a:pPr lvl="2"/>
            <a:r>
              <a:rPr lang="en-US" sz="1800" dirty="0"/>
              <a:t>Which arguments and keywords are available to particular commands?</a:t>
            </a:r>
          </a:p>
        </p:txBody>
      </p:sp>
      <p:sp>
        <p:nvSpPr>
          <p:cNvPr id="8" name="Rectangle 6">
            <a:extLst>
              <a:ext uri="{FF2B5EF4-FFF2-40B4-BE49-F238E27FC236}">
                <a16:creationId xmlns:a16="http://schemas.microsoft.com/office/drawing/2014/main" id="{BECCD72D-1F69-3241-8248-C477E21A6954}"/>
              </a:ext>
            </a:extLst>
          </p:cNvPr>
          <p:cNvSpPr txBox="1">
            <a:spLocks noChangeArrowheads="1"/>
          </p:cNvSpPr>
          <p:nvPr/>
        </p:nvSpPr>
        <p:spPr bwMode="auto">
          <a:xfrm>
            <a:off x="6395504" y="1938096"/>
            <a:ext cx="5599452" cy="242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2000" dirty="0"/>
              <a:t>Command syntax check verifies that a valid command was entered by the user. </a:t>
            </a:r>
          </a:p>
          <a:p>
            <a:pPr lvl="2"/>
            <a:r>
              <a:rPr lang="en-US" sz="1800" dirty="0"/>
              <a:t>If the interpreter cannot understand the command being entered, it will provide feedback describing what is wrong with the command.</a:t>
            </a:r>
          </a:p>
          <a:p>
            <a:endParaRPr lang="en-US" altLang="ja-JP" sz="2000" dirty="0"/>
          </a:p>
        </p:txBody>
      </p:sp>
      <p:pic>
        <p:nvPicPr>
          <p:cNvPr id="6" name="Picture 5">
            <a:extLst>
              <a:ext uri="{FF2B5EF4-FFF2-40B4-BE49-F238E27FC236}">
                <a16:creationId xmlns:a16="http://schemas.microsoft.com/office/drawing/2014/main" id="{80E42013-82B1-204A-A187-92F88CF9577D}"/>
              </a:ext>
            </a:extLst>
          </p:cNvPr>
          <p:cNvPicPr>
            <a:picLocks noChangeAspect="1"/>
          </p:cNvPicPr>
          <p:nvPr/>
        </p:nvPicPr>
        <p:blipFill>
          <a:blip r:embed="rId4"/>
          <a:stretch>
            <a:fillRect/>
          </a:stretch>
        </p:blipFill>
        <p:spPr>
          <a:xfrm>
            <a:off x="197044" y="4362949"/>
            <a:ext cx="6410806" cy="1041246"/>
          </a:xfrm>
          <a:prstGeom prst="rect">
            <a:avLst/>
          </a:prstGeom>
        </p:spPr>
      </p:pic>
      <p:pic>
        <p:nvPicPr>
          <p:cNvPr id="7" name="Picture 6">
            <a:extLst>
              <a:ext uri="{FF2B5EF4-FFF2-40B4-BE49-F238E27FC236}">
                <a16:creationId xmlns:a16="http://schemas.microsoft.com/office/drawing/2014/main" id="{FA95D835-D284-C64C-8128-9D0E859F400A}"/>
              </a:ext>
            </a:extLst>
          </p:cNvPr>
          <p:cNvPicPr>
            <a:picLocks noChangeAspect="1"/>
          </p:cNvPicPr>
          <p:nvPr/>
        </p:nvPicPr>
        <p:blipFill>
          <a:blip r:embed="rId5"/>
          <a:stretch>
            <a:fillRect/>
          </a:stretch>
        </p:blipFill>
        <p:spPr>
          <a:xfrm>
            <a:off x="6470376" y="5613864"/>
            <a:ext cx="5449707" cy="884825"/>
          </a:xfrm>
          <a:prstGeom prst="rect">
            <a:avLst/>
          </a:prstGeom>
        </p:spPr>
      </p:pic>
    </p:spTree>
    <p:custDataLst>
      <p:tags r:id="rId1"/>
    </p:custDataLst>
    <p:extLst>
      <p:ext uri="{BB962C8B-B14F-4D97-AF65-F5344CB8AC3E}">
        <p14:creationId xmlns:p14="http://schemas.microsoft.com/office/powerpoint/2010/main" val="81823211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43559" y="158546"/>
            <a:ext cx="10733128" cy="1150181"/>
          </a:xfrm>
        </p:spPr>
        <p:txBody>
          <a:bodyPr/>
          <a:lstStyle/>
          <a:p>
            <a:r>
              <a:rPr lang="en-US" dirty="0"/>
              <a:t>Hot Keys and Shortcuts</a:t>
            </a:r>
          </a:p>
        </p:txBody>
      </p:sp>
      <p:sp>
        <p:nvSpPr>
          <p:cNvPr id="5" name="Rectangle 6">
            <a:extLst>
              <a:ext uri="{FF2B5EF4-FFF2-40B4-BE49-F238E27FC236}">
                <a16:creationId xmlns:a16="http://schemas.microsoft.com/office/drawing/2014/main" id="{F24C0645-E185-E14D-BE57-D9D754DCF7A8}"/>
              </a:ext>
            </a:extLst>
          </p:cNvPr>
          <p:cNvSpPr>
            <a:spLocks noGrp="1" noChangeArrowheads="1"/>
          </p:cNvSpPr>
          <p:nvPr>
            <p:ph idx="1"/>
          </p:nvPr>
        </p:nvSpPr>
        <p:spPr>
          <a:xfrm>
            <a:off x="690879" y="1428753"/>
            <a:ext cx="10810241" cy="1951756"/>
          </a:xfrm>
        </p:spPr>
        <p:txBody>
          <a:bodyPr/>
          <a:lstStyle/>
          <a:p>
            <a:pPr>
              <a:buFont typeface="Arial" panose="020B0604020202020204" pitchFamily="34" charset="0"/>
              <a:buChar char="•"/>
            </a:pPr>
            <a:r>
              <a:rPr lang="en-US" sz="2133" dirty="0"/>
              <a:t>The IOS CLI provides hot keys and shortcuts that make configuring, monitoring, and troubleshooting easier.</a:t>
            </a:r>
          </a:p>
          <a:p>
            <a:pPr>
              <a:buFont typeface="Arial" panose="020B0604020202020204" pitchFamily="34" charset="0"/>
              <a:buChar char="•"/>
            </a:pPr>
            <a:r>
              <a:rPr lang="en-US" sz="2133" dirty="0"/>
              <a:t>Commands and keywords can be shortened to the minimum number of characters that identify a unique selection. For example, the </a:t>
            </a:r>
            <a:r>
              <a:rPr lang="en-US" sz="2133" b="1" dirty="0"/>
              <a:t>configure</a:t>
            </a:r>
            <a:r>
              <a:rPr lang="en-US" sz="2133" dirty="0"/>
              <a:t> command can be shortened to </a:t>
            </a:r>
            <a:r>
              <a:rPr lang="en-US" sz="2133" b="1" dirty="0"/>
              <a:t>conf</a:t>
            </a:r>
            <a:r>
              <a:rPr lang="en-US" sz="2133" dirty="0"/>
              <a:t> because </a:t>
            </a:r>
            <a:r>
              <a:rPr lang="en-US" sz="2133" b="1" dirty="0"/>
              <a:t>configure</a:t>
            </a:r>
            <a:r>
              <a:rPr lang="en-US" sz="2133" dirty="0"/>
              <a:t> is the only command that begins with </a:t>
            </a:r>
            <a:r>
              <a:rPr lang="en-US" sz="2133" b="1" dirty="0"/>
              <a:t>conf</a:t>
            </a:r>
            <a:r>
              <a:rPr lang="en-US" sz="2133" dirty="0"/>
              <a:t>.</a:t>
            </a:r>
          </a:p>
          <a:p>
            <a:pPr>
              <a:buFont typeface="Arial" panose="020B0604020202020204" pitchFamily="34" charset="0"/>
              <a:buChar char="•"/>
            </a:pPr>
            <a:endParaRPr lang="en-US" sz="2133" dirty="0"/>
          </a:p>
          <a:p>
            <a:endParaRPr lang="en-US" altLang="ja-JP" dirty="0"/>
          </a:p>
        </p:txBody>
      </p:sp>
      <p:pic>
        <p:nvPicPr>
          <p:cNvPr id="6" name="Picture 5">
            <a:extLst>
              <a:ext uri="{FF2B5EF4-FFF2-40B4-BE49-F238E27FC236}">
                <a16:creationId xmlns:a16="http://schemas.microsoft.com/office/drawing/2014/main" id="{6FF01AB2-104C-D94E-AE37-A95B7349F9D1}"/>
              </a:ext>
            </a:extLst>
          </p:cNvPr>
          <p:cNvPicPr>
            <a:picLocks noChangeAspect="1"/>
          </p:cNvPicPr>
          <p:nvPr/>
        </p:nvPicPr>
        <p:blipFill>
          <a:blip r:embed="rId4"/>
          <a:stretch>
            <a:fillRect/>
          </a:stretch>
        </p:blipFill>
        <p:spPr>
          <a:xfrm>
            <a:off x="620672" y="3644426"/>
            <a:ext cx="5250573" cy="1226770"/>
          </a:xfrm>
          <a:prstGeom prst="rect">
            <a:avLst/>
          </a:prstGeom>
        </p:spPr>
      </p:pic>
      <p:pic>
        <p:nvPicPr>
          <p:cNvPr id="7" name="Picture 6">
            <a:extLst>
              <a:ext uri="{FF2B5EF4-FFF2-40B4-BE49-F238E27FC236}">
                <a16:creationId xmlns:a16="http://schemas.microsoft.com/office/drawing/2014/main" id="{81FA3EFC-521E-2F4F-B03D-C10C9DA9E59D}"/>
              </a:ext>
            </a:extLst>
          </p:cNvPr>
          <p:cNvPicPr>
            <a:picLocks noChangeAspect="1"/>
          </p:cNvPicPr>
          <p:nvPr/>
        </p:nvPicPr>
        <p:blipFill>
          <a:blip r:embed="rId5"/>
          <a:stretch>
            <a:fillRect/>
          </a:stretch>
        </p:blipFill>
        <p:spPr>
          <a:xfrm>
            <a:off x="299693" y="5870739"/>
            <a:ext cx="7976385" cy="828715"/>
          </a:xfrm>
          <a:prstGeom prst="rect">
            <a:avLst/>
          </a:prstGeom>
        </p:spPr>
      </p:pic>
      <p:graphicFrame>
        <p:nvGraphicFramePr>
          <p:cNvPr id="8" name="Table 7">
            <a:extLst>
              <a:ext uri="{FF2B5EF4-FFF2-40B4-BE49-F238E27FC236}">
                <a16:creationId xmlns:a16="http://schemas.microsoft.com/office/drawing/2014/main" id="{E796E767-92A3-4298-8326-B613B3EDE9A5}"/>
              </a:ext>
            </a:extLst>
          </p:cNvPr>
          <p:cNvGraphicFramePr>
            <a:graphicFrameLocks noGrp="1"/>
          </p:cNvGraphicFramePr>
          <p:nvPr>
            <p:extLst>
              <p:ext uri="{D42A27DB-BD31-4B8C-83A1-F6EECF244321}">
                <p14:modId xmlns:p14="http://schemas.microsoft.com/office/powerpoint/2010/main" val="2030458294"/>
              </p:ext>
            </p:extLst>
          </p:nvPr>
        </p:nvGraphicFramePr>
        <p:xfrm>
          <a:off x="6096000" y="3380509"/>
          <a:ext cx="6002216" cy="2342596"/>
        </p:xfrm>
        <a:graphic>
          <a:graphicData uri="http://schemas.openxmlformats.org/drawingml/2006/table">
            <a:tbl>
              <a:tblPr firstRow="1" bandRow="1">
                <a:tableStyleId>{5C22544A-7EE6-4342-B048-85BDC9FD1C3A}</a:tableStyleId>
              </a:tblPr>
              <a:tblGrid>
                <a:gridCol w="1879383">
                  <a:extLst>
                    <a:ext uri="{9D8B030D-6E8A-4147-A177-3AD203B41FA5}">
                      <a16:colId xmlns:a16="http://schemas.microsoft.com/office/drawing/2014/main" val="1180500583"/>
                    </a:ext>
                  </a:extLst>
                </a:gridCol>
                <a:gridCol w="4122833">
                  <a:extLst>
                    <a:ext uri="{9D8B030D-6E8A-4147-A177-3AD203B41FA5}">
                      <a16:colId xmlns:a16="http://schemas.microsoft.com/office/drawing/2014/main" val="2741835617"/>
                    </a:ext>
                  </a:extLst>
                </a:gridCol>
              </a:tblGrid>
              <a:tr h="403306">
                <a:tc>
                  <a:txBody>
                    <a:bodyPr/>
                    <a:lstStyle/>
                    <a:p>
                      <a:r>
                        <a:rPr lang="en-US" dirty="0"/>
                        <a:t>Keystroke</a:t>
                      </a:r>
                    </a:p>
                  </a:txBody>
                  <a:tcPr/>
                </a:tc>
                <a:tc>
                  <a:txBody>
                    <a:bodyPr/>
                    <a:lstStyle/>
                    <a:p>
                      <a:r>
                        <a:rPr lang="en-US" dirty="0"/>
                        <a:t>Description</a:t>
                      </a:r>
                    </a:p>
                  </a:txBody>
                  <a:tcPr/>
                </a:tc>
                <a:extLst>
                  <a:ext uri="{0D108BD9-81ED-4DB2-BD59-A6C34878D82A}">
                    <a16:rowId xmlns:a16="http://schemas.microsoft.com/office/drawing/2014/main" val="3590626540"/>
                  </a:ext>
                </a:extLst>
              </a:tr>
              <a:tr h="306681">
                <a:tc>
                  <a:txBody>
                    <a:bodyPr/>
                    <a:lstStyle/>
                    <a:p>
                      <a:pPr fontAlgn="ctr"/>
                      <a:r>
                        <a:rPr lang="en-US" sz="1600" b="1" dirty="0">
                          <a:effectLst/>
                        </a:rPr>
                        <a:t>Tab</a:t>
                      </a:r>
                      <a:endParaRPr lang="en-US" sz="1600" b="0" dirty="0">
                        <a:effectLst/>
                      </a:endParaRPr>
                    </a:p>
                  </a:txBody>
                  <a:tcPr marL="47625" marR="47625" marT="47625" marB="47625" anchor="ctr"/>
                </a:tc>
                <a:tc>
                  <a:txBody>
                    <a:bodyPr/>
                    <a:lstStyle/>
                    <a:p>
                      <a:pPr fontAlgn="ctr"/>
                      <a:r>
                        <a:rPr lang="en-US" sz="1600" b="0">
                          <a:effectLst/>
                        </a:rPr>
                        <a:t>Completes a partial command name entry.</a:t>
                      </a:r>
                    </a:p>
                  </a:txBody>
                  <a:tcPr marL="47625" marR="47625" marT="47625" marB="47625" anchor="ctr"/>
                </a:tc>
                <a:extLst>
                  <a:ext uri="{0D108BD9-81ED-4DB2-BD59-A6C34878D82A}">
                    <a16:rowId xmlns:a16="http://schemas.microsoft.com/office/drawing/2014/main" val="3639080909"/>
                  </a:ext>
                </a:extLst>
              </a:tr>
              <a:tr h="306681">
                <a:tc>
                  <a:txBody>
                    <a:bodyPr/>
                    <a:lstStyle/>
                    <a:p>
                      <a:pPr fontAlgn="ctr"/>
                      <a:r>
                        <a:rPr lang="en-US" sz="1600" b="1" dirty="0">
                          <a:effectLst/>
                        </a:rPr>
                        <a:t>Backspace</a:t>
                      </a:r>
                      <a:endParaRPr lang="en-US" sz="1600" b="0" dirty="0">
                        <a:effectLst/>
                      </a:endParaRPr>
                    </a:p>
                  </a:txBody>
                  <a:tcPr marL="47625" marR="47625" marT="47625" marB="47625" anchor="ctr"/>
                </a:tc>
                <a:tc>
                  <a:txBody>
                    <a:bodyPr/>
                    <a:lstStyle/>
                    <a:p>
                      <a:pPr fontAlgn="ctr"/>
                      <a:r>
                        <a:rPr lang="en-US" sz="1600" b="0" dirty="0">
                          <a:effectLst/>
                        </a:rPr>
                        <a:t>Erases the character to the left of the cursor.</a:t>
                      </a:r>
                    </a:p>
                  </a:txBody>
                  <a:tcPr marL="47625" marR="47625" marT="47625" marB="47625" anchor="ctr"/>
                </a:tc>
                <a:extLst>
                  <a:ext uri="{0D108BD9-81ED-4DB2-BD59-A6C34878D82A}">
                    <a16:rowId xmlns:a16="http://schemas.microsoft.com/office/drawing/2014/main" val="4082093158"/>
                  </a:ext>
                </a:extLst>
              </a:tr>
              <a:tr h="306681">
                <a:tc>
                  <a:txBody>
                    <a:bodyPr/>
                    <a:lstStyle/>
                    <a:p>
                      <a:pPr fontAlgn="ctr"/>
                      <a:r>
                        <a:rPr lang="en-US" sz="1600" b="1" dirty="0">
                          <a:effectLst/>
                        </a:rPr>
                        <a:t>Left Arrow </a:t>
                      </a:r>
                      <a:r>
                        <a:rPr lang="en-US" sz="1600" b="0" dirty="0">
                          <a:effectLst/>
                        </a:rPr>
                        <a:t>or</a:t>
                      </a:r>
                      <a:r>
                        <a:rPr lang="en-US" sz="1600" b="1" dirty="0">
                          <a:effectLst/>
                        </a:rPr>
                        <a:t> Ctrl+B</a:t>
                      </a:r>
                      <a:endParaRPr lang="en-US" sz="1600" b="0" dirty="0">
                        <a:effectLst/>
                      </a:endParaRPr>
                    </a:p>
                  </a:txBody>
                  <a:tcPr marL="47625" marR="47625" marT="47625" marB="47625" anchor="ctr"/>
                </a:tc>
                <a:tc>
                  <a:txBody>
                    <a:bodyPr/>
                    <a:lstStyle/>
                    <a:p>
                      <a:pPr fontAlgn="ctr"/>
                      <a:r>
                        <a:rPr lang="en-US" sz="1600" b="0" dirty="0">
                          <a:effectLst/>
                        </a:rPr>
                        <a:t>Moves the cursor one character to the left.</a:t>
                      </a:r>
                    </a:p>
                  </a:txBody>
                  <a:tcPr marL="47625" marR="47625" marT="47625" marB="47625" anchor="ctr"/>
                </a:tc>
                <a:extLst>
                  <a:ext uri="{0D108BD9-81ED-4DB2-BD59-A6C34878D82A}">
                    <a16:rowId xmlns:a16="http://schemas.microsoft.com/office/drawing/2014/main" val="2021840048"/>
                  </a:ext>
                </a:extLst>
              </a:tr>
              <a:tr h="306681">
                <a:tc>
                  <a:txBody>
                    <a:bodyPr/>
                    <a:lstStyle/>
                    <a:p>
                      <a:pPr fontAlgn="ctr"/>
                      <a:r>
                        <a:rPr lang="en-US" sz="1600" b="1" dirty="0">
                          <a:effectLst/>
                        </a:rPr>
                        <a:t>Right Arrow </a:t>
                      </a:r>
                      <a:r>
                        <a:rPr lang="en-US" sz="1600" b="0" dirty="0">
                          <a:effectLst/>
                        </a:rPr>
                        <a:t>or</a:t>
                      </a:r>
                      <a:r>
                        <a:rPr lang="en-US" sz="1600" b="1" dirty="0">
                          <a:effectLst/>
                        </a:rPr>
                        <a:t> Ctrl+F</a:t>
                      </a:r>
                      <a:endParaRPr lang="en-US" sz="1600" b="0" dirty="0">
                        <a:effectLst/>
                      </a:endParaRPr>
                    </a:p>
                  </a:txBody>
                  <a:tcPr marL="47625" marR="47625" marT="47625" marB="47625" anchor="ctr"/>
                </a:tc>
                <a:tc>
                  <a:txBody>
                    <a:bodyPr/>
                    <a:lstStyle/>
                    <a:p>
                      <a:pPr fontAlgn="ctr"/>
                      <a:r>
                        <a:rPr lang="en-US" sz="1600" b="0" dirty="0">
                          <a:effectLst/>
                        </a:rPr>
                        <a:t>Moves the cursor one character to the right.</a:t>
                      </a:r>
                    </a:p>
                  </a:txBody>
                  <a:tcPr marL="47625" marR="47625" marT="47625" marB="47625" anchor="ctr"/>
                </a:tc>
                <a:extLst>
                  <a:ext uri="{0D108BD9-81ED-4DB2-BD59-A6C34878D82A}">
                    <a16:rowId xmlns:a16="http://schemas.microsoft.com/office/drawing/2014/main" val="2968577270"/>
                  </a:ext>
                </a:extLst>
              </a:tr>
              <a:tr h="508334">
                <a:tc>
                  <a:txBody>
                    <a:bodyPr/>
                    <a:lstStyle/>
                    <a:p>
                      <a:pPr fontAlgn="ctr"/>
                      <a:r>
                        <a:rPr lang="en-US" sz="1600" b="1" dirty="0">
                          <a:effectLst/>
                        </a:rPr>
                        <a:t>Up Arrow </a:t>
                      </a:r>
                      <a:r>
                        <a:rPr lang="en-US" sz="1600" b="0" dirty="0">
                          <a:effectLst/>
                        </a:rPr>
                        <a:t>or</a:t>
                      </a:r>
                      <a:r>
                        <a:rPr lang="en-US" sz="1600" b="1" dirty="0">
                          <a:effectLst/>
                        </a:rPr>
                        <a:t> Ctrl+P</a:t>
                      </a:r>
                      <a:endParaRPr lang="en-US" sz="1600" b="0" dirty="0">
                        <a:effectLst/>
                      </a:endParaRPr>
                    </a:p>
                  </a:txBody>
                  <a:tcPr marL="47625" marR="47625" marT="47625" marB="47625" anchor="ctr"/>
                </a:tc>
                <a:tc>
                  <a:txBody>
                    <a:bodyPr/>
                    <a:lstStyle/>
                    <a:p>
                      <a:pPr fontAlgn="ctr"/>
                      <a:r>
                        <a:rPr lang="en-US" sz="1600" b="0" dirty="0">
                          <a:effectLst/>
                        </a:rPr>
                        <a:t>Recalls the commands in the history buffer, beginning with the most recent commands.</a:t>
                      </a:r>
                    </a:p>
                  </a:txBody>
                  <a:tcPr marL="47625" marR="47625" marT="47625" marB="47625" anchor="ctr"/>
                </a:tc>
                <a:extLst>
                  <a:ext uri="{0D108BD9-81ED-4DB2-BD59-A6C34878D82A}">
                    <a16:rowId xmlns:a16="http://schemas.microsoft.com/office/drawing/2014/main" val="2224970778"/>
                  </a:ext>
                </a:extLst>
              </a:tr>
            </a:tbl>
          </a:graphicData>
        </a:graphic>
      </p:graphicFrame>
    </p:spTree>
    <p:custDataLst>
      <p:tags r:id="rId1"/>
    </p:custDataLst>
    <p:extLst>
      <p:ext uri="{BB962C8B-B14F-4D97-AF65-F5344CB8AC3E}">
        <p14:creationId xmlns:p14="http://schemas.microsoft.com/office/powerpoint/2010/main" val="275182630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B1EAF-0A3C-4132-915D-D67796086E0A}"/>
              </a:ext>
            </a:extLst>
          </p:cNvPr>
          <p:cNvSpPr>
            <a:spLocks noGrp="1"/>
          </p:cNvSpPr>
          <p:nvPr>
            <p:ph type="title"/>
          </p:nvPr>
        </p:nvSpPr>
        <p:spPr/>
        <p:txBody>
          <a:bodyPr/>
          <a:lstStyle/>
          <a:p>
            <a:r>
              <a:rPr lang="en-IE" dirty="0"/>
              <a:t>Basic Device Configuration</a:t>
            </a:r>
          </a:p>
        </p:txBody>
      </p:sp>
      <p:sp>
        <p:nvSpPr>
          <p:cNvPr id="3" name="Text Placeholder 2">
            <a:extLst>
              <a:ext uri="{FF2B5EF4-FFF2-40B4-BE49-F238E27FC236}">
                <a16:creationId xmlns:a16="http://schemas.microsoft.com/office/drawing/2014/main" id="{2AF118BD-1A94-4F62-BDA9-C42124CB1989}"/>
              </a:ext>
            </a:extLst>
          </p:cNvPr>
          <p:cNvSpPr>
            <a:spLocks noGrp="1"/>
          </p:cNvSpPr>
          <p:nvPr>
            <p:ph type="body" idx="1"/>
          </p:nvPr>
        </p:nvSpPr>
        <p:spPr/>
        <p:txBody>
          <a:bodyPr/>
          <a:lstStyle/>
          <a:p>
            <a:endParaRPr lang="en-IE"/>
          </a:p>
        </p:txBody>
      </p:sp>
    </p:spTree>
    <p:extLst>
      <p:ext uri="{BB962C8B-B14F-4D97-AF65-F5344CB8AC3E}">
        <p14:creationId xmlns:p14="http://schemas.microsoft.com/office/powerpoint/2010/main" val="4020679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353827" y="143202"/>
            <a:ext cx="10861428" cy="1325563"/>
          </a:xfrm>
        </p:spPr>
        <p:txBody>
          <a:bodyPr/>
          <a:lstStyle/>
          <a:p>
            <a:r>
              <a:rPr lang="en-US" dirty="0">
                <a:latin typeface="Arial" charset="0"/>
              </a:rPr>
              <a:t>Basic Device Configuration</a:t>
            </a:r>
            <a:br>
              <a:rPr lang="en-US" dirty="0">
                <a:latin typeface="Arial" charset="0"/>
              </a:rPr>
            </a:br>
            <a:r>
              <a:rPr lang="en-US" sz="2600" dirty="0">
                <a:latin typeface="Arial" charset="0"/>
              </a:rPr>
              <a:t>Device Names</a:t>
            </a:r>
          </a:p>
        </p:txBody>
      </p:sp>
      <p:sp>
        <p:nvSpPr>
          <p:cNvPr id="4" name="Content Placeholder 3"/>
          <p:cNvSpPr>
            <a:spLocks noGrp="1"/>
          </p:cNvSpPr>
          <p:nvPr>
            <p:ph idx="1"/>
          </p:nvPr>
        </p:nvSpPr>
        <p:spPr>
          <a:xfrm>
            <a:off x="329813" y="1708188"/>
            <a:ext cx="7893551" cy="1470636"/>
          </a:xfrm>
        </p:spPr>
        <p:txBody>
          <a:bodyPr/>
          <a:lstStyle/>
          <a:p>
            <a:pPr>
              <a:lnSpc>
                <a:spcPct val="85000"/>
              </a:lnSpc>
              <a:spcBef>
                <a:spcPct val="30000"/>
              </a:spcBef>
              <a:buFont typeface="Arial" panose="020B0604020202020204" pitchFamily="34" charset="0"/>
              <a:buChar char="•"/>
            </a:pPr>
            <a:r>
              <a:rPr lang="en-US" sz="2133" dirty="0"/>
              <a:t>The first configuration command on any device should be to give it a unique hostname. </a:t>
            </a:r>
          </a:p>
          <a:p>
            <a:pPr>
              <a:buFont typeface="Arial" panose="020B0604020202020204" pitchFamily="34" charset="0"/>
              <a:buChar char="•"/>
            </a:pPr>
            <a:r>
              <a:rPr lang="en-US" sz="2133" dirty="0"/>
              <a:t>By default, all devices are assigned a factory default name. For example, a Cisco IOS switch is "Switch.”</a:t>
            </a:r>
          </a:p>
          <a:p>
            <a:endParaRPr lang="en-US" dirty="0"/>
          </a:p>
          <a:p>
            <a:endParaRPr lang="en-US" dirty="0"/>
          </a:p>
        </p:txBody>
      </p:sp>
      <p:sp>
        <p:nvSpPr>
          <p:cNvPr id="10" name="Content Placeholder 3">
            <a:extLst>
              <a:ext uri="{FF2B5EF4-FFF2-40B4-BE49-F238E27FC236}">
                <a16:creationId xmlns:a16="http://schemas.microsoft.com/office/drawing/2014/main" id="{46431B1F-CF88-7348-B7DE-E17404CC367A}"/>
              </a:ext>
            </a:extLst>
          </p:cNvPr>
          <p:cNvSpPr txBox="1">
            <a:spLocks/>
          </p:cNvSpPr>
          <p:nvPr/>
        </p:nvSpPr>
        <p:spPr bwMode="auto">
          <a:xfrm>
            <a:off x="329813" y="3421195"/>
            <a:ext cx="5603628" cy="30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2133" dirty="0"/>
              <a:t>Guideline for naming devices:</a:t>
            </a:r>
          </a:p>
          <a:p>
            <a:pPr lvl="2">
              <a:buFont typeface="Arial" panose="020B0604020202020204" pitchFamily="34" charset="0"/>
              <a:buChar char="•"/>
            </a:pPr>
            <a:r>
              <a:rPr lang="en-US" sz="2133" dirty="0"/>
              <a:t>Start with a letter</a:t>
            </a:r>
          </a:p>
          <a:p>
            <a:pPr lvl="2">
              <a:buFont typeface="Arial" panose="020B0604020202020204" pitchFamily="34" charset="0"/>
              <a:buChar char="•"/>
            </a:pPr>
            <a:r>
              <a:rPr lang="en-US" sz="2133" dirty="0"/>
              <a:t>Contain no spaces</a:t>
            </a:r>
          </a:p>
          <a:p>
            <a:pPr lvl="2">
              <a:buFont typeface="Arial" panose="020B0604020202020204" pitchFamily="34" charset="0"/>
              <a:buChar char="•"/>
            </a:pPr>
            <a:r>
              <a:rPr lang="en-US" sz="2133" dirty="0"/>
              <a:t>End with a letter or digit</a:t>
            </a:r>
          </a:p>
          <a:p>
            <a:pPr lvl="2">
              <a:buFont typeface="Arial" panose="020B0604020202020204" pitchFamily="34" charset="0"/>
              <a:buChar char="•"/>
            </a:pPr>
            <a:r>
              <a:rPr lang="en-US" sz="2133" dirty="0"/>
              <a:t>Use only letters, digits, and dashes</a:t>
            </a:r>
          </a:p>
          <a:p>
            <a:pPr lvl="2">
              <a:buFont typeface="Arial" panose="020B0604020202020204" pitchFamily="34" charset="0"/>
              <a:buChar char="•"/>
            </a:pPr>
            <a:r>
              <a:rPr lang="en-US" sz="2133" dirty="0"/>
              <a:t>Be less than 64 characters in length</a:t>
            </a:r>
          </a:p>
          <a:p>
            <a:endParaRPr lang="en-US" sz="2000" dirty="0"/>
          </a:p>
          <a:p>
            <a:endParaRPr lang="en-US" sz="2000" dirty="0"/>
          </a:p>
        </p:txBody>
      </p:sp>
      <p:sp>
        <p:nvSpPr>
          <p:cNvPr id="3" name="TextBox 2">
            <a:extLst>
              <a:ext uri="{FF2B5EF4-FFF2-40B4-BE49-F238E27FC236}">
                <a16:creationId xmlns:a16="http://schemas.microsoft.com/office/drawing/2014/main" id="{790CDB78-5B44-2540-9744-45DBDB654D0E}"/>
              </a:ext>
            </a:extLst>
          </p:cNvPr>
          <p:cNvSpPr txBox="1"/>
          <p:nvPr/>
        </p:nvSpPr>
        <p:spPr>
          <a:xfrm>
            <a:off x="6096000" y="4795869"/>
            <a:ext cx="5317840" cy="707886"/>
          </a:xfrm>
          <a:prstGeom prst="rect">
            <a:avLst/>
          </a:prstGeom>
          <a:noFill/>
        </p:spPr>
        <p:txBody>
          <a:bodyPr wrap="square" rtlCol="0">
            <a:spAutoFit/>
          </a:bodyPr>
          <a:lstStyle/>
          <a:p>
            <a:r>
              <a:rPr lang="en-US" sz="2000" b="1" dirty="0">
                <a:solidFill>
                  <a:srgbClr val="000000"/>
                </a:solidFill>
              </a:rPr>
              <a:t>Note</a:t>
            </a:r>
            <a:r>
              <a:rPr lang="en-US" sz="2000" dirty="0">
                <a:solidFill>
                  <a:srgbClr val="000000"/>
                </a:solidFill>
              </a:rPr>
              <a:t>: To return the switch to the default prompt, use the </a:t>
            </a:r>
            <a:r>
              <a:rPr lang="en-US" sz="2000" b="1" dirty="0">
                <a:solidFill>
                  <a:srgbClr val="000000"/>
                </a:solidFill>
              </a:rPr>
              <a:t>no hostname</a:t>
            </a:r>
            <a:r>
              <a:rPr lang="en-US" sz="2000" dirty="0">
                <a:solidFill>
                  <a:srgbClr val="000000"/>
                </a:solidFill>
              </a:rPr>
              <a:t> global config command.</a:t>
            </a:r>
          </a:p>
        </p:txBody>
      </p:sp>
      <p:pic>
        <p:nvPicPr>
          <p:cNvPr id="2" name="Picture 1">
            <a:extLst>
              <a:ext uri="{FF2B5EF4-FFF2-40B4-BE49-F238E27FC236}">
                <a16:creationId xmlns:a16="http://schemas.microsoft.com/office/drawing/2014/main" id="{90C4244C-923F-EB45-BEF5-9FC7D9C28DD6}"/>
              </a:ext>
            </a:extLst>
          </p:cNvPr>
          <p:cNvPicPr>
            <a:picLocks noChangeAspect="1"/>
          </p:cNvPicPr>
          <p:nvPr/>
        </p:nvPicPr>
        <p:blipFill>
          <a:blip r:embed="rId4"/>
          <a:stretch>
            <a:fillRect/>
          </a:stretch>
        </p:blipFill>
        <p:spPr>
          <a:xfrm>
            <a:off x="5664568" y="3123883"/>
            <a:ext cx="6197620" cy="1015663"/>
          </a:xfrm>
          <a:prstGeom prst="rect">
            <a:avLst/>
          </a:prstGeom>
        </p:spPr>
      </p:pic>
    </p:spTree>
    <p:custDataLst>
      <p:tags r:id="rId1"/>
    </p:custDataLst>
    <p:extLst>
      <p:ext uri="{BB962C8B-B14F-4D97-AF65-F5344CB8AC3E}">
        <p14:creationId xmlns:p14="http://schemas.microsoft.com/office/powerpoint/2010/main" val="249957050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471054" y="127613"/>
            <a:ext cx="10758055" cy="1354216"/>
          </a:xfrm>
        </p:spPr>
        <p:txBody>
          <a:bodyPr/>
          <a:lstStyle/>
          <a:p>
            <a:r>
              <a:rPr lang="en-US" dirty="0">
                <a:latin typeface="Arial" charset="0"/>
              </a:rPr>
              <a:t>Password Guidelines</a:t>
            </a:r>
          </a:p>
        </p:txBody>
      </p:sp>
      <p:sp>
        <p:nvSpPr>
          <p:cNvPr id="4" name="Content Placeholder 3"/>
          <p:cNvSpPr>
            <a:spLocks noGrp="1"/>
          </p:cNvSpPr>
          <p:nvPr>
            <p:ph idx="1"/>
          </p:nvPr>
        </p:nvSpPr>
        <p:spPr>
          <a:xfrm>
            <a:off x="290525" y="1590313"/>
            <a:ext cx="11469871" cy="1354217"/>
          </a:xfrm>
        </p:spPr>
        <p:txBody>
          <a:bodyPr/>
          <a:lstStyle/>
          <a:p>
            <a:pPr>
              <a:lnSpc>
                <a:spcPct val="85000"/>
              </a:lnSpc>
              <a:spcBef>
                <a:spcPct val="30000"/>
              </a:spcBef>
              <a:buFont typeface="Arial" panose="020B0604020202020204" pitchFamily="34" charset="0"/>
              <a:buChar char="•"/>
            </a:pPr>
            <a:r>
              <a:rPr lang="en-US" sz="2133" dirty="0"/>
              <a:t>The use of weak or easily guessed passwords are a security concern.</a:t>
            </a:r>
          </a:p>
          <a:p>
            <a:pPr>
              <a:lnSpc>
                <a:spcPct val="85000"/>
              </a:lnSpc>
              <a:spcBef>
                <a:spcPct val="30000"/>
              </a:spcBef>
              <a:buFont typeface="Arial" panose="020B0604020202020204" pitchFamily="34" charset="0"/>
              <a:buChar char="•"/>
            </a:pPr>
            <a:r>
              <a:rPr lang="en-US" sz="2133" dirty="0"/>
              <a:t>All networking devices should limit administrative access by securing privileged EXEC, user EXEC, and remote Telnet access with passwords. In addition, all passwords should be encrypted and legal notifications provided.</a:t>
            </a:r>
          </a:p>
        </p:txBody>
      </p:sp>
      <p:sp>
        <p:nvSpPr>
          <p:cNvPr id="5" name="Content Placeholder 3">
            <a:extLst>
              <a:ext uri="{FF2B5EF4-FFF2-40B4-BE49-F238E27FC236}">
                <a16:creationId xmlns:a16="http://schemas.microsoft.com/office/drawing/2014/main" id="{90CEA0DA-9080-6645-9105-927BD0003465}"/>
              </a:ext>
            </a:extLst>
          </p:cNvPr>
          <p:cNvSpPr txBox="1">
            <a:spLocks/>
          </p:cNvSpPr>
          <p:nvPr/>
        </p:nvSpPr>
        <p:spPr bwMode="auto">
          <a:xfrm>
            <a:off x="219673" y="3195567"/>
            <a:ext cx="6578292" cy="352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2133" dirty="0"/>
              <a:t>Password Guidelines: </a:t>
            </a:r>
          </a:p>
          <a:p>
            <a:pPr lvl="2">
              <a:buFont typeface="Arial" panose="020B0604020202020204" pitchFamily="34" charset="0"/>
              <a:buChar char="•"/>
            </a:pPr>
            <a:r>
              <a:rPr lang="en-US" sz="2133" dirty="0"/>
              <a:t>Use passwords that are more than eight characters in length.</a:t>
            </a:r>
          </a:p>
          <a:p>
            <a:pPr lvl="2">
              <a:buFont typeface="Arial" panose="020B0604020202020204" pitchFamily="34" charset="0"/>
              <a:buChar char="•"/>
            </a:pPr>
            <a:r>
              <a:rPr lang="en-US" sz="2133" dirty="0"/>
              <a:t>Use a combination of upper and lowercase letters, numbers, special characters, and/or numeric sequences.</a:t>
            </a:r>
          </a:p>
          <a:p>
            <a:pPr lvl="2">
              <a:buFont typeface="Arial" panose="020B0604020202020204" pitchFamily="34" charset="0"/>
              <a:buChar char="•"/>
            </a:pPr>
            <a:r>
              <a:rPr lang="en-US" sz="2133" dirty="0"/>
              <a:t>Avoid using the same password for all devices.</a:t>
            </a:r>
          </a:p>
          <a:p>
            <a:pPr lvl="2">
              <a:buFont typeface="Arial" panose="020B0604020202020204" pitchFamily="34" charset="0"/>
              <a:buChar char="•"/>
            </a:pPr>
            <a:r>
              <a:rPr lang="en-US" sz="2133" dirty="0"/>
              <a:t>Do not use common words because they are easily guessed.</a:t>
            </a:r>
          </a:p>
        </p:txBody>
      </p:sp>
      <p:sp>
        <p:nvSpPr>
          <p:cNvPr id="2" name="Rectangle 1">
            <a:extLst>
              <a:ext uri="{FF2B5EF4-FFF2-40B4-BE49-F238E27FC236}">
                <a16:creationId xmlns:a16="http://schemas.microsoft.com/office/drawing/2014/main" id="{29318200-AE19-D542-A5B9-DE4D452C1D12}"/>
              </a:ext>
            </a:extLst>
          </p:cNvPr>
          <p:cNvSpPr/>
          <p:nvPr/>
        </p:nvSpPr>
        <p:spPr>
          <a:xfrm>
            <a:off x="6797965" y="4677719"/>
            <a:ext cx="5394036" cy="1241622"/>
          </a:xfrm>
          <a:prstGeom prst="rect">
            <a:avLst/>
          </a:prstGeom>
        </p:spPr>
        <p:txBody>
          <a:bodyPr wrap="square">
            <a:spAutoFit/>
          </a:bodyPr>
          <a:lstStyle/>
          <a:p>
            <a:r>
              <a:rPr lang="en-US" sz="1867" b="1" dirty="0">
                <a:solidFill>
                  <a:srgbClr val="000000"/>
                </a:solidFill>
                <a:latin typeface="CiscoSans"/>
              </a:rPr>
              <a:t>Note:</a:t>
            </a:r>
            <a:r>
              <a:rPr lang="en-US" sz="1867" dirty="0">
                <a:solidFill>
                  <a:srgbClr val="000000"/>
                </a:solidFill>
                <a:latin typeface="CiscoSans"/>
              </a:rPr>
              <a:t> Most of the labs in this course use simple passwords such as </a:t>
            </a:r>
            <a:r>
              <a:rPr lang="en-US" sz="1867" b="1" dirty="0">
                <a:solidFill>
                  <a:srgbClr val="000000"/>
                </a:solidFill>
                <a:latin typeface="CiscoSans"/>
              </a:rPr>
              <a:t>cisco</a:t>
            </a:r>
            <a:r>
              <a:rPr lang="en-US" sz="1867" dirty="0">
                <a:solidFill>
                  <a:srgbClr val="000000"/>
                </a:solidFill>
                <a:latin typeface="CiscoSans"/>
              </a:rPr>
              <a:t> or </a:t>
            </a:r>
            <a:r>
              <a:rPr lang="en-US" sz="1867" b="1" dirty="0">
                <a:solidFill>
                  <a:srgbClr val="000000"/>
                </a:solidFill>
                <a:latin typeface="CiscoSans"/>
              </a:rPr>
              <a:t>class</a:t>
            </a:r>
            <a:r>
              <a:rPr lang="en-US" sz="1867" dirty="0">
                <a:solidFill>
                  <a:srgbClr val="000000"/>
                </a:solidFill>
                <a:latin typeface="CiscoSans"/>
              </a:rPr>
              <a:t>. These passwords are considered weak and easily guessable and should be avoided in production environments.</a:t>
            </a:r>
            <a:endParaRPr lang="en-US" sz="1867" dirty="0">
              <a:solidFill>
                <a:srgbClr val="000000"/>
              </a:solidFill>
            </a:endParaRPr>
          </a:p>
        </p:txBody>
      </p:sp>
      <p:pic>
        <p:nvPicPr>
          <p:cNvPr id="3074" name="Picture 2">
            <a:extLst>
              <a:ext uri="{FF2B5EF4-FFF2-40B4-BE49-F238E27FC236}">
                <a16:creationId xmlns:a16="http://schemas.microsoft.com/office/drawing/2014/main" id="{04F98093-7DB0-3D42-9A83-D2B6958B9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7680" y="2727560"/>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3580751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429492" y="138392"/>
            <a:ext cx="10855036" cy="1316615"/>
          </a:xfrm>
        </p:spPr>
        <p:txBody>
          <a:bodyPr/>
          <a:lstStyle/>
          <a:p>
            <a:r>
              <a:rPr lang="en-US" dirty="0">
                <a:latin typeface="Arial" charset="0"/>
              </a:rPr>
              <a:t>Configure Passwords</a:t>
            </a:r>
          </a:p>
        </p:txBody>
      </p:sp>
      <p:sp>
        <p:nvSpPr>
          <p:cNvPr id="4" name="Content Placeholder 3"/>
          <p:cNvSpPr>
            <a:spLocks noGrp="1"/>
          </p:cNvSpPr>
          <p:nvPr>
            <p:ph idx="1"/>
          </p:nvPr>
        </p:nvSpPr>
        <p:spPr>
          <a:xfrm>
            <a:off x="193808" y="1438707"/>
            <a:ext cx="5902192" cy="2486897"/>
          </a:xfrm>
        </p:spPr>
        <p:txBody>
          <a:bodyPr>
            <a:normAutofit fontScale="92500" lnSpcReduction="10000"/>
          </a:bodyPr>
          <a:lstStyle/>
          <a:p>
            <a:pPr marL="0" indent="0">
              <a:lnSpc>
                <a:spcPct val="85000"/>
              </a:lnSpc>
              <a:spcBef>
                <a:spcPct val="30000"/>
              </a:spcBef>
              <a:buNone/>
            </a:pPr>
            <a:r>
              <a:rPr lang="en-US" dirty="0"/>
              <a:t>Securing user EXEC mode access:</a:t>
            </a:r>
          </a:p>
          <a:p>
            <a:pPr lvl="1">
              <a:lnSpc>
                <a:spcPct val="85000"/>
              </a:lnSpc>
              <a:spcBef>
                <a:spcPct val="30000"/>
              </a:spcBef>
            </a:pPr>
            <a:r>
              <a:rPr lang="en-US" dirty="0"/>
              <a:t>First enter line console configuration mode using the </a:t>
            </a:r>
            <a:r>
              <a:rPr lang="en-US" b="1" dirty="0"/>
              <a:t>line console 0 </a:t>
            </a:r>
            <a:r>
              <a:rPr lang="en-US" dirty="0"/>
              <a:t>command in global configuration mode.</a:t>
            </a:r>
          </a:p>
          <a:p>
            <a:pPr lvl="1">
              <a:lnSpc>
                <a:spcPct val="85000"/>
              </a:lnSpc>
              <a:spcBef>
                <a:spcPct val="30000"/>
              </a:spcBef>
            </a:pPr>
            <a:r>
              <a:rPr lang="en-US" dirty="0"/>
              <a:t>Next, specify the user EXEC mode password using the </a:t>
            </a:r>
            <a:r>
              <a:rPr lang="en-US" b="1" dirty="0"/>
              <a:t>password</a:t>
            </a:r>
            <a:r>
              <a:rPr lang="en-US" dirty="0"/>
              <a:t> </a:t>
            </a:r>
            <a:r>
              <a:rPr lang="en-US" i="1" dirty="0"/>
              <a:t>password</a:t>
            </a:r>
            <a:r>
              <a:rPr lang="en-US" dirty="0"/>
              <a:t> command. </a:t>
            </a:r>
          </a:p>
          <a:p>
            <a:pPr lvl="1">
              <a:lnSpc>
                <a:spcPct val="85000"/>
              </a:lnSpc>
              <a:spcBef>
                <a:spcPct val="30000"/>
              </a:spcBef>
            </a:pPr>
            <a:r>
              <a:rPr lang="en-US" dirty="0"/>
              <a:t>Finally, enable user EXEC access using the </a:t>
            </a:r>
            <a:r>
              <a:rPr lang="en-US" b="1" dirty="0"/>
              <a:t>login</a:t>
            </a:r>
            <a:r>
              <a:rPr lang="en-US" dirty="0"/>
              <a:t> command.</a:t>
            </a:r>
          </a:p>
        </p:txBody>
      </p:sp>
      <p:sp>
        <p:nvSpPr>
          <p:cNvPr id="5" name="Content Placeholder 3">
            <a:extLst>
              <a:ext uri="{FF2B5EF4-FFF2-40B4-BE49-F238E27FC236}">
                <a16:creationId xmlns:a16="http://schemas.microsoft.com/office/drawing/2014/main" id="{2315682D-8C23-7846-94B0-7798DE15A7B5}"/>
              </a:ext>
            </a:extLst>
          </p:cNvPr>
          <p:cNvSpPr txBox="1">
            <a:spLocks/>
          </p:cNvSpPr>
          <p:nvPr/>
        </p:nvSpPr>
        <p:spPr bwMode="auto">
          <a:xfrm>
            <a:off x="193808" y="4316710"/>
            <a:ext cx="6105396" cy="1818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defTabSz="914400">
              <a:lnSpc>
                <a:spcPct val="85000"/>
              </a:lnSpc>
              <a:spcBef>
                <a:spcPct val="30000"/>
              </a:spcBef>
              <a:buNone/>
            </a:pPr>
            <a:r>
              <a:rPr lang="en-US" sz="2600" dirty="0">
                <a:solidFill>
                  <a:schemeClr val="tx1"/>
                </a:solidFill>
                <a:ea typeface="+mn-ea"/>
                <a:cs typeface="+mn-cs"/>
              </a:rPr>
              <a:t>Securing privileged EXEC mode access:</a:t>
            </a:r>
          </a:p>
          <a:p>
            <a:pPr lvl="2">
              <a:lnSpc>
                <a:spcPct val="85000"/>
              </a:lnSpc>
              <a:spcBef>
                <a:spcPct val="30000"/>
              </a:spcBef>
            </a:pPr>
            <a:r>
              <a:rPr lang="en-US" sz="2200" dirty="0"/>
              <a:t> First enter global configuration mode.</a:t>
            </a:r>
          </a:p>
          <a:p>
            <a:pPr lvl="2">
              <a:lnSpc>
                <a:spcPct val="85000"/>
              </a:lnSpc>
              <a:spcBef>
                <a:spcPct val="30000"/>
              </a:spcBef>
            </a:pPr>
            <a:r>
              <a:rPr lang="en-US" sz="2200" dirty="0"/>
              <a:t> Next, use the </a:t>
            </a:r>
            <a:r>
              <a:rPr lang="en-US" sz="2200" b="1" dirty="0"/>
              <a:t>enable secret</a:t>
            </a:r>
            <a:r>
              <a:rPr lang="en-US" sz="2200" dirty="0"/>
              <a:t> </a:t>
            </a:r>
            <a:r>
              <a:rPr lang="en-US" sz="2200" i="1" dirty="0"/>
              <a:t>password</a:t>
            </a:r>
            <a:r>
              <a:rPr lang="en-US" sz="2200" dirty="0"/>
              <a:t> command. </a:t>
            </a:r>
          </a:p>
        </p:txBody>
      </p:sp>
      <p:pic>
        <p:nvPicPr>
          <p:cNvPr id="2" name="Picture 1">
            <a:extLst>
              <a:ext uri="{FF2B5EF4-FFF2-40B4-BE49-F238E27FC236}">
                <a16:creationId xmlns:a16="http://schemas.microsoft.com/office/drawing/2014/main" id="{2C2E8DCB-ADC8-5149-96DE-4E8790F2EE17}"/>
              </a:ext>
            </a:extLst>
          </p:cNvPr>
          <p:cNvPicPr>
            <a:picLocks noChangeAspect="1"/>
          </p:cNvPicPr>
          <p:nvPr/>
        </p:nvPicPr>
        <p:blipFill>
          <a:blip r:embed="rId4"/>
          <a:stretch>
            <a:fillRect/>
          </a:stretch>
        </p:blipFill>
        <p:spPr>
          <a:xfrm>
            <a:off x="6299204" y="1631831"/>
            <a:ext cx="5249333" cy="1473200"/>
          </a:xfrm>
          <a:prstGeom prst="rect">
            <a:avLst/>
          </a:prstGeom>
        </p:spPr>
      </p:pic>
      <p:pic>
        <p:nvPicPr>
          <p:cNvPr id="3" name="Picture 2">
            <a:extLst>
              <a:ext uri="{FF2B5EF4-FFF2-40B4-BE49-F238E27FC236}">
                <a16:creationId xmlns:a16="http://schemas.microsoft.com/office/drawing/2014/main" id="{4B820BD9-091B-B44F-B1C1-A553064ED1C3}"/>
              </a:ext>
            </a:extLst>
          </p:cNvPr>
          <p:cNvPicPr>
            <a:picLocks noChangeAspect="1"/>
          </p:cNvPicPr>
          <p:nvPr/>
        </p:nvPicPr>
        <p:blipFill>
          <a:blip r:embed="rId5"/>
          <a:stretch>
            <a:fillRect/>
          </a:stretch>
        </p:blipFill>
        <p:spPr>
          <a:xfrm>
            <a:off x="6534731" y="4535204"/>
            <a:ext cx="5249333" cy="1016000"/>
          </a:xfrm>
          <a:prstGeom prst="rect">
            <a:avLst/>
          </a:prstGeom>
        </p:spPr>
      </p:pic>
    </p:spTree>
    <p:custDataLst>
      <p:tags r:id="rId1"/>
    </p:custDataLst>
    <p:extLst>
      <p:ext uri="{BB962C8B-B14F-4D97-AF65-F5344CB8AC3E}">
        <p14:creationId xmlns:p14="http://schemas.microsoft.com/office/powerpoint/2010/main" val="277441161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656975" y="190000"/>
            <a:ext cx="10515600" cy="946915"/>
          </a:xfrm>
        </p:spPr>
        <p:txBody>
          <a:bodyPr/>
          <a:lstStyle/>
          <a:p>
            <a:r>
              <a:rPr lang="en-US" dirty="0">
                <a:latin typeface="Arial" charset="0"/>
              </a:rPr>
              <a:t>Configure Passwords (Cont.)</a:t>
            </a:r>
          </a:p>
        </p:txBody>
      </p:sp>
      <p:sp>
        <p:nvSpPr>
          <p:cNvPr id="4" name="Content Placeholder 3"/>
          <p:cNvSpPr>
            <a:spLocks noGrp="1"/>
          </p:cNvSpPr>
          <p:nvPr>
            <p:ph idx="1"/>
          </p:nvPr>
        </p:nvSpPr>
        <p:spPr>
          <a:xfrm>
            <a:off x="193808" y="1515563"/>
            <a:ext cx="6636483" cy="3538994"/>
          </a:xfrm>
        </p:spPr>
        <p:txBody>
          <a:bodyPr>
            <a:normAutofit lnSpcReduction="10000"/>
          </a:bodyPr>
          <a:lstStyle/>
          <a:p>
            <a:pPr marL="0" indent="0">
              <a:lnSpc>
                <a:spcPct val="85000"/>
              </a:lnSpc>
              <a:spcBef>
                <a:spcPct val="30000"/>
              </a:spcBef>
              <a:buNone/>
            </a:pPr>
            <a:r>
              <a:rPr lang="en-US" sz="3100" dirty="0"/>
              <a:t>Securing VTY(Virtual Teletype) line access:</a:t>
            </a:r>
          </a:p>
          <a:p>
            <a:pPr>
              <a:lnSpc>
                <a:spcPct val="85000"/>
              </a:lnSpc>
              <a:spcBef>
                <a:spcPct val="30000"/>
              </a:spcBef>
            </a:pPr>
            <a:r>
              <a:rPr lang="en-US" sz="2600" dirty="0"/>
              <a:t>First enter line VTY configuration mode using the </a:t>
            </a:r>
            <a:r>
              <a:rPr lang="en-US" sz="2600" b="1" dirty="0"/>
              <a:t>line </a:t>
            </a:r>
            <a:r>
              <a:rPr lang="en-US" sz="2600" b="1" dirty="0" err="1"/>
              <a:t>vty</a:t>
            </a:r>
            <a:r>
              <a:rPr lang="en-US" sz="2600" b="1" dirty="0"/>
              <a:t> 0 15 </a:t>
            </a:r>
            <a:r>
              <a:rPr lang="en-US" sz="2600" dirty="0"/>
              <a:t>command in global configuration mode.</a:t>
            </a:r>
          </a:p>
          <a:p>
            <a:pPr>
              <a:lnSpc>
                <a:spcPct val="85000"/>
              </a:lnSpc>
              <a:spcBef>
                <a:spcPct val="30000"/>
              </a:spcBef>
            </a:pPr>
            <a:r>
              <a:rPr lang="en-US" sz="2600" dirty="0"/>
              <a:t>Next, specify the VTY password using the </a:t>
            </a:r>
            <a:r>
              <a:rPr lang="en-US" sz="2600" b="1" dirty="0"/>
              <a:t>password</a:t>
            </a:r>
            <a:r>
              <a:rPr lang="en-US" sz="2600" dirty="0"/>
              <a:t> </a:t>
            </a:r>
            <a:r>
              <a:rPr lang="en-US" sz="2600" i="1" dirty="0"/>
              <a:t>password</a:t>
            </a:r>
            <a:r>
              <a:rPr lang="en-US" sz="2600" dirty="0"/>
              <a:t> command. </a:t>
            </a:r>
          </a:p>
          <a:p>
            <a:pPr>
              <a:lnSpc>
                <a:spcPct val="85000"/>
              </a:lnSpc>
              <a:spcBef>
                <a:spcPct val="30000"/>
              </a:spcBef>
            </a:pPr>
            <a:r>
              <a:rPr lang="en-US" sz="2600" dirty="0"/>
              <a:t>Finally, enable VTY access using the </a:t>
            </a:r>
            <a:r>
              <a:rPr lang="en-US" sz="2600" b="1" dirty="0"/>
              <a:t>login</a:t>
            </a:r>
            <a:r>
              <a:rPr lang="en-US" sz="2600" dirty="0"/>
              <a:t> command.</a:t>
            </a:r>
          </a:p>
        </p:txBody>
      </p:sp>
      <p:sp>
        <p:nvSpPr>
          <p:cNvPr id="5" name="Content Placeholder 3">
            <a:extLst>
              <a:ext uri="{FF2B5EF4-FFF2-40B4-BE49-F238E27FC236}">
                <a16:creationId xmlns:a16="http://schemas.microsoft.com/office/drawing/2014/main" id="{2315682D-8C23-7846-94B0-7798DE15A7B5}"/>
              </a:ext>
            </a:extLst>
          </p:cNvPr>
          <p:cNvSpPr txBox="1">
            <a:spLocks/>
          </p:cNvSpPr>
          <p:nvPr/>
        </p:nvSpPr>
        <p:spPr bwMode="auto">
          <a:xfrm>
            <a:off x="401782" y="5894919"/>
            <a:ext cx="11036704" cy="773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85000"/>
              </a:lnSpc>
              <a:spcBef>
                <a:spcPct val="30000"/>
              </a:spcBef>
              <a:buNone/>
            </a:pPr>
            <a:r>
              <a:rPr lang="en-US" sz="2200" b="1" i="1" dirty="0"/>
              <a:t>Note: </a:t>
            </a:r>
            <a:r>
              <a:rPr lang="en-US" sz="2200" i="1" dirty="0"/>
              <a:t>VTY lines enable remote access using Telnet or SSH to the device. Many Cisco switches support up to 16 VTY lines that are numbered 0 to 15. </a:t>
            </a:r>
          </a:p>
        </p:txBody>
      </p:sp>
      <p:pic>
        <p:nvPicPr>
          <p:cNvPr id="6" name="Picture 5">
            <a:extLst>
              <a:ext uri="{FF2B5EF4-FFF2-40B4-BE49-F238E27FC236}">
                <a16:creationId xmlns:a16="http://schemas.microsoft.com/office/drawing/2014/main" id="{372E3DC5-E488-A24E-A130-E6D55646C6C9}"/>
              </a:ext>
            </a:extLst>
          </p:cNvPr>
          <p:cNvPicPr>
            <a:picLocks noChangeAspect="1"/>
          </p:cNvPicPr>
          <p:nvPr/>
        </p:nvPicPr>
        <p:blipFill>
          <a:blip r:embed="rId4"/>
          <a:stretch>
            <a:fillRect/>
          </a:stretch>
        </p:blipFill>
        <p:spPr>
          <a:xfrm>
            <a:off x="5771945" y="2948627"/>
            <a:ext cx="6226247" cy="1727282"/>
          </a:xfrm>
          <a:prstGeom prst="rect">
            <a:avLst/>
          </a:prstGeom>
        </p:spPr>
      </p:pic>
    </p:spTree>
    <p:custDataLst>
      <p:tags r:id="rId1"/>
    </p:custDataLst>
    <p:extLst>
      <p:ext uri="{BB962C8B-B14F-4D97-AF65-F5344CB8AC3E}">
        <p14:creationId xmlns:p14="http://schemas.microsoft.com/office/powerpoint/2010/main" val="337912594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838200" y="203401"/>
            <a:ext cx="10515600" cy="904963"/>
          </a:xfrm>
        </p:spPr>
        <p:txBody>
          <a:bodyPr/>
          <a:lstStyle/>
          <a:p>
            <a:r>
              <a:rPr lang="en-US" dirty="0">
                <a:latin typeface="Arial" charset="0"/>
              </a:rPr>
              <a:t>Encrypt Passwords</a:t>
            </a:r>
          </a:p>
        </p:txBody>
      </p:sp>
      <p:sp>
        <p:nvSpPr>
          <p:cNvPr id="4" name="Content Placeholder 3"/>
          <p:cNvSpPr>
            <a:spLocks noGrp="1"/>
          </p:cNvSpPr>
          <p:nvPr>
            <p:ph idx="1"/>
          </p:nvPr>
        </p:nvSpPr>
        <p:spPr>
          <a:xfrm>
            <a:off x="324580" y="1640862"/>
            <a:ext cx="5771420" cy="2114046"/>
          </a:xfrm>
        </p:spPr>
        <p:txBody>
          <a:bodyPr>
            <a:normAutofit fontScale="92500" lnSpcReduction="10000"/>
          </a:bodyPr>
          <a:lstStyle/>
          <a:p>
            <a:pPr>
              <a:lnSpc>
                <a:spcPct val="85000"/>
              </a:lnSpc>
              <a:spcBef>
                <a:spcPct val="30000"/>
              </a:spcBef>
            </a:pPr>
            <a:r>
              <a:rPr lang="en-US" dirty="0"/>
              <a:t>The startup-config and running-config files display most passwords in plaintext.</a:t>
            </a:r>
          </a:p>
          <a:p>
            <a:pPr>
              <a:lnSpc>
                <a:spcPct val="85000"/>
              </a:lnSpc>
              <a:spcBef>
                <a:spcPct val="30000"/>
              </a:spcBef>
            </a:pPr>
            <a:r>
              <a:rPr lang="en-US" dirty="0"/>
              <a:t>To encrypt all plaintext passwords, use the </a:t>
            </a:r>
            <a:r>
              <a:rPr lang="en-US" b="1" dirty="0"/>
              <a:t>service password-encryption</a:t>
            </a:r>
            <a:r>
              <a:rPr lang="en-US" dirty="0"/>
              <a:t> global config command.</a:t>
            </a:r>
          </a:p>
        </p:txBody>
      </p:sp>
      <p:pic>
        <p:nvPicPr>
          <p:cNvPr id="2" name="Picture 1">
            <a:extLst>
              <a:ext uri="{FF2B5EF4-FFF2-40B4-BE49-F238E27FC236}">
                <a16:creationId xmlns:a16="http://schemas.microsoft.com/office/drawing/2014/main" id="{CC666E54-D88F-184C-BDE9-F1AF6D4B45A7}"/>
              </a:ext>
            </a:extLst>
          </p:cNvPr>
          <p:cNvPicPr>
            <a:picLocks noChangeAspect="1"/>
          </p:cNvPicPr>
          <p:nvPr/>
        </p:nvPicPr>
        <p:blipFill>
          <a:blip r:embed="rId4"/>
          <a:stretch>
            <a:fillRect/>
          </a:stretch>
        </p:blipFill>
        <p:spPr>
          <a:xfrm>
            <a:off x="126695" y="5515681"/>
            <a:ext cx="7054716" cy="1197972"/>
          </a:xfrm>
          <a:prstGeom prst="rect">
            <a:avLst/>
          </a:prstGeom>
        </p:spPr>
      </p:pic>
      <p:sp>
        <p:nvSpPr>
          <p:cNvPr id="6" name="Content Placeholder 3">
            <a:extLst>
              <a:ext uri="{FF2B5EF4-FFF2-40B4-BE49-F238E27FC236}">
                <a16:creationId xmlns:a16="http://schemas.microsoft.com/office/drawing/2014/main" id="{FE69F5FC-840B-2149-BCA9-4C8674310204}"/>
              </a:ext>
            </a:extLst>
          </p:cNvPr>
          <p:cNvSpPr txBox="1">
            <a:spLocks/>
          </p:cNvSpPr>
          <p:nvPr/>
        </p:nvSpPr>
        <p:spPr bwMode="auto">
          <a:xfrm>
            <a:off x="6689741" y="1485940"/>
            <a:ext cx="5375564" cy="161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28600" indent="-228600" defTabSz="914400">
              <a:lnSpc>
                <a:spcPct val="75000"/>
              </a:lnSpc>
              <a:spcBef>
                <a:spcPct val="30000"/>
              </a:spcBef>
              <a:buFont typeface="Arial" panose="020B0604020202020204" pitchFamily="34" charset="0"/>
              <a:buChar char="•"/>
            </a:pPr>
            <a:r>
              <a:rPr lang="en-US" sz="2600" dirty="0">
                <a:solidFill>
                  <a:schemeClr val="tx1"/>
                </a:solidFill>
                <a:ea typeface="+mn-ea"/>
                <a:cs typeface="+mn-cs"/>
              </a:rPr>
              <a:t>Use the show running-config command to verify that the passwords on the device are now encrypted. </a:t>
            </a:r>
          </a:p>
        </p:txBody>
      </p:sp>
      <p:pic>
        <p:nvPicPr>
          <p:cNvPr id="3" name="Picture 2">
            <a:extLst>
              <a:ext uri="{FF2B5EF4-FFF2-40B4-BE49-F238E27FC236}">
                <a16:creationId xmlns:a16="http://schemas.microsoft.com/office/drawing/2014/main" id="{070F49EA-017E-5C47-97D3-D4F34278A9E4}"/>
              </a:ext>
            </a:extLst>
          </p:cNvPr>
          <p:cNvPicPr>
            <a:picLocks noChangeAspect="1"/>
          </p:cNvPicPr>
          <p:nvPr/>
        </p:nvPicPr>
        <p:blipFill>
          <a:blip r:embed="rId5"/>
          <a:stretch>
            <a:fillRect/>
          </a:stretch>
        </p:blipFill>
        <p:spPr>
          <a:xfrm>
            <a:off x="7356764" y="3754908"/>
            <a:ext cx="4708541" cy="2958745"/>
          </a:xfrm>
          <a:prstGeom prst="rect">
            <a:avLst/>
          </a:prstGeom>
        </p:spPr>
      </p:pic>
    </p:spTree>
    <p:custDataLst>
      <p:tags r:id="rId1"/>
    </p:custDataLst>
    <p:extLst>
      <p:ext uri="{BB962C8B-B14F-4D97-AF65-F5344CB8AC3E}">
        <p14:creationId xmlns:p14="http://schemas.microsoft.com/office/powerpoint/2010/main" val="25191381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838200" y="365126"/>
            <a:ext cx="10515600" cy="712858"/>
          </a:xfrm>
        </p:spPr>
        <p:txBody>
          <a:bodyPr/>
          <a:lstStyle/>
          <a:p>
            <a:r>
              <a:rPr lang="en-US" dirty="0">
                <a:latin typeface="Arial" charset="0"/>
              </a:rPr>
              <a:t>Banner Messages</a:t>
            </a:r>
          </a:p>
        </p:txBody>
      </p:sp>
      <p:sp>
        <p:nvSpPr>
          <p:cNvPr id="4" name="Content Placeholder 3"/>
          <p:cNvSpPr>
            <a:spLocks noGrp="1"/>
          </p:cNvSpPr>
          <p:nvPr>
            <p:ph idx="1"/>
          </p:nvPr>
        </p:nvSpPr>
        <p:spPr>
          <a:xfrm>
            <a:off x="288634" y="1362269"/>
            <a:ext cx="5143581" cy="2208560"/>
          </a:xfrm>
        </p:spPr>
        <p:txBody>
          <a:bodyPr>
            <a:normAutofit fontScale="92500" lnSpcReduction="20000"/>
          </a:bodyPr>
          <a:lstStyle/>
          <a:p>
            <a:pPr>
              <a:lnSpc>
                <a:spcPct val="85000"/>
              </a:lnSpc>
              <a:spcBef>
                <a:spcPct val="30000"/>
              </a:spcBef>
            </a:pPr>
            <a:r>
              <a:rPr lang="en-US" dirty="0"/>
              <a:t>A banner message is important to warn unauthorized personnel from attempting to access the device. </a:t>
            </a:r>
          </a:p>
          <a:p>
            <a:pPr>
              <a:lnSpc>
                <a:spcPct val="85000"/>
              </a:lnSpc>
              <a:spcBef>
                <a:spcPct val="30000"/>
              </a:spcBef>
            </a:pPr>
            <a:r>
              <a:rPr lang="en-US" dirty="0"/>
              <a:t>To create a banner message of the day on a network device, use the </a:t>
            </a:r>
            <a:r>
              <a:rPr lang="en-US" b="1" dirty="0"/>
              <a:t>banner motd #</a:t>
            </a:r>
            <a:r>
              <a:rPr lang="en-US" dirty="0"/>
              <a:t> </a:t>
            </a:r>
            <a:r>
              <a:rPr lang="en-US" i="1" dirty="0"/>
              <a:t>the message of the day</a:t>
            </a:r>
            <a:r>
              <a:rPr lang="en-US" dirty="0"/>
              <a:t> </a:t>
            </a:r>
            <a:r>
              <a:rPr lang="en-US" b="1" dirty="0"/>
              <a:t>#</a:t>
            </a:r>
            <a:r>
              <a:rPr lang="en-US" dirty="0"/>
              <a:t> global config command. </a:t>
            </a:r>
          </a:p>
        </p:txBody>
      </p:sp>
      <p:sp>
        <p:nvSpPr>
          <p:cNvPr id="2" name="TextBox 1">
            <a:extLst>
              <a:ext uri="{FF2B5EF4-FFF2-40B4-BE49-F238E27FC236}">
                <a16:creationId xmlns:a16="http://schemas.microsoft.com/office/drawing/2014/main" id="{6605F848-50A9-7F4C-A32B-E10093014FC5}"/>
              </a:ext>
            </a:extLst>
          </p:cNvPr>
          <p:cNvSpPr txBox="1"/>
          <p:nvPr/>
        </p:nvSpPr>
        <p:spPr>
          <a:xfrm>
            <a:off x="193810" y="4382372"/>
            <a:ext cx="5015500" cy="954300"/>
          </a:xfrm>
          <a:prstGeom prst="rect">
            <a:avLst/>
          </a:prstGeom>
          <a:noFill/>
        </p:spPr>
        <p:txBody>
          <a:bodyPr wrap="square" rtlCol="0">
            <a:spAutoFit/>
          </a:bodyPr>
          <a:lstStyle/>
          <a:p>
            <a:r>
              <a:rPr lang="en-US" sz="1867" b="1" dirty="0">
                <a:solidFill>
                  <a:srgbClr val="000000"/>
                </a:solidFill>
              </a:rPr>
              <a:t>Note: </a:t>
            </a:r>
            <a:r>
              <a:rPr lang="en-US" sz="1867" dirty="0">
                <a:solidFill>
                  <a:srgbClr val="000000"/>
                </a:solidFill>
              </a:rPr>
              <a:t>The “#” in the command syntax is called the delimiting character. It is entered before and after the message. </a:t>
            </a:r>
          </a:p>
        </p:txBody>
      </p:sp>
      <p:sp>
        <p:nvSpPr>
          <p:cNvPr id="6" name="TextBox 5">
            <a:extLst>
              <a:ext uri="{FF2B5EF4-FFF2-40B4-BE49-F238E27FC236}">
                <a16:creationId xmlns:a16="http://schemas.microsoft.com/office/drawing/2014/main" id="{32E83745-1DCA-1047-AA24-24BE15C677FD}"/>
              </a:ext>
            </a:extLst>
          </p:cNvPr>
          <p:cNvSpPr txBox="1"/>
          <p:nvPr/>
        </p:nvSpPr>
        <p:spPr>
          <a:xfrm>
            <a:off x="5864010" y="2591586"/>
            <a:ext cx="5486401" cy="769441"/>
          </a:xfrm>
          <a:prstGeom prst="rect">
            <a:avLst/>
          </a:prstGeom>
          <a:noFill/>
        </p:spPr>
        <p:txBody>
          <a:bodyPr wrap="square" rtlCol="0">
            <a:spAutoFit/>
          </a:bodyPr>
          <a:lstStyle/>
          <a:p>
            <a:r>
              <a:rPr lang="en-US" sz="2200" dirty="0">
                <a:solidFill>
                  <a:srgbClr val="000000"/>
                </a:solidFill>
              </a:rPr>
              <a:t>The banner will be displayed on attempts to access the device. </a:t>
            </a:r>
          </a:p>
        </p:txBody>
      </p:sp>
      <p:pic>
        <p:nvPicPr>
          <p:cNvPr id="5" name="Picture 4">
            <a:extLst>
              <a:ext uri="{FF2B5EF4-FFF2-40B4-BE49-F238E27FC236}">
                <a16:creationId xmlns:a16="http://schemas.microsoft.com/office/drawing/2014/main" id="{1814FB59-A7E8-A948-A91A-1A2DB32D2639}"/>
              </a:ext>
            </a:extLst>
          </p:cNvPr>
          <p:cNvPicPr>
            <a:picLocks noChangeAspect="1"/>
          </p:cNvPicPr>
          <p:nvPr/>
        </p:nvPicPr>
        <p:blipFill>
          <a:blip r:embed="rId4"/>
          <a:stretch>
            <a:fillRect/>
          </a:stretch>
        </p:blipFill>
        <p:spPr>
          <a:xfrm>
            <a:off x="5864010" y="1540169"/>
            <a:ext cx="5712541" cy="797824"/>
          </a:xfrm>
          <a:prstGeom prst="rect">
            <a:avLst/>
          </a:prstGeom>
        </p:spPr>
      </p:pic>
      <p:sp>
        <p:nvSpPr>
          <p:cNvPr id="20" name="Down Arrow 19">
            <a:extLst>
              <a:ext uri="{FF2B5EF4-FFF2-40B4-BE49-F238E27FC236}">
                <a16:creationId xmlns:a16="http://schemas.microsoft.com/office/drawing/2014/main" id="{042AFCFA-3C88-2746-8367-C4F01C2C5180}"/>
              </a:ext>
            </a:extLst>
          </p:cNvPr>
          <p:cNvSpPr/>
          <p:nvPr/>
        </p:nvSpPr>
        <p:spPr>
          <a:xfrm>
            <a:off x="7381084" y="3429000"/>
            <a:ext cx="250615" cy="389852"/>
          </a:xfrm>
          <a:prstGeom prst="down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21" name="Picture 20">
            <a:extLst>
              <a:ext uri="{FF2B5EF4-FFF2-40B4-BE49-F238E27FC236}">
                <a16:creationId xmlns:a16="http://schemas.microsoft.com/office/drawing/2014/main" id="{5FC48511-93D1-C14A-B136-4967FBBB0ABE}"/>
              </a:ext>
            </a:extLst>
          </p:cNvPr>
          <p:cNvPicPr>
            <a:picLocks noChangeAspect="1"/>
          </p:cNvPicPr>
          <p:nvPr/>
        </p:nvPicPr>
        <p:blipFill>
          <a:blip r:embed="rId5"/>
          <a:stretch>
            <a:fillRect/>
          </a:stretch>
        </p:blipFill>
        <p:spPr>
          <a:xfrm>
            <a:off x="6190825" y="4072445"/>
            <a:ext cx="4245895" cy="2528454"/>
          </a:xfrm>
          <a:prstGeom prst="rect">
            <a:avLst/>
          </a:prstGeom>
        </p:spPr>
      </p:pic>
    </p:spTree>
    <p:custDataLst>
      <p:tags r:id="rId1"/>
    </p:custDataLst>
    <p:extLst>
      <p:ext uri="{BB962C8B-B14F-4D97-AF65-F5344CB8AC3E}">
        <p14:creationId xmlns:p14="http://schemas.microsoft.com/office/powerpoint/2010/main" val="57865025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0B6B0-BD2B-41D5-8AE0-D45073C33C98}"/>
              </a:ext>
            </a:extLst>
          </p:cNvPr>
          <p:cNvSpPr>
            <a:spLocks noGrp="1"/>
          </p:cNvSpPr>
          <p:nvPr>
            <p:ph type="title"/>
          </p:nvPr>
        </p:nvSpPr>
        <p:spPr/>
        <p:txBody>
          <a:bodyPr/>
          <a:lstStyle/>
          <a:p>
            <a:r>
              <a:rPr lang="en-IE" dirty="0"/>
              <a:t>Save Configurations</a:t>
            </a:r>
          </a:p>
        </p:txBody>
      </p:sp>
      <p:sp>
        <p:nvSpPr>
          <p:cNvPr id="3" name="Text Placeholder 2">
            <a:extLst>
              <a:ext uri="{FF2B5EF4-FFF2-40B4-BE49-F238E27FC236}">
                <a16:creationId xmlns:a16="http://schemas.microsoft.com/office/drawing/2014/main" id="{34487F42-5BD5-4067-8C16-967B1248E1E3}"/>
              </a:ext>
            </a:extLst>
          </p:cNvPr>
          <p:cNvSpPr>
            <a:spLocks noGrp="1"/>
          </p:cNvSpPr>
          <p:nvPr>
            <p:ph type="body" idx="1"/>
          </p:nvPr>
        </p:nvSpPr>
        <p:spPr/>
        <p:txBody>
          <a:bodyPr/>
          <a:lstStyle/>
          <a:p>
            <a:endParaRPr lang="en-IE"/>
          </a:p>
        </p:txBody>
      </p:sp>
    </p:spTree>
    <p:extLst>
      <p:ext uri="{BB962C8B-B14F-4D97-AF65-F5344CB8AC3E}">
        <p14:creationId xmlns:p14="http://schemas.microsoft.com/office/powerpoint/2010/main" val="2689631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643467" y="195102"/>
            <a:ext cx="10515600" cy="1325563"/>
          </a:xfrm>
        </p:spPr>
        <p:txBody>
          <a:bodyPr/>
          <a:lstStyle/>
          <a:p>
            <a:r>
              <a:rPr lang="en-US" dirty="0">
                <a:latin typeface="Arial" charset="0"/>
              </a:rPr>
              <a:t>Save Configuration Files</a:t>
            </a:r>
          </a:p>
        </p:txBody>
      </p:sp>
      <p:sp>
        <p:nvSpPr>
          <p:cNvPr id="4" name="Content Placeholder 3"/>
          <p:cNvSpPr>
            <a:spLocks noGrp="1"/>
          </p:cNvSpPr>
          <p:nvPr>
            <p:ph idx="1"/>
          </p:nvPr>
        </p:nvSpPr>
        <p:spPr>
          <a:xfrm>
            <a:off x="193809" y="1386968"/>
            <a:ext cx="11804381" cy="2459803"/>
          </a:xfrm>
        </p:spPr>
        <p:txBody>
          <a:bodyPr>
            <a:normAutofit fontScale="92500" lnSpcReduction="10000"/>
          </a:bodyPr>
          <a:lstStyle/>
          <a:p>
            <a:r>
              <a:rPr lang="en-US" dirty="0"/>
              <a:t>There are two system files that store the device configuration:</a:t>
            </a:r>
          </a:p>
          <a:p>
            <a:pPr lvl="2"/>
            <a:r>
              <a:rPr lang="en-US" b="1" dirty="0"/>
              <a:t>startup-config</a:t>
            </a:r>
            <a:r>
              <a:rPr lang="en-US" dirty="0"/>
              <a:t> - This is the saved configuration file that is stored in NVRAM. It contains all the commands that will be used by the device upon startup or reboot. Flash does not lose its contents when the device is powered off. </a:t>
            </a:r>
          </a:p>
          <a:p>
            <a:pPr lvl="2"/>
            <a:r>
              <a:rPr lang="en-US" b="1" dirty="0"/>
              <a:t>running-config</a:t>
            </a:r>
            <a:r>
              <a:rPr lang="en-US" dirty="0"/>
              <a:t> - This is stored in Random Access Memory (RAM). It reflects the current configuration. Modifying a running configuration affects the operation of a Cisco device immediately. RAM is volatile memory. It loses all of its content when the device is powered off or restarted.</a:t>
            </a:r>
          </a:p>
          <a:p>
            <a:pPr lvl="2"/>
            <a:r>
              <a:rPr lang="en-US" dirty="0"/>
              <a:t>To save changes made to the running configuration to the startup configuration file, use the </a:t>
            </a:r>
            <a:r>
              <a:rPr lang="en-US" b="1" dirty="0"/>
              <a:t>copy running-config startup-config</a:t>
            </a:r>
            <a:r>
              <a:rPr lang="en-US" dirty="0"/>
              <a:t> privileged EXEC mode command.</a:t>
            </a:r>
          </a:p>
          <a:p>
            <a:pPr marL="0" indent="0">
              <a:buNone/>
            </a:pPr>
            <a:endParaRPr lang="en-US" dirty="0"/>
          </a:p>
        </p:txBody>
      </p:sp>
      <p:pic>
        <p:nvPicPr>
          <p:cNvPr id="8" name="Picture 7">
            <a:extLst>
              <a:ext uri="{FF2B5EF4-FFF2-40B4-BE49-F238E27FC236}">
                <a16:creationId xmlns:a16="http://schemas.microsoft.com/office/drawing/2014/main" id="{1874511C-BFF5-1740-9D8D-5996599CE94D}"/>
              </a:ext>
            </a:extLst>
          </p:cNvPr>
          <p:cNvPicPr>
            <a:picLocks noChangeAspect="1"/>
          </p:cNvPicPr>
          <p:nvPr/>
        </p:nvPicPr>
        <p:blipFill>
          <a:blip r:embed="rId4"/>
          <a:stretch>
            <a:fillRect/>
          </a:stretch>
        </p:blipFill>
        <p:spPr>
          <a:xfrm>
            <a:off x="193809" y="4118087"/>
            <a:ext cx="5883846" cy="2459802"/>
          </a:xfrm>
          <a:prstGeom prst="rect">
            <a:avLst/>
          </a:prstGeom>
        </p:spPr>
      </p:pic>
      <p:pic>
        <p:nvPicPr>
          <p:cNvPr id="7" name="Picture 6">
            <a:extLst>
              <a:ext uri="{FF2B5EF4-FFF2-40B4-BE49-F238E27FC236}">
                <a16:creationId xmlns:a16="http://schemas.microsoft.com/office/drawing/2014/main" id="{A510BADB-2ABF-2846-9C26-13D42A9976A9}"/>
              </a:ext>
            </a:extLst>
          </p:cNvPr>
          <p:cNvPicPr>
            <a:picLocks noChangeAspect="1"/>
          </p:cNvPicPr>
          <p:nvPr/>
        </p:nvPicPr>
        <p:blipFill>
          <a:blip r:embed="rId5"/>
          <a:stretch>
            <a:fillRect/>
          </a:stretch>
        </p:blipFill>
        <p:spPr>
          <a:xfrm>
            <a:off x="6216227" y="4118087"/>
            <a:ext cx="5767776" cy="2411278"/>
          </a:xfrm>
          <a:prstGeom prst="rect">
            <a:avLst/>
          </a:prstGeom>
        </p:spPr>
      </p:pic>
    </p:spTree>
    <p:custDataLst>
      <p:tags r:id="rId1"/>
    </p:custDataLst>
    <p:extLst>
      <p:ext uri="{BB962C8B-B14F-4D97-AF65-F5344CB8AC3E}">
        <p14:creationId xmlns:p14="http://schemas.microsoft.com/office/powerpoint/2010/main" val="801996907"/>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602673" y="134723"/>
            <a:ext cx="10515600" cy="872676"/>
          </a:xfrm>
        </p:spPr>
        <p:txBody>
          <a:bodyPr/>
          <a:lstStyle/>
          <a:p>
            <a:r>
              <a:rPr lang="en-US" dirty="0">
                <a:latin typeface="Arial" charset="0"/>
              </a:rPr>
              <a:t>Alter the Running Configurations</a:t>
            </a:r>
          </a:p>
        </p:txBody>
      </p:sp>
      <p:sp>
        <p:nvSpPr>
          <p:cNvPr id="4" name="Content Placeholder 3"/>
          <p:cNvSpPr>
            <a:spLocks noGrp="1"/>
          </p:cNvSpPr>
          <p:nvPr>
            <p:ph idx="1"/>
          </p:nvPr>
        </p:nvSpPr>
        <p:spPr>
          <a:xfrm>
            <a:off x="207355" y="1007400"/>
            <a:ext cx="6165736" cy="4894636"/>
          </a:xfrm>
        </p:spPr>
        <p:txBody>
          <a:bodyPr>
            <a:normAutofit fontScale="92500" lnSpcReduction="20000"/>
          </a:bodyPr>
          <a:lstStyle/>
          <a:p>
            <a:pPr marL="0" indent="0">
              <a:lnSpc>
                <a:spcPct val="85000"/>
              </a:lnSpc>
              <a:spcBef>
                <a:spcPct val="30000"/>
              </a:spcBef>
              <a:buNone/>
            </a:pPr>
            <a:r>
              <a:rPr lang="en-US" dirty="0"/>
              <a:t>If changes made to the running config do not have the desired effect and the running-config has not yet been saved, you can restore the device to its previous configuration. To do this you can:</a:t>
            </a:r>
          </a:p>
          <a:p>
            <a:pPr lvl="1">
              <a:lnSpc>
                <a:spcPct val="85000"/>
              </a:lnSpc>
              <a:spcBef>
                <a:spcPct val="30000"/>
              </a:spcBef>
            </a:pPr>
            <a:r>
              <a:rPr lang="en-US" dirty="0"/>
              <a:t>Remove the changed commands individually.</a:t>
            </a:r>
          </a:p>
          <a:p>
            <a:pPr lvl="1">
              <a:lnSpc>
                <a:spcPct val="85000"/>
              </a:lnSpc>
              <a:spcBef>
                <a:spcPct val="30000"/>
              </a:spcBef>
            </a:pPr>
            <a:r>
              <a:rPr lang="en-US" dirty="0"/>
              <a:t>Reload the device using the </a:t>
            </a:r>
            <a:r>
              <a:rPr lang="en-US" b="1" dirty="0"/>
              <a:t>reload</a:t>
            </a:r>
            <a:r>
              <a:rPr lang="en-US" dirty="0"/>
              <a:t> command in privilege EXEC mode. </a:t>
            </a:r>
            <a:r>
              <a:rPr lang="en-US" i="1" dirty="0"/>
              <a:t>Note: This will cause the device to briefly go offline, leading to network downtime. </a:t>
            </a:r>
          </a:p>
          <a:p>
            <a:pPr marL="0" indent="0">
              <a:lnSpc>
                <a:spcPct val="85000"/>
              </a:lnSpc>
              <a:spcBef>
                <a:spcPct val="30000"/>
              </a:spcBef>
              <a:buNone/>
            </a:pPr>
            <a:r>
              <a:rPr lang="en-US" dirty="0"/>
              <a:t>If the undesired changes were saved to the startup-config, it may be necessary to clear all the configurations using the </a:t>
            </a:r>
            <a:r>
              <a:rPr lang="en-US" b="1" dirty="0"/>
              <a:t>erase startup-config </a:t>
            </a:r>
            <a:r>
              <a:rPr lang="en-US" dirty="0"/>
              <a:t>command in privilege EXEC mode. </a:t>
            </a:r>
          </a:p>
          <a:p>
            <a:pPr lvl="1">
              <a:lnSpc>
                <a:spcPct val="85000"/>
              </a:lnSpc>
              <a:spcBef>
                <a:spcPct val="30000"/>
              </a:spcBef>
            </a:pPr>
            <a:r>
              <a:rPr lang="en-US" dirty="0"/>
              <a:t>After erasing the startup-config, reload the device to clear the running-config file from RAM. </a:t>
            </a:r>
          </a:p>
        </p:txBody>
      </p:sp>
      <p:pic>
        <p:nvPicPr>
          <p:cNvPr id="6" name="Picture 5">
            <a:extLst>
              <a:ext uri="{FF2B5EF4-FFF2-40B4-BE49-F238E27FC236}">
                <a16:creationId xmlns:a16="http://schemas.microsoft.com/office/drawing/2014/main" id="{7D34B416-7F0C-F94A-8800-45BC8F45BF8F}"/>
              </a:ext>
            </a:extLst>
          </p:cNvPr>
          <p:cNvPicPr>
            <a:picLocks noChangeAspect="1"/>
          </p:cNvPicPr>
          <p:nvPr/>
        </p:nvPicPr>
        <p:blipFill>
          <a:blip r:embed="rId4"/>
          <a:stretch>
            <a:fillRect/>
          </a:stretch>
        </p:blipFill>
        <p:spPr>
          <a:xfrm>
            <a:off x="6197077" y="2218908"/>
            <a:ext cx="5870681" cy="770777"/>
          </a:xfrm>
          <a:prstGeom prst="rect">
            <a:avLst/>
          </a:prstGeom>
        </p:spPr>
      </p:pic>
      <p:pic>
        <p:nvPicPr>
          <p:cNvPr id="2" name="Picture 1">
            <a:extLst>
              <a:ext uri="{FF2B5EF4-FFF2-40B4-BE49-F238E27FC236}">
                <a16:creationId xmlns:a16="http://schemas.microsoft.com/office/drawing/2014/main" id="{251490C5-758B-324F-9836-42699B382445}"/>
              </a:ext>
            </a:extLst>
          </p:cNvPr>
          <p:cNvPicPr>
            <a:picLocks noChangeAspect="1"/>
          </p:cNvPicPr>
          <p:nvPr/>
        </p:nvPicPr>
        <p:blipFill>
          <a:blip r:embed="rId5"/>
          <a:stretch>
            <a:fillRect/>
          </a:stretch>
        </p:blipFill>
        <p:spPr>
          <a:xfrm>
            <a:off x="5385041" y="5749636"/>
            <a:ext cx="6682717" cy="973641"/>
          </a:xfrm>
          <a:prstGeom prst="rect">
            <a:avLst/>
          </a:prstGeom>
        </p:spPr>
      </p:pic>
    </p:spTree>
    <p:custDataLst>
      <p:tags r:id="rId1"/>
    </p:custDataLst>
    <p:extLst>
      <p:ext uri="{BB962C8B-B14F-4D97-AF65-F5344CB8AC3E}">
        <p14:creationId xmlns:p14="http://schemas.microsoft.com/office/powerpoint/2010/main" val="390680115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3A340-E2C7-4FAC-9CC8-F88BD96FBDDC}"/>
              </a:ext>
            </a:extLst>
          </p:cNvPr>
          <p:cNvSpPr>
            <a:spLocks noGrp="1"/>
          </p:cNvSpPr>
          <p:nvPr>
            <p:ph type="title"/>
          </p:nvPr>
        </p:nvSpPr>
        <p:spPr/>
        <p:txBody>
          <a:bodyPr/>
          <a:lstStyle/>
          <a:p>
            <a:r>
              <a:rPr lang="en-IE" dirty="0"/>
              <a:t>LAN Security Concept</a:t>
            </a:r>
          </a:p>
        </p:txBody>
      </p:sp>
      <p:sp>
        <p:nvSpPr>
          <p:cNvPr id="3" name="Text Placeholder 2">
            <a:extLst>
              <a:ext uri="{FF2B5EF4-FFF2-40B4-BE49-F238E27FC236}">
                <a16:creationId xmlns:a16="http://schemas.microsoft.com/office/drawing/2014/main" id="{3A05273D-83D5-44BB-81C1-1F98BCDEBC0A}"/>
              </a:ext>
            </a:extLst>
          </p:cNvPr>
          <p:cNvSpPr>
            <a:spLocks noGrp="1"/>
          </p:cNvSpPr>
          <p:nvPr>
            <p:ph type="body" idx="1"/>
          </p:nvPr>
        </p:nvSpPr>
        <p:spPr/>
        <p:txBody>
          <a:bodyPr/>
          <a:lstStyle/>
          <a:p>
            <a:endParaRPr lang="en-IE"/>
          </a:p>
        </p:txBody>
      </p:sp>
    </p:spTree>
    <p:extLst>
      <p:ext uri="{BB962C8B-B14F-4D97-AF65-F5344CB8AC3E}">
        <p14:creationId xmlns:p14="http://schemas.microsoft.com/office/powerpoint/2010/main" val="2615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D83E8-1CCF-1DE0-828A-FF46C66F1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83FFE-CBDB-84D8-6AF2-95B5DB5F968E}"/>
              </a:ext>
            </a:extLst>
          </p:cNvPr>
          <p:cNvSpPr>
            <a:spLocks noGrp="1"/>
          </p:cNvSpPr>
          <p:nvPr>
            <p:ph type="title"/>
          </p:nvPr>
        </p:nvSpPr>
        <p:spPr>
          <a:xfrm>
            <a:off x="734683" y="113146"/>
            <a:ext cx="10515600" cy="913398"/>
          </a:xfrm>
        </p:spPr>
        <p:txBody>
          <a:bodyPr/>
          <a:lstStyle/>
          <a:p>
            <a:r>
              <a:rPr lang="en-IE" dirty="0"/>
              <a:t>Endpoint Security</a:t>
            </a:r>
          </a:p>
        </p:txBody>
      </p:sp>
      <p:sp>
        <p:nvSpPr>
          <p:cNvPr id="3" name="Content Placeholder 2">
            <a:extLst>
              <a:ext uri="{FF2B5EF4-FFF2-40B4-BE49-F238E27FC236}">
                <a16:creationId xmlns:a16="http://schemas.microsoft.com/office/drawing/2014/main" id="{627F014A-326C-61FB-21B8-F5C55CBD9AF7}"/>
              </a:ext>
            </a:extLst>
          </p:cNvPr>
          <p:cNvSpPr>
            <a:spLocks noGrp="1"/>
          </p:cNvSpPr>
          <p:nvPr>
            <p:ph idx="1"/>
          </p:nvPr>
        </p:nvSpPr>
        <p:spPr>
          <a:xfrm>
            <a:off x="284672" y="1147314"/>
            <a:ext cx="11731924" cy="4770408"/>
          </a:xfrm>
        </p:spPr>
        <p:txBody>
          <a:bodyPr>
            <a:normAutofit/>
          </a:bodyPr>
          <a:lstStyle/>
          <a:p>
            <a:pPr marL="0" indent="0">
              <a:buNone/>
            </a:pPr>
            <a:r>
              <a:rPr lang="en-GB" dirty="0"/>
              <a:t>The news media commonly covers attacks on enterprise networks. Simply search the internet for “latest network attacks” to find up-to-date information on current attacks. Most likely, these attacks will involve one or more of the following:</a:t>
            </a:r>
          </a:p>
          <a:p>
            <a:pPr lvl="1"/>
            <a:r>
              <a:rPr lang="en-GB" b="1" dirty="0"/>
              <a:t>Distributed Denial of Service (DDoS) </a:t>
            </a:r>
            <a:r>
              <a:rPr lang="en-GB" dirty="0"/>
              <a:t>– This is a coordinated attack from many devices, called zombies, with the intention of degrading or halting public access to an organization’s website and resources.</a:t>
            </a:r>
          </a:p>
          <a:p>
            <a:pPr lvl="1"/>
            <a:r>
              <a:rPr lang="en-GB" b="1" dirty="0"/>
              <a:t>Data Breach </a:t>
            </a:r>
            <a:r>
              <a:rPr lang="en-GB" dirty="0"/>
              <a:t>– This is an attack in which an organization’s data servers or hosts are compromised to steal confidential information.</a:t>
            </a:r>
          </a:p>
          <a:p>
            <a:pPr lvl="1"/>
            <a:r>
              <a:rPr lang="en-GB" b="1" dirty="0"/>
              <a:t>Malware</a:t>
            </a:r>
            <a:r>
              <a:rPr lang="en-GB" dirty="0"/>
              <a:t> – This is an attack in which an organization’s hosts are infected with malicious software that cause a variety of problems. For example, ransomware such as WannaCry encrypts the data on a host and locks access to it until a ransom is paid.</a:t>
            </a:r>
          </a:p>
        </p:txBody>
      </p:sp>
    </p:spTree>
    <p:extLst>
      <p:ext uri="{BB962C8B-B14F-4D97-AF65-F5344CB8AC3E}">
        <p14:creationId xmlns:p14="http://schemas.microsoft.com/office/powerpoint/2010/main" val="1591274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EC535-A9DB-E588-0CB6-22CFF153E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55F6E-0A6D-058D-A7AD-1A89478A64FE}"/>
              </a:ext>
            </a:extLst>
          </p:cNvPr>
          <p:cNvSpPr>
            <a:spLocks noGrp="1"/>
          </p:cNvSpPr>
          <p:nvPr>
            <p:ph type="title"/>
          </p:nvPr>
        </p:nvSpPr>
        <p:spPr>
          <a:xfrm>
            <a:off x="734683" y="113146"/>
            <a:ext cx="10515600" cy="913398"/>
          </a:xfrm>
        </p:spPr>
        <p:txBody>
          <a:bodyPr/>
          <a:lstStyle/>
          <a:p>
            <a:r>
              <a:rPr lang="en-IE" dirty="0"/>
              <a:t>Network Security Devices</a:t>
            </a:r>
          </a:p>
        </p:txBody>
      </p:sp>
      <p:sp>
        <p:nvSpPr>
          <p:cNvPr id="3" name="Content Placeholder 2">
            <a:extLst>
              <a:ext uri="{FF2B5EF4-FFF2-40B4-BE49-F238E27FC236}">
                <a16:creationId xmlns:a16="http://schemas.microsoft.com/office/drawing/2014/main" id="{00BC9F17-FD7D-8826-C112-57016DE4AA48}"/>
              </a:ext>
            </a:extLst>
          </p:cNvPr>
          <p:cNvSpPr>
            <a:spLocks noGrp="1"/>
          </p:cNvSpPr>
          <p:nvPr>
            <p:ph idx="1"/>
          </p:nvPr>
        </p:nvSpPr>
        <p:spPr>
          <a:xfrm>
            <a:off x="301924" y="1026544"/>
            <a:ext cx="11714671" cy="4891178"/>
          </a:xfrm>
        </p:spPr>
        <p:txBody>
          <a:bodyPr>
            <a:normAutofit fontScale="92500" lnSpcReduction="10000"/>
          </a:bodyPr>
          <a:lstStyle/>
          <a:p>
            <a:pPr marL="0" indent="0">
              <a:buNone/>
            </a:pPr>
            <a:r>
              <a:rPr lang="en-GB" dirty="0"/>
              <a:t>Various network security devices are required to protect the network perimeter from outside access. These devices could include the following:</a:t>
            </a:r>
          </a:p>
          <a:p>
            <a:r>
              <a:rPr lang="en-GB" b="1" dirty="0"/>
              <a:t>Virtual Private Network (VPN) </a:t>
            </a:r>
            <a:r>
              <a:rPr lang="en-GB" dirty="0"/>
              <a:t>enabled router - provides a secure connection to remote users across a public network and into the enterprise network. VPN services can be integrated into the firewall.</a:t>
            </a:r>
          </a:p>
          <a:p>
            <a:r>
              <a:rPr lang="en-GB" b="1" dirty="0"/>
              <a:t>Next-Generation Firewall (NGFW) </a:t>
            </a:r>
            <a:r>
              <a:rPr lang="en-GB" dirty="0"/>
              <a:t>- provides stateful packet inspection, application visibility and control, a next-generation intrusion prevention system (NGIPS), advanced malware protection (AMP), and URL filtering.</a:t>
            </a:r>
          </a:p>
          <a:p>
            <a:r>
              <a:rPr lang="en-GB" b="1" dirty="0"/>
              <a:t>Network Access Control (NAC) </a:t>
            </a:r>
            <a:r>
              <a:rPr lang="en-GB" dirty="0"/>
              <a:t>- includes authentication, authorization, and accounting (AAA) services. In larger enterprises, these services might be incorporated into an appliance that can manage access policies across a wide variety of users and device types. The Cisco Identity Services Engine (ISE) is an example of a NAC device.</a:t>
            </a:r>
          </a:p>
        </p:txBody>
      </p:sp>
    </p:spTree>
    <p:extLst>
      <p:ext uri="{BB962C8B-B14F-4D97-AF65-F5344CB8AC3E}">
        <p14:creationId xmlns:p14="http://schemas.microsoft.com/office/powerpoint/2010/main" val="683519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C265AB-A0C9-C62D-AC8B-C6875C28BD6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6" name="Arc 2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AAE4AD3-7496-9C45-901D-66EDAC0DD117}"/>
              </a:ext>
            </a:extLst>
          </p:cNvPr>
          <p:cNvSpPr>
            <a:spLocks noGrp="1"/>
          </p:cNvSpPr>
          <p:nvPr>
            <p:ph type="title"/>
          </p:nvPr>
        </p:nvSpPr>
        <p:spPr>
          <a:xfrm>
            <a:off x="3061781" y="154637"/>
            <a:ext cx="6068363" cy="988659"/>
          </a:xfrm>
        </p:spPr>
        <p:txBody>
          <a:bodyPr>
            <a:normAutofit/>
          </a:bodyPr>
          <a:lstStyle/>
          <a:p>
            <a:r>
              <a:rPr lang="en-US" dirty="0"/>
              <a:t>Endpoint Protection</a:t>
            </a:r>
            <a:endParaRPr lang="en-IE" dirty="0"/>
          </a:p>
        </p:txBody>
      </p:sp>
      <p:sp>
        <p:nvSpPr>
          <p:cNvPr id="28" name="Freeform: Shape 2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462185E9-4A1D-1C9B-3811-00D75193D046}"/>
              </a:ext>
            </a:extLst>
          </p:cNvPr>
          <p:cNvPicPr>
            <a:picLocks noChangeAspect="1"/>
          </p:cNvPicPr>
          <p:nvPr/>
        </p:nvPicPr>
        <p:blipFill>
          <a:blip r:embed="rId2"/>
          <a:stretch>
            <a:fillRect/>
          </a:stretch>
        </p:blipFill>
        <p:spPr>
          <a:xfrm>
            <a:off x="145622" y="1679715"/>
            <a:ext cx="5832318" cy="361603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6DE8D2F1-79BA-A34F-0EA6-EE4D938C79A3}"/>
              </a:ext>
            </a:extLst>
          </p:cNvPr>
          <p:cNvSpPr>
            <a:spLocks noGrp="1"/>
          </p:cNvSpPr>
          <p:nvPr>
            <p:ph idx="1"/>
          </p:nvPr>
        </p:nvSpPr>
        <p:spPr>
          <a:xfrm>
            <a:off x="5791201" y="1634836"/>
            <a:ext cx="5971308" cy="4987637"/>
          </a:xfrm>
        </p:spPr>
        <p:txBody>
          <a:bodyPr>
            <a:noAutofit/>
          </a:bodyPr>
          <a:lstStyle/>
          <a:p>
            <a:pPr marL="342900" indent="-342900"/>
            <a:r>
              <a:rPr lang="en-US" sz="2200" dirty="0"/>
              <a:t>Endpoints are hosts which commonly consist of laptops, desktops, servers, and IP phones, as well as employee-owned devices. Endpoints are particularly susceptible to malware-related attacks that originate through email or web browsing. </a:t>
            </a:r>
          </a:p>
          <a:p>
            <a:pPr marL="342900" indent="-342900"/>
            <a:r>
              <a:rPr lang="en-US" sz="2200" dirty="0"/>
              <a:t>Endpoints have typically used traditional host-based security features, such as antivirus/antimalware, host-based firewalls, and host-based intrusion prevention systems (HIPSs). </a:t>
            </a:r>
          </a:p>
          <a:p>
            <a:pPr marL="342900" indent="-342900"/>
            <a:r>
              <a:rPr lang="en-US" sz="2200" dirty="0"/>
              <a:t>Endpoints today are best protected by a combination of NAC, AMP software, an email security appliance (ESA), and a web security appliance (WSA). </a:t>
            </a:r>
          </a:p>
        </p:txBody>
      </p:sp>
    </p:spTree>
    <p:extLst>
      <p:ext uri="{BB962C8B-B14F-4D97-AF65-F5344CB8AC3E}">
        <p14:creationId xmlns:p14="http://schemas.microsoft.com/office/powerpoint/2010/main" val="3442116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2A77F-09E2-83F7-93ED-C6F456EBA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72642-33D8-7365-A8E9-FA45D434E1EA}"/>
              </a:ext>
            </a:extLst>
          </p:cNvPr>
          <p:cNvSpPr>
            <a:spLocks noGrp="1"/>
          </p:cNvSpPr>
          <p:nvPr>
            <p:ph type="title"/>
          </p:nvPr>
        </p:nvSpPr>
        <p:spPr>
          <a:xfrm>
            <a:off x="674298" y="63201"/>
            <a:ext cx="10515600" cy="747682"/>
          </a:xfrm>
        </p:spPr>
        <p:txBody>
          <a:bodyPr/>
          <a:lstStyle/>
          <a:p>
            <a:r>
              <a:rPr lang="en-IE"/>
              <a:t>Access Control using Authentication</a:t>
            </a:r>
            <a:endParaRPr lang="en-IE" dirty="0"/>
          </a:p>
        </p:txBody>
      </p:sp>
      <p:sp>
        <p:nvSpPr>
          <p:cNvPr id="3" name="Content Placeholder 2">
            <a:extLst>
              <a:ext uri="{FF2B5EF4-FFF2-40B4-BE49-F238E27FC236}">
                <a16:creationId xmlns:a16="http://schemas.microsoft.com/office/drawing/2014/main" id="{E8582AC0-C5B0-0D9C-6CD5-86DDB52C903E}"/>
              </a:ext>
            </a:extLst>
          </p:cNvPr>
          <p:cNvSpPr>
            <a:spLocks noGrp="1"/>
          </p:cNvSpPr>
          <p:nvPr>
            <p:ph idx="1"/>
          </p:nvPr>
        </p:nvSpPr>
        <p:spPr>
          <a:xfrm>
            <a:off x="250525" y="810883"/>
            <a:ext cx="6710992" cy="5883215"/>
          </a:xfrm>
        </p:spPr>
        <p:txBody>
          <a:bodyPr>
            <a:normAutofit fontScale="92500" lnSpcReduction="10000"/>
          </a:bodyPr>
          <a:lstStyle/>
          <a:p>
            <a:pPr>
              <a:buFont typeface="Wingdings" panose="05000000000000000000" pitchFamily="2" charset="2"/>
              <a:buChar char="Ø"/>
            </a:pPr>
            <a:r>
              <a:rPr lang="en-GB"/>
              <a:t>Many types of authentication can be performed on networking devices, and each method offers varying levels of security. </a:t>
            </a:r>
          </a:p>
          <a:p>
            <a:pPr>
              <a:buFont typeface="Wingdings" panose="05000000000000000000" pitchFamily="2" charset="2"/>
              <a:buChar char="Ø"/>
            </a:pPr>
            <a:r>
              <a:rPr lang="en-GB"/>
              <a:t>The simplest method of remote access authentication is to configure a login and password combination on console, vty lines, and aux ports.</a:t>
            </a:r>
          </a:p>
          <a:p>
            <a:pPr>
              <a:buFont typeface="Wingdings" panose="05000000000000000000" pitchFamily="2" charset="2"/>
              <a:buChar char="Ø"/>
            </a:pPr>
            <a:r>
              <a:rPr lang="en-GB"/>
              <a:t>SSH is a more secure form of remote access:</a:t>
            </a:r>
          </a:p>
          <a:p>
            <a:pPr lvl="1"/>
            <a:r>
              <a:rPr lang="en-GB"/>
              <a:t>It requires a username and a password.</a:t>
            </a:r>
          </a:p>
          <a:p>
            <a:pPr lvl="1"/>
            <a:r>
              <a:rPr lang="en-GB"/>
              <a:t>The username and password can be authenticated locally.</a:t>
            </a:r>
          </a:p>
          <a:p>
            <a:pPr>
              <a:buFont typeface="Wingdings" panose="05000000000000000000" pitchFamily="2" charset="2"/>
              <a:buChar char="Ø"/>
            </a:pPr>
            <a:r>
              <a:rPr lang="en-GB"/>
              <a:t>The local database method has some limitations:</a:t>
            </a:r>
          </a:p>
          <a:p>
            <a:pPr lvl="1"/>
            <a:r>
              <a:rPr lang="en-GB"/>
              <a:t>User accounts must be configured locally on each device which is not scalable.</a:t>
            </a:r>
          </a:p>
          <a:p>
            <a:pPr lvl="1"/>
            <a:r>
              <a:rPr lang="en-GB"/>
              <a:t>The method provides no fallback authentication method. </a:t>
            </a:r>
          </a:p>
          <a:p>
            <a:endParaRPr lang="en-GB" dirty="0"/>
          </a:p>
        </p:txBody>
      </p:sp>
      <p:pic>
        <p:nvPicPr>
          <p:cNvPr id="4" name="Picture 3">
            <a:extLst>
              <a:ext uri="{FF2B5EF4-FFF2-40B4-BE49-F238E27FC236}">
                <a16:creationId xmlns:a16="http://schemas.microsoft.com/office/drawing/2014/main" id="{ED32ACC2-0486-E1EE-9E52-20C485550AD8}"/>
              </a:ext>
            </a:extLst>
          </p:cNvPr>
          <p:cNvPicPr>
            <a:picLocks noChangeAspect="1"/>
          </p:cNvPicPr>
          <p:nvPr/>
        </p:nvPicPr>
        <p:blipFill>
          <a:blip r:embed="rId2"/>
          <a:stretch>
            <a:fillRect/>
          </a:stretch>
        </p:blipFill>
        <p:spPr>
          <a:xfrm>
            <a:off x="8430327" y="1271337"/>
            <a:ext cx="2681344" cy="747682"/>
          </a:xfrm>
          <a:prstGeom prst="rect">
            <a:avLst/>
          </a:prstGeom>
        </p:spPr>
      </p:pic>
      <p:pic>
        <p:nvPicPr>
          <p:cNvPr id="5" name="Picture 4">
            <a:extLst>
              <a:ext uri="{FF2B5EF4-FFF2-40B4-BE49-F238E27FC236}">
                <a16:creationId xmlns:a16="http://schemas.microsoft.com/office/drawing/2014/main" id="{80C18976-BF0A-8345-B1D7-76D39D064BF3}"/>
              </a:ext>
            </a:extLst>
          </p:cNvPr>
          <p:cNvPicPr>
            <a:picLocks noChangeAspect="1"/>
          </p:cNvPicPr>
          <p:nvPr/>
        </p:nvPicPr>
        <p:blipFill>
          <a:blip r:embed="rId3"/>
          <a:stretch>
            <a:fillRect/>
          </a:stretch>
        </p:blipFill>
        <p:spPr>
          <a:xfrm>
            <a:off x="6961516" y="2694497"/>
            <a:ext cx="5103225" cy="1595853"/>
          </a:xfrm>
          <a:prstGeom prst="rect">
            <a:avLst/>
          </a:prstGeom>
        </p:spPr>
      </p:pic>
    </p:spTree>
    <p:extLst>
      <p:ext uri="{BB962C8B-B14F-4D97-AF65-F5344CB8AC3E}">
        <p14:creationId xmlns:p14="http://schemas.microsoft.com/office/powerpoint/2010/main" val="2072350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7CBE2-4129-8C8B-E278-DF46D5760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7B4E4-BB94-F8BD-A17C-6C115404A8CA}"/>
              </a:ext>
            </a:extLst>
          </p:cNvPr>
          <p:cNvSpPr>
            <a:spLocks noGrp="1"/>
          </p:cNvSpPr>
          <p:nvPr>
            <p:ph type="title"/>
          </p:nvPr>
        </p:nvSpPr>
        <p:spPr>
          <a:xfrm>
            <a:off x="674298" y="63201"/>
            <a:ext cx="10515600" cy="747682"/>
          </a:xfrm>
        </p:spPr>
        <p:txBody>
          <a:bodyPr/>
          <a:lstStyle/>
          <a:p>
            <a:r>
              <a:rPr lang="en-IE" dirty="0"/>
              <a:t>AAA Components</a:t>
            </a:r>
          </a:p>
        </p:txBody>
      </p:sp>
      <p:sp>
        <p:nvSpPr>
          <p:cNvPr id="3" name="Content Placeholder 2">
            <a:extLst>
              <a:ext uri="{FF2B5EF4-FFF2-40B4-BE49-F238E27FC236}">
                <a16:creationId xmlns:a16="http://schemas.microsoft.com/office/drawing/2014/main" id="{9358053C-526C-AB34-8EBE-2B95BF5533A8}"/>
              </a:ext>
            </a:extLst>
          </p:cNvPr>
          <p:cNvSpPr>
            <a:spLocks noGrp="1"/>
          </p:cNvSpPr>
          <p:nvPr>
            <p:ph idx="1"/>
          </p:nvPr>
        </p:nvSpPr>
        <p:spPr>
          <a:xfrm>
            <a:off x="146825" y="909758"/>
            <a:ext cx="11898350" cy="5560315"/>
          </a:xfrm>
        </p:spPr>
        <p:txBody>
          <a:bodyPr>
            <a:normAutofit/>
          </a:bodyPr>
          <a:lstStyle/>
          <a:p>
            <a:pPr>
              <a:buFont typeface="Wingdings" panose="05000000000000000000" pitchFamily="2" charset="2"/>
              <a:buChar char="Ø"/>
            </a:pPr>
            <a:r>
              <a:rPr lang="en-GB" dirty="0"/>
              <a:t>AAA stands for Authentication, Authorization, and Accounting, and provides the primary framework to set up access control on a network device. </a:t>
            </a:r>
          </a:p>
          <a:p>
            <a:pPr>
              <a:buFont typeface="Wingdings" panose="05000000000000000000" pitchFamily="2" charset="2"/>
              <a:buChar char="Ø"/>
            </a:pPr>
            <a:r>
              <a:rPr lang="en-GB" dirty="0"/>
              <a:t>AAA is a way to control who is permitted to access a network (authenticate), what they can do while they are there (authorize), and to audit what actions they performed while accessing the network (accounting).</a:t>
            </a:r>
          </a:p>
          <a:p>
            <a:pPr lvl="1">
              <a:buFont typeface="Wingdings" panose="05000000000000000000" pitchFamily="2" charset="2"/>
              <a:buChar char="q"/>
            </a:pPr>
            <a:r>
              <a:rPr lang="en-GB" dirty="0"/>
              <a:t>Local and server-based are two common methods of implementing AAA authentication.</a:t>
            </a:r>
          </a:p>
          <a:p>
            <a:pPr lvl="2">
              <a:buFont typeface="Wingdings" panose="05000000000000000000" pitchFamily="2" charset="2"/>
              <a:buChar char="§"/>
            </a:pPr>
            <a:r>
              <a:rPr lang="en-GB" dirty="0"/>
              <a:t>Local AAA Authentication</a:t>
            </a:r>
          </a:p>
          <a:p>
            <a:pPr lvl="2">
              <a:buFont typeface="Wingdings" panose="05000000000000000000" pitchFamily="2" charset="2"/>
              <a:buChar char="§"/>
            </a:pPr>
            <a:r>
              <a:rPr lang="en-GB" dirty="0"/>
              <a:t>Server-Based AAA Authentication</a:t>
            </a:r>
          </a:p>
          <a:p>
            <a:pPr lvl="1">
              <a:buFont typeface="Wingdings" panose="05000000000000000000" pitchFamily="2" charset="2"/>
              <a:buChar char="q"/>
            </a:pPr>
            <a:r>
              <a:rPr lang="en-GB" dirty="0"/>
              <a:t>AAA authorization is automatic and does not require users to perform additional steps after authentication. Authorization governs what users can and cannot do on the network after they are authenticated.</a:t>
            </a:r>
          </a:p>
          <a:p>
            <a:pPr lvl="1">
              <a:buFont typeface="Wingdings" panose="05000000000000000000" pitchFamily="2" charset="2"/>
              <a:buChar char="q"/>
            </a:pPr>
            <a:r>
              <a:rPr lang="en-GB" dirty="0"/>
              <a:t>AAA accounting collects and reports usage data. This data can be used for such purposes as auditing or billing. The collected data might include the start and stop connection times, executed commands, number of packets, and number of bytes.</a:t>
            </a:r>
          </a:p>
          <a:p>
            <a:pPr lvl="1">
              <a:buFont typeface="Wingdings" panose="05000000000000000000" pitchFamily="2" charset="2"/>
              <a:buChar char="q"/>
            </a:pPr>
            <a:endParaRPr lang="en-GB" dirty="0"/>
          </a:p>
        </p:txBody>
      </p:sp>
    </p:spTree>
    <p:extLst>
      <p:ext uri="{BB962C8B-B14F-4D97-AF65-F5344CB8AC3E}">
        <p14:creationId xmlns:p14="http://schemas.microsoft.com/office/powerpoint/2010/main" val="234952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769EE-46D4-4D35-A328-F184244C61C2}"/>
              </a:ext>
            </a:extLst>
          </p:cNvPr>
          <p:cNvSpPr>
            <a:spLocks noGrp="1"/>
          </p:cNvSpPr>
          <p:nvPr>
            <p:ph type="title"/>
          </p:nvPr>
        </p:nvSpPr>
        <p:spPr>
          <a:xfrm>
            <a:off x="838200" y="226147"/>
            <a:ext cx="10515600" cy="896072"/>
          </a:xfrm>
        </p:spPr>
        <p:txBody>
          <a:bodyPr/>
          <a:lstStyle/>
          <a:p>
            <a:r>
              <a:rPr lang="en-IE" dirty="0"/>
              <a:t>Switch Port Security</a:t>
            </a:r>
          </a:p>
        </p:txBody>
      </p:sp>
      <p:sp>
        <p:nvSpPr>
          <p:cNvPr id="3" name="Content Placeholder 2">
            <a:extLst>
              <a:ext uri="{FF2B5EF4-FFF2-40B4-BE49-F238E27FC236}">
                <a16:creationId xmlns:a16="http://schemas.microsoft.com/office/drawing/2014/main" id="{1CD7AFAA-9DDD-4EE4-8835-D11087AAF75D}"/>
              </a:ext>
            </a:extLst>
          </p:cNvPr>
          <p:cNvSpPr>
            <a:spLocks noGrp="1"/>
          </p:cNvSpPr>
          <p:nvPr>
            <p:ph idx="1"/>
          </p:nvPr>
        </p:nvSpPr>
        <p:spPr>
          <a:xfrm>
            <a:off x="457201" y="1343891"/>
            <a:ext cx="11222182" cy="5029200"/>
          </a:xfrm>
        </p:spPr>
        <p:txBody>
          <a:bodyPr/>
          <a:lstStyle/>
          <a:p>
            <a:r>
              <a:rPr lang="en-IE" sz="3000" dirty="0"/>
              <a:t>Physically unsecured switched can have unauthorised devices attached.</a:t>
            </a:r>
          </a:p>
          <a:p>
            <a:r>
              <a:rPr lang="en-IE" sz="3000" dirty="0"/>
              <a:t>Potential hacker can pull out ethernet cable and plug in another device.</a:t>
            </a:r>
          </a:p>
          <a:p>
            <a:r>
              <a:rPr lang="en-IE" sz="3000" dirty="0"/>
              <a:t>Solution:</a:t>
            </a:r>
          </a:p>
          <a:p>
            <a:pPr lvl="1"/>
            <a:r>
              <a:rPr lang="en-IE" sz="2600" dirty="0"/>
              <a:t>Administratively shut down unused switch ports</a:t>
            </a:r>
          </a:p>
          <a:p>
            <a:pPr lvl="1"/>
            <a:r>
              <a:rPr lang="en-IE" sz="2600" dirty="0"/>
              <a:t>Filter MAC addresses at switch port level (configure the switch ports to allow frames from authorised devices only using MAC address)</a:t>
            </a:r>
          </a:p>
        </p:txBody>
      </p:sp>
    </p:spTree>
    <p:extLst>
      <p:ext uri="{BB962C8B-B14F-4D97-AF65-F5344CB8AC3E}">
        <p14:creationId xmlns:p14="http://schemas.microsoft.com/office/powerpoint/2010/main" val="1676780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A024-38C3-7AEA-9C54-2355A8334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3B0D3-DC26-3402-6C47-5362EEC5D5A5}"/>
              </a:ext>
            </a:extLst>
          </p:cNvPr>
          <p:cNvSpPr>
            <a:spLocks noGrp="1"/>
          </p:cNvSpPr>
          <p:nvPr>
            <p:ph type="title"/>
          </p:nvPr>
        </p:nvSpPr>
        <p:spPr>
          <a:xfrm>
            <a:off x="838200" y="171163"/>
            <a:ext cx="10515600" cy="673966"/>
          </a:xfrm>
        </p:spPr>
        <p:txBody>
          <a:bodyPr>
            <a:normAutofit fontScale="90000"/>
          </a:bodyPr>
          <a:lstStyle/>
          <a:p>
            <a:r>
              <a:rPr lang="en-IE" dirty="0"/>
              <a:t>Switch Port Security: </a:t>
            </a:r>
            <a:r>
              <a:rPr lang="en-IE" sz="3300" dirty="0"/>
              <a:t>Secure Unused Ports</a:t>
            </a:r>
          </a:p>
        </p:txBody>
      </p:sp>
      <p:sp>
        <p:nvSpPr>
          <p:cNvPr id="3" name="Content Placeholder 2">
            <a:extLst>
              <a:ext uri="{FF2B5EF4-FFF2-40B4-BE49-F238E27FC236}">
                <a16:creationId xmlns:a16="http://schemas.microsoft.com/office/drawing/2014/main" id="{1E96D5D0-F219-9813-87AD-54379102EA1E}"/>
              </a:ext>
            </a:extLst>
          </p:cNvPr>
          <p:cNvSpPr>
            <a:spLocks noGrp="1"/>
          </p:cNvSpPr>
          <p:nvPr>
            <p:ph idx="1"/>
          </p:nvPr>
        </p:nvSpPr>
        <p:spPr>
          <a:xfrm>
            <a:off x="200891" y="914400"/>
            <a:ext cx="11790218" cy="4488873"/>
          </a:xfrm>
        </p:spPr>
        <p:txBody>
          <a:bodyPr>
            <a:normAutofit/>
          </a:bodyPr>
          <a:lstStyle/>
          <a:p>
            <a:pPr marL="0" indent="0">
              <a:buNone/>
            </a:pPr>
            <a:r>
              <a:rPr lang="en-US" dirty="0">
                <a:solidFill>
                  <a:srgbClr val="000000"/>
                </a:solidFill>
              </a:rPr>
              <a:t>Layer 2 attacks are some of the easiest for hackers to deploy but these threats can also be mitigated with some common Layer 2 solutions.</a:t>
            </a:r>
          </a:p>
          <a:p>
            <a:pPr marL="342900" indent="-342900"/>
            <a:r>
              <a:rPr lang="en-US" dirty="0">
                <a:solidFill>
                  <a:srgbClr val="000000"/>
                </a:solidFill>
              </a:rPr>
              <a:t>All switch ports (interfaces) should be secured before the switch is deployed for production use. How a port is secured depends on its function.</a:t>
            </a:r>
          </a:p>
          <a:p>
            <a:pPr marL="342900" indent="-342900"/>
            <a:r>
              <a:rPr lang="en-US" dirty="0">
                <a:solidFill>
                  <a:srgbClr val="000000"/>
                </a:solidFill>
              </a:rPr>
              <a:t>A simple method that many administrators use to help secure the network from unauthorized access is to disable all unused ports on a switch. Navigate to each unused port and issue the Cisco IOS </a:t>
            </a:r>
            <a:r>
              <a:rPr lang="en-US" b="1" dirty="0">
                <a:solidFill>
                  <a:srgbClr val="000000"/>
                </a:solidFill>
              </a:rPr>
              <a:t>shutdown</a:t>
            </a:r>
            <a:r>
              <a:rPr lang="en-US" dirty="0">
                <a:solidFill>
                  <a:srgbClr val="000000"/>
                </a:solidFill>
              </a:rPr>
              <a:t> command. If a port must be reactivated at a later time, it can be enabled with the </a:t>
            </a:r>
            <a:r>
              <a:rPr lang="en-US" b="1" dirty="0">
                <a:solidFill>
                  <a:srgbClr val="000000"/>
                </a:solidFill>
              </a:rPr>
              <a:t>no shutdown</a:t>
            </a:r>
            <a:r>
              <a:rPr lang="en-US" dirty="0">
                <a:solidFill>
                  <a:srgbClr val="000000"/>
                </a:solidFill>
              </a:rPr>
              <a:t> command.</a:t>
            </a:r>
          </a:p>
          <a:p>
            <a:pPr marL="342900" indent="-342900"/>
            <a:r>
              <a:rPr lang="en-US" dirty="0">
                <a:solidFill>
                  <a:srgbClr val="000000"/>
                </a:solidFill>
              </a:rPr>
              <a:t>To configure a range of ports, use the </a:t>
            </a:r>
            <a:r>
              <a:rPr lang="en-US" b="1" dirty="0">
                <a:solidFill>
                  <a:srgbClr val="000000"/>
                </a:solidFill>
              </a:rPr>
              <a:t>interface range</a:t>
            </a:r>
            <a:r>
              <a:rPr lang="en-US" dirty="0">
                <a:solidFill>
                  <a:srgbClr val="000000"/>
                </a:solidFill>
              </a:rPr>
              <a:t> command.</a:t>
            </a:r>
          </a:p>
        </p:txBody>
      </p:sp>
      <p:sp>
        <p:nvSpPr>
          <p:cNvPr id="4" name="Rectangle 3">
            <a:extLst>
              <a:ext uri="{FF2B5EF4-FFF2-40B4-BE49-F238E27FC236}">
                <a16:creationId xmlns:a16="http://schemas.microsoft.com/office/drawing/2014/main" id="{6FF8C414-B1F1-D363-C4DF-B37F7048BC6A}"/>
              </a:ext>
            </a:extLst>
          </p:cNvPr>
          <p:cNvSpPr>
            <a:spLocks noChangeArrowheads="1"/>
          </p:cNvSpPr>
          <p:nvPr/>
        </p:nvSpPr>
        <p:spPr bwMode="auto">
          <a:xfrm>
            <a:off x="450271" y="5635823"/>
            <a:ext cx="11007437" cy="30777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Switch(config)# </a:t>
            </a:r>
            <a:r>
              <a:rPr kumimoji="0" lang="en-US" altLang="en-US" sz="20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interface range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1"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type module/first-number – last-number</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325336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8E237-4CF7-4D55-948B-0546735B522B}"/>
              </a:ext>
            </a:extLst>
          </p:cNvPr>
          <p:cNvSpPr>
            <a:spLocks noGrp="1"/>
          </p:cNvSpPr>
          <p:nvPr>
            <p:ph type="title"/>
          </p:nvPr>
        </p:nvSpPr>
        <p:spPr>
          <a:xfrm>
            <a:off x="838200" y="164986"/>
            <a:ext cx="10515600" cy="687820"/>
          </a:xfrm>
        </p:spPr>
        <p:txBody>
          <a:bodyPr>
            <a:normAutofit fontScale="90000"/>
          </a:bodyPr>
          <a:lstStyle/>
          <a:p>
            <a:r>
              <a:rPr lang="en-IE" dirty="0"/>
              <a:t>Switch Port Security</a:t>
            </a:r>
          </a:p>
        </p:txBody>
      </p:sp>
      <p:sp>
        <p:nvSpPr>
          <p:cNvPr id="3" name="Content Placeholder 2">
            <a:extLst>
              <a:ext uri="{FF2B5EF4-FFF2-40B4-BE49-F238E27FC236}">
                <a16:creationId xmlns:a16="http://schemas.microsoft.com/office/drawing/2014/main" id="{328A9A5E-A847-45E6-8CBF-AE1209DE97A8}"/>
              </a:ext>
            </a:extLst>
          </p:cNvPr>
          <p:cNvSpPr>
            <a:spLocks noGrp="1"/>
          </p:cNvSpPr>
          <p:nvPr>
            <p:ph idx="1"/>
          </p:nvPr>
        </p:nvSpPr>
        <p:spPr>
          <a:xfrm>
            <a:off x="297873" y="1035915"/>
            <a:ext cx="10515600" cy="4351338"/>
          </a:xfrm>
        </p:spPr>
        <p:txBody>
          <a:bodyPr/>
          <a:lstStyle/>
          <a:p>
            <a:r>
              <a:rPr lang="en-IE" dirty="0"/>
              <a:t>Shut down switch port</a:t>
            </a:r>
          </a:p>
          <a:p>
            <a:endParaRPr lang="en-IE" dirty="0"/>
          </a:p>
          <a:p>
            <a:endParaRPr lang="en-IE" dirty="0"/>
          </a:p>
          <a:p>
            <a:endParaRPr lang="en-IE" dirty="0"/>
          </a:p>
          <a:p>
            <a:endParaRPr lang="en-IE" dirty="0"/>
          </a:p>
          <a:p>
            <a:r>
              <a:rPr lang="en-IE" dirty="0"/>
              <a:t>Restrict Access to Port</a:t>
            </a:r>
          </a:p>
        </p:txBody>
      </p:sp>
      <p:pic>
        <p:nvPicPr>
          <p:cNvPr id="5" name="Picture 4">
            <a:extLst>
              <a:ext uri="{FF2B5EF4-FFF2-40B4-BE49-F238E27FC236}">
                <a16:creationId xmlns:a16="http://schemas.microsoft.com/office/drawing/2014/main" id="{6B1E3E8D-B3A9-48A3-BA6D-16DEA12AFB97}"/>
              </a:ext>
            </a:extLst>
          </p:cNvPr>
          <p:cNvPicPr>
            <a:picLocks noChangeAspect="1"/>
          </p:cNvPicPr>
          <p:nvPr/>
        </p:nvPicPr>
        <p:blipFill>
          <a:blip r:embed="rId3"/>
          <a:stretch>
            <a:fillRect/>
          </a:stretch>
        </p:blipFill>
        <p:spPr>
          <a:xfrm>
            <a:off x="174727" y="1648450"/>
            <a:ext cx="8412480" cy="1372562"/>
          </a:xfrm>
          <a:prstGeom prst="rect">
            <a:avLst/>
          </a:prstGeom>
        </p:spPr>
      </p:pic>
      <p:pic>
        <p:nvPicPr>
          <p:cNvPr id="7" name="Picture 6">
            <a:extLst>
              <a:ext uri="{FF2B5EF4-FFF2-40B4-BE49-F238E27FC236}">
                <a16:creationId xmlns:a16="http://schemas.microsoft.com/office/drawing/2014/main" id="{339C8472-A1F6-4C41-BE75-54BCA4B246E5}"/>
              </a:ext>
            </a:extLst>
          </p:cNvPr>
          <p:cNvPicPr>
            <a:picLocks noChangeAspect="1"/>
          </p:cNvPicPr>
          <p:nvPr/>
        </p:nvPicPr>
        <p:blipFill>
          <a:blip r:embed="rId4"/>
          <a:stretch>
            <a:fillRect/>
          </a:stretch>
        </p:blipFill>
        <p:spPr>
          <a:xfrm>
            <a:off x="441450" y="4138683"/>
            <a:ext cx="6717632" cy="1564482"/>
          </a:xfrm>
          <a:prstGeom prst="rect">
            <a:avLst/>
          </a:prstGeom>
        </p:spPr>
      </p:pic>
      <p:pic>
        <p:nvPicPr>
          <p:cNvPr id="4" name="Picture 3">
            <a:extLst>
              <a:ext uri="{FF2B5EF4-FFF2-40B4-BE49-F238E27FC236}">
                <a16:creationId xmlns:a16="http://schemas.microsoft.com/office/drawing/2014/main" id="{A3615765-C121-D172-269F-18C5CFDC1784}"/>
              </a:ext>
            </a:extLst>
          </p:cNvPr>
          <p:cNvPicPr>
            <a:picLocks noChangeAspect="1"/>
          </p:cNvPicPr>
          <p:nvPr/>
        </p:nvPicPr>
        <p:blipFill>
          <a:blip r:embed="rId5"/>
          <a:stretch>
            <a:fillRect/>
          </a:stretch>
        </p:blipFill>
        <p:spPr>
          <a:xfrm>
            <a:off x="7923733" y="194970"/>
            <a:ext cx="3970394" cy="3234030"/>
          </a:xfrm>
          <a:prstGeom prst="rect">
            <a:avLst/>
          </a:prstGeom>
        </p:spPr>
      </p:pic>
      <p:pic>
        <p:nvPicPr>
          <p:cNvPr id="6" name="Picture 5">
            <a:extLst>
              <a:ext uri="{FF2B5EF4-FFF2-40B4-BE49-F238E27FC236}">
                <a16:creationId xmlns:a16="http://schemas.microsoft.com/office/drawing/2014/main" id="{BFE4EFE0-2FB8-4E7C-CA12-F3377E9D7E78}"/>
              </a:ext>
            </a:extLst>
          </p:cNvPr>
          <p:cNvPicPr>
            <a:picLocks noChangeAspect="1"/>
          </p:cNvPicPr>
          <p:nvPr/>
        </p:nvPicPr>
        <p:blipFill>
          <a:blip r:embed="rId6"/>
          <a:stretch>
            <a:fillRect/>
          </a:stretch>
        </p:blipFill>
        <p:spPr>
          <a:xfrm>
            <a:off x="7230480" y="5387253"/>
            <a:ext cx="4792170" cy="1412658"/>
          </a:xfrm>
          <a:prstGeom prst="rect">
            <a:avLst/>
          </a:prstGeom>
        </p:spPr>
      </p:pic>
    </p:spTree>
    <p:extLst>
      <p:ext uri="{BB962C8B-B14F-4D97-AF65-F5344CB8AC3E}">
        <p14:creationId xmlns:p14="http://schemas.microsoft.com/office/powerpoint/2010/main" val="26755202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3C80D-973B-1F7E-A635-447D29ACA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E9EA1-AC12-625A-C069-1A63E111EDFD}"/>
              </a:ext>
            </a:extLst>
          </p:cNvPr>
          <p:cNvSpPr>
            <a:spLocks noGrp="1"/>
          </p:cNvSpPr>
          <p:nvPr>
            <p:ph type="title"/>
          </p:nvPr>
        </p:nvSpPr>
        <p:spPr>
          <a:xfrm>
            <a:off x="838200" y="164986"/>
            <a:ext cx="10515600" cy="687820"/>
          </a:xfrm>
        </p:spPr>
        <p:txBody>
          <a:bodyPr>
            <a:normAutofit fontScale="90000"/>
          </a:bodyPr>
          <a:lstStyle/>
          <a:p>
            <a:r>
              <a:rPr lang="en-IE" dirty="0"/>
              <a:t>Switch Port Security</a:t>
            </a:r>
          </a:p>
        </p:txBody>
      </p:sp>
      <p:sp>
        <p:nvSpPr>
          <p:cNvPr id="3" name="Content Placeholder 2">
            <a:extLst>
              <a:ext uri="{FF2B5EF4-FFF2-40B4-BE49-F238E27FC236}">
                <a16:creationId xmlns:a16="http://schemas.microsoft.com/office/drawing/2014/main" id="{5D689962-1A41-1C81-82F7-CEA1045BADF7}"/>
              </a:ext>
            </a:extLst>
          </p:cNvPr>
          <p:cNvSpPr>
            <a:spLocks noGrp="1"/>
          </p:cNvSpPr>
          <p:nvPr>
            <p:ph idx="1"/>
          </p:nvPr>
        </p:nvSpPr>
        <p:spPr>
          <a:xfrm>
            <a:off x="297872" y="1035915"/>
            <a:ext cx="11492345" cy="4351338"/>
          </a:xfrm>
        </p:spPr>
        <p:txBody>
          <a:bodyPr/>
          <a:lstStyle/>
          <a:p>
            <a:r>
              <a:rPr lang="en-GB" dirty="0"/>
              <a:t>After port security is enabled, other port security specifics can be configured, as shown in the example.</a:t>
            </a:r>
          </a:p>
          <a:p>
            <a:pPr marL="0" indent="0">
              <a:buNone/>
            </a:pPr>
            <a:endParaRPr lang="en-IE" dirty="0"/>
          </a:p>
        </p:txBody>
      </p:sp>
      <p:pic>
        <p:nvPicPr>
          <p:cNvPr id="6" name="Picture 5">
            <a:extLst>
              <a:ext uri="{FF2B5EF4-FFF2-40B4-BE49-F238E27FC236}">
                <a16:creationId xmlns:a16="http://schemas.microsoft.com/office/drawing/2014/main" id="{566E6E59-1490-573B-7D75-450D8E74EB99}"/>
              </a:ext>
            </a:extLst>
          </p:cNvPr>
          <p:cNvPicPr>
            <a:picLocks noChangeAspect="1"/>
          </p:cNvPicPr>
          <p:nvPr/>
        </p:nvPicPr>
        <p:blipFill>
          <a:blip r:embed="rId3"/>
          <a:stretch>
            <a:fillRect/>
          </a:stretch>
        </p:blipFill>
        <p:spPr>
          <a:xfrm>
            <a:off x="2199143" y="2426710"/>
            <a:ext cx="6225142" cy="2960543"/>
          </a:xfrm>
          <a:prstGeom prst="rect">
            <a:avLst/>
          </a:prstGeom>
        </p:spPr>
      </p:pic>
    </p:spTree>
    <p:extLst>
      <p:ext uri="{BB962C8B-B14F-4D97-AF65-F5344CB8AC3E}">
        <p14:creationId xmlns:p14="http://schemas.microsoft.com/office/powerpoint/2010/main" val="26356309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77E59-0B96-6FE3-FB76-F6ACE3264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0AF44-861B-6F79-588F-84755632C069}"/>
              </a:ext>
            </a:extLst>
          </p:cNvPr>
          <p:cNvSpPr>
            <a:spLocks noGrp="1"/>
          </p:cNvSpPr>
          <p:nvPr>
            <p:ph type="title"/>
          </p:nvPr>
        </p:nvSpPr>
        <p:spPr>
          <a:xfrm>
            <a:off x="838200" y="164986"/>
            <a:ext cx="10515600" cy="687820"/>
          </a:xfrm>
        </p:spPr>
        <p:txBody>
          <a:bodyPr>
            <a:normAutofit fontScale="90000"/>
          </a:bodyPr>
          <a:lstStyle/>
          <a:p>
            <a:r>
              <a:rPr lang="en-GB" dirty="0"/>
              <a:t>Limit and Learn MAC Addresses </a:t>
            </a:r>
            <a:endParaRPr lang="en-IE" dirty="0"/>
          </a:p>
        </p:txBody>
      </p:sp>
      <p:sp>
        <p:nvSpPr>
          <p:cNvPr id="3" name="Content Placeholder 2">
            <a:extLst>
              <a:ext uri="{FF2B5EF4-FFF2-40B4-BE49-F238E27FC236}">
                <a16:creationId xmlns:a16="http://schemas.microsoft.com/office/drawing/2014/main" id="{23F83C78-E29C-E225-05AB-732892856E6E}"/>
              </a:ext>
            </a:extLst>
          </p:cNvPr>
          <p:cNvSpPr>
            <a:spLocks noGrp="1"/>
          </p:cNvSpPr>
          <p:nvPr>
            <p:ph idx="1"/>
          </p:nvPr>
        </p:nvSpPr>
        <p:spPr>
          <a:xfrm>
            <a:off x="180109" y="852807"/>
            <a:ext cx="11831781" cy="1627157"/>
          </a:xfrm>
        </p:spPr>
        <p:txBody>
          <a:bodyPr>
            <a:normAutofit/>
          </a:bodyPr>
          <a:lstStyle/>
          <a:p>
            <a:pPr marL="0" indent="0">
              <a:buNone/>
            </a:pPr>
            <a:r>
              <a:rPr lang="en-GB" sz="2600" dirty="0"/>
              <a:t>The switch can be configured to learn about MAC addresses on a secure port in one of three ways:</a:t>
            </a:r>
          </a:p>
          <a:p>
            <a:r>
              <a:rPr lang="en-GB" sz="2400" b="1" dirty="0"/>
              <a:t>Manually Configured: </a:t>
            </a:r>
            <a:r>
              <a:rPr lang="en-GB" sz="2400" dirty="0"/>
              <a:t>The administrator manually configures a static MAC address(es) by using the following command for each secure MAC address on the port:</a:t>
            </a:r>
          </a:p>
        </p:txBody>
      </p:sp>
      <p:sp>
        <p:nvSpPr>
          <p:cNvPr id="8" name="Rectangle 2">
            <a:extLst>
              <a:ext uri="{FF2B5EF4-FFF2-40B4-BE49-F238E27FC236}">
                <a16:creationId xmlns:a16="http://schemas.microsoft.com/office/drawing/2014/main" id="{353F25A3-0188-0B8A-FCD2-09BF08AFF75E}"/>
              </a:ext>
            </a:extLst>
          </p:cNvPr>
          <p:cNvSpPr>
            <a:spLocks noChangeArrowheads="1"/>
          </p:cNvSpPr>
          <p:nvPr/>
        </p:nvSpPr>
        <p:spPr bwMode="auto">
          <a:xfrm>
            <a:off x="668482" y="2479964"/>
            <a:ext cx="10855036" cy="30777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20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mac-address</a:t>
            </a:r>
            <a:r>
              <a:rPr kumimoji="0" lang="en-US" altLang="en-US" sz="20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2000" b="0" i="1" u="none" strike="noStrike" cap="none" normalizeH="0" baseline="0" dirty="0" err="1">
                <a:ln>
                  <a:noFill/>
                </a:ln>
                <a:solidFill>
                  <a:srgbClr val="58585B"/>
                </a:solidFill>
                <a:effectLst/>
                <a:latin typeface="Courier New" panose="02070309020205020404" pitchFamily="49" charset="0"/>
                <a:cs typeface="Courier New" panose="02070309020205020404" pitchFamily="49" charset="0"/>
              </a:rPr>
              <a:t>mac-address</a:t>
            </a:r>
            <a:r>
              <a:rPr kumimoji="0" lang="en-US" altLang="en-US" sz="2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9" name="Content Placeholder 2">
            <a:extLst>
              <a:ext uri="{FF2B5EF4-FFF2-40B4-BE49-F238E27FC236}">
                <a16:creationId xmlns:a16="http://schemas.microsoft.com/office/drawing/2014/main" id="{34AF7949-3C25-76C6-A3E5-7CC8DF9E034A}"/>
              </a:ext>
            </a:extLst>
          </p:cNvPr>
          <p:cNvSpPr txBox="1">
            <a:spLocks/>
          </p:cNvSpPr>
          <p:nvPr/>
        </p:nvSpPr>
        <p:spPr>
          <a:xfrm>
            <a:off x="169718" y="2903280"/>
            <a:ext cx="11831781" cy="14747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dirty="0"/>
              <a:t>Dynamically Learned: </a:t>
            </a:r>
            <a:r>
              <a:rPr lang="en-GB" sz="2400" dirty="0"/>
              <a:t>When the switchport port-security command is entered, the current source MAC for the device connected to the port is automatically secured but is not added to the running configuration. If the switch is rebooted, the port will have to re-learn the device’s MAC address.</a:t>
            </a:r>
          </a:p>
        </p:txBody>
      </p:sp>
      <p:sp>
        <p:nvSpPr>
          <p:cNvPr id="11" name="Content Placeholder 2">
            <a:extLst>
              <a:ext uri="{FF2B5EF4-FFF2-40B4-BE49-F238E27FC236}">
                <a16:creationId xmlns:a16="http://schemas.microsoft.com/office/drawing/2014/main" id="{4D0F28A8-BA3D-4561-89BE-3C03F9E040DD}"/>
              </a:ext>
            </a:extLst>
          </p:cNvPr>
          <p:cNvSpPr txBox="1">
            <a:spLocks/>
          </p:cNvSpPr>
          <p:nvPr/>
        </p:nvSpPr>
        <p:spPr>
          <a:xfrm>
            <a:off x="169718" y="4378038"/>
            <a:ext cx="11831781" cy="10806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dirty="0"/>
              <a:t>Dynamically Learned – Sticky: </a:t>
            </a:r>
            <a:r>
              <a:rPr lang="en-GB" sz="2400" dirty="0"/>
              <a:t>The administrator can enable the switch to dynamically learn the MAC address and “stick” them to the running configuration by using the following command:</a:t>
            </a:r>
          </a:p>
        </p:txBody>
      </p:sp>
      <p:sp>
        <p:nvSpPr>
          <p:cNvPr id="12" name="Rectangle 3">
            <a:extLst>
              <a:ext uri="{FF2B5EF4-FFF2-40B4-BE49-F238E27FC236}">
                <a16:creationId xmlns:a16="http://schemas.microsoft.com/office/drawing/2014/main" id="{3894D520-7B78-0A4A-0A19-CE8288064F32}"/>
              </a:ext>
            </a:extLst>
          </p:cNvPr>
          <p:cNvSpPr>
            <a:spLocks noChangeArrowheads="1"/>
          </p:cNvSpPr>
          <p:nvPr/>
        </p:nvSpPr>
        <p:spPr bwMode="auto">
          <a:xfrm>
            <a:off x="668482" y="5498766"/>
            <a:ext cx="10685318" cy="30777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20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mac-address sticky</a:t>
            </a:r>
            <a:r>
              <a:rPr kumimoji="0" lang="en-US" altLang="en-US" sz="2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13" name="Content Placeholder 2">
            <a:extLst>
              <a:ext uri="{FF2B5EF4-FFF2-40B4-BE49-F238E27FC236}">
                <a16:creationId xmlns:a16="http://schemas.microsoft.com/office/drawing/2014/main" id="{EAB65E62-6E04-5494-1C79-A6DC1AE5C571}"/>
              </a:ext>
            </a:extLst>
          </p:cNvPr>
          <p:cNvSpPr txBox="1">
            <a:spLocks/>
          </p:cNvSpPr>
          <p:nvPr/>
        </p:nvSpPr>
        <p:spPr>
          <a:xfrm>
            <a:off x="320385" y="6005193"/>
            <a:ext cx="11530445" cy="661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Saving the running configuration will commit the dynamically learned MAC address to NVRAM.</a:t>
            </a:r>
          </a:p>
        </p:txBody>
      </p:sp>
    </p:spTree>
    <p:extLst>
      <p:ext uri="{BB962C8B-B14F-4D97-AF65-F5344CB8AC3E}">
        <p14:creationId xmlns:p14="http://schemas.microsoft.com/office/powerpoint/2010/main" val="14438133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5A2CD-0F96-CDF7-1458-2BA2842DB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25F5E-DACD-DBA0-0B72-52A8D3667AB7}"/>
              </a:ext>
            </a:extLst>
          </p:cNvPr>
          <p:cNvSpPr>
            <a:spLocks noGrp="1"/>
          </p:cNvSpPr>
          <p:nvPr>
            <p:ph type="title"/>
          </p:nvPr>
        </p:nvSpPr>
        <p:spPr>
          <a:xfrm>
            <a:off x="838200" y="164986"/>
            <a:ext cx="10515600" cy="687820"/>
          </a:xfrm>
        </p:spPr>
        <p:txBody>
          <a:bodyPr>
            <a:normAutofit fontScale="90000"/>
          </a:bodyPr>
          <a:lstStyle/>
          <a:p>
            <a:r>
              <a:rPr lang="en-GB" dirty="0"/>
              <a:t>Limit and Learn MAC Addresses </a:t>
            </a:r>
            <a:endParaRPr lang="en-IE" dirty="0"/>
          </a:p>
        </p:txBody>
      </p:sp>
      <p:sp>
        <p:nvSpPr>
          <p:cNvPr id="3" name="Content Placeholder 2">
            <a:extLst>
              <a:ext uri="{FF2B5EF4-FFF2-40B4-BE49-F238E27FC236}">
                <a16:creationId xmlns:a16="http://schemas.microsoft.com/office/drawing/2014/main" id="{D7890C29-8798-20EF-9835-1B98F60F7A10}"/>
              </a:ext>
            </a:extLst>
          </p:cNvPr>
          <p:cNvSpPr>
            <a:spLocks noGrp="1"/>
          </p:cNvSpPr>
          <p:nvPr>
            <p:ph idx="1"/>
          </p:nvPr>
        </p:nvSpPr>
        <p:spPr>
          <a:xfrm>
            <a:off x="180109" y="991352"/>
            <a:ext cx="5915891" cy="5603411"/>
          </a:xfrm>
        </p:spPr>
        <p:txBody>
          <a:bodyPr>
            <a:normAutofit/>
          </a:bodyPr>
          <a:lstStyle/>
          <a:p>
            <a:pPr marL="0" indent="0">
              <a:buNone/>
            </a:pPr>
            <a:r>
              <a:rPr lang="en-GB" sz="2600" dirty="0"/>
              <a:t>The example demonstrates a complete port security configuration for </a:t>
            </a:r>
            <a:r>
              <a:rPr lang="en-GB" sz="2600" dirty="0" err="1"/>
              <a:t>FastEthernet</a:t>
            </a:r>
            <a:r>
              <a:rPr lang="en-GB" sz="2600" dirty="0"/>
              <a:t> 0/1.</a:t>
            </a:r>
          </a:p>
          <a:p>
            <a:r>
              <a:rPr lang="en-GB" sz="2600" dirty="0"/>
              <a:t>The administrator specifies a maximum of 4 MAC addresses, manually configures one secure MAC address, and then configures the port to dynamically learn additional secure MAC addresses up to the 4 secure MAC address maximum. </a:t>
            </a:r>
          </a:p>
          <a:p>
            <a:r>
              <a:rPr lang="en-GB" sz="2600" dirty="0"/>
              <a:t>Use the show port-security interface and the show port-security address command to verify the configuration.</a:t>
            </a:r>
          </a:p>
          <a:p>
            <a:pPr marL="0" indent="0">
              <a:buNone/>
            </a:pPr>
            <a:endParaRPr lang="en-GB" sz="2600" dirty="0"/>
          </a:p>
        </p:txBody>
      </p:sp>
      <p:pic>
        <p:nvPicPr>
          <p:cNvPr id="4" name="Picture 3">
            <a:extLst>
              <a:ext uri="{FF2B5EF4-FFF2-40B4-BE49-F238E27FC236}">
                <a16:creationId xmlns:a16="http://schemas.microsoft.com/office/drawing/2014/main" id="{5BEBF02F-7E46-110D-1EFB-5D97F6675D34}"/>
              </a:ext>
            </a:extLst>
          </p:cNvPr>
          <p:cNvPicPr>
            <a:picLocks noChangeAspect="1"/>
          </p:cNvPicPr>
          <p:nvPr/>
        </p:nvPicPr>
        <p:blipFill>
          <a:blip r:embed="rId3"/>
          <a:stretch>
            <a:fillRect/>
          </a:stretch>
        </p:blipFill>
        <p:spPr>
          <a:xfrm>
            <a:off x="6096000" y="687819"/>
            <a:ext cx="5915891" cy="6005195"/>
          </a:xfrm>
          <a:prstGeom prst="rect">
            <a:avLst/>
          </a:prstGeom>
        </p:spPr>
      </p:pic>
    </p:spTree>
    <p:extLst>
      <p:ext uri="{BB962C8B-B14F-4D97-AF65-F5344CB8AC3E}">
        <p14:creationId xmlns:p14="http://schemas.microsoft.com/office/powerpoint/2010/main" val="36133131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1185</TotalTime>
  <Words>3445</Words>
  <Application>Microsoft Office PowerPoint</Application>
  <PresentationFormat>Widescreen</PresentationFormat>
  <Paragraphs>307</Paragraphs>
  <Slides>37</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CiscoSans</vt:lpstr>
      <vt:lpstr>Courier New</vt:lpstr>
      <vt:lpstr>Wingdings</vt:lpstr>
      <vt:lpstr>Office Theme</vt:lpstr>
      <vt:lpstr>Basic Switch Configuration</vt:lpstr>
      <vt:lpstr>Agenda</vt:lpstr>
      <vt:lpstr>Cisco IOS</vt:lpstr>
      <vt:lpstr>Access Methods</vt:lpstr>
      <vt:lpstr>Terminal Emulation Programs</vt:lpstr>
      <vt:lpstr>Cisco Device interfaces: Port naming Convention</vt:lpstr>
      <vt:lpstr>IOS Navigation</vt:lpstr>
      <vt:lpstr>Primary Command Modes</vt:lpstr>
      <vt:lpstr>Configuration Mode and Subconfiguration Modes</vt:lpstr>
      <vt:lpstr>Navigation Between IOS Modes</vt:lpstr>
      <vt:lpstr>Navigation Between IOS Modes (Cont.)</vt:lpstr>
      <vt:lpstr>IOS Command Structure</vt:lpstr>
      <vt:lpstr>Basic IOS Command Structure</vt:lpstr>
      <vt:lpstr>IOS Help Features</vt:lpstr>
      <vt:lpstr>Hot Keys and Shortcuts</vt:lpstr>
      <vt:lpstr>Basic Device Configuration</vt:lpstr>
      <vt:lpstr>Basic Device Configuration Device Names</vt:lpstr>
      <vt:lpstr>Password Guidelines</vt:lpstr>
      <vt:lpstr>Configure Passwords</vt:lpstr>
      <vt:lpstr>Configure Passwords (Cont.)</vt:lpstr>
      <vt:lpstr>Encrypt Passwords</vt:lpstr>
      <vt:lpstr>Banner Messages</vt:lpstr>
      <vt:lpstr>Save Configurations</vt:lpstr>
      <vt:lpstr>Save Configuration Files</vt:lpstr>
      <vt:lpstr>Alter the Running Configurations</vt:lpstr>
      <vt:lpstr>LAN Security Concept</vt:lpstr>
      <vt:lpstr>Endpoint Security</vt:lpstr>
      <vt:lpstr>Network Security Devices</vt:lpstr>
      <vt:lpstr>Endpoint Protection</vt:lpstr>
      <vt:lpstr>Access Control using Authentication</vt:lpstr>
      <vt:lpstr>AAA Components</vt:lpstr>
      <vt:lpstr>Switch Port Security</vt:lpstr>
      <vt:lpstr>Switch Port Security: Secure Unused Ports</vt:lpstr>
      <vt:lpstr>Switch Port Security</vt:lpstr>
      <vt:lpstr>Switch Port Security</vt:lpstr>
      <vt:lpstr>Limit and Learn MAC Addresses </vt:lpstr>
      <vt:lpstr>Limit and Learn MAC Addresses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X Walsh</dc:creator>
  <cp:lastModifiedBy>Mujahid Tabassum</cp:lastModifiedBy>
  <cp:revision>16</cp:revision>
  <dcterms:created xsi:type="dcterms:W3CDTF">2021-10-01T15:54:49Z</dcterms:created>
  <dcterms:modified xsi:type="dcterms:W3CDTF">2026-02-25T11:20:55Z</dcterms:modified>
</cp:coreProperties>
</file>