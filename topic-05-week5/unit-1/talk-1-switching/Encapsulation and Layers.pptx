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2.xml" ContentType="application/vnd.openxmlformats-officedocument.presentationml.notesSlide+xml"/>
  <Override PartName="/ppt/ink/ink6.xml" ContentType="application/inkml+xml"/>
  <Override PartName="/ppt/ink/ink7.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371" r:id="rId2"/>
    <p:sldId id="1141" r:id="rId3"/>
    <p:sldId id="1144" r:id="rId4"/>
    <p:sldId id="1054" r:id="rId5"/>
    <p:sldId id="1107" r:id="rId6"/>
    <p:sldId id="1108" r:id="rId7"/>
    <p:sldId id="1128" r:id="rId8"/>
    <p:sldId id="270" r:id="rId9"/>
    <p:sldId id="368" r:id="rId10"/>
    <p:sldId id="1111" r:id="rId11"/>
    <p:sldId id="268" r:id="rId12"/>
    <p:sldId id="337" r:id="rId13"/>
    <p:sldId id="369" r:id="rId14"/>
    <p:sldId id="370" r:id="rId15"/>
    <p:sldId id="1131" r:id="rId16"/>
    <p:sldId id="1132" r:id="rId17"/>
    <p:sldId id="1134" r:id="rId18"/>
    <p:sldId id="1133" r:id="rId19"/>
    <p:sldId id="348" r:id="rId20"/>
    <p:sldId id="1135" r:id="rId21"/>
    <p:sldId id="1136" r:id="rId22"/>
    <p:sldId id="1145" r:id="rId23"/>
    <p:sldId id="1137" r:id="rId24"/>
    <p:sldId id="1146" r:id="rId25"/>
    <p:sldId id="1138" r:id="rId26"/>
    <p:sldId id="1121" r:id="rId27"/>
    <p:sldId id="1129" r:id="rId28"/>
    <p:sldId id="1122" r:id="rId29"/>
    <p:sldId id="339" r:id="rId30"/>
    <p:sldId id="1148" r:id="rId31"/>
    <p:sldId id="341" r:id="rId32"/>
    <p:sldId id="343" r:id="rId33"/>
    <p:sldId id="333" r:id="rId34"/>
    <p:sldId id="342" r:id="rId35"/>
    <p:sldId id="344" r:id="rId36"/>
    <p:sldId id="345" r:id="rId37"/>
    <p:sldId id="346" r:id="rId38"/>
    <p:sldId id="347" r:id="rId39"/>
    <p:sldId id="1142" r:id="rId40"/>
    <p:sldId id="114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1" autoAdjust="0"/>
    <p:restoredTop sz="66135" autoAdjust="0"/>
  </p:normalViewPr>
  <p:slideViewPr>
    <p:cSldViewPr snapToGrid="0">
      <p:cViewPr varScale="1">
        <p:scale>
          <a:sx n="73" d="100"/>
          <a:sy n="73" d="100"/>
        </p:scale>
        <p:origin x="1800" y="6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9-30T14:58:55.321"/>
    </inkml:context>
    <inkml:brush xml:id="br0">
      <inkml:brushProperty name="width" value="0.05" units="cm"/>
      <inkml:brushProperty name="height" value="0.05" units="cm"/>
      <inkml:brushProperty name="color" value="#E71224"/>
    </inkml:brush>
  </inkml:definitions>
  <inkml:trace contextRef="#ctx0" brushRef="#br0">3191 1107 4688 0 0,'0'0'651'0'0,"8"0"1567"0"0,-2-1 2022 0 0,8-6-4138 0 0,0 1 0 0 0,19-5 1 0 0,-2 6-103 0 0,-13 1 0 0 0,-16 2 2 0 0,0 1 1 0 0,0 0 0 0 0,0 0 0 0 0,0 0 0 0 0,0 0-1 0 0,1 0 1 0 0,-1 1 0 0 0,0-1 0 0 0,0 1-1 0 0,1-1 1 0 0,-1 1 0 0 0,0 0 0 0 0,1 0 0 0 0,-1 0-1 0 0,0 0 1 0 0,4 1 0 0 0,5 0 24 0 0,-1-3 80 0 0,0 0-1 0 0,0-1 0 0 0,10-4 1 0 0,-12 4 35 0 0,0 0 0 0 0,1 0 1 0 0,-1 1-1 0 0,1 1 0 0 0,0-1 0 0 0,10 0 1 0 0,86-9 126 0 0,-12 5 53 0 0,-47 1-17 0 0,-22 0-107 0 0,8 0 325 0 0,7 2-191 0 0,47-7 0 0 0,-72 7-317 0 0,-5 2-12 0 0,19-3 115 0 0,47-1 1 0 0,-42 3-98 0 0,0-2 0 0 0,54-12 0 0 0,-10 2-20 0 0,-11 8-1 0 0,-49 4 0 0 0,1 0 0 0 0,30 1 0 0 0,-27 1 0 0 0,33-4 0 0 0,-5-1 0 0 0,-37 5 0 0 0,0-1 0 0 0,1 0 0 0 0,-1-1 0 0 0,23-7 0 0 0,-17 3 106 0 0,0 1 1 0 0,31-5-1 0 0,-44 8-30 0 0,1 0-1 0 0,-1-1 0 0 0,1 1 0 0 0,-1-1 0 0 0,0 0 0 0 0,0 0 0 0 0,-1-1 0 0 0,1 1 0 0 0,7-9 0 0 0,18-11 501 0 0,-26 20-571 0 0,0-1 0 0 0,1 0 0 0 0,-1 0-1 0 0,-1 0 1 0 0,1 0 0 0 0,-1 0 0 0 0,5-8 0 0 0,16-18 51 0 0,-22 29-47 0 0,-1 0 1 0 0,1 0 0 0 0,-1-1 0 0 0,0 1-1 0 0,0 0 1 0 0,1-1 0 0 0,-1 1-1 0 0,0-1 1 0 0,0 1 0 0 0,-1-1-1 0 0,1 0 1 0 0,0 1 0 0 0,0-1 0 0 0,0-3-1 0 0,3-6 43 0 0,-3 7 15 0 0,0 0 0 0 0,1 1 0 0 0,-1-1-1 0 0,-1 0 1 0 0,1 0 0 0 0,0 0 0 0 0,-1 0 0 0 0,0 0 0 0 0,0 0-1 0 0,0 0 1 0 0,-1 0 0 0 0,1 1 0 0 0,-1-1 0 0 0,0 0 0 0 0,-1-5-1 0 0,-10-30 372 0 0,-31-39-268 0 0,-32-20-34 0 0,40 54-96 0 0,21 29 11 0 0,0 0 0 0 0,-1 1-1 0 0,-21-15 1 0 0,-15-13 66 0 0,33 26-85 0 0,-1 1-1 0 0,-1 0 0 0 0,-31-16 0 0 0,-68-29-10 0 0,76 40-35 0 0,26 13-6 0 0,-1 1-1 0 0,-29-6 0 0 0,-10-4 23 0 0,26 6-4 0 0,-1 2-1 0 0,-59-9 1 0 0,44 10-57 0 0,-220-29 45 0 0,154 31-149 0 0,-211 19-1 0 0,313-14 163 0 0,-252 16 52 0 0,144-11-130 0 0,74 0 63 0 0,0-2 0 0 0,-64-4-1 0 0,22 3 16 0 0,33 0-9 0 0,-99 4 10 0 0,-24-3 0 0 0,-164-5 0 0 0,58 0-48 0 0,148 3 32 0 0,-42 4 232 0 0,78 2-216 0 0,32 0 0 0 0,58-6-3 0 0,-17 1-56 0 0,-1-1-1 0 0,-27-3 0 0 0,-33 0-30 0 0,49 3 249 0 0,-48 7-236 0 0,-2-1-45 0 0,78-6 123 0 0,1 0-1 0 0,-1 0 0 0 0,0 1 1 0 0,1 0-1 0 0,-16 6 0 0 0,-17 4-12 0 0,10 0-21 0 0,-4 1 12 0 0,31-12 16 0 0,-1 0-1 0 0,1 1 0 0 0,0-1 0 0 0,0 1 0 0 0,0 0 0 0 0,0 1 0 0 0,-8 5 1 0 0,-10 4-13 0 0,15-8 3 0 0,1 0-1 0 0,1 0 0 0 0,-12 9 1 0 0,-13 9-47 0 0,21-16 52 0 0,1 1-1 0 0,0 0 0 0 0,-9 10 0 0 0,-2 1-30 0 0,4-4 41 0 0,-1-1 0 0 0,-1 0 0 0 0,-23 12 0 0 0,28-17 0 0 0,0 1 0 0 0,1 0 0 0 0,-15 14 0 0 0,16-13 0 0 0,1-1-31 0 0,1 1-1 0 0,0 0 1 0 0,-12 18-1 0 0,-8 9-60 0 0,10-6 26 0 0,17-30 60 0 0,1 1-1 0 0,0-1 0 0 0,-1 1 1 0 0,1-1-1 0 0,0 1 0 0 0,0-1 1 0 0,0 1-1 0 0,0-1 0 0 0,0 1 0 0 0,1 0 1 0 0,-1 0-1 0 0,0-1 0 0 0,1 1 1 0 0,0 0-1 0 0,-1 3 0 0 0,-1 2-18 0 0,-1 0-33 0 0,1-1-1 0 0,-1 1 0 0 0,1-1 1 0 0,0 1-1 0 0,0 0 0 0 0,1-1 1 0 0,0 1-1 0 0,0 14 0 0 0,7 29-98 0 0,-6-49 154 0 0,0-1 0 0 0,1 1 0 0 0,-1 0 0 0 0,0-1 0 0 0,0 1 0 0 0,0-1 0 0 0,1 1-1 0 0,-1-1 1 0 0,0 1 0 0 0,0-1 0 0 0,1 1 0 0 0,-1-1 0 0 0,1 1 0 0 0,-1-1 0 0 0,0 1 0 0 0,1-1 0 0 0,-1 0 0 0 0,1 1 0 0 0,-1-1 0 0 0,1 1-1 0 0,2 1 2 0 0,18 30-18 0 0,-2-3-50 0 0,42 52 0 0 0,-50-69 60 0 0,0-1-1 0 0,1 0 0 0 0,0-1 1 0 0,0 0-1 0 0,24 14 0 0 0,3 0 11 0 0,-33-19 0 0 0,1 0 0 0 0,0-1 0 0 0,0 0 0 0 0,1 0 0 0 0,-1-1 0 0 0,13 5 0 0 0,149 34-10 0 0,-15-10-44 0 0,0-2 54 0 0,-132-27 0 0 0,0-1 0 0 0,0 0 0 0 0,37-3 0 0 0,-13 0 0 0 0,223-16 146 0 0,-174 8-84 0 0,29-6 37 0 0,16-1-102 0 0,177-21-28 0 0,55-3-10 0 0,146 2 41 0 0,-341 23 0 0 0,8-4-163 0 0,201-10-530 0 0,-339 29 341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9-30T15:18:16.209"/>
    </inkml:context>
    <inkml:brush xml:id="br0">
      <inkml:brushProperty name="width" value="0.05" units="cm"/>
      <inkml:brushProperty name="height" value="0.05" units="cm"/>
    </inkml:brush>
  </inkml:definitions>
  <inkml:trace contextRef="#ctx0" brushRef="#br0">1 127 1376 0 0,'0'0'4984'0'0,"24"11"470"0"0,16-1-3212 0 0,-13-6-1810 0 0,-25-3-323 0 0,1-1 23 0 0,-2 0-125 0 0,4 0 53 0 0,-1 0 0 0 0,1 0 0 0 0,0 0 1 0 0,0 1-1 0 0,0 0 0 0 0,8 2 0 0 0,-11-2-34 0 0,0 0-1 0 0,0 0 1 0 0,0-1-1 0 0,0 1 1 0 0,0-1 0 0 0,1 0-1 0 0,-1 0 1 0 0,0 0 0 0 0,0 0-1 0 0,0 0 1 0 0,1 0 0 0 0,2-1-1 0 0,13 0 219 0 0,-6 0-129 0 0,1-1-1 0 0,22-5 0 0 0,-24 5 12 0 0,1 0 0 0 0,18-2 0 0 0,-27 4 65 0 0,12 0-14 0 0,101-9 567 0 0,-100 9-632 0 0,-1-1 0 0 0,19-3 0 0 0,-19 4-42 0 0,-14 0-63 0 0,-1 0 0 0 0,1 0-1 0 0,-1 0 1 0 0,1 0 0 0 0,-1 0 0 0 0,1 0 0 0 0,-1 0 0 0 0,1 0 0 0 0,0 0 0 0 0,-1 0-1 0 0,1 0 1 0 0,-1 0 0 0 0,1 1 0 0 0,-1-1 0 0 0,1 0 0 0 0,-1 0 0 0 0,0 1-1 0 0,1-1 1 0 0,-1 0 0 0 0,1 1 0 0 0,-1-1 0 0 0,1 0 0 0 0,-1 1 0 0 0,0-1 0 0 0,1 1-1 0 0,16-6 141 0 0,-5 3-106 0 0,0 1-1 0 0,0 1 1 0 0,21 0 0 0 0,15 2 148 0 0,12-6-122 0 0,63 5 91 0 0,-98 0-88 0 0,-16-1-39 0 0,0 1 1 0 0,-1-2 0 0 0,1 1 0 0 0,15-4-1 0 0,-13 3-2 0 0,0 0 0 0 0,-1 1-1 0 0,1 0 1 0 0,13 2-1 0 0,16 0 43 0 0,119-9 269 0 0,-49-1 65 0 0,3 1-52 0 0,-92 8-391 0 0,33 5 0 0 0,-32-2 40 0 0,33 0 0 0 0,-33-2-1 0 0,-18-2 24 0 0,1 1 0 0 0,-1-1-1 0 0,0 0 1 0 0,0 0 0 0 0,1 0 0 0 0,7-2 0 0 0,-2 0 15 0 0,1 1 0 0 0,0 0 1 0 0,0 1-1 0 0,0 0 0 0 0,15 2 0 0 0,-22-1-20 0 0,1-1-1 0 0,-1 0 0 0 0,1 0 0 0 0,-1-1 0 0 0,1 1 0 0 0,6-3 0 0 0,-8 2-10 0 0,1 0 0 0 0,-1 1 0 0 0,0-1 0 0 0,0 1 0 0 0,0-1 0 0 0,0 1 0 0 0,1 0 0 0 0,-1 0 0 0 0,0 1 0 0 0,0-1 0 0 0,0 1 0 0 0,5 1 0 0 0,-1 0 10 0 0,0-1 0 0 0,0 1-1 0 0,1-1 1 0 0,-1-1 0 0 0,10 1 0 0 0,17 1-4 0 0,-29-1-7 0 0,-1 0 0 0 0,1-1 1 0 0,-1 0-1 0 0,0 0 0 0 0,1 0 0 0 0,-1-1 1 0 0,5-1-1 0 0,11 0 39 0 0,-1 6-23 0 0,-5-2-9 0 0,0 0 0 0 0,-1-1 0 0 0,1 0 0 0 0,0-1 0 0 0,0-1 0 0 0,0 0 0 0 0,-1-1 0 0 0,18-5 0 0 0,18 4 47 0 0,-17 1 9 0 0,13-1 99 0 0,49 1 0 0 0,-37 2-126 0 0,24 8 20 0 0,-68-6-56 0 0,1-1-1 0 0,-1-1 0 0 0,17-1 1 0 0,-5 0 16 0 0,137-9 322 0 0,-140 3-273 0 0,-19 6-62 0 0,0 0 0 0 0,0 0 0 0 0,0 0 0 0 0,-1 0 0 0 0,1 0 0 0 0,0 1-1 0 0,5-1 1 0 0,47 8 42 0 0,-38-4-6 0 0,34 2 1 0 0,42-10 48 0 0,-88 4-88 0 0,0 0-1 0 0,0 0 1 0 0,0 0-1 0 0,0 1 1 0 0,0 0-1 0 0,0 0 1 0 0,7 1-1 0 0,1 1 4 0 0,3-2 15 0 0,5 0 9 0 0,0 0-1 0 0,0-1 1 0 0,-1-1 0 0 0,23-6 0 0 0,-32 6-13 0 0,1 0 0 0 0,-1 1-1 0 0,21 0 1 0 0,23-3 96 0 0,28-2 32 0 0,6-8-1 0 0,-12 4 28 0 0,-63 8-140 0 0,-1 1-1 0 0,1 1 0 0 0,17 1 1 0 0,-5 0-15 0 0,75 5 53 0 0,-27-12 93 0 0,-30 2-103 0 0,3-2-54 0 0,-33 1 15 0 0,0 0 4 0 0,4 2 19 0 0,1 0 0 0 0,27 1 0 0 0,31-7 33 0 0,-39 6-62 0 0,-28 2 3 0 0,-1 0 0 0 0,0 1 0 0 0,1 0 0 0 0,-1 0 0 0 0,1 1 0 0 0,14 3 1 0 0,-20-3-24 0 0,0 0 1 0 0,1 0 0 0 0,-1 0 0 0 0,1-1 0 0 0,-1 1 0 0 0,1-1 0 0 0,0 0 0 0 0,-1-1 0 0 0,1 1-1 0 0,-1-1 1 0 0,6-1 0 0 0,-5 1-1 0 0,1 1 0 0 0,-1 0-1 0 0,1 0 1 0 0,-1 0 0 0 0,1 1-1 0 0,5 1 1 0 0,22 1 13 0 0,16-2 38 0 0,-12 0-46 0 0,0-2 1 0 0,40-5 0 0 0,-52 3 56 0 0,0 2-1 0 0,38 2 1 0 0,-13 1-14 0 0,16-6 43 0 0,-47 2-48 0 0,-1 0 0 0 0,1 2 1 0 0,24 2-1 0 0,-23 0-58 0 0,1-1 1 0 0,0-2-1 0 0,26-2 0 0 0,21-1-14 0 0,-61 4 29 0 0,13-1 11 0 0,-1 2 0 0 0,1 0-1 0 0,0 1 1 0 0,24 6 0 0 0,-30-5 0 0 0,0-1 1 0 0,0-1 0 0 0,22 0 0 0 0,-19 0-3 0 0,0-1 0 0 0,23 5 0 0 0,-23-2 4 0 0,0-2-1 0 0,0-1 1 0 0,22-1-1 0 0,0 0 2 0 0,61 0 40 0 0,0 7 20 0 0,25 1-74 0 0,98 3 0 0 0,23-10 128 0 0,-80 6-10 0 0,57-2-108 0 0,7 7 142 0 0,-193-9-14 0 0,45 6-1 0 0,-50-10-88 0 0,-2 0-21 0 0,88 15 47 0 0,-94-14-28 0 0,-21 1-47 0 0,0-1 1 0 0,0 1 0 0 0,0 0-1 0 0,0 0 1 0 0,0 0 0 0 0,0 0-1 0 0,1 1 1 0 0,-1-1 0 0 0,5 2-1 0 0,6 2 8 0 0,0-1 0 0 0,-1 0 1 0 0,1-1-1 0 0,25 0 0 0 0,7 2 90 0 0,26 16 19 0 0,2-7-42 0 0,-67-12-71 0 0,1 0 1 0 0,-1-1 0 0 0,0 0-1 0 0,1-1 1 0 0,-1 0-1 0 0,11-2 1 0 0,-13 1-3 0 0,1 1 0 0 0,-1 0 0 0 0,1 1 0 0 0,0-1 0 0 0,-1 1-1 0 0,1 0 1 0 0,-1 0 0 0 0,1 1 0 0 0,0 0 0 0 0,8 2 0 0 0,0 1 31 0 0,-1 0 0 0 0,1-1 0 0 0,0-1-1 0 0,0 0 1 0 0,0-1 0 0 0,1-1 0 0 0,17-1 0 0 0,3 1-4 0 0,-18 1 19 0 0,27 10 82 0 0,-30-7-120 0 0,-1 1-10 0 0,-2 0 0 0 0,-9-3 3 0 0,1-1 0 0 0,-1 1 0 0 0,0-1 0 0 0,1 0 1 0 0,-1 0-1 0 0,1 0 0 0 0,0-1 0 0 0,-1 1 0 0 0,1-1 0 0 0,0 1 0 0 0,-1-1 0 0 0,4 0 0 0 0,1 0 11 0 0,28 1-84 0 0,-28 0-717 0 0,0-1-1 0 0,1 0 0 0 0,-1 0 1 0 0,9-1-1 0 0,7 0-3779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9-30T15:18:20.223"/>
    </inkml:context>
    <inkml:brush xml:id="br0">
      <inkml:brushProperty name="width" value="0.05" units="cm"/>
      <inkml:brushProperty name="height" value="0.05" units="cm"/>
    </inkml:brush>
  </inkml:definitions>
  <inkml:trace contextRef="#ctx0" brushRef="#br0">0 169 3224 0 0,'0'0'227'0'0,"15"-4"-559"0"0,-11 4 354 0 0,0 0 1 0 0,-1 0-1 0 0,1-1 1 0 0,0 1-1 0 0,0-1 1 0 0,-1 0-1 0 0,1 0 1 0 0,3-1-1 0 0,30-10 5142 0 0,-25 16-3824 0 0,15-2 1348 0 0,-24-1-1047 0 0,24 8-554 0 0,-27-8-1074 0 0,1-1 0 0 0,-1 0 1 0 0,1 0-1 0 0,-1 0 0 0 0,1 0 0 0 0,-1 0 1 0 0,1 0-1 0 0,0 0 0 0 0,-1 0 0 0 0,1 0 1 0 0,-1 0-1 0 0,1 0 0 0 0,-1-1 0 0 0,1 1 1 0 0,-1 0-1 0 0,1 0 0 0 0,-1 0 0 0 0,1-1 1 0 0,-1 1-1 0 0,1 0 0 0 0,-1 0 0 0 0,1-1 1 0 0,2-1 40 0 0,3 2-1 0 0,0-1 1 0 0,0 1-1 0 0,0 0 1 0 0,0 1-1 0 0,0 0 1 0 0,0 0-1 0 0,0 0 1 0 0,-1 0-1 0 0,8 4 1 0 0,-5-3 2 0 0,0 0 0 0 0,0 0 0 0 0,0 0 0 0 0,10 0 1 0 0,64-7 488 0 0,-47 4-202 0 0,40-8 0 0 0,-40 5-159 0 0,40-1 0 0 0,81-2 177 0 0,-83 2-232 0 0,101-8 194 0 0,98-4 83 0 0,-49-1-13 0 0,-41 0-149 0 0,-42 5-38 0 0,-2 0-2 0 0,128-10 42 0 0,-88 11-62 0 0,125-1-69 0 0,38 16-51 0 0,-4-5-9 0 0,-7 0 61 0 0,-36 6 44 0 0,-115-7-37 0 0,34 2-20 0 0,-210 2-103 0 0,249 9 0 0 0,142 0 494 0 0,-349-8-390 0 0,370 6-274 0 0,-263-8 357 0 0,384-4-3 0 0,-256 5-33 0 0,-96 2-63 0 0,292 11 133 0 0,2 0-106 0 0,-285-5-105 0 0,-63-2 1 0 0,51 8 39 0 0,-139-11-47 0 0,101 16 52 0 0,44 4 46 0 0,161-9 219 0 0,-342-15-306 0 0,0-1 1 0 0,0 1-1 0 0,0-1 0 0 0,11-3 0 0 0,-13 3-4 0 0,-2 1 3 0 0,15 6 17 0 0,-7-5-6 0 0,-8-1 512 0 0,9-3-2530 0 0,7-2-2798 0 0,6 2 2747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9-30T15:28:03.800"/>
    </inkml:context>
    <inkml:brush xml:id="br0">
      <inkml:brushProperty name="width" value="0.05" units="cm"/>
      <inkml:brushProperty name="height" value="0.05" units="cm"/>
      <inkml:brushProperty name="color" value="#E71224"/>
    </inkml:brush>
  </inkml:definitions>
  <inkml:trace contextRef="#ctx0" brushRef="#br0">1 1484 1840 0 0,'0'0'2108'0'0,"4"0"-2016"0"0,2 2-86 0 0,53 11 950 0 0,-54-11-772 0 0,1 0 1 0 0,-1 0-1 0 0,0 1 1 0 0,0-1-1 0 0,0 1 1 0 0,0 1-1 0 0,0-1 1 0 0,7 7-1 0 0,-6-7 118 0 0,0 0 0 0 0,0-1 0 0 0,0 0 0 0 0,0 0-1 0 0,8 2 1 0 0,62 2 1193 0 0,-66-5-1351 0 0,0 0 0 0 0,-1-1 1 0 0,1 0-1 0 0,0-1 0 0 0,-1 0 1 0 0,1 0-1 0 0,0-1 0 0 0,9-3 1 0 0,43-7 440 0 0,81-8-385 0 0,-69 7-148 0 0,57-11 156 0 0,136-45 1 0 0,-23-23 497 0 0,-179 65-597 0 0,39-10 121 0 0,-65 24-77 0 0,-1 0 0 0 0,57-30 0 0 0,-63 26-140 0 0,46-16 0 0 0,-50 23 38 0 0,-1-1-1 0 0,-1-2 0 0 0,30-18 1 0 0,-34 17-41 0 0,-11 7-10 0 0,0-1 0 0 0,0 1 1 0 0,10-12-1 0 0,70-60 67 0 0,13-13 264 0 0,-68 63-213 0 0,-7 7-18 0 0,60-48 188 0 0,-55 43-220 0 0,-18 15-66 0 0,21-21 0 0 0,45-50 8 0 0,-30 24 17 0 0,85-74 0 0 0,-110 107-27 0 0,11-9 0 0 0,-21 21 18 0 0,-1 0 0 0 0,-1-1 0 0 0,0-1 1 0 0,-1 0-1 0 0,-1-1 0 0 0,14-22 1 0 0,-7 5 7 0 0,26-66 1 0 0,-41 90-16 0 0,2 2-11 0 0,1 0-11 0 0,-6 6-44 0 0,5-8-826 0 0,-2 2-375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9-30T15:28:04.872"/>
    </inkml:context>
    <inkml:brush xml:id="br0">
      <inkml:brushProperty name="width" value="0.05" units="cm"/>
      <inkml:brushProperty name="height" value="0.05" units="cm"/>
      <inkml:brushProperty name="color" value="#E71224"/>
    </inkml:brush>
  </inkml:definitions>
  <inkml:trace contextRef="#ctx0" brushRef="#br0">724 68 1840 0 0,'0'0'4841'0'0,"-11"0"-3684"0"0,-33 7-57 0 0,24-3-718 0 0,-11 5 98 0 0,25-7-338 0 0,1 0 0 0 0,-1-1 0 0 0,0 1 0 0 0,1-1 1 0 0,-1 0-1 0 0,0-1 0 0 0,-11 0 0 0 0,-3 0 170 0 0,1 0 0 0 0,-1 0 0 0 0,0 2-1 0 0,-28 6 1 0 0,-19 1-80 0 0,57-7-143 0 0,1 0 1 0 0,0 0-1 0 0,0 0 1 0 0,-15 7 0 0 0,-17 5 310 0 0,-79 22-336 0 0,71-20-88 0 0,43-14 27 0 0,1 0 0 0 0,-1 1 0 0 0,1 0 1 0 0,-8 4-1 0 0,-40 21 45 0 0,46-26 16 0 0,6-2-24 0 0,25 3 9 0 0,-21-2-58 0 0,1 0 0 0 0,-1-1-1 0 0,1 1 1 0 0,-1-1 0 0 0,1 0 0 0 0,-1 0 0 0 0,5-1 0 0 0,86-18-507 0 0,170-57 0 0 0,-218 61 460 0 0,107-42-14 0 0,-41 20 70 0 0,-25 10 54 0 0,-68 21-58 0 0,1 1 1 0 0,24-3-1 0 0,-34 7-28 0 0,-8 1 139 0 0,-2 17 119 0 0,0-12-179 0 0,-1 0 0 0 0,0 0 0 0 0,0 0 0 0 0,0 0 0 0 0,-1 0 0 0 0,1 0 1 0 0,-1 0-1 0 0,-3 5 0 0 0,-25 40 186 0 0,14-25-180 0 0,-50 84 85 0 0,-74 131 220 0 0,126-213-315 0 0,-43 89 116 0 0,52-102-138 0 0,0 0 1 0 0,1 1 0 0 0,0-1-1 0 0,1 0 1 0 0,1 1-1 0 0,-1 24 1 0 0,3-34-155 0 0,1 0 1 0 0,0 0-1 0 0,0 0 0 0 0,0 0 1 0 0,1 0-1 0 0,-1 0 0 0 0,1 0 1 0 0,0-1-1 0 0,5 8 0 0 0,3 0-4613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9-30T15:18:16.209"/>
    </inkml:context>
    <inkml:brush xml:id="br0">
      <inkml:brushProperty name="width" value="0.05" units="cm"/>
      <inkml:brushProperty name="height" value="0.05" units="cm"/>
    </inkml:brush>
  </inkml:definitions>
  <inkml:trace contextRef="#ctx0" brushRef="#br0">1 127 1376 0 0,'0'0'4984'0'0,"24"11"470"0"0,16-1-3212 0 0,-13-6-1810 0 0,-25-3-323 0 0,1-1 23 0 0,-2 0-125 0 0,4 0 53 0 0,-1 0 0 0 0,1 0 0 0 0,0 0 1 0 0,0 1-1 0 0,0 0 0 0 0,8 2 0 0 0,-11-2-34 0 0,0 0-1 0 0,0 0 1 0 0,0-1-1 0 0,0 1 1 0 0,0-1 0 0 0,1 0-1 0 0,-1 0 1 0 0,0 0 0 0 0,0 0-1 0 0,0 0 1 0 0,1 0 0 0 0,2-1-1 0 0,13 0 219 0 0,-6 0-129 0 0,1-1-1 0 0,22-5 0 0 0,-24 5 12 0 0,1 0 0 0 0,18-2 0 0 0,-27 4 65 0 0,12 0-14 0 0,101-9 567 0 0,-100 9-632 0 0,-1-1 0 0 0,19-3 0 0 0,-19 4-42 0 0,-14 0-63 0 0,-1 0 0 0 0,1 0-1 0 0,-1 0 1 0 0,1 0 0 0 0,-1 0 0 0 0,1 0 0 0 0,-1 0 0 0 0,1 0 0 0 0,0 0 0 0 0,-1 0-1 0 0,1 0 1 0 0,-1 0 0 0 0,1 1 0 0 0,-1-1 0 0 0,1 0 0 0 0,-1 0 0 0 0,0 1-1 0 0,1-1 1 0 0,-1 0 0 0 0,1 1 0 0 0,-1-1 0 0 0,1 0 0 0 0,-1 1 0 0 0,0-1 0 0 0,1 1-1 0 0,16-6 141 0 0,-5 3-106 0 0,0 1-1 0 0,0 1 1 0 0,21 0 0 0 0,15 2 148 0 0,12-6-122 0 0,63 5 91 0 0,-98 0-88 0 0,-16-1-39 0 0,0 1 1 0 0,-1-2 0 0 0,1 1 0 0 0,15-4-1 0 0,-13 3-2 0 0,0 0 0 0 0,-1 1-1 0 0,1 0 1 0 0,13 2-1 0 0,16 0 43 0 0,119-9 269 0 0,-49-1 65 0 0,3 1-52 0 0,-92 8-391 0 0,33 5 0 0 0,-32-2 40 0 0,33 0 0 0 0,-33-2-1 0 0,-18-2 24 0 0,1 1 0 0 0,-1-1-1 0 0,0 0 1 0 0,0 0 0 0 0,1 0 0 0 0,7-2 0 0 0,-2 0 15 0 0,1 1 0 0 0,0 0 1 0 0,0 1-1 0 0,0 0 0 0 0,15 2 0 0 0,-22-1-20 0 0,1-1-1 0 0,-1 0 0 0 0,1 0 0 0 0,-1-1 0 0 0,1 1 0 0 0,6-3 0 0 0,-8 2-10 0 0,1 0 0 0 0,-1 1 0 0 0,0-1 0 0 0,0 1 0 0 0,0-1 0 0 0,0 1 0 0 0,1 0 0 0 0,-1 0 0 0 0,0 1 0 0 0,0-1 0 0 0,0 1 0 0 0,5 1 0 0 0,-1 0 10 0 0,0-1 0 0 0,0 1-1 0 0,1-1 1 0 0,-1-1 0 0 0,10 1 0 0 0,17 1-4 0 0,-29-1-7 0 0,-1 0 0 0 0,1-1 1 0 0,-1 0-1 0 0,0 0 0 0 0,1 0 0 0 0,-1-1 1 0 0,5-1-1 0 0,11 0 39 0 0,-1 6-23 0 0,-5-2-9 0 0,0 0 0 0 0,-1-1 0 0 0,1 0 0 0 0,0-1 0 0 0,0-1 0 0 0,0 0 0 0 0,-1-1 0 0 0,18-5 0 0 0,18 4 47 0 0,-17 1 9 0 0,13-1 99 0 0,49 1 0 0 0,-37 2-126 0 0,24 8 20 0 0,-68-6-56 0 0,1-1-1 0 0,-1-1 0 0 0,17-1 1 0 0,-5 0 16 0 0,137-9 322 0 0,-140 3-273 0 0,-19 6-62 0 0,0 0 0 0 0,0 0 0 0 0,0 0 0 0 0,-1 0 0 0 0,1 0 0 0 0,0 1-1 0 0,5-1 1 0 0,47 8 42 0 0,-38-4-6 0 0,34 2 1 0 0,42-10 48 0 0,-88 4-88 0 0,0 0-1 0 0,0 0 1 0 0,0 0-1 0 0,0 1 1 0 0,0 0-1 0 0,0 0 1 0 0,7 1-1 0 0,1 1 4 0 0,3-2 15 0 0,5 0 9 0 0,0 0-1 0 0,0-1 1 0 0,-1-1 0 0 0,23-6 0 0 0,-32 6-13 0 0,1 0 0 0 0,-1 1-1 0 0,21 0 1 0 0,23-3 96 0 0,28-2 32 0 0,6-8-1 0 0,-12 4 28 0 0,-63 8-140 0 0,-1 1-1 0 0,1 1 0 0 0,17 1 1 0 0,-5 0-15 0 0,75 5 53 0 0,-27-12 93 0 0,-30 2-103 0 0,3-2-54 0 0,-33 1 15 0 0,0 0 4 0 0,4 2 19 0 0,1 0 0 0 0,27 1 0 0 0,31-7 33 0 0,-39 6-62 0 0,-28 2 3 0 0,-1 0 0 0 0,0 1 0 0 0,1 0 0 0 0,-1 0 0 0 0,1 1 0 0 0,14 3 1 0 0,-20-3-24 0 0,0 0 1 0 0,1 0 0 0 0,-1 0 0 0 0,1-1 0 0 0,-1 1 0 0 0,1-1 0 0 0,0 0 0 0 0,-1-1 0 0 0,1 1-1 0 0,-1-1 1 0 0,6-1 0 0 0,-5 1-1 0 0,1 1 0 0 0,-1 0-1 0 0,1 0 1 0 0,-1 0 0 0 0,1 1-1 0 0,5 1 1 0 0,22 1 13 0 0,16-2 38 0 0,-12 0-46 0 0,0-2 1 0 0,40-5 0 0 0,-52 3 56 0 0,0 2-1 0 0,38 2 1 0 0,-13 1-14 0 0,16-6 43 0 0,-47 2-48 0 0,-1 0 0 0 0,1 2 1 0 0,24 2-1 0 0,-23 0-58 0 0,1-1 1 0 0,0-2-1 0 0,26-2 0 0 0,21-1-14 0 0,-61 4 29 0 0,13-1 11 0 0,-1 2 0 0 0,1 0-1 0 0,0 1 1 0 0,24 6 0 0 0,-30-5 0 0 0,0-1 1 0 0,0-1 0 0 0,22 0 0 0 0,-19 0-3 0 0,0-1 0 0 0,23 5 0 0 0,-23-2 4 0 0,0-2-1 0 0,0-1 1 0 0,22-1-1 0 0,0 0 2 0 0,61 0 40 0 0,0 7 20 0 0,25 1-74 0 0,98 3 0 0 0,23-10 128 0 0,-80 6-10 0 0,57-2-108 0 0,7 7 142 0 0,-193-9-14 0 0,45 6-1 0 0,-50-10-88 0 0,-2 0-21 0 0,88 15 47 0 0,-94-14-28 0 0,-21 1-47 0 0,0-1 1 0 0,0 1 0 0 0,0 0-1 0 0,0 0 1 0 0,0 0 0 0 0,0 0-1 0 0,1 1 1 0 0,-1-1 0 0 0,5 2-1 0 0,6 2 8 0 0,0-1 0 0 0,-1 0 1 0 0,1-1-1 0 0,25 0 0 0 0,7 2 90 0 0,26 16 19 0 0,2-7-42 0 0,-67-12-71 0 0,1 0 1 0 0,-1-1 0 0 0,0 0-1 0 0,1-1 1 0 0,-1 0-1 0 0,11-2 1 0 0,-13 1-3 0 0,1 1 0 0 0,-1 0 0 0 0,1 1 0 0 0,0-1 0 0 0,-1 1-1 0 0,1 0 1 0 0,-1 0 0 0 0,1 1 0 0 0,0 0 0 0 0,8 2 0 0 0,0 1 31 0 0,-1 0 0 0 0,1-1 0 0 0,0-1-1 0 0,0 0 1 0 0,0-1 0 0 0,1-1 0 0 0,17-1 0 0 0,3 1-4 0 0,-18 1 19 0 0,27 10 82 0 0,-30-7-120 0 0,-1 1-10 0 0,-2 0 0 0 0,-9-3 3 0 0,1-1 0 0 0,-1 1 0 0 0,0-1 0 0 0,1 0 1 0 0,-1 0-1 0 0,1 0 0 0 0,0-1 0 0 0,-1 1 0 0 0,1-1 0 0 0,0 1 0 0 0,-1-1 0 0 0,4 0 0 0 0,1 0 11 0 0,28 1-84 0 0,-28 0-717 0 0,0-1-1 0 0,1 0 0 0 0,-1 0 1 0 0,9-1-1 0 0,7 0-3779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9-30T15:18:20.223"/>
    </inkml:context>
    <inkml:brush xml:id="br0">
      <inkml:brushProperty name="width" value="0.05" units="cm"/>
      <inkml:brushProperty name="height" value="0.05" units="cm"/>
    </inkml:brush>
  </inkml:definitions>
  <inkml:trace contextRef="#ctx0" brushRef="#br0">0 169 3224 0 0,'0'0'227'0'0,"15"-4"-559"0"0,-11 4 354 0 0,0 0 1 0 0,-1 0-1 0 0,1-1 1 0 0,0 1-1 0 0,0-1 1 0 0,-1 0-1 0 0,1 0 1 0 0,3-1-1 0 0,30-10 5142 0 0,-25 16-3824 0 0,15-2 1348 0 0,-24-1-1047 0 0,24 8-554 0 0,-27-8-1074 0 0,1-1 0 0 0,-1 0 1 0 0,1 0-1 0 0,-1 0 0 0 0,1 0 0 0 0,-1 0 1 0 0,1 0-1 0 0,0 0 0 0 0,-1 0 0 0 0,1 0 1 0 0,-1 0-1 0 0,1 0 0 0 0,-1-1 0 0 0,1 1 1 0 0,-1 0-1 0 0,1 0 0 0 0,-1 0 0 0 0,1-1 1 0 0,-1 1-1 0 0,1 0 0 0 0,-1 0 0 0 0,1-1 1 0 0,2-1 40 0 0,3 2-1 0 0,0-1 1 0 0,0 1-1 0 0,0 0 1 0 0,0 1-1 0 0,0 0 1 0 0,0 0-1 0 0,0 0 1 0 0,-1 0-1 0 0,8 4 1 0 0,-5-3 2 0 0,0 0 0 0 0,0 0 0 0 0,0 0 0 0 0,10 0 1 0 0,64-7 488 0 0,-47 4-202 0 0,40-8 0 0 0,-40 5-159 0 0,40-1 0 0 0,81-2 177 0 0,-83 2-232 0 0,101-8 194 0 0,98-4 83 0 0,-49-1-13 0 0,-41 0-149 0 0,-42 5-38 0 0,-2 0-2 0 0,128-10 42 0 0,-88 11-62 0 0,125-1-69 0 0,38 16-51 0 0,-4-5-9 0 0,-7 0 61 0 0,-36 6 44 0 0,-115-7-37 0 0,34 2-20 0 0,-210 2-103 0 0,249 9 0 0 0,142 0 494 0 0,-349-8-390 0 0,370 6-274 0 0,-263-8 357 0 0,384-4-3 0 0,-256 5-33 0 0,-96 2-63 0 0,292 11 133 0 0,2 0-106 0 0,-285-5-105 0 0,-63-2 1 0 0,51 8 39 0 0,-139-11-47 0 0,101 16 52 0 0,44 4 46 0 0,161-9 219 0 0,-342-15-306 0 0,0-1 1 0 0,0 1-1 0 0,0-1 0 0 0,11-3 0 0 0,-13 3-4 0 0,-2 1 3 0 0,15 6 17 0 0,-7-5-6 0 0,-8-1 512 0 0,9-3-2530 0 0,7-2-2798 0 0,6 2 2747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03T09:42:49.004"/>
    </inkml:context>
    <inkml:brush xml:id="br0">
      <inkml:brushProperty name="width" value="0.05" units="cm"/>
      <inkml:brushProperty name="height" value="0.05" units="cm"/>
    </inkml:brush>
  </inkml:definitions>
  <inkml:trace contextRef="#ctx0" brushRef="#br0">29 1498 2160 0 0,'0'0'99'0'0,"2"1"-9"0"0,10 3-511 0 0,-1 0 3771 0 0,-19-2-1180 0 0,6-2-2080 0 0,0 1 0 0 0,1-1 0 0 0,-1 1 0 0 0,0-1 0 0 0,1 1 0 0 0,-1 0 1 0 0,1 0-1 0 0,-1 0 0 0 0,-2 1 0 0 0,-7 5 838 0 0,-5 0 1835 0 0,19-7-2710 0 0,16 1-80 0 0,-12-3 1 0 0,3-3 12 0 0,-7 4 46 0 0,0 1-64 0 0,16 0 21 0 0,-14 0 9 0 0,18-5 5 0 0,13-6-3 0 0,-35 11 0 0 0,0 0 0 0 0,0 0 0 0 0,1 0 0 0 0,-1 0 0 0 0,0 0 0 0 0,0 0 0 0 0,0 0 0 0 0,1-1 0 0 0,-1 1 0 0 0,0 0 0 0 0,0-1 0 0 0,0 1 0 0 0,0-1 0 0 0,0 1 0 0 0,0-1 0 0 0,0 0 0 0 0,2-1 0 0 0,2-1 0 0 0,2 2-3 0 0,20-4 16 0 0,-20 2 10 0 0,25-4 8 0 0,53-8-95 0 0,-3 4 64 0 0,-55 6 0 0 0,1-1 0 0 0,-1-1 0 0 0,42-17 0 0 0,30-16 64 0 0,-47 14 0 0 0,-41 20-41 0 0,0 0 0 0 0,0 1 0 0 0,12-5 0 0 0,-9 4 26 0 0,0 0 0 0 0,0-1 0 0 0,-1-1 0 0 0,0 0 0 0 0,0-1 0 0 0,-1-1 0 0 0,0 0 0 0 0,-1 0 0 0 0,0-1 1 0 0,10-14-1 0 0,47-58 423 0 0,-64 79-454 0 0,-1-1 0 0 0,-1 1 0 0 0,1 0 1 0 0,-1-1-1 0 0,2-5 0 0 0,10-17 62 0 0,33-62 187 0 0,10-16-342 0 0,-7 21 239 0 0,1-3-72 0 0,-38 68-92 0 0,32-51-309 0 0,19-32 290 0 0,-38 63 22 0 0,31-45-3 0 0,-42 55 0 0 0,-13 25 0 0 0,-1 0 0 0 0,1 0 0 0 0,0 0 0 0 0,1 0 0 0 0,4-6 0 0 0,14-18-30 0 0,26-47 0 0 0,-17 13 18 0 0,-1 8 12 0 0,-24 46 0 0 0,-1 3-1 0 0,-1-1-1 0 0,0 0 1 0 0,1 0 0 0 0,-2 0-1 0 0,1 0 1 0 0,-1 0-1 0 0,2-7 1 0 0,-3 4-52 0 0,-1 7-14 0 0,-7 2-90 0 0,-3 1 157 0 0,4 3-11 0 0,4-3-32 0 0,-2-1 47 0 0,1-1 0 0 0,0 0 0 0 0,-1 0-1 0 0,1-1 1 0 0,0 1 0 0 0,0-1 0 0 0,0 1 0 0 0,0-1 0 0 0,-3-2-1 0 0,-5-2 23 0 0,5 1 12 0 0,5 4-30 0 0,0 0 0 0 0,1 1 0 0 0,-1-1 0 0 0,0 1 0 0 0,0-1 0 0 0,0 1 0 0 0,0-1 0 0 0,0 1 0 0 0,0-1 0 0 0,0 1 0 0 0,0 0 0 0 0,0 0 1 0 0,0-1-1 0 0,0 1 0 0 0,0 0 0 0 0,0 0 0 0 0,0 0 0 0 0,0 0 0 0 0,0 0 0 0 0,-1 1 0 0 0,0-1 4 0 0,0-1 1 0 0,0 1-1 0 0,0 0 0 0 0,0-1 1 0 0,0 1-1 0 0,0-1 0 0 0,0 0 1 0 0,-3-2-1 0 0,3 3-7 0 0,1-1 1 0 0,0 0 0 0 0,-1 1-1 0 0,1-1 1 0 0,0 1-1 0 0,-1-1 1 0 0,1 1 0 0 0,0 0-1 0 0,-1-1 1 0 0,1 1-1 0 0,-1 0 1 0 0,1 0-1 0 0,-1 0 1 0 0,1 0 0 0 0,0 0-1 0 0,-1 0 1 0 0,1 1-1 0 0,-1-1 1 0 0,-1 1 0 0 0,-17 7-46 0 0,0 1 0 0 0,1 1 0 0 0,0 1 0 0 0,1 1 0 0 0,0 0 0 0 0,-20 19 0 0 0,-32 22-89 0 0,34-27 70 0 0,-46 26 47 0 0,54-38 60 0 0,25-12-127 0 0,5-1-298 0 0,0 0 374 0 0,-1 0 1 0 0,0 0-1 0 0,1-1 1 0 0,-1 1-1 0 0,1 0 1 0 0,-1-1-1 0 0,1 1 1 0 0,-1-1 0 0 0,1 0-1 0 0,-1 1 1 0 0,1-1-1 0 0,-1 0 1 0 0,1 0-1 0 0,0 0 1 0 0,-1 0-1 0 0,1 0 1 0 0,-1 0 0 0 0,1-1-1 0 0,0 1 1 0 0,-1 0-1 0 0,1-1 1 0 0,-1 1-1 0 0,1-1 1 0 0,1-1-1 0 0,3 0 1 0 0,54-20-115 0 0,83-43 0 0 0,-39 17 31 0 0,-100 44 86 0 0,-2 3 0 0 0,0 0 0 0 0,0 0 0 0 0,0 1 0 0 0,0-1 0 0 0,0 0 0 0 0,0 1 0 0 0,0-1 0 0 0,0 1 0 0 0,0-1 0 0 0,0 1 0 0 0,0 0 0 0 0,4 0 0 0 0,24-6 0 0 0,-17 6 0 0 0,2 5-11 0 0,-1 2-32 0 0,-4 6 33 0 0,-8-8 10 0 0,0 0 0 0 0,0 0 1 0 0,-1 1-1 0 0,1-1 0 0 0,-1 0 1 0 0,-1 0-1 0 0,1 1 0 0 0,-1-1 1 0 0,0 1-1 0 0,0-1 0 0 0,0 0 1 0 0,-2 6-1 0 0,1 20 80 0 0,-5 22 103 0 0,5-43-140 0 0,-1 0 0 0 0,1 0 0 0 0,1 0 0 0 0,0 1 0 0 0,2 17 0 0 0,-1-20-42 0 0,0-1-1 0 0,0 0 1 0 0,1 0 0 0 0,0 0-1 0 0,0 0 1 0 0,1 0 0 0 0,0-1 0 0 0,0 1-1 0 0,0-1 1 0 0,1 0 0 0 0,0 0-1 0 0,0 0 1 0 0,1 0 0 0 0,9 9 0 0 0,2-2-564 0 0,24 16 0 0 0,-23-18-3639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1057AB-2EF4-4F91-A474-48A0D60D0BF4}" type="datetimeFigureOut">
              <a:rPr lang="en-IE" smtClean="0"/>
              <a:t>06/10/2025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7650DC-A9E6-4029-8E34-5572DB096263}" type="slidenum">
              <a:rPr lang="en-IE" smtClean="0"/>
              <a:t>‹#›</a:t>
            </a:fld>
            <a:endParaRPr lang="en-IE"/>
          </a:p>
        </p:txBody>
      </p:sp>
    </p:spTree>
    <p:extLst>
      <p:ext uri="{BB962C8B-B14F-4D97-AF65-F5344CB8AC3E}">
        <p14:creationId xmlns:p14="http://schemas.microsoft.com/office/powerpoint/2010/main" val="1982728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Show </a:t>
            </a:r>
            <a:r>
              <a:rPr lang="en-IE" dirty="0" err="1"/>
              <a:t>Switsh</a:t>
            </a:r>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3</a:t>
            </a:fld>
            <a:endParaRPr lang="en-IE"/>
          </a:p>
        </p:txBody>
      </p:sp>
    </p:spTree>
    <p:extLst>
      <p:ext uri="{BB962C8B-B14F-4D97-AF65-F5344CB8AC3E}">
        <p14:creationId xmlns:p14="http://schemas.microsoft.com/office/powerpoint/2010/main" val="977352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58585B"/>
              </a:solidFill>
              <a:effectLst/>
              <a:latin typeface="CiscoSan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58585B"/>
              </a:solidFill>
              <a:effectLst/>
              <a:latin typeface="CiscoSan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712768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58585B"/>
              </a:solidFill>
              <a:effectLst/>
              <a:latin typeface="CiscoSan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58585B"/>
              </a:solidFill>
              <a:effectLst/>
              <a:latin typeface="CiscoSan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369957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58585B"/>
              </a:solidFill>
              <a:effectLst/>
              <a:latin typeface="CiscoSans"/>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117020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Hubs are history. Too much traffic. Insecure</a:t>
            </a:r>
          </a:p>
        </p:txBody>
      </p:sp>
      <p:sp>
        <p:nvSpPr>
          <p:cNvPr id="4" name="Slide Number Placeholder 3"/>
          <p:cNvSpPr>
            <a:spLocks noGrp="1"/>
          </p:cNvSpPr>
          <p:nvPr>
            <p:ph type="sldNum" sz="quarter" idx="5"/>
          </p:nvPr>
        </p:nvSpPr>
        <p:spPr/>
        <p:txBody>
          <a:bodyPr/>
          <a:lstStyle/>
          <a:p>
            <a:fld id="{8B7650DC-A9E6-4029-8E34-5572DB096263}" type="slidenum">
              <a:rPr lang="en-IE" smtClean="0"/>
              <a:t>12</a:t>
            </a:fld>
            <a:endParaRPr lang="en-IE"/>
          </a:p>
        </p:txBody>
      </p:sp>
    </p:spTree>
    <p:extLst>
      <p:ext uri="{BB962C8B-B14F-4D97-AF65-F5344CB8AC3E}">
        <p14:creationId xmlns:p14="http://schemas.microsoft.com/office/powerpoint/2010/main" val="3666766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8B7650DC-A9E6-4029-8E34-5572DB096263}" type="slidenum">
              <a:rPr lang="en-IE" smtClean="0"/>
              <a:t>14</a:t>
            </a:fld>
            <a:endParaRPr lang="en-IE"/>
          </a:p>
        </p:txBody>
      </p:sp>
    </p:spTree>
    <p:extLst>
      <p:ext uri="{BB962C8B-B14F-4D97-AF65-F5344CB8AC3E}">
        <p14:creationId xmlns:p14="http://schemas.microsoft.com/office/powerpoint/2010/main" val="960973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 How </a:t>
            </a:r>
            <a:r>
              <a:rPr lang="en-IE" dirty="0" err="1"/>
              <a:t>buids</a:t>
            </a:r>
            <a:r>
              <a:rPr lang="en-IE" dirty="0"/>
              <a:t> address table.. Using source MAC address</a:t>
            </a:r>
          </a:p>
          <a:p>
            <a:r>
              <a:rPr lang="en-IE" dirty="0"/>
              <a:t>+ What if a plug a device into another port</a:t>
            </a:r>
          </a:p>
        </p:txBody>
      </p:sp>
      <p:sp>
        <p:nvSpPr>
          <p:cNvPr id="4" name="Slide Number Placeholder 3"/>
          <p:cNvSpPr>
            <a:spLocks noGrp="1"/>
          </p:cNvSpPr>
          <p:nvPr>
            <p:ph type="sldNum" sz="quarter" idx="5"/>
          </p:nvPr>
        </p:nvSpPr>
        <p:spPr/>
        <p:txBody>
          <a:bodyPr/>
          <a:lstStyle/>
          <a:p>
            <a:fld id="{8B7650DC-A9E6-4029-8E34-5572DB096263}" type="slidenum">
              <a:rPr lang="en-IE" smtClean="0"/>
              <a:t>16</a:t>
            </a:fld>
            <a:endParaRPr lang="en-IE"/>
          </a:p>
        </p:txBody>
      </p:sp>
    </p:spTree>
    <p:extLst>
      <p:ext uri="{BB962C8B-B14F-4D97-AF65-F5344CB8AC3E}">
        <p14:creationId xmlns:p14="http://schemas.microsoft.com/office/powerpoint/2010/main" val="40684467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Looks up mac address table using at Destination MAC address </a:t>
            </a:r>
            <a:br>
              <a:rPr lang="en-IE" dirty="0"/>
            </a:br>
            <a:r>
              <a:rPr lang="en-IE" dirty="0"/>
              <a:t>+ What if it’s not in the table – Send it out on all ports…</a:t>
            </a:r>
          </a:p>
        </p:txBody>
      </p:sp>
      <p:sp>
        <p:nvSpPr>
          <p:cNvPr id="4" name="Slide Number Placeholder 3"/>
          <p:cNvSpPr>
            <a:spLocks noGrp="1"/>
          </p:cNvSpPr>
          <p:nvPr>
            <p:ph type="sldNum" sz="quarter" idx="5"/>
          </p:nvPr>
        </p:nvSpPr>
        <p:spPr/>
        <p:txBody>
          <a:bodyPr/>
          <a:lstStyle/>
          <a:p>
            <a:fld id="{8B7650DC-A9E6-4029-8E34-5572DB096263}" type="slidenum">
              <a:rPr lang="en-IE" smtClean="0"/>
              <a:t>17</a:t>
            </a:fld>
            <a:endParaRPr lang="en-IE"/>
          </a:p>
        </p:txBody>
      </p:sp>
    </p:spTree>
    <p:extLst>
      <p:ext uri="{BB962C8B-B14F-4D97-AF65-F5344CB8AC3E}">
        <p14:creationId xmlns:p14="http://schemas.microsoft.com/office/powerpoint/2010/main" val="4284417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22</a:t>
            </a:fld>
            <a:endParaRPr lang="en-IE"/>
          </a:p>
        </p:txBody>
      </p:sp>
    </p:spTree>
    <p:extLst>
      <p:ext uri="{BB962C8B-B14F-4D97-AF65-F5344CB8AC3E}">
        <p14:creationId xmlns:p14="http://schemas.microsoft.com/office/powerpoint/2010/main" val="2820493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8B7650DC-A9E6-4029-8E34-5572DB096263}" type="slidenum">
              <a:rPr lang="en-IE" smtClean="0"/>
              <a:t>24</a:t>
            </a:fld>
            <a:endParaRPr lang="en-IE"/>
          </a:p>
        </p:txBody>
      </p:sp>
    </p:spTree>
    <p:extLst>
      <p:ext uri="{BB962C8B-B14F-4D97-AF65-F5344CB8AC3E}">
        <p14:creationId xmlns:p14="http://schemas.microsoft.com/office/powerpoint/2010/main" val="3320601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304328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195261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268746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632883" y="1797051"/>
            <a:ext cx="11040076" cy="4098595"/>
          </a:xfrm>
          <a:prstGeom prst="rect">
            <a:avLst/>
          </a:prstGeom>
        </p:spPr>
        <p:txBody>
          <a:bodyPr lIns="91420" tIns="45710" rIns="91420" bIns="45710">
            <a:noAutofit/>
          </a:bodyPr>
          <a:lstStyle>
            <a:lvl1pPr marL="380910" marR="0" indent="-380910" algn="ctr" defTabSz="609458" rtl="0" eaLnBrk="1" fontAlgn="auto" latinLnBrk="0" hangingPunct="1">
              <a:lnSpc>
                <a:spcPct val="100000"/>
              </a:lnSpc>
              <a:spcBef>
                <a:spcPct val="20000"/>
              </a:spcBef>
              <a:spcAft>
                <a:spcPts val="0"/>
              </a:spcAft>
              <a:buClrTx/>
              <a:buSzTx/>
              <a:buFont typeface="Arial"/>
              <a:buNone/>
              <a:tabLst/>
              <a:defRPr sz="2667"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583688" y="455085"/>
            <a:ext cx="11127317" cy="97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169672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dx.pressbooks.pub/empoword/chapter/9-interacting-sources/" TargetMode="External"/><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hyperlink" Target="https://creativecommons.org/licenses/by-nc/3.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customXml" Target="../ink/ink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Network_switch" TargetMode="External"/><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networkengineering.stackexchange.com/questions/3503/switch-lookup-table"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25.png"/><Relationship Id="rId7" Type="http://schemas.openxmlformats.org/officeDocument/2006/relationships/image" Target="../media/image20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220.png"/><Relationship Id="rId5" Type="http://schemas.openxmlformats.org/officeDocument/2006/relationships/image" Target="../media/image190.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2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0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customXml" Target="../ink/ink7.xml"/><Relationship Id="rId5" Type="http://schemas.openxmlformats.org/officeDocument/2006/relationships/image" Target="../media/image190.png"/><Relationship Id="rId4" Type="http://schemas.openxmlformats.org/officeDocument/2006/relationships/customXml" Target="../ink/ink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a computer router&#10;&#10;Description automatically generated">
            <a:extLst>
              <a:ext uri="{FF2B5EF4-FFF2-40B4-BE49-F238E27FC236}">
                <a16:creationId xmlns:a16="http://schemas.microsoft.com/office/drawing/2014/main" id="{FE905438-921A-9052-5A38-B2321EC111F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15627" b="-1"/>
          <a:stretch/>
        </p:blipFill>
        <p:spPr>
          <a:xfrm>
            <a:off x="3523488" y="10"/>
            <a:ext cx="8668512"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F39F834-4EA6-45D9-B0E7-323D5C8A2776}"/>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rPr>
              <a:t>Ethernet: Switching</a:t>
            </a:r>
          </a:p>
        </p:txBody>
      </p:sp>
      <p:sp>
        <p:nvSpPr>
          <p:cNvPr id="3" name="Text Placeholder 2">
            <a:extLst>
              <a:ext uri="{FF2B5EF4-FFF2-40B4-BE49-F238E27FC236}">
                <a16:creationId xmlns:a16="http://schemas.microsoft.com/office/drawing/2014/main" id="{9C8563E3-F5F9-40B9-B0C8-E8A00BDE94FE}"/>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dirty="0">
                <a:solidFill>
                  <a:schemeClr val="bg1"/>
                </a:solidFill>
              </a:rPr>
              <a:t>Mujahid Tabassum</a:t>
            </a:r>
          </a:p>
          <a:p>
            <a:r>
              <a:rPr lang="en-US" sz="2000" dirty="0">
                <a:solidFill>
                  <a:schemeClr val="bg1"/>
                </a:solidFill>
              </a:rPr>
              <a:t>2025</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DC31017A-DE2A-CD5C-1A85-C977BE44A6B5}"/>
              </a:ext>
            </a:extLst>
          </p:cNvPr>
          <p:cNvSpPr txBox="1"/>
          <p:nvPr/>
        </p:nvSpPr>
        <p:spPr>
          <a:xfrm>
            <a:off x="9872134" y="6657945"/>
            <a:ext cx="2319866"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s://pdx.pressbooks.pub/empoword/chapter/9-interacting-sources/">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3.0/">
                  <a:extLst>
                    <a:ext uri="{A12FA001-AC4F-418D-AE19-62706E023703}">
                      <ahyp:hlinkClr xmlns:ahyp="http://schemas.microsoft.com/office/drawing/2018/hyperlinkcolor" val="tx"/>
                    </a:ext>
                  </a:extLst>
                </a:hlinkClick>
              </a:rPr>
              <a:t>CC BY-NC</a:t>
            </a:r>
            <a:endParaRPr lang="en-IE" sz="700">
              <a:solidFill>
                <a:srgbClr val="FFFFFF"/>
              </a:solidFill>
            </a:endParaRPr>
          </a:p>
        </p:txBody>
      </p:sp>
    </p:spTree>
    <p:extLst>
      <p:ext uri="{BB962C8B-B14F-4D97-AF65-F5344CB8AC3E}">
        <p14:creationId xmlns:p14="http://schemas.microsoft.com/office/powerpoint/2010/main" val="3800740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208C7-4C96-446C-9F1A-E46D2D9ACD33}"/>
              </a:ext>
            </a:extLst>
          </p:cNvPr>
          <p:cNvSpPr>
            <a:spLocks noGrp="1"/>
          </p:cNvSpPr>
          <p:nvPr>
            <p:ph type="title"/>
          </p:nvPr>
        </p:nvSpPr>
        <p:spPr/>
        <p:txBody>
          <a:bodyPr/>
          <a:lstStyle/>
          <a:p>
            <a:r>
              <a:rPr lang="en-IE" dirty="0"/>
              <a:t>Agenda(1</a:t>
            </a:r>
            <a:r>
              <a:rPr lang="en-IE" baseline="30000" dirty="0"/>
              <a:t>st</a:t>
            </a:r>
            <a:r>
              <a:rPr lang="en-IE" dirty="0"/>
              <a:t> Part)</a:t>
            </a:r>
          </a:p>
        </p:txBody>
      </p:sp>
      <p:sp>
        <p:nvSpPr>
          <p:cNvPr id="3" name="Content Placeholder 2">
            <a:extLst>
              <a:ext uri="{FF2B5EF4-FFF2-40B4-BE49-F238E27FC236}">
                <a16:creationId xmlns:a16="http://schemas.microsoft.com/office/drawing/2014/main" id="{4E23529F-87F6-4590-8B43-DE0383461C37}"/>
              </a:ext>
            </a:extLst>
          </p:cNvPr>
          <p:cNvSpPr>
            <a:spLocks noGrp="1"/>
          </p:cNvSpPr>
          <p:nvPr>
            <p:ph idx="1"/>
          </p:nvPr>
        </p:nvSpPr>
        <p:spPr/>
        <p:txBody>
          <a:bodyPr/>
          <a:lstStyle/>
          <a:p>
            <a:r>
              <a:rPr lang="en-IE" dirty="0"/>
              <a:t>Ethernet/MAC Addresses</a:t>
            </a:r>
          </a:p>
          <a:p>
            <a:r>
              <a:rPr lang="en-IE" dirty="0"/>
              <a:t>Switches</a:t>
            </a:r>
          </a:p>
          <a:p>
            <a:r>
              <a:rPr lang="en-IE" dirty="0"/>
              <a:t>Forwarding Table</a:t>
            </a:r>
          </a:p>
          <a:p>
            <a:r>
              <a:rPr lang="en-IE" dirty="0"/>
              <a:t>Frame Forwarding </a:t>
            </a:r>
          </a:p>
          <a:p>
            <a:r>
              <a:rPr lang="en-IE" dirty="0"/>
              <a:t>ARP</a:t>
            </a:r>
          </a:p>
          <a:p>
            <a:pPr marL="0" indent="0">
              <a:buNone/>
            </a:pPr>
            <a:endParaRPr lang="en-IE" dirty="0"/>
          </a:p>
        </p:txBody>
      </p:sp>
    </p:spTree>
    <p:extLst>
      <p:ext uri="{BB962C8B-B14F-4D97-AF65-F5344CB8AC3E}">
        <p14:creationId xmlns:p14="http://schemas.microsoft.com/office/powerpoint/2010/main" val="1749909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99F32-A8B8-EB76-A384-2181DE5C7467}"/>
              </a:ext>
            </a:extLst>
          </p:cNvPr>
          <p:cNvSpPr>
            <a:spLocks noGrp="1"/>
          </p:cNvSpPr>
          <p:nvPr>
            <p:ph type="title"/>
          </p:nvPr>
        </p:nvSpPr>
        <p:spPr>
          <a:xfrm>
            <a:off x="838200" y="723578"/>
            <a:ext cx="4595071" cy="1645501"/>
          </a:xfrm>
        </p:spPr>
        <p:txBody>
          <a:bodyPr>
            <a:normAutofit/>
          </a:bodyPr>
          <a:lstStyle/>
          <a:p>
            <a:r>
              <a:rPr lang="en-IE" dirty="0"/>
              <a:t>Network Switches are great!</a:t>
            </a:r>
          </a:p>
        </p:txBody>
      </p:sp>
      <p:sp>
        <p:nvSpPr>
          <p:cNvPr id="3" name="Content Placeholder 2">
            <a:extLst>
              <a:ext uri="{FF2B5EF4-FFF2-40B4-BE49-F238E27FC236}">
                <a16:creationId xmlns:a16="http://schemas.microsoft.com/office/drawing/2014/main" id="{3757EFB3-7033-656B-5A58-09774F1CEECC}"/>
              </a:ext>
            </a:extLst>
          </p:cNvPr>
          <p:cNvSpPr>
            <a:spLocks noGrp="1"/>
          </p:cNvSpPr>
          <p:nvPr>
            <p:ph idx="1"/>
          </p:nvPr>
        </p:nvSpPr>
        <p:spPr>
          <a:xfrm>
            <a:off x="838200" y="2548467"/>
            <a:ext cx="4595071" cy="3628495"/>
          </a:xfrm>
        </p:spPr>
        <p:txBody>
          <a:bodyPr>
            <a:normAutofit lnSpcReduction="10000"/>
          </a:bodyPr>
          <a:lstStyle/>
          <a:p>
            <a:r>
              <a:rPr lang="en-GB" sz="2000" b="1" dirty="0"/>
              <a:t>A network switch forwards data packets between devices. </a:t>
            </a:r>
            <a:endParaRPr lang="en-IE" sz="2000" b="1" dirty="0"/>
          </a:p>
          <a:p>
            <a:r>
              <a:rPr lang="en-IE" sz="2000" dirty="0"/>
              <a:t>Unmanaged Switches(cheap)</a:t>
            </a:r>
          </a:p>
          <a:p>
            <a:pPr lvl="1"/>
            <a:r>
              <a:rPr lang="en-IE" sz="2000" dirty="0"/>
              <a:t>Just plug stuff in and it starts working!</a:t>
            </a:r>
          </a:p>
          <a:p>
            <a:r>
              <a:rPr lang="en-IE" sz="2000" dirty="0"/>
              <a:t>Managed Switches(not so cheap)</a:t>
            </a:r>
          </a:p>
          <a:p>
            <a:pPr lvl="1"/>
            <a:r>
              <a:rPr lang="en-IE" sz="2000" dirty="0"/>
              <a:t>Can also be configured for security, Virtual LANS, Traffic prioritisation…</a:t>
            </a:r>
          </a:p>
          <a:p>
            <a:r>
              <a:rPr lang="en-IE" sz="2000" dirty="0"/>
              <a:t>Better switches provide PoE (Power over Ethernet)</a:t>
            </a:r>
          </a:p>
          <a:p>
            <a:pPr lvl="1"/>
            <a:r>
              <a:rPr lang="en-IE" sz="1600" dirty="0"/>
              <a:t>Device can use connection for power as well as communication(e.g. Networked Camera)</a:t>
            </a:r>
          </a:p>
        </p:txBody>
      </p:sp>
      <p:sp>
        <p:nvSpPr>
          <p:cNvPr id="1041" name="Rectangle 1040">
            <a:extLst>
              <a:ext uri="{FF2B5EF4-FFF2-40B4-BE49-F238E27FC236}">
                <a16:creationId xmlns:a16="http://schemas.microsoft.com/office/drawing/2014/main" id="{003713C1-2FB2-413B-BF91-3AE41726FB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0991" y="3474720"/>
            <a:ext cx="6100914"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3" name="Rectangle 1042">
            <a:extLst>
              <a:ext uri="{FF2B5EF4-FFF2-40B4-BE49-F238E27FC236}">
                <a16:creationId xmlns:a16="http://schemas.microsoft.com/office/drawing/2014/main" id="{90795B4D-5022-4A7F-A01D-8D880B7CD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9584" y="0"/>
            <a:ext cx="6192415" cy="6858000"/>
          </a:xfrm>
          <a:prstGeom prst="rect">
            <a:avLst/>
          </a:prstGeom>
          <a:solidFill>
            <a:schemeClr val="tx1">
              <a:lumMod val="85000"/>
              <a:lumOff val="1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5" name="Rectangle 1044">
            <a:extLst>
              <a:ext uri="{FF2B5EF4-FFF2-40B4-BE49-F238E27FC236}">
                <a16:creationId xmlns:a16="http://schemas.microsoft.com/office/drawing/2014/main" id="{AFD19018-DE7C-4796-ADF2-AD2EB0FC0D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5999" y="0"/>
            <a:ext cx="3002281"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32" name="Picture 8">
            <a:extLst>
              <a:ext uri="{FF2B5EF4-FFF2-40B4-BE49-F238E27FC236}">
                <a16:creationId xmlns:a16="http://schemas.microsoft.com/office/drawing/2014/main" id="{02FD2D70-908A-4080-8F68-36DFC67C5DF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420908" y="642475"/>
            <a:ext cx="2364317" cy="2098331"/>
          </a:xfrm>
          <a:prstGeom prst="rect">
            <a:avLst/>
          </a:prstGeom>
          <a:noFill/>
          <a:extLst>
            <a:ext uri="{909E8E84-426E-40DD-AFC4-6F175D3DCCD1}">
              <a14:hiddenFill xmlns:a14="http://schemas.microsoft.com/office/drawing/2010/main">
                <a:solidFill>
                  <a:srgbClr val="FFFFFF"/>
                </a:solidFill>
              </a14:hiddenFill>
            </a:ext>
          </a:extLst>
        </p:spPr>
      </p:pic>
      <p:sp>
        <p:nvSpPr>
          <p:cNvPr id="1047" name="Rectangle 1046">
            <a:extLst>
              <a:ext uri="{FF2B5EF4-FFF2-40B4-BE49-F238E27FC236}">
                <a16:creationId xmlns:a16="http://schemas.microsoft.com/office/drawing/2014/main" id="{B1A0A2C2-4F85-44AF-8708-8DCA4B550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9624" y="0"/>
            <a:ext cx="3002281" cy="33832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36" name="Picture 12" descr="Linksys Revives A Classic Design For Its Newest Wireless Router ...">
            <a:extLst>
              <a:ext uri="{FF2B5EF4-FFF2-40B4-BE49-F238E27FC236}">
                <a16:creationId xmlns:a16="http://schemas.microsoft.com/office/drawing/2014/main" id="{B60B9C61-25AA-810D-A252-0815C0F895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9502775" y="1026677"/>
            <a:ext cx="2364317" cy="132992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ast Ethernet Network Switch , Poe Internet Switch WS-C3750V2-48PS-S 64 ...">
            <a:extLst>
              <a:ext uri="{FF2B5EF4-FFF2-40B4-BE49-F238E27FC236}">
                <a16:creationId xmlns:a16="http://schemas.microsoft.com/office/drawing/2014/main" id="{A6CE6E33-480B-8ADE-5D9F-628F7F9C9710}"/>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420908" y="4028011"/>
            <a:ext cx="5446184" cy="20967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icture containing circuit&#10;&#10;Description automatically generated">
            <a:extLst>
              <a:ext uri="{FF2B5EF4-FFF2-40B4-BE49-F238E27FC236}">
                <a16:creationId xmlns:a16="http://schemas.microsoft.com/office/drawing/2014/main" id="{30FE34DB-FE8C-101B-925F-2C107057D0D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02042" y="3740620"/>
            <a:ext cx="6181270" cy="2851479"/>
          </a:xfrm>
          <a:prstGeom prst="rect">
            <a:avLst/>
          </a:prstGeom>
        </p:spPr>
      </p:pic>
      <p:pic>
        <p:nvPicPr>
          <p:cNvPr id="1026" name="Picture 2">
            <a:extLst>
              <a:ext uri="{FF2B5EF4-FFF2-40B4-BE49-F238E27FC236}">
                <a16:creationId xmlns:a16="http://schemas.microsoft.com/office/drawing/2014/main" id="{32A99720-1163-C689-9151-050C1DA9478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51836" y="1075777"/>
            <a:ext cx="2666194" cy="123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316174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normAutofit/>
          </a:bodyPr>
          <a:lstStyle/>
          <a:p>
            <a:r>
              <a:rPr lang="en-US" sz="3600" dirty="0">
                <a:solidFill>
                  <a:schemeClr val="tx1"/>
                </a:solidFill>
              </a:rPr>
              <a:t>Ethernet Encapsulation</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632883" y="975783"/>
            <a:ext cx="4485932" cy="4919863"/>
          </a:xfrm>
        </p:spPr>
        <p:txBody>
          <a:bodyPr/>
          <a:lstStyle/>
          <a:p>
            <a:pPr marL="457189" indent="-457189" algn="l">
              <a:buFont typeface="Arial" panose="020B0604020202020204" pitchFamily="34" charset="0"/>
              <a:buChar char="•"/>
            </a:pPr>
            <a:r>
              <a:rPr lang="en-US" dirty="0">
                <a:solidFill>
                  <a:srgbClr val="000000"/>
                </a:solidFill>
              </a:rPr>
              <a:t>Ethernet operates in the data link layer and the physical layer.</a:t>
            </a:r>
          </a:p>
          <a:p>
            <a:pPr marL="457189" indent="-457189" algn="l">
              <a:buFont typeface="Arial" panose="020B0604020202020204" pitchFamily="34" charset="0"/>
              <a:buChar char="•"/>
            </a:pPr>
            <a:r>
              <a:rPr lang="en-US" dirty="0">
                <a:solidFill>
                  <a:srgbClr val="000000"/>
                </a:solidFill>
              </a:rPr>
              <a:t>It is a family of networking technologies defined in the IEEE 802.2 and 802.3 standards.</a:t>
            </a:r>
          </a:p>
        </p:txBody>
      </p:sp>
      <p:pic>
        <p:nvPicPr>
          <p:cNvPr id="4" name="Picture 3">
            <a:extLst>
              <a:ext uri="{FF2B5EF4-FFF2-40B4-BE49-F238E27FC236}">
                <a16:creationId xmlns:a16="http://schemas.microsoft.com/office/drawing/2014/main" id="{0D9ED349-78FE-6946-8E1B-0C6059771B2C}"/>
              </a:ext>
            </a:extLst>
          </p:cNvPr>
          <p:cNvPicPr>
            <a:picLocks noChangeAspect="1"/>
          </p:cNvPicPr>
          <p:nvPr/>
        </p:nvPicPr>
        <p:blipFill>
          <a:blip r:embed="rId3"/>
          <a:stretch>
            <a:fillRect/>
          </a:stretch>
        </p:blipFill>
        <p:spPr>
          <a:xfrm>
            <a:off x="5259298" y="975784"/>
            <a:ext cx="6312637" cy="4618193"/>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normAutofit/>
          </a:bodyPr>
          <a:lstStyle/>
          <a:p>
            <a:r>
              <a:rPr lang="en-US" sz="3600" dirty="0">
                <a:solidFill>
                  <a:schemeClr val="tx1"/>
                </a:solidFill>
              </a:rPr>
              <a:t>Data Link Sublayers</a:t>
            </a:r>
          </a:p>
        </p:txBody>
      </p:sp>
      <p:sp>
        <p:nvSpPr>
          <p:cNvPr id="5" name="TextBox 4">
            <a:extLst>
              <a:ext uri="{FF2B5EF4-FFF2-40B4-BE49-F238E27FC236}">
                <a16:creationId xmlns:a16="http://schemas.microsoft.com/office/drawing/2014/main" id="{7D6FED96-F5B8-9740-B01D-C6CD3F14A641}"/>
              </a:ext>
            </a:extLst>
          </p:cNvPr>
          <p:cNvSpPr txBox="1"/>
          <p:nvPr/>
        </p:nvSpPr>
        <p:spPr>
          <a:xfrm>
            <a:off x="454211" y="1027953"/>
            <a:ext cx="6630772" cy="3169714"/>
          </a:xfrm>
          <a:prstGeom prst="rect">
            <a:avLst/>
          </a:prstGeom>
          <a:noFill/>
        </p:spPr>
        <p:txBody>
          <a:bodyPr wrap="square" rtlCol="0">
            <a:spAutoFit/>
          </a:bodyPr>
          <a:lstStyle/>
          <a:p>
            <a:r>
              <a:rPr lang="en-US" sz="2400" dirty="0">
                <a:solidFill>
                  <a:srgbClr val="000000"/>
                </a:solidFill>
              </a:rPr>
              <a:t>The 802 LAN/MAN standards, including Ethernet, use two separate sublayers of the data link layer to operate:</a:t>
            </a:r>
          </a:p>
          <a:p>
            <a:pPr marL="380990" indent="-380990">
              <a:buFont typeface="Arial" panose="020B0604020202020204" pitchFamily="34" charset="0"/>
              <a:buChar char="•"/>
            </a:pPr>
            <a:r>
              <a:rPr lang="en-US" sz="2133" b="1" dirty="0">
                <a:solidFill>
                  <a:srgbClr val="000000"/>
                </a:solidFill>
              </a:rPr>
              <a:t>LLC Sublayer</a:t>
            </a:r>
            <a:r>
              <a:rPr lang="en-US" sz="2133" dirty="0">
                <a:solidFill>
                  <a:srgbClr val="000000"/>
                </a:solidFill>
              </a:rPr>
              <a:t>: (IEEE 802.2) Places information in the frame to identify which network layer protocol is used for the frame.</a:t>
            </a:r>
          </a:p>
          <a:p>
            <a:pPr marL="380990" indent="-380990">
              <a:buFont typeface="Arial" panose="020B0604020202020204" pitchFamily="34" charset="0"/>
              <a:buChar char="•"/>
            </a:pPr>
            <a:r>
              <a:rPr lang="en-US" sz="2133" b="1" dirty="0">
                <a:solidFill>
                  <a:srgbClr val="000000"/>
                </a:solidFill>
              </a:rPr>
              <a:t>MAC Sublayer</a:t>
            </a:r>
            <a:r>
              <a:rPr lang="en-US" sz="2133" dirty="0">
                <a:solidFill>
                  <a:srgbClr val="000000"/>
                </a:solidFill>
              </a:rPr>
              <a:t>: (IEEE 802.3, 802.11, or 802.15) Responsible for data encapsulation and media access control, and provides data link layer addressing.</a:t>
            </a:r>
          </a:p>
        </p:txBody>
      </p:sp>
      <p:pic>
        <p:nvPicPr>
          <p:cNvPr id="4" name="Content Placeholder 3">
            <a:extLst>
              <a:ext uri="{FF2B5EF4-FFF2-40B4-BE49-F238E27FC236}">
                <a16:creationId xmlns:a16="http://schemas.microsoft.com/office/drawing/2014/main" id="{6676CA92-276E-A349-B5F5-87C0459C4C86}"/>
              </a:ext>
            </a:extLst>
          </p:cNvPr>
          <p:cNvPicPr>
            <a:picLocks noGrp="1" noChangeAspect="1"/>
          </p:cNvPicPr>
          <p:nvPr>
            <p:ph idx="1"/>
          </p:nvPr>
        </p:nvPicPr>
        <p:blipFill>
          <a:blip r:embed="rId3"/>
          <a:stretch>
            <a:fillRect/>
          </a:stretch>
        </p:blipFill>
        <p:spPr>
          <a:xfrm>
            <a:off x="7084983" y="1414805"/>
            <a:ext cx="4331647" cy="3504329"/>
          </a:xfrm>
        </p:spPr>
      </p:pic>
    </p:spTree>
    <p:extLst>
      <p:ext uri="{BB962C8B-B14F-4D97-AF65-F5344CB8AC3E}">
        <p14:creationId xmlns:p14="http://schemas.microsoft.com/office/powerpoint/2010/main" val="149366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normAutofit/>
          </a:bodyPr>
          <a:lstStyle/>
          <a:p>
            <a:r>
              <a:rPr lang="en-US" sz="3600" dirty="0">
                <a:solidFill>
                  <a:schemeClr val="tx1"/>
                </a:solidFill>
              </a:rPr>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99207" y="975783"/>
            <a:ext cx="11040076" cy="4919863"/>
          </a:xfrm>
        </p:spPr>
        <p:txBody>
          <a:bodyPr/>
          <a:lstStyle/>
          <a:p>
            <a:pPr algn="l"/>
            <a:r>
              <a:rPr lang="en-US" sz="2133" dirty="0">
                <a:solidFill>
                  <a:srgbClr val="000000"/>
                </a:solidFill>
              </a:rPr>
              <a:t>The MAC sublayer is responsible for data encapsulation and accessing the media.</a:t>
            </a:r>
          </a:p>
          <a:p>
            <a:pPr algn="l"/>
            <a:endParaRPr lang="en-US" sz="2133" b="1" dirty="0">
              <a:solidFill>
                <a:srgbClr val="000000"/>
              </a:solidFill>
            </a:endParaRPr>
          </a:p>
          <a:p>
            <a:pPr algn="l"/>
            <a:r>
              <a:rPr lang="en-US" sz="2133" b="1" dirty="0">
                <a:solidFill>
                  <a:srgbClr val="000000"/>
                </a:solidFill>
              </a:rPr>
              <a:t>Data Encapsulation</a:t>
            </a:r>
          </a:p>
          <a:p>
            <a:pPr algn="l"/>
            <a:r>
              <a:rPr lang="en-US" sz="2133" dirty="0">
                <a:solidFill>
                  <a:srgbClr val="000000"/>
                </a:solidFill>
              </a:rPr>
              <a:t>IEEE 802.3 data encapsulation includes the following:</a:t>
            </a:r>
          </a:p>
          <a:p>
            <a:pPr marL="609585" indent="-609585" algn="l">
              <a:buFont typeface="+mj-lt"/>
              <a:buAutoNum type="arabicPeriod"/>
            </a:pPr>
            <a:r>
              <a:rPr lang="en-US" sz="1867" b="1" dirty="0">
                <a:solidFill>
                  <a:srgbClr val="000000"/>
                </a:solidFill>
              </a:rPr>
              <a:t>Ethernet frame</a:t>
            </a:r>
            <a:r>
              <a:rPr lang="en-US" sz="1867" dirty="0">
                <a:solidFill>
                  <a:srgbClr val="000000"/>
                </a:solidFill>
              </a:rPr>
              <a:t> - This is the internal structure of the Ethernet frame.</a:t>
            </a:r>
          </a:p>
          <a:p>
            <a:pPr marL="609585" indent="-609585" algn="l">
              <a:buFont typeface="+mj-lt"/>
              <a:buAutoNum type="arabicPeriod"/>
            </a:pPr>
            <a:r>
              <a:rPr lang="en-US" sz="1867" b="1" dirty="0">
                <a:solidFill>
                  <a:srgbClr val="000000"/>
                </a:solidFill>
              </a:rPr>
              <a:t>Ethernet Addressing</a:t>
            </a:r>
            <a:r>
              <a:rPr lang="en-US" sz="1867" dirty="0">
                <a:solidFill>
                  <a:srgbClr val="000000"/>
                </a:solidFill>
              </a:rPr>
              <a:t> - The Ethernet frame includes both a source and destination MAC address to deliver the Ethernet frame from Ethernet NIC to Ethernet NIC on the same LAN.</a:t>
            </a:r>
          </a:p>
          <a:p>
            <a:pPr marL="609585" indent="-609585" algn="l">
              <a:buFont typeface="+mj-lt"/>
              <a:buAutoNum type="arabicPeriod"/>
            </a:pPr>
            <a:r>
              <a:rPr lang="en-US" sz="1867" b="1" dirty="0">
                <a:solidFill>
                  <a:srgbClr val="000000"/>
                </a:solidFill>
              </a:rPr>
              <a:t>Ethernet Error detection</a:t>
            </a:r>
            <a:r>
              <a:rPr lang="en-US" sz="1867" dirty="0">
                <a:solidFill>
                  <a:srgbClr val="000000"/>
                </a:solidFill>
              </a:rPr>
              <a:t> - The Ethernet frame includes a frame check sequence (FCS) trailer used for error detection.</a:t>
            </a:r>
          </a:p>
          <a:p>
            <a:pPr algn="l"/>
            <a:endParaRPr lang="en-US"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
            <a:ext cx="11127317" cy="975783"/>
          </a:xfrm>
        </p:spPr>
        <p:txBody>
          <a:bodyPr>
            <a:normAutofit/>
          </a:bodyPr>
          <a:lstStyle/>
          <a:p>
            <a:r>
              <a:rPr lang="en-US" sz="3600" dirty="0">
                <a:solidFill>
                  <a:schemeClr val="tx1"/>
                </a:solidFill>
              </a:rPr>
              <a:t>MAC Sublayer</a:t>
            </a:r>
          </a:p>
        </p:txBody>
      </p:sp>
      <p:sp>
        <p:nvSpPr>
          <p:cNvPr id="8" name="Content Placeholder 7">
            <a:extLst>
              <a:ext uri="{FF2B5EF4-FFF2-40B4-BE49-F238E27FC236}">
                <a16:creationId xmlns:a16="http://schemas.microsoft.com/office/drawing/2014/main" id="{0739FE46-949D-5848-A3FF-68AA0B91430B}"/>
              </a:ext>
            </a:extLst>
          </p:cNvPr>
          <p:cNvSpPr>
            <a:spLocks noGrp="1"/>
          </p:cNvSpPr>
          <p:nvPr>
            <p:ph idx="1"/>
          </p:nvPr>
        </p:nvSpPr>
        <p:spPr>
          <a:xfrm>
            <a:off x="292101" y="975783"/>
            <a:ext cx="6160739" cy="4919863"/>
          </a:xfrm>
        </p:spPr>
        <p:txBody>
          <a:bodyPr/>
          <a:lstStyle/>
          <a:p>
            <a:pPr marL="0" indent="0" algn="l"/>
            <a:r>
              <a:rPr lang="en-US" sz="1867" b="1" dirty="0">
                <a:solidFill>
                  <a:srgbClr val="000000"/>
                </a:solidFill>
              </a:rPr>
              <a:t>Media Access</a:t>
            </a:r>
          </a:p>
          <a:p>
            <a:pPr marL="380990" indent="-380990" algn="l">
              <a:buFont typeface="Arial" panose="020B0604020202020204" pitchFamily="34" charset="0"/>
              <a:buChar char="•"/>
            </a:pPr>
            <a:r>
              <a:rPr lang="en-US" sz="2133" dirty="0">
                <a:solidFill>
                  <a:srgbClr val="000000"/>
                </a:solidFill>
              </a:rPr>
              <a:t>The IEEE 802.3 MAC sublayer includes the specifications for different Ethernet communications standards over various types of media including copper and fiber.</a:t>
            </a:r>
          </a:p>
          <a:p>
            <a:pPr marL="380990" indent="-380990" algn="l">
              <a:buFont typeface="Arial" panose="020B0604020202020204" pitchFamily="34" charset="0"/>
              <a:buChar char="•"/>
            </a:pPr>
            <a:r>
              <a:rPr lang="en-US" sz="2133" dirty="0">
                <a:solidFill>
                  <a:srgbClr val="000000"/>
                </a:solidFill>
              </a:rPr>
              <a:t>Legacy Ethernet using a bus topology or hubs, is a shared, half-duplex medium. Ethernet over a half-duplex medium uses a contention-based access method, carrier sense multiple access/collision detection (CSMA/CD). </a:t>
            </a:r>
          </a:p>
          <a:p>
            <a:pPr marL="380990" indent="-380990" algn="l">
              <a:buFont typeface="Arial" panose="020B0604020202020204" pitchFamily="34" charset="0"/>
              <a:buChar char="•"/>
            </a:pPr>
            <a:r>
              <a:rPr lang="en-US" sz="2133" dirty="0">
                <a:solidFill>
                  <a:srgbClr val="000000"/>
                </a:solidFill>
              </a:rPr>
              <a:t>Ethernet LANs of today use switches that operate in full-duplex. Full-duplex communications with Ethernet switches do not require access control through CSMA/CD.</a:t>
            </a:r>
          </a:p>
        </p:txBody>
      </p:sp>
      <p:pic>
        <p:nvPicPr>
          <p:cNvPr id="4" name="Picture 3">
            <a:extLst>
              <a:ext uri="{FF2B5EF4-FFF2-40B4-BE49-F238E27FC236}">
                <a16:creationId xmlns:a16="http://schemas.microsoft.com/office/drawing/2014/main" id="{6A9979E0-78FF-C747-A412-797510E5D7C2}"/>
              </a:ext>
            </a:extLst>
          </p:cNvPr>
          <p:cNvPicPr>
            <a:picLocks noChangeAspect="1"/>
          </p:cNvPicPr>
          <p:nvPr/>
        </p:nvPicPr>
        <p:blipFill>
          <a:blip r:embed="rId3"/>
          <a:stretch>
            <a:fillRect/>
          </a:stretch>
        </p:blipFill>
        <p:spPr>
          <a:xfrm>
            <a:off x="6712250" y="1806343"/>
            <a:ext cx="4846868" cy="2945987"/>
          </a:xfrm>
          <a:prstGeom prst="rect">
            <a:avLst/>
          </a:prstGeom>
        </p:spPr>
      </p:pic>
    </p:spTree>
    <p:extLst>
      <p:ext uri="{BB962C8B-B14F-4D97-AF65-F5344CB8AC3E}">
        <p14:creationId xmlns:p14="http://schemas.microsoft.com/office/powerpoint/2010/main" val="2453487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71EF9-1D4F-4B9C-9ECE-8CC81C3637CA}"/>
              </a:ext>
            </a:extLst>
          </p:cNvPr>
          <p:cNvSpPr>
            <a:spLocks noGrp="1"/>
          </p:cNvSpPr>
          <p:nvPr>
            <p:ph type="title"/>
          </p:nvPr>
        </p:nvSpPr>
        <p:spPr>
          <a:xfrm>
            <a:off x="511629" y="68962"/>
            <a:ext cx="10515600" cy="1325563"/>
          </a:xfrm>
        </p:spPr>
        <p:txBody>
          <a:bodyPr/>
          <a:lstStyle/>
          <a:p>
            <a:r>
              <a:rPr lang="en-IE" dirty="0"/>
              <a:t>Ethernet Interface: MAC Addresses</a:t>
            </a:r>
          </a:p>
        </p:txBody>
      </p:sp>
      <p:sp>
        <p:nvSpPr>
          <p:cNvPr id="3" name="Content Placeholder 2">
            <a:extLst>
              <a:ext uri="{FF2B5EF4-FFF2-40B4-BE49-F238E27FC236}">
                <a16:creationId xmlns:a16="http://schemas.microsoft.com/office/drawing/2014/main" id="{859A912B-EC7A-42B3-8F9F-E9F3FB7C0BAF}"/>
              </a:ext>
            </a:extLst>
          </p:cNvPr>
          <p:cNvSpPr>
            <a:spLocks noGrp="1"/>
          </p:cNvSpPr>
          <p:nvPr>
            <p:ph idx="1"/>
          </p:nvPr>
        </p:nvSpPr>
        <p:spPr>
          <a:xfrm>
            <a:off x="665922" y="1535719"/>
            <a:ext cx="10515600" cy="4351338"/>
          </a:xfrm>
        </p:spPr>
        <p:txBody>
          <a:bodyPr/>
          <a:lstStyle/>
          <a:p>
            <a:r>
              <a:rPr lang="en-IE" dirty="0"/>
              <a:t>Every Ethernet interface must have 6 byte(48 bit) MAC address</a:t>
            </a:r>
          </a:p>
          <a:p>
            <a:r>
              <a:rPr lang="en-IE" dirty="0"/>
              <a:t>Addresses assigned to physical interface by manufacturer/vendor</a:t>
            </a:r>
          </a:p>
          <a:p>
            <a:endParaRPr lang="en-IE" dirty="0"/>
          </a:p>
          <a:p>
            <a:endParaRPr lang="en-IE" dirty="0"/>
          </a:p>
          <a:p>
            <a:endParaRPr lang="en-IE" dirty="0"/>
          </a:p>
          <a:p>
            <a:endParaRPr lang="en-IE" dirty="0"/>
          </a:p>
          <a:p>
            <a:pPr marL="0" indent="0">
              <a:buNone/>
            </a:pPr>
            <a:endParaRPr lang="en-IE" dirty="0"/>
          </a:p>
          <a:p>
            <a:r>
              <a:rPr lang="en-IE" dirty="0"/>
              <a:t>Example: 80:19:34:95:D1:02</a:t>
            </a:r>
          </a:p>
          <a:p>
            <a:pPr marL="0" indent="0">
              <a:buNone/>
            </a:pPr>
            <a:endParaRPr lang="en-IE" dirty="0"/>
          </a:p>
          <a:p>
            <a:pPr marL="457200" lvl="1" indent="0">
              <a:buNone/>
            </a:pPr>
            <a:endParaRPr lang="en-IE" dirty="0"/>
          </a:p>
        </p:txBody>
      </p:sp>
      <p:grpSp>
        <p:nvGrpSpPr>
          <p:cNvPr id="15" name="Group 14">
            <a:extLst>
              <a:ext uri="{FF2B5EF4-FFF2-40B4-BE49-F238E27FC236}">
                <a16:creationId xmlns:a16="http://schemas.microsoft.com/office/drawing/2014/main" id="{88B084C0-A803-4B3A-AE1A-A087B5DBFDB3}"/>
              </a:ext>
            </a:extLst>
          </p:cNvPr>
          <p:cNvGrpSpPr/>
          <p:nvPr/>
        </p:nvGrpSpPr>
        <p:grpSpPr>
          <a:xfrm>
            <a:off x="1603295" y="2911435"/>
            <a:ext cx="8068234" cy="1470065"/>
            <a:chOff x="1721224" y="3101935"/>
            <a:chExt cx="8068234" cy="1470065"/>
          </a:xfrm>
        </p:grpSpPr>
        <p:sp>
          <p:nvSpPr>
            <p:cNvPr id="8" name="Rectangle 7">
              <a:extLst>
                <a:ext uri="{FF2B5EF4-FFF2-40B4-BE49-F238E27FC236}">
                  <a16:creationId xmlns:a16="http://schemas.microsoft.com/office/drawing/2014/main" id="{7442CCAA-C09B-4925-8768-D9B8C8E19A6B}"/>
                </a:ext>
              </a:extLst>
            </p:cNvPr>
            <p:cNvSpPr/>
            <p:nvPr/>
          </p:nvSpPr>
          <p:spPr>
            <a:xfrm>
              <a:off x="1721224" y="3711388"/>
              <a:ext cx="4034117"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Organisationally Unique Identifier</a:t>
              </a:r>
            </a:p>
          </p:txBody>
        </p:sp>
        <p:sp>
          <p:nvSpPr>
            <p:cNvPr id="9" name="Rectangle 8">
              <a:extLst>
                <a:ext uri="{FF2B5EF4-FFF2-40B4-BE49-F238E27FC236}">
                  <a16:creationId xmlns:a16="http://schemas.microsoft.com/office/drawing/2014/main" id="{F2E294FB-5232-4251-88B4-F9F623A40F8F}"/>
                </a:ext>
              </a:extLst>
            </p:cNvPr>
            <p:cNvSpPr/>
            <p:nvPr/>
          </p:nvSpPr>
          <p:spPr>
            <a:xfrm>
              <a:off x="5755341" y="3711388"/>
              <a:ext cx="4034117" cy="8606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Network Interface Controller (NIC) Specific</a:t>
              </a:r>
            </a:p>
          </p:txBody>
        </p:sp>
        <p:cxnSp>
          <p:nvCxnSpPr>
            <p:cNvPr id="11" name="Straight Arrow Connector 10">
              <a:extLst>
                <a:ext uri="{FF2B5EF4-FFF2-40B4-BE49-F238E27FC236}">
                  <a16:creationId xmlns:a16="http://schemas.microsoft.com/office/drawing/2014/main" id="{2221596A-BE07-4602-8BB0-B1DD50535E08}"/>
                </a:ext>
              </a:extLst>
            </p:cNvPr>
            <p:cNvCxnSpPr/>
            <p:nvPr/>
          </p:nvCxnSpPr>
          <p:spPr>
            <a:xfrm>
              <a:off x="1721224" y="3429000"/>
              <a:ext cx="403411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982A383-5E94-4C72-B806-AFEDB0FBC231}"/>
                </a:ext>
              </a:extLst>
            </p:cNvPr>
            <p:cNvSpPr txBox="1"/>
            <p:nvPr/>
          </p:nvSpPr>
          <p:spPr>
            <a:xfrm>
              <a:off x="2888786" y="3101935"/>
              <a:ext cx="1698991" cy="369332"/>
            </a:xfrm>
            <a:prstGeom prst="rect">
              <a:avLst/>
            </a:prstGeom>
            <a:noFill/>
          </p:spPr>
          <p:txBody>
            <a:bodyPr wrap="none" rtlCol="0">
              <a:spAutoFit/>
            </a:bodyPr>
            <a:lstStyle/>
            <a:p>
              <a:r>
                <a:rPr lang="en-IE" dirty="0"/>
                <a:t>3 octets(24 bits)</a:t>
              </a:r>
            </a:p>
          </p:txBody>
        </p:sp>
        <p:cxnSp>
          <p:nvCxnSpPr>
            <p:cNvPr id="13" name="Straight Arrow Connector 12">
              <a:extLst>
                <a:ext uri="{FF2B5EF4-FFF2-40B4-BE49-F238E27FC236}">
                  <a16:creationId xmlns:a16="http://schemas.microsoft.com/office/drawing/2014/main" id="{CF0249D8-08F0-4D9B-9712-B2828A157495}"/>
                </a:ext>
              </a:extLst>
            </p:cNvPr>
            <p:cNvCxnSpPr/>
            <p:nvPr/>
          </p:nvCxnSpPr>
          <p:spPr>
            <a:xfrm>
              <a:off x="5755341" y="3429000"/>
              <a:ext cx="403411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D80B5BA-6790-45B8-A6E0-90563FCDDEC3}"/>
                </a:ext>
              </a:extLst>
            </p:cNvPr>
            <p:cNvSpPr txBox="1"/>
            <p:nvPr/>
          </p:nvSpPr>
          <p:spPr>
            <a:xfrm>
              <a:off x="6922903" y="3101935"/>
              <a:ext cx="1698991" cy="369332"/>
            </a:xfrm>
            <a:prstGeom prst="rect">
              <a:avLst/>
            </a:prstGeom>
            <a:noFill/>
          </p:spPr>
          <p:txBody>
            <a:bodyPr wrap="none" rtlCol="0">
              <a:spAutoFit/>
            </a:bodyPr>
            <a:lstStyle/>
            <a:p>
              <a:r>
                <a:rPr lang="en-IE" dirty="0"/>
                <a:t>3 octets(24 bits)</a:t>
              </a:r>
            </a:p>
          </p:txBody>
        </p:sp>
      </p:grpSp>
      <p:pic>
        <p:nvPicPr>
          <p:cNvPr id="18" name="Picture 17">
            <a:extLst>
              <a:ext uri="{FF2B5EF4-FFF2-40B4-BE49-F238E27FC236}">
                <a16:creationId xmlns:a16="http://schemas.microsoft.com/office/drawing/2014/main" id="{B3EFB20F-3A9B-4F50-849F-00FB985C7D4F}"/>
              </a:ext>
            </a:extLst>
          </p:cNvPr>
          <p:cNvPicPr>
            <a:picLocks noChangeAspect="1"/>
          </p:cNvPicPr>
          <p:nvPr/>
        </p:nvPicPr>
        <p:blipFill rotWithShape="1">
          <a:blip r:embed="rId2"/>
          <a:srcRect l="14925" t="26087" r="28188" b="43575"/>
          <a:stretch/>
        </p:blipFill>
        <p:spPr>
          <a:xfrm>
            <a:off x="5923722" y="4738577"/>
            <a:ext cx="5201681" cy="2080593"/>
          </a:xfrm>
          <a:prstGeom prst="rect">
            <a:avLst/>
          </a:prstGeom>
        </p:spPr>
      </p:pic>
      <p:sp>
        <p:nvSpPr>
          <p:cNvPr id="19" name="Rectangle: Rounded Corners 18">
            <a:extLst>
              <a:ext uri="{FF2B5EF4-FFF2-40B4-BE49-F238E27FC236}">
                <a16:creationId xmlns:a16="http://schemas.microsoft.com/office/drawing/2014/main" id="{55E83774-064A-4189-BCDA-BA2EE5B233CD}"/>
              </a:ext>
            </a:extLst>
          </p:cNvPr>
          <p:cNvSpPr/>
          <p:nvPr/>
        </p:nvSpPr>
        <p:spPr>
          <a:xfrm>
            <a:off x="5923722" y="6492875"/>
            <a:ext cx="3750365" cy="239229"/>
          </a:xfrm>
          <a:prstGeom prst="round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E"/>
          </a:p>
        </p:txBody>
      </p:sp>
      <p:sp>
        <p:nvSpPr>
          <p:cNvPr id="20" name="Callout: Line 19">
            <a:extLst>
              <a:ext uri="{FF2B5EF4-FFF2-40B4-BE49-F238E27FC236}">
                <a16:creationId xmlns:a16="http://schemas.microsoft.com/office/drawing/2014/main" id="{AC3F9F37-4D9F-4F05-891E-A99F48D0A4CB}"/>
              </a:ext>
            </a:extLst>
          </p:cNvPr>
          <p:cNvSpPr/>
          <p:nvPr/>
        </p:nvSpPr>
        <p:spPr>
          <a:xfrm>
            <a:off x="1721224" y="6188765"/>
            <a:ext cx="1870115" cy="543339"/>
          </a:xfrm>
          <a:prstGeom prst="borderCallout1">
            <a:avLst>
              <a:gd name="adj1" fmla="val -17835"/>
              <a:gd name="adj2" fmla="val 39854"/>
              <a:gd name="adj3" fmla="val -116768"/>
              <a:gd name="adj4" fmla="val 6937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Usually expressed as HEX</a:t>
            </a:r>
          </a:p>
        </p:txBody>
      </p:sp>
    </p:spTree>
    <p:extLst>
      <p:ext uri="{BB962C8B-B14F-4D97-AF65-F5344CB8AC3E}">
        <p14:creationId xmlns:p14="http://schemas.microsoft.com/office/powerpoint/2010/main" val="2686168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60A1468-E014-4942-97A6-51945B1B64F5}"/>
              </a:ext>
            </a:extLst>
          </p:cNvPr>
          <p:cNvSpPr>
            <a:spLocks noGrp="1"/>
          </p:cNvSpPr>
          <p:nvPr>
            <p:ph type="title"/>
          </p:nvPr>
        </p:nvSpPr>
        <p:spPr>
          <a:xfrm>
            <a:off x="643467" y="156635"/>
            <a:ext cx="10905066" cy="602356"/>
          </a:xfrm>
        </p:spPr>
        <p:txBody>
          <a:bodyPr>
            <a:normAutofit/>
          </a:bodyPr>
          <a:lstStyle/>
          <a:p>
            <a:r>
              <a:rPr lang="en-IE" sz="3600" dirty="0"/>
              <a:t>MAC Addresses: Hexadecimal</a:t>
            </a:r>
          </a:p>
        </p:txBody>
      </p:sp>
      <p:sp>
        <p:nvSpPr>
          <p:cNvPr id="3" name="Content Placeholder 2">
            <a:extLst>
              <a:ext uri="{FF2B5EF4-FFF2-40B4-BE49-F238E27FC236}">
                <a16:creationId xmlns:a16="http://schemas.microsoft.com/office/drawing/2014/main" id="{5345BD0A-8DF5-4BED-B0A0-767BED0F72F3}"/>
              </a:ext>
            </a:extLst>
          </p:cNvPr>
          <p:cNvSpPr>
            <a:spLocks noGrp="1"/>
          </p:cNvSpPr>
          <p:nvPr>
            <p:ph idx="1"/>
          </p:nvPr>
        </p:nvSpPr>
        <p:spPr>
          <a:xfrm>
            <a:off x="162411" y="758991"/>
            <a:ext cx="5323719" cy="5860086"/>
          </a:xfrm>
        </p:spPr>
        <p:txBody>
          <a:bodyPr>
            <a:noAutofit/>
          </a:bodyPr>
          <a:lstStyle/>
          <a:p>
            <a:pPr marL="285750" indent="-285750">
              <a:buFont typeface="Arial" panose="020B0604020202020204" pitchFamily="34" charset="0"/>
              <a:buChar char="•"/>
            </a:pPr>
            <a:r>
              <a:rPr lang="en-US" sz="2133" dirty="0">
                <a:solidFill>
                  <a:srgbClr val="000000"/>
                </a:solidFill>
                <a:cs typeface="CiscoSans ExtraLight"/>
              </a:rPr>
              <a:t>An Ethernet MAC address consists of a 48-bit binary value, expressed using 12 hexadecimal values.</a:t>
            </a:r>
          </a:p>
          <a:p>
            <a:pPr marL="742950" lvl="1" indent="-285750"/>
            <a:r>
              <a:rPr lang="en-US" sz="2133" dirty="0">
                <a:solidFill>
                  <a:srgbClr val="000000"/>
                </a:solidFill>
                <a:cs typeface="CiscoSans ExtraLight"/>
              </a:rPr>
              <a:t>Each “hex” character represents 4 bits</a:t>
            </a:r>
          </a:p>
          <a:p>
            <a:pPr marL="285750" indent="-285750">
              <a:buFont typeface="Arial" panose="020B0604020202020204" pitchFamily="34" charset="0"/>
              <a:buChar char="•"/>
            </a:pPr>
            <a:r>
              <a:rPr lang="en-US" sz="2133" dirty="0">
                <a:solidFill>
                  <a:srgbClr val="000000"/>
                </a:solidFill>
                <a:cs typeface="CiscoSans ExtraLight"/>
              </a:rPr>
              <a:t>Given that 8 bits (one byte) is a common binary grouping, binary 00000000 to 11111111 can be represented in hexadecimal as the range 00 to FF,</a:t>
            </a:r>
          </a:p>
          <a:p>
            <a:pPr marL="285750" indent="-285750">
              <a:buFont typeface="Arial" panose="020B0604020202020204" pitchFamily="34" charset="0"/>
              <a:buChar char="•"/>
            </a:pPr>
            <a:r>
              <a:rPr lang="en-US" sz="2133" dirty="0">
                <a:solidFill>
                  <a:srgbClr val="000000"/>
                </a:solidFill>
                <a:cs typeface="CiscoSans ExtraLight"/>
              </a:rPr>
              <a:t>When using hexadecimal, leading zeroes are always displayed to complete the 8-bit representation. For example the binary value 0000 1011 is represented in hexadecimal as 0b.</a:t>
            </a:r>
          </a:p>
          <a:p>
            <a:pPr marL="285750" indent="-285750">
              <a:buFont typeface="Arial" panose="020B0604020202020204" pitchFamily="34" charset="0"/>
              <a:buChar char="•"/>
            </a:pPr>
            <a:r>
              <a:rPr lang="en-US" sz="2133" dirty="0">
                <a:solidFill>
                  <a:srgbClr val="000000"/>
                </a:solidFill>
                <a:cs typeface="CiscoSans ExtraLight"/>
              </a:rPr>
              <a:t>Hexadecimal numbers are often represented by the value preceded by 0x (e.g., 0x73) to distinguish between decimal and hexadecimal values in documentation.</a:t>
            </a:r>
          </a:p>
        </p:txBody>
      </p:sp>
      <p:grpSp>
        <p:nvGrpSpPr>
          <p:cNvPr id="2057" name="Group 2056">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058" name="Rectangle 2057">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Isosceles Triangle 2058">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050" name="Picture 2" descr="Binary and Hexadecimal. Overview | by Daniel Liu | Dev Genius">
            <a:extLst>
              <a:ext uri="{FF2B5EF4-FFF2-40B4-BE49-F238E27FC236}">
                <a16:creationId xmlns:a16="http://schemas.microsoft.com/office/drawing/2014/main" id="{FCBE382F-542B-949C-2E96-558DC88FDB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7010886" y="1782982"/>
            <a:ext cx="2822077" cy="2116558"/>
          </a:xfrm>
          <a:prstGeom prst="rect">
            <a:avLst/>
          </a:prstGeom>
          <a:noFill/>
          <a:extLst>
            <a:ext uri="{909E8E84-426E-40DD-AFC4-6F175D3DCCD1}">
              <a14:hiddenFill xmlns:a14="http://schemas.microsoft.com/office/drawing/2010/main">
                <a:solidFill>
                  <a:srgbClr val="FFFFFF"/>
                </a:solidFill>
              </a14:hiddenFill>
            </a:ext>
          </a:extLst>
        </p:spPr>
      </p:pic>
      <p:grpSp>
        <p:nvGrpSpPr>
          <p:cNvPr id="2061" name="Group 2060">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062" name="Isosceles Triangle 206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9B74FDF5-F58C-CA54-DDBB-4DB09EECB377}"/>
              </a:ext>
            </a:extLst>
          </p:cNvPr>
          <p:cNvPicPr>
            <a:picLocks noChangeAspect="1"/>
          </p:cNvPicPr>
          <p:nvPr/>
        </p:nvPicPr>
        <p:blipFill>
          <a:blip r:embed="rId3"/>
          <a:stretch>
            <a:fillRect/>
          </a:stretch>
        </p:blipFill>
        <p:spPr>
          <a:xfrm>
            <a:off x="5761463" y="4169821"/>
            <a:ext cx="6253212" cy="1792120"/>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3B1F0573-BA36-69E2-AA83-C1638BFAB463}"/>
                  </a:ext>
                </a:extLst>
              </p14:cNvPr>
              <p14:cNvContentPartPr/>
              <p14:nvPr/>
            </p14:nvContentPartPr>
            <p14:xfrm>
              <a:off x="8287390" y="4113414"/>
              <a:ext cx="1758600" cy="398880"/>
            </p14:xfrm>
          </p:contentPart>
        </mc:Choice>
        <mc:Fallback xmlns="">
          <p:pic>
            <p:nvPicPr>
              <p:cNvPr id="6" name="Ink 5">
                <a:extLst>
                  <a:ext uri="{FF2B5EF4-FFF2-40B4-BE49-F238E27FC236}">
                    <a16:creationId xmlns:a16="http://schemas.microsoft.com/office/drawing/2014/main" id="{3B1F0573-BA36-69E2-AA83-C1638BFAB463}"/>
                  </a:ext>
                </a:extLst>
              </p:cNvPr>
              <p:cNvPicPr/>
              <p:nvPr/>
            </p:nvPicPr>
            <p:blipFill>
              <a:blip r:embed="rId5"/>
              <a:stretch>
                <a:fillRect/>
              </a:stretch>
            </p:blipFill>
            <p:spPr>
              <a:xfrm>
                <a:off x="8278750" y="4104414"/>
                <a:ext cx="1776240" cy="416520"/>
              </a:xfrm>
              <a:prstGeom prst="rect">
                <a:avLst/>
              </a:prstGeom>
            </p:spPr>
          </p:pic>
        </mc:Fallback>
      </mc:AlternateContent>
    </p:spTree>
    <p:extLst>
      <p:ext uri="{BB962C8B-B14F-4D97-AF65-F5344CB8AC3E}">
        <p14:creationId xmlns:p14="http://schemas.microsoft.com/office/powerpoint/2010/main" val="2780813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42533"/>
            <a:ext cx="11127317" cy="975783"/>
          </a:xfrm>
        </p:spPr>
        <p:txBody>
          <a:bodyPr>
            <a:normAutofit/>
          </a:bodyPr>
          <a:lstStyle/>
          <a:p>
            <a:r>
              <a:rPr lang="en-US" dirty="0">
                <a:solidFill>
                  <a:schemeClr val="tx1"/>
                </a:solidFill>
              </a:rPr>
              <a:t>Frame Processing</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166564" y="914401"/>
            <a:ext cx="7200888" cy="5603966"/>
          </a:xfrm>
        </p:spPr>
        <p:txBody>
          <a:bodyPr/>
          <a:lstStyle/>
          <a:p>
            <a:pPr marL="380990" indent="-380990" algn="l">
              <a:buFont typeface="Arial" panose="020B0604020202020204" pitchFamily="34" charset="0"/>
              <a:buChar char="•"/>
            </a:pPr>
            <a:r>
              <a:rPr lang="en-US" sz="2200" dirty="0">
                <a:solidFill>
                  <a:srgbClr val="000000"/>
                </a:solidFill>
              </a:rPr>
              <a:t>When a device is forwarding a message to an Ethernet network, the Ethernet header include a Source MAC address and a Destination MAC address.</a:t>
            </a:r>
          </a:p>
          <a:p>
            <a:pPr marL="380990" indent="-380990" algn="l">
              <a:buFont typeface="Arial" panose="020B0604020202020204" pitchFamily="34" charset="0"/>
              <a:buChar char="•"/>
            </a:pPr>
            <a:r>
              <a:rPr lang="en-US" sz="2200" dirty="0">
                <a:solidFill>
                  <a:srgbClr val="000000"/>
                </a:solidFill>
              </a:rPr>
              <a:t>When a NIC receives an Ethernet frame, it examines the destination MAC address to see if it matches the physical MAC address that is stored in RAM. If there is no match, the device discards the frame. If there is a match, it passes the frame up the OSI layers, where the de-encapsulation process takes place.</a:t>
            </a:r>
          </a:p>
          <a:p>
            <a:pPr marL="97444" lvl="1" indent="0">
              <a:buNone/>
            </a:pPr>
            <a:r>
              <a:rPr lang="en-US" sz="2000" b="1" dirty="0">
                <a:solidFill>
                  <a:srgbClr val="000000"/>
                </a:solidFill>
              </a:rPr>
              <a:t>Note:</a:t>
            </a:r>
            <a:r>
              <a:rPr lang="en-US" sz="2000" dirty="0">
                <a:solidFill>
                  <a:srgbClr val="000000"/>
                </a:solidFill>
              </a:rPr>
              <a:t> Ethernet NICs will also accept frames if the destination MAC address is a broadcast or a multicast group of which the host is a member.</a:t>
            </a:r>
          </a:p>
          <a:p>
            <a:pPr marL="380990" indent="-380990" algn="l">
              <a:buFont typeface="Arial" panose="020B0604020202020204" pitchFamily="34" charset="0"/>
              <a:buChar char="•"/>
            </a:pPr>
            <a:r>
              <a:rPr lang="en-US" sz="2200" dirty="0">
                <a:solidFill>
                  <a:srgbClr val="000000"/>
                </a:solidFill>
              </a:rPr>
              <a:t>Any device that is the source or destination of an Ethernet frame, will have an Ethernet NIC and therefore, a MAC address. This includes workstations, servers, printers, mobile devices, and routers.</a:t>
            </a:r>
          </a:p>
          <a:p>
            <a:pPr marL="380990" indent="-380990" algn="l">
              <a:buFont typeface="Arial" panose="020B0604020202020204" pitchFamily="34" charset="0"/>
              <a:buChar char="•"/>
            </a:pPr>
            <a:endParaRPr lang="en-US" sz="1867" dirty="0">
              <a:solidFill>
                <a:srgbClr val="000000"/>
              </a:solidFill>
            </a:endParaRPr>
          </a:p>
        </p:txBody>
      </p:sp>
      <p:pic>
        <p:nvPicPr>
          <p:cNvPr id="5" name="Picture 4">
            <a:extLst>
              <a:ext uri="{FF2B5EF4-FFF2-40B4-BE49-F238E27FC236}">
                <a16:creationId xmlns:a16="http://schemas.microsoft.com/office/drawing/2014/main" id="{96B69223-7D35-3345-89F2-D23C56D422F0}"/>
              </a:ext>
            </a:extLst>
          </p:cNvPr>
          <p:cNvPicPr>
            <a:picLocks noChangeAspect="1"/>
          </p:cNvPicPr>
          <p:nvPr/>
        </p:nvPicPr>
        <p:blipFill>
          <a:blip r:embed="rId3"/>
          <a:stretch>
            <a:fillRect/>
          </a:stretch>
        </p:blipFill>
        <p:spPr>
          <a:xfrm>
            <a:off x="7122245" y="1526059"/>
            <a:ext cx="4903192" cy="3212757"/>
          </a:xfrm>
          <a:prstGeom prst="rect">
            <a:avLst/>
          </a:prstGeom>
        </p:spPr>
      </p:pic>
    </p:spTree>
    <p:extLst>
      <p:ext uri="{BB962C8B-B14F-4D97-AF65-F5344CB8AC3E}">
        <p14:creationId xmlns:p14="http://schemas.microsoft.com/office/powerpoint/2010/main" val="364992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B95C-3B4B-4FF7-8B5B-71854194C4AF}"/>
              </a:ext>
            </a:extLst>
          </p:cNvPr>
          <p:cNvSpPr>
            <a:spLocks noGrp="1"/>
          </p:cNvSpPr>
          <p:nvPr>
            <p:ph type="title"/>
          </p:nvPr>
        </p:nvSpPr>
        <p:spPr>
          <a:xfrm>
            <a:off x="590005" y="130357"/>
            <a:ext cx="10515600" cy="1123678"/>
          </a:xfrm>
        </p:spPr>
        <p:txBody>
          <a:bodyPr/>
          <a:lstStyle/>
          <a:p>
            <a:r>
              <a:rPr lang="en-IE" dirty="0"/>
              <a:t>Ethernet: Frame Delivery</a:t>
            </a:r>
          </a:p>
        </p:txBody>
      </p:sp>
      <p:sp>
        <p:nvSpPr>
          <p:cNvPr id="3" name="Content Placeholder 2">
            <a:extLst>
              <a:ext uri="{FF2B5EF4-FFF2-40B4-BE49-F238E27FC236}">
                <a16:creationId xmlns:a16="http://schemas.microsoft.com/office/drawing/2014/main" id="{A5D80D19-E658-459C-BE8C-21F712BD9C91}"/>
              </a:ext>
            </a:extLst>
          </p:cNvPr>
          <p:cNvSpPr>
            <a:spLocks noGrp="1"/>
          </p:cNvSpPr>
          <p:nvPr>
            <p:ph idx="1"/>
          </p:nvPr>
        </p:nvSpPr>
        <p:spPr>
          <a:xfrm>
            <a:off x="590005" y="1551305"/>
            <a:ext cx="10515600" cy="4351338"/>
          </a:xfrm>
        </p:spPr>
        <p:txBody>
          <a:bodyPr>
            <a:normAutofit/>
          </a:bodyPr>
          <a:lstStyle/>
          <a:p>
            <a:r>
              <a:rPr lang="en-IE" dirty="0"/>
              <a:t>Concerned with getting data to correct interface on a device.</a:t>
            </a:r>
          </a:p>
          <a:p>
            <a:pPr lvl="1"/>
            <a:r>
              <a:rPr lang="en-IE" dirty="0"/>
              <a:t>Delivery of messages on a single local network</a:t>
            </a:r>
          </a:p>
          <a:p>
            <a:r>
              <a:rPr lang="en-IE" dirty="0"/>
              <a:t>MAC addresses are unique on the local network.</a:t>
            </a:r>
          </a:p>
          <a:p>
            <a:pPr lvl="1"/>
            <a:r>
              <a:rPr lang="en-IE" dirty="0"/>
              <a:t>Represents “physical” address </a:t>
            </a:r>
          </a:p>
          <a:p>
            <a:r>
              <a:rPr lang="en-IE" dirty="0"/>
              <a:t>Each network interface inspects destination address of every frame. If it does not match hardware address(or broadcast address), the frame is discarded</a:t>
            </a:r>
          </a:p>
          <a:p>
            <a:r>
              <a:rPr lang="en-IE" dirty="0"/>
              <a:t>Once a frame is successfully received at destination, Layer 2 info is removed as the data is decapsulated and moved up the protocol stack to Network layer(layer 3).</a:t>
            </a:r>
          </a:p>
        </p:txBody>
      </p:sp>
    </p:spTree>
    <p:extLst>
      <p:ext uri="{BB962C8B-B14F-4D97-AF65-F5344CB8AC3E}">
        <p14:creationId xmlns:p14="http://schemas.microsoft.com/office/powerpoint/2010/main" val="165485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3CE0C-4F39-4AB5-A5B7-36FB3601A64C}"/>
              </a:ext>
            </a:extLst>
          </p:cNvPr>
          <p:cNvSpPr>
            <a:spLocks noGrp="1"/>
          </p:cNvSpPr>
          <p:nvPr>
            <p:ph type="title"/>
          </p:nvPr>
        </p:nvSpPr>
        <p:spPr>
          <a:xfrm>
            <a:off x="156754" y="120337"/>
            <a:ext cx="11197046" cy="853698"/>
          </a:xfrm>
        </p:spPr>
        <p:txBody>
          <a:bodyPr/>
          <a:lstStyle/>
          <a:p>
            <a:r>
              <a:rPr lang="en-IE" dirty="0"/>
              <a:t>Physical/Link Layer (layer 2) intermediate devices</a:t>
            </a:r>
          </a:p>
        </p:txBody>
      </p:sp>
      <p:sp>
        <p:nvSpPr>
          <p:cNvPr id="3" name="Content Placeholder 2">
            <a:extLst>
              <a:ext uri="{FF2B5EF4-FFF2-40B4-BE49-F238E27FC236}">
                <a16:creationId xmlns:a16="http://schemas.microsoft.com/office/drawing/2014/main" id="{896D858F-35B8-4C2F-A400-BA2103B573B3}"/>
              </a:ext>
            </a:extLst>
          </p:cNvPr>
          <p:cNvSpPr>
            <a:spLocks noGrp="1"/>
          </p:cNvSpPr>
          <p:nvPr>
            <p:ph idx="1"/>
          </p:nvPr>
        </p:nvSpPr>
        <p:spPr>
          <a:xfrm>
            <a:off x="448967" y="1372292"/>
            <a:ext cx="5809488" cy="4351338"/>
          </a:xfrm>
        </p:spPr>
        <p:txBody>
          <a:bodyPr vert="horz" lIns="91440" tIns="45720" rIns="91440" bIns="45720" rtlCol="0" anchor="t">
            <a:normAutofit/>
          </a:bodyPr>
          <a:lstStyle/>
          <a:p>
            <a:r>
              <a:rPr lang="en-IE" dirty="0"/>
              <a:t>Hub(Not cool anymore!)</a:t>
            </a:r>
          </a:p>
          <a:p>
            <a:pPr lvl="1"/>
            <a:r>
              <a:rPr lang="en-IE" dirty="0"/>
              <a:t>Used to connect devices</a:t>
            </a:r>
          </a:p>
          <a:p>
            <a:pPr lvl="1"/>
            <a:r>
              <a:rPr lang="en-IE" dirty="0"/>
              <a:t>Frames sent out on all ports.</a:t>
            </a:r>
          </a:p>
          <a:p>
            <a:pPr lvl="1"/>
            <a:r>
              <a:rPr lang="en-IE" dirty="0"/>
              <a:t>Shared Media  (only one device can transmit)</a:t>
            </a:r>
          </a:p>
          <a:p>
            <a:pPr marL="457200" lvl="1" indent="0">
              <a:buNone/>
            </a:pPr>
            <a:endParaRPr lang="en-IE" dirty="0">
              <a:cs typeface="Calibri"/>
            </a:endParaRPr>
          </a:p>
          <a:p>
            <a:pPr lvl="1"/>
            <a:endParaRPr lang="en-IE" dirty="0"/>
          </a:p>
        </p:txBody>
      </p:sp>
      <p:pic>
        <p:nvPicPr>
          <p:cNvPr id="4" name="Picture 4" descr="A close up of a logo&#10;&#10;Description generated with very high confidence">
            <a:extLst>
              <a:ext uri="{FF2B5EF4-FFF2-40B4-BE49-F238E27FC236}">
                <a16:creationId xmlns:a16="http://schemas.microsoft.com/office/drawing/2014/main" id="{FA4E2008-FCDD-4A75-AEB8-71D5D78690CF}"/>
              </a:ext>
            </a:extLst>
          </p:cNvPr>
          <p:cNvPicPr>
            <a:picLocks noChangeAspect="1"/>
          </p:cNvPicPr>
          <p:nvPr/>
        </p:nvPicPr>
        <p:blipFill>
          <a:blip r:embed="rId3"/>
          <a:stretch>
            <a:fillRect/>
          </a:stretch>
        </p:blipFill>
        <p:spPr>
          <a:xfrm>
            <a:off x="1185009" y="3686529"/>
            <a:ext cx="9204696" cy="2950483"/>
          </a:xfrm>
          <a:prstGeom prst="rect">
            <a:avLst/>
          </a:prstGeom>
        </p:spPr>
      </p:pic>
      <p:sp>
        <p:nvSpPr>
          <p:cNvPr id="75" name="Content Placeholder 2">
            <a:extLst>
              <a:ext uri="{FF2B5EF4-FFF2-40B4-BE49-F238E27FC236}">
                <a16:creationId xmlns:a16="http://schemas.microsoft.com/office/drawing/2014/main" id="{491E4895-2D7D-4A26-85E5-55DEDC700E8C}"/>
              </a:ext>
            </a:extLst>
          </p:cNvPr>
          <p:cNvSpPr txBox="1">
            <a:spLocks/>
          </p:cNvSpPr>
          <p:nvPr/>
        </p:nvSpPr>
        <p:spPr>
          <a:xfrm>
            <a:off x="6361461" y="1355454"/>
            <a:ext cx="5415755" cy="422807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dirty="0"/>
              <a:t>Switch</a:t>
            </a:r>
            <a:endParaRPr lang="en-US" dirty="0">
              <a:cs typeface="Calibri"/>
            </a:endParaRPr>
          </a:p>
          <a:p>
            <a:pPr lvl="1"/>
            <a:r>
              <a:rPr lang="en-IE" dirty="0"/>
              <a:t>Replaces hubs on Ethernet networks</a:t>
            </a:r>
            <a:endParaRPr lang="en-IE" dirty="0">
              <a:cs typeface="Calibri"/>
            </a:endParaRPr>
          </a:p>
          <a:p>
            <a:pPr lvl="1"/>
            <a:r>
              <a:rPr lang="en-IE" dirty="0"/>
              <a:t>Ports isolated. Frame is sent just to its proper destination(if known)</a:t>
            </a:r>
            <a:r>
              <a:rPr lang="en-IE" dirty="0">
                <a:cs typeface="Calibri"/>
              </a:rPr>
              <a:t>.</a:t>
            </a:r>
          </a:p>
          <a:p>
            <a:pPr lvl="1">
              <a:buNone/>
            </a:pPr>
            <a:endParaRPr lang="en-IE" dirty="0">
              <a:cs typeface="Calibri"/>
            </a:endParaRPr>
          </a:p>
        </p:txBody>
      </p:sp>
      <p:cxnSp>
        <p:nvCxnSpPr>
          <p:cNvPr id="6" name="Straight Arrow Connector 5">
            <a:extLst>
              <a:ext uri="{FF2B5EF4-FFF2-40B4-BE49-F238E27FC236}">
                <a16:creationId xmlns:a16="http://schemas.microsoft.com/office/drawing/2014/main" id="{B642DD39-75B2-4E3E-AAF5-01E5DF9DFC4F}"/>
              </a:ext>
            </a:extLst>
          </p:cNvPr>
          <p:cNvCxnSpPr/>
          <p:nvPr/>
        </p:nvCxnSpPr>
        <p:spPr>
          <a:xfrm flipH="1">
            <a:off x="3856383" y="5015996"/>
            <a:ext cx="689113"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0" name="Straight Arrow Connector 9">
            <a:extLst>
              <a:ext uri="{FF2B5EF4-FFF2-40B4-BE49-F238E27FC236}">
                <a16:creationId xmlns:a16="http://schemas.microsoft.com/office/drawing/2014/main" id="{F4B17E67-0CF8-4414-8183-1D6D50AD4639}"/>
              </a:ext>
            </a:extLst>
          </p:cNvPr>
          <p:cNvCxnSpPr>
            <a:cxnSpLocks/>
          </p:cNvCxnSpPr>
          <p:nvPr/>
        </p:nvCxnSpPr>
        <p:spPr>
          <a:xfrm flipH="1" flipV="1">
            <a:off x="2246245" y="4253996"/>
            <a:ext cx="748746" cy="609552"/>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2" name="Straight Arrow Connector 11">
            <a:extLst>
              <a:ext uri="{FF2B5EF4-FFF2-40B4-BE49-F238E27FC236}">
                <a16:creationId xmlns:a16="http://schemas.microsoft.com/office/drawing/2014/main" id="{118FB369-163A-479B-A8EB-7016C3E0973B}"/>
              </a:ext>
            </a:extLst>
          </p:cNvPr>
          <p:cNvCxnSpPr>
            <a:cxnSpLocks/>
          </p:cNvCxnSpPr>
          <p:nvPr/>
        </p:nvCxnSpPr>
        <p:spPr>
          <a:xfrm flipH="1">
            <a:off x="2146852" y="5161770"/>
            <a:ext cx="851454" cy="722195"/>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4" name="Straight Arrow Connector 13">
            <a:extLst>
              <a:ext uri="{FF2B5EF4-FFF2-40B4-BE49-F238E27FC236}">
                <a16:creationId xmlns:a16="http://schemas.microsoft.com/office/drawing/2014/main" id="{7DA1A5B1-30DC-44C9-B082-5D00CC7DB378}"/>
              </a:ext>
            </a:extLst>
          </p:cNvPr>
          <p:cNvCxnSpPr/>
          <p:nvPr/>
        </p:nvCxnSpPr>
        <p:spPr>
          <a:xfrm flipH="1">
            <a:off x="2234649" y="5015996"/>
            <a:ext cx="689113"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5" name="Straight Arrow Connector 14">
            <a:extLst>
              <a:ext uri="{FF2B5EF4-FFF2-40B4-BE49-F238E27FC236}">
                <a16:creationId xmlns:a16="http://schemas.microsoft.com/office/drawing/2014/main" id="{89040E83-A53D-42C4-A634-85A0DF7CEAF5}"/>
              </a:ext>
            </a:extLst>
          </p:cNvPr>
          <p:cNvCxnSpPr/>
          <p:nvPr/>
        </p:nvCxnSpPr>
        <p:spPr>
          <a:xfrm flipH="1">
            <a:off x="8633791" y="5015996"/>
            <a:ext cx="689113" cy="0"/>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6" name="Straight Arrow Connector 15">
            <a:extLst>
              <a:ext uri="{FF2B5EF4-FFF2-40B4-BE49-F238E27FC236}">
                <a16:creationId xmlns:a16="http://schemas.microsoft.com/office/drawing/2014/main" id="{AD48C506-C3FF-4222-AE6A-5A38926FB921}"/>
              </a:ext>
            </a:extLst>
          </p:cNvPr>
          <p:cNvCxnSpPr>
            <a:cxnSpLocks/>
          </p:cNvCxnSpPr>
          <p:nvPr/>
        </p:nvCxnSpPr>
        <p:spPr>
          <a:xfrm flipH="1">
            <a:off x="7010400" y="5300918"/>
            <a:ext cx="815010" cy="746649"/>
          </a:xfrm>
          <a:prstGeom prst="straightConnector1">
            <a:avLst/>
          </a:prstGeom>
          <a:ln w="38100">
            <a:tailEnd type="triangle"/>
          </a:ln>
        </p:spPr>
        <p:style>
          <a:lnRef idx="2">
            <a:schemeClr val="accent6"/>
          </a:lnRef>
          <a:fillRef idx="0">
            <a:schemeClr val="accent6"/>
          </a:fillRef>
          <a:effectRef idx="1">
            <a:schemeClr val="accent6"/>
          </a:effectRef>
          <a:fontRef idx="minor">
            <a:schemeClr val="tx1"/>
          </a:fontRef>
        </p:style>
      </p:cxnSp>
      <p:cxnSp>
        <p:nvCxnSpPr>
          <p:cNvPr id="18" name="Straight Connector 17">
            <a:extLst>
              <a:ext uri="{FF2B5EF4-FFF2-40B4-BE49-F238E27FC236}">
                <a16:creationId xmlns:a16="http://schemas.microsoft.com/office/drawing/2014/main" id="{61F8CFFE-A163-4661-A1E4-B95F097CDDC5}"/>
              </a:ext>
            </a:extLst>
          </p:cNvPr>
          <p:cNvCxnSpPr>
            <a:cxnSpLocks/>
          </p:cNvCxnSpPr>
          <p:nvPr/>
        </p:nvCxnSpPr>
        <p:spPr>
          <a:xfrm>
            <a:off x="7010400" y="4121426"/>
            <a:ext cx="861391" cy="962921"/>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0E2B486D-7D3D-49AA-8BE9-27244606C71E}"/>
              </a:ext>
            </a:extLst>
          </p:cNvPr>
          <p:cNvCxnSpPr>
            <a:cxnSpLocks/>
          </p:cNvCxnSpPr>
          <p:nvPr/>
        </p:nvCxnSpPr>
        <p:spPr>
          <a:xfrm flipV="1">
            <a:off x="6994497" y="5084347"/>
            <a:ext cx="877294" cy="799618"/>
          </a:xfrm>
          <a:prstGeom prst="line">
            <a:avLst/>
          </a:prstGeom>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8391FB9A-A31F-4500-B592-B5BC14E8E799}"/>
              </a:ext>
            </a:extLst>
          </p:cNvPr>
          <p:cNvPicPr>
            <a:picLocks noChangeAspect="1"/>
          </p:cNvPicPr>
          <p:nvPr/>
        </p:nvPicPr>
        <p:blipFill>
          <a:blip r:embed="rId4"/>
          <a:stretch>
            <a:fillRect/>
          </a:stretch>
        </p:blipFill>
        <p:spPr>
          <a:xfrm>
            <a:off x="3983105" y="4680716"/>
            <a:ext cx="446655" cy="240823"/>
          </a:xfrm>
          <a:prstGeom prst="rect">
            <a:avLst/>
          </a:prstGeom>
        </p:spPr>
      </p:pic>
      <p:pic>
        <p:nvPicPr>
          <p:cNvPr id="17" name="Picture 16">
            <a:extLst>
              <a:ext uri="{FF2B5EF4-FFF2-40B4-BE49-F238E27FC236}">
                <a16:creationId xmlns:a16="http://schemas.microsoft.com/office/drawing/2014/main" id="{D1D5C83A-AE47-4AAD-9AE5-F951B2F0AC74}"/>
              </a:ext>
            </a:extLst>
          </p:cNvPr>
          <p:cNvPicPr>
            <a:picLocks noChangeAspect="1"/>
          </p:cNvPicPr>
          <p:nvPr/>
        </p:nvPicPr>
        <p:blipFill>
          <a:blip r:embed="rId4"/>
          <a:stretch>
            <a:fillRect/>
          </a:stretch>
        </p:blipFill>
        <p:spPr>
          <a:xfrm>
            <a:off x="2622974" y="4230851"/>
            <a:ext cx="446655" cy="240823"/>
          </a:xfrm>
          <a:prstGeom prst="rect">
            <a:avLst/>
          </a:prstGeom>
        </p:spPr>
      </p:pic>
      <p:pic>
        <p:nvPicPr>
          <p:cNvPr id="19" name="Picture 18">
            <a:extLst>
              <a:ext uri="{FF2B5EF4-FFF2-40B4-BE49-F238E27FC236}">
                <a16:creationId xmlns:a16="http://schemas.microsoft.com/office/drawing/2014/main" id="{A1E52F49-E7F5-4567-B4FB-43BB36A04675}"/>
              </a:ext>
            </a:extLst>
          </p:cNvPr>
          <p:cNvPicPr>
            <a:picLocks noChangeAspect="1"/>
          </p:cNvPicPr>
          <p:nvPr/>
        </p:nvPicPr>
        <p:blipFill>
          <a:blip r:embed="rId4"/>
          <a:stretch>
            <a:fillRect/>
          </a:stretch>
        </p:blipFill>
        <p:spPr>
          <a:xfrm>
            <a:off x="2349251" y="4730253"/>
            <a:ext cx="446655" cy="240823"/>
          </a:xfrm>
          <a:prstGeom prst="rect">
            <a:avLst/>
          </a:prstGeom>
        </p:spPr>
      </p:pic>
      <p:pic>
        <p:nvPicPr>
          <p:cNvPr id="20" name="Picture 19">
            <a:extLst>
              <a:ext uri="{FF2B5EF4-FFF2-40B4-BE49-F238E27FC236}">
                <a16:creationId xmlns:a16="http://schemas.microsoft.com/office/drawing/2014/main" id="{7B23474C-8014-4051-B89A-927C9E016EB4}"/>
              </a:ext>
            </a:extLst>
          </p:cNvPr>
          <p:cNvPicPr>
            <a:picLocks noChangeAspect="1"/>
          </p:cNvPicPr>
          <p:nvPr/>
        </p:nvPicPr>
        <p:blipFill>
          <a:blip r:embed="rId4"/>
          <a:stretch>
            <a:fillRect/>
          </a:stretch>
        </p:blipFill>
        <p:spPr>
          <a:xfrm>
            <a:off x="2100471" y="5363744"/>
            <a:ext cx="446655" cy="240823"/>
          </a:xfrm>
          <a:prstGeom prst="rect">
            <a:avLst/>
          </a:prstGeom>
        </p:spPr>
      </p:pic>
      <p:sp>
        <p:nvSpPr>
          <p:cNvPr id="7" name="Speech Bubble: Rectangle with Corners Rounded 6">
            <a:extLst>
              <a:ext uri="{FF2B5EF4-FFF2-40B4-BE49-F238E27FC236}">
                <a16:creationId xmlns:a16="http://schemas.microsoft.com/office/drawing/2014/main" id="{CE078B8C-E801-47B5-B482-6DB7CAB2552C}"/>
              </a:ext>
            </a:extLst>
          </p:cNvPr>
          <p:cNvSpPr/>
          <p:nvPr/>
        </p:nvSpPr>
        <p:spPr>
          <a:xfrm>
            <a:off x="3230127" y="3407864"/>
            <a:ext cx="2432380" cy="846125"/>
          </a:xfrm>
          <a:prstGeom prst="wedgeRoundRectCallout">
            <a:avLst>
              <a:gd name="adj1" fmla="val -94107"/>
              <a:gd name="adj2" fmla="val 1901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Destination MAC does not match mine: IGNORE</a:t>
            </a:r>
          </a:p>
        </p:txBody>
      </p:sp>
      <p:sp>
        <p:nvSpPr>
          <p:cNvPr id="8" name="Speech Bubble: Rectangle with Corners Rounded 7">
            <a:extLst>
              <a:ext uri="{FF2B5EF4-FFF2-40B4-BE49-F238E27FC236}">
                <a16:creationId xmlns:a16="http://schemas.microsoft.com/office/drawing/2014/main" id="{9827DAA1-712D-4B66-BFD0-547877B84ECA}"/>
              </a:ext>
            </a:extLst>
          </p:cNvPr>
          <p:cNvSpPr/>
          <p:nvPr/>
        </p:nvSpPr>
        <p:spPr>
          <a:xfrm>
            <a:off x="3010452" y="5949838"/>
            <a:ext cx="2432380" cy="846125"/>
          </a:xfrm>
          <a:prstGeom prst="wedgeRoundRectCallout">
            <a:avLst>
              <a:gd name="adj1" fmla="val -82411"/>
              <a:gd name="adj2" fmla="val -2661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Destination MAC matches mine!</a:t>
            </a:r>
          </a:p>
        </p:txBody>
      </p:sp>
      <p:sp>
        <p:nvSpPr>
          <p:cNvPr id="9" name="Speech Bubble: Rectangle with Corners Rounded 8">
            <a:extLst>
              <a:ext uri="{FF2B5EF4-FFF2-40B4-BE49-F238E27FC236}">
                <a16:creationId xmlns:a16="http://schemas.microsoft.com/office/drawing/2014/main" id="{C485090D-1CBC-4F34-B816-D08C606CA75E}"/>
              </a:ext>
            </a:extLst>
          </p:cNvPr>
          <p:cNvSpPr/>
          <p:nvPr/>
        </p:nvSpPr>
        <p:spPr>
          <a:xfrm>
            <a:off x="7825410" y="5949837"/>
            <a:ext cx="2432380" cy="846125"/>
          </a:xfrm>
          <a:prstGeom prst="wedgeRoundRectCallout">
            <a:avLst>
              <a:gd name="adj1" fmla="val -82411"/>
              <a:gd name="adj2" fmla="val -2661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Destination MAC matches mine!</a:t>
            </a:r>
          </a:p>
        </p:txBody>
      </p:sp>
    </p:spTree>
    <p:extLst>
      <p:ext uri="{BB962C8B-B14F-4D97-AF65-F5344CB8AC3E}">
        <p14:creationId xmlns:p14="http://schemas.microsoft.com/office/powerpoint/2010/main" val="1343930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par>
                                <p:cTn id="28" presetID="10" presetClass="entr" presetSubtype="0"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500"/>
                                        <p:tgtEl>
                                          <p:spTgt spid="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5" grpId="0"/>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342CA-B846-41CD-8E16-62DB6587486B}"/>
              </a:ext>
            </a:extLst>
          </p:cNvPr>
          <p:cNvSpPr>
            <a:spLocks noGrp="1"/>
          </p:cNvSpPr>
          <p:nvPr>
            <p:ph type="title"/>
          </p:nvPr>
        </p:nvSpPr>
        <p:spPr>
          <a:xfrm>
            <a:off x="420190" y="96473"/>
            <a:ext cx="10709364" cy="1066121"/>
          </a:xfrm>
        </p:spPr>
        <p:txBody>
          <a:bodyPr/>
          <a:lstStyle/>
          <a:p>
            <a:r>
              <a:rPr lang="en-IE" dirty="0"/>
              <a:t>MAC Addresses: Unicast, Destination, Source</a:t>
            </a:r>
          </a:p>
        </p:txBody>
      </p:sp>
      <p:sp>
        <p:nvSpPr>
          <p:cNvPr id="3" name="Content Placeholder 2">
            <a:extLst>
              <a:ext uri="{FF2B5EF4-FFF2-40B4-BE49-F238E27FC236}">
                <a16:creationId xmlns:a16="http://schemas.microsoft.com/office/drawing/2014/main" id="{A0D50B32-08F0-4200-BC78-934599BB5576}"/>
              </a:ext>
            </a:extLst>
          </p:cNvPr>
          <p:cNvSpPr>
            <a:spLocks noGrp="1"/>
          </p:cNvSpPr>
          <p:nvPr>
            <p:ph idx="1"/>
          </p:nvPr>
        </p:nvSpPr>
        <p:spPr>
          <a:xfrm>
            <a:off x="302625" y="1627624"/>
            <a:ext cx="5095239" cy="4351338"/>
          </a:xfrm>
        </p:spPr>
        <p:txBody>
          <a:bodyPr>
            <a:normAutofit lnSpcReduction="10000"/>
          </a:bodyPr>
          <a:lstStyle/>
          <a:p>
            <a:r>
              <a:rPr lang="en-IE" dirty="0"/>
              <a:t>Unicast MAC Address:</a:t>
            </a:r>
          </a:p>
          <a:p>
            <a:pPr lvl="1"/>
            <a:r>
              <a:rPr lang="en-US" sz="2400" dirty="0">
                <a:solidFill>
                  <a:srgbClr val="000000"/>
                </a:solidFill>
              </a:rPr>
              <a:t>A unicast MAC address is the unique address that is used when a frame is sent from a single transmitting device to a single destination device.</a:t>
            </a:r>
          </a:p>
          <a:p>
            <a:r>
              <a:rPr lang="en-IE" dirty="0"/>
              <a:t>Destination MAC address is found using Address Resolution Protocol (ARP)</a:t>
            </a:r>
          </a:p>
          <a:p>
            <a:r>
              <a:rPr lang="en-IE" dirty="0"/>
              <a:t>Source MAC Address is always unicast.</a:t>
            </a:r>
          </a:p>
          <a:p>
            <a:pPr lvl="1"/>
            <a:endParaRPr lang="en-IE" dirty="0"/>
          </a:p>
        </p:txBody>
      </p:sp>
      <p:pic>
        <p:nvPicPr>
          <p:cNvPr id="4" name="Picture 3">
            <a:extLst>
              <a:ext uri="{FF2B5EF4-FFF2-40B4-BE49-F238E27FC236}">
                <a16:creationId xmlns:a16="http://schemas.microsoft.com/office/drawing/2014/main" id="{11CA1F51-349A-42A7-9A81-0BAFB35E11DD}"/>
              </a:ext>
            </a:extLst>
          </p:cNvPr>
          <p:cNvPicPr>
            <a:picLocks noChangeAspect="1"/>
          </p:cNvPicPr>
          <p:nvPr/>
        </p:nvPicPr>
        <p:blipFill>
          <a:blip r:embed="rId2"/>
          <a:stretch>
            <a:fillRect/>
          </a:stretch>
        </p:blipFill>
        <p:spPr>
          <a:xfrm>
            <a:off x="5259673" y="1627624"/>
            <a:ext cx="6629702" cy="4747340"/>
          </a:xfrm>
          <a:prstGeom prst="rect">
            <a:avLst/>
          </a:prstGeom>
        </p:spPr>
      </p:pic>
    </p:spTree>
    <p:extLst>
      <p:ext uri="{BB962C8B-B14F-4D97-AF65-F5344CB8AC3E}">
        <p14:creationId xmlns:p14="http://schemas.microsoft.com/office/powerpoint/2010/main" val="3669771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3A5E6-464D-4EDB-B3E0-C9643AEA8AC8}"/>
              </a:ext>
            </a:extLst>
          </p:cNvPr>
          <p:cNvSpPr>
            <a:spLocks noGrp="1"/>
          </p:cNvSpPr>
          <p:nvPr>
            <p:ph type="title"/>
          </p:nvPr>
        </p:nvSpPr>
        <p:spPr/>
        <p:txBody>
          <a:bodyPr/>
          <a:lstStyle/>
          <a:p>
            <a:r>
              <a:rPr lang="en-IE" dirty="0"/>
              <a:t>MAC Addressing: Broadcast</a:t>
            </a:r>
          </a:p>
        </p:txBody>
      </p:sp>
      <p:sp>
        <p:nvSpPr>
          <p:cNvPr id="3" name="Content Placeholder 2">
            <a:extLst>
              <a:ext uri="{FF2B5EF4-FFF2-40B4-BE49-F238E27FC236}">
                <a16:creationId xmlns:a16="http://schemas.microsoft.com/office/drawing/2014/main" id="{03AB2885-2B29-4DFB-9337-8221634ADF10}"/>
              </a:ext>
            </a:extLst>
          </p:cNvPr>
          <p:cNvSpPr>
            <a:spLocks noGrp="1"/>
          </p:cNvSpPr>
          <p:nvPr>
            <p:ph idx="1"/>
          </p:nvPr>
        </p:nvSpPr>
        <p:spPr>
          <a:xfrm>
            <a:off x="838200" y="1825625"/>
            <a:ext cx="4530754" cy="4351338"/>
          </a:xfrm>
        </p:spPr>
        <p:txBody>
          <a:bodyPr/>
          <a:lstStyle/>
          <a:p>
            <a:r>
              <a:rPr lang="en-US" sz="2800" dirty="0">
                <a:solidFill>
                  <a:srgbClr val="000000"/>
                </a:solidFill>
              </a:rPr>
              <a:t>An Ethernet broadcast frame has a destination MAC address of FF-FF-FF-FF-FF-FF</a:t>
            </a:r>
          </a:p>
          <a:p>
            <a:pPr lvl="1"/>
            <a:r>
              <a:rPr lang="en-US" dirty="0">
                <a:solidFill>
                  <a:srgbClr val="000000"/>
                </a:solidFill>
              </a:rPr>
              <a:t>received and processed by every device on the Ethernet LAN</a:t>
            </a:r>
          </a:p>
          <a:p>
            <a:pPr lvl="1"/>
            <a:r>
              <a:rPr lang="en-US" dirty="0">
                <a:solidFill>
                  <a:srgbClr val="000000"/>
                </a:solidFill>
              </a:rPr>
              <a:t>Flooded on all Switch ports</a:t>
            </a:r>
          </a:p>
          <a:p>
            <a:r>
              <a:rPr lang="en-US" dirty="0">
                <a:solidFill>
                  <a:srgbClr val="000000"/>
                </a:solidFill>
              </a:rPr>
              <a:t>If payload is broadcast IP packet, then address portion of IP is all ones(1s)</a:t>
            </a:r>
            <a:endParaRPr lang="en-IE" dirty="0"/>
          </a:p>
        </p:txBody>
      </p:sp>
      <p:pic>
        <p:nvPicPr>
          <p:cNvPr id="4" name="Picture 3">
            <a:extLst>
              <a:ext uri="{FF2B5EF4-FFF2-40B4-BE49-F238E27FC236}">
                <a16:creationId xmlns:a16="http://schemas.microsoft.com/office/drawing/2014/main" id="{F91AE18C-35BA-4266-AECE-9392A4348903}"/>
              </a:ext>
            </a:extLst>
          </p:cNvPr>
          <p:cNvPicPr>
            <a:picLocks noChangeAspect="1"/>
          </p:cNvPicPr>
          <p:nvPr/>
        </p:nvPicPr>
        <p:blipFill>
          <a:blip r:embed="rId3"/>
          <a:stretch>
            <a:fillRect/>
          </a:stretch>
        </p:blipFill>
        <p:spPr>
          <a:xfrm>
            <a:off x="5533918" y="1454041"/>
            <a:ext cx="6580289" cy="5198428"/>
          </a:xfrm>
          <a:prstGeom prst="rect">
            <a:avLst/>
          </a:prstGeom>
        </p:spPr>
      </p:pic>
    </p:spTree>
    <p:extLst>
      <p:ext uri="{BB962C8B-B14F-4D97-AF65-F5344CB8AC3E}">
        <p14:creationId xmlns:p14="http://schemas.microsoft.com/office/powerpoint/2010/main" val="2756835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74CE4-C0D6-49C8-89FA-9C486B710552}"/>
              </a:ext>
            </a:extLst>
          </p:cNvPr>
          <p:cNvSpPr>
            <a:spLocks noGrp="1"/>
          </p:cNvSpPr>
          <p:nvPr>
            <p:ph type="title"/>
          </p:nvPr>
        </p:nvSpPr>
        <p:spPr/>
        <p:txBody>
          <a:bodyPr>
            <a:normAutofit/>
          </a:bodyPr>
          <a:lstStyle/>
          <a:p>
            <a:r>
              <a:rPr lang="en-IE" dirty="0"/>
              <a:t>Ethernet: Switching </a:t>
            </a:r>
          </a:p>
        </p:txBody>
      </p:sp>
      <p:sp>
        <p:nvSpPr>
          <p:cNvPr id="3" name="Content Placeholder 2">
            <a:extLst>
              <a:ext uri="{FF2B5EF4-FFF2-40B4-BE49-F238E27FC236}">
                <a16:creationId xmlns:a16="http://schemas.microsoft.com/office/drawing/2014/main" id="{41296095-859E-431D-8B7F-13F7375AE631}"/>
              </a:ext>
            </a:extLst>
          </p:cNvPr>
          <p:cNvSpPr>
            <a:spLocks noGrp="1"/>
          </p:cNvSpPr>
          <p:nvPr>
            <p:ph idx="1"/>
          </p:nvPr>
        </p:nvSpPr>
        <p:spPr>
          <a:xfrm>
            <a:off x="838200" y="1825625"/>
            <a:ext cx="8213521" cy="4351338"/>
          </a:xfrm>
        </p:spPr>
        <p:txBody>
          <a:bodyPr>
            <a:normAutofit fontScale="92500" lnSpcReduction="10000"/>
          </a:bodyPr>
          <a:lstStyle/>
          <a:p>
            <a:pPr marL="457189" indent="-457189" algn="l">
              <a:buFont typeface="Arial" panose="020B0604020202020204" pitchFamily="34" charset="0"/>
              <a:buChar char="•"/>
            </a:pPr>
            <a:r>
              <a:rPr lang="en-US" sz="2800" dirty="0">
                <a:solidFill>
                  <a:srgbClr val="000000"/>
                </a:solidFill>
              </a:rPr>
              <a:t>An </a:t>
            </a:r>
            <a:r>
              <a:rPr lang="en-US" sz="2800" b="1" dirty="0">
                <a:solidFill>
                  <a:srgbClr val="000000"/>
                </a:solidFill>
              </a:rPr>
              <a:t>Ethernet Switch </a:t>
            </a:r>
            <a:r>
              <a:rPr lang="en-US" sz="2800" dirty="0">
                <a:solidFill>
                  <a:srgbClr val="000000"/>
                </a:solidFill>
              </a:rPr>
              <a:t>uses MAC addresses to make forwarding decisions. </a:t>
            </a:r>
          </a:p>
          <a:p>
            <a:pPr marL="457189" indent="-457189" algn="l">
              <a:buFont typeface="Arial" panose="020B0604020202020204" pitchFamily="34" charset="0"/>
              <a:buChar char="•"/>
            </a:pPr>
            <a:r>
              <a:rPr lang="en-US" sz="2800" dirty="0">
                <a:solidFill>
                  <a:srgbClr val="000000"/>
                </a:solidFill>
              </a:rPr>
              <a:t>It is unaware of the data (or protocol) being carried in the data portion of the frame, </a:t>
            </a:r>
          </a:p>
          <a:p>
            <a:pPr marL="914389" lvl="1" indent="-457189"/>
            <a:r>
              <a:rPr lang="en-US" dirty="0">
                <a:solidFill>
                  <a:srgbClr val="000000"/>
                </a:solidFill>
              </a:rPr>
              <a:t>IPv4 packet, an ARP message. </a:t>
            </a:r>
          </a:p>
          <a:p>
            <a:pPr marL="457189" indent="-457189" algn="l">
              <a:buFont typeface="Arial" panose="020B0604020202020204" pitchFamily="34" charset="0"/>
              <a:buChar char="•"/>
            </a:pPr>
            <a:r>
              <a:rPr lang="en-US" sz="2800" dirty="0">
                <a:solidFill>
                  <a:srgbClr val="000000"/>
                </a:solidFill>
              </a:rPr>
              <a:t>The switch makes its forwarding decisions based solely on the Layer 2 Ethernet MAC addresses.</a:t>
            </a:r>
          </a:p>
          <a:p>
            <a:pPr marL="457189" indent="-457189" algn="l">
              <a:buFont typeface="Arial" panose="020B0604020202020204" pitchFamily="34" charset="0"/>
              <a:buChar char="•"/>
            </a:pPr>
            <a:r>
              <a:rPr lang="en-US" sz="2800" dirty="0">
                <a:solidFill>
                  <a:srgbClr val="000000"/>
                </a:solidFill>
              </a:rPr>
              <a:t>An Ethernet switch uses a </a:t>
            </a:r>
            <a:r>
              <a:rPr lang="en-US" sz="2800" b="1" dirty="0">
                <a:solidFill>
                  <a:srgbClr val="000000"/>
                </a:solidFill>
              </a:rPr>
              <a:t>MAC address table </a:t>
            </a:r>
            <a:r>
              <a:rPr lang="en-US" sz="2800" dirty="0">
                <a:solidFill>
                  <a:srgbClr val="000000"/>
                </a:solidFill>
              </a:rPr>
              <a:t>to make a forwarding decision for each frame</a:t>
            </a:r>
          </a:p>
          <a:p>
            <a:pPr marL="457189" indent="-457189" algn="l">
              <a:buFont typeface="Arial" panose="020B0604020202020204" pitchFamily="34" charset="0"/>
              <a:buChar char="•"/>
            </a:pPr>
            <a:r>
              <a:rPr lang="en-US" sz="2800" dirty="0">
                <a:solidFill>
                  <a:srgbClr val="000000"/>
                </a:solidFill>
              </a:rPr>
              <a:t>When a switch is turned on/reset, the MAC address table is empty</a:t>
            </a:r>
            <a:endParaRPr lang="en-US" sz="2400" dirty="0">
              <a:solidFill>
                <a:srgbClr val="000000"/>
              </a:solidFill>
            </a:endParaRPr>
          </a:p>
          <a:p>
            <a:pPr marL="0" indent="0" algn="l"/>
            <a:endParaRPr lang="en-US" sz="2800" b="1" dirty="0">
              <a:solidFill>
                <a:srgbClr val="000000"/>
              </a:solidFill>
            </a:endParaRPr>
          </a:p>
          <a:p>
            <a:endParaRPr lang="en-IE" dirty="0"/>
          </a:p>
        </p:txBody>
      </p:sp>
      <p:pic>
        <p:nvPicPr>
          <p:cNvPr id="5" name="Picture 4" descr="A picture containing indoor, computer, table, kitchen&#10;&#10;Description automatically generated">
            <a:extLst>
              <a:ext uri="{FF2B5EF4-FFF2-40B4-BE49-F238E27FC236}">
                <a16:creationId xmlns:a16="http://schemas.microsoft.com/office/drawing/2014/main" id="{849A65AE-1A8F-4FB5-99EF-93540BE0DDB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051721" y="2650355"/>
            <a:ext cx="2794000" cy="2095500"/>
          </a:xfrm>
          <a:prstGeom prst="rect">
            <a:avLst/>
          </a:prstGeom>
        </p:spPr>
      </p:pic>
      <p:sp>
        <p:nvSpPr>
          <p:cNvPr id="6" name="TextBox 5">
            <a:extLst>
              <a:ext uri="{FF2B5EF4-FFF2-40B4-BE49-F238E27FC236}">
                <a16:creationId xmlns:a16="http://schemas.microsoft.com/office/drawing/2014/main" id="{891D699D-FB28-4D89-985F-3229ED14F0CA}"/>
              </a:ext>
            </a:extLst>
          </p:cNvPr>
          <p:cNvSpPr txBox="1"/>
          <p:nvPr/>
        </p:nvSpPr>
        <p:spPr>
          <a:xfrm>
            <a:off x="9119999" y="4907411"/>
            <a:ext cx="2794000" cy="369332"/>
          </a:xfrm>
          <a:prstGeom prst="rect">
            <a:avLst/>
          </a:prstGeom>
          <a:noFill/>
        </p:spPr>
        <p:txBody>
          <a:bodyPr wrap="square" rtlCol="0">
            <a:spAutoFit/>
          </a:bodyPr>
          <a:lstStyle/>
          <a:p>
            <a:r>
              <a:rPr lang="en-IE" sz="900" dirty="0">
                <a:hlinkClick r:id="rId3" tooltip="https://en.wikipedia.org/wiki/Network_switch"/>
              </a:rPr>
              <a:t>This Photo</a:t>
            </a:r>
            <a:r>
              <a:rPr lang="en-IE" sz="900" dirty="0"/>
              <a:t> by Unknown Author is licensed under </a:t>
            </a:r>
            <a:r>
              <a:rPr lang="en-IE" sz="900" dirty="0">
                <a:hlinkClick r:id="rId4" tooltip="https://creativecommons.org/licenses/by-sa/3.0/"/>
              </a:rPr>
              <a:t>CC BY-SA</a:t>
            </a:r>
            <a:endParaRPr lang="en-IE" sz="900" dirty="0"/>
          </a:p>
        </p:txBody>
      </p:sp>
    </p:spTree>
    <p:extLst>
      <p:ext uri="{BB962C8B-B14F-4D97-AF65-F5344CB8AC3E}">
        <p14:creationId xmlns:p14="http://schemas.microsoft.com/office/powerpoint/2010/main" val="3428343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FA8CCA-EFB3-4401-8C78-E08E9206332F}"/>
              </a:ext>
            </a:extLst>
          </p:cNvPr>
          <p:cNvPicPr>
            <a:picLocks noChangeAspect="1"/>
          </p:cNvPicPr>
          <p:nvPr/>
        </p:nvPicPr>
        <p:blipFill>
          <a:blip r:embed="rId3"/>
          <a:stretch>
            <a:fillRect/>
          </a:stretch>
        </p:blipFill>
        <p:spPr>
          <a:xfrm>
            <a:off x="7092041" y="2596923"/>
            <a:ext cx="2124075" cy="1152525"/>
          </a:xfrm>
          <a:prstGeom prst="rect">
            <a:avLst/>
          </a:prstGeom>
        </p:spPr>
      </p:pic>
      <p:sp>
        <p:nvSpPr>
          <p:cNvPr id="2" name="Title 1">
            <a:extLst>
              <a:ext uri="{FF2B5EF4-FFF2-40B4-BE49-F238E27FC236}">
                <a16:creationId xmlns:a16="http://schemas.microsoft.com/office/drawing/2014/main" id="{194A0430-37D3-4ADB-96C4-E0AB5ED2F434}"/>
              </a:ext>
            </a:extLst>
          </p:cNvPr>
          <p:cNvSpPr>
            <a:spLocks noGrp="1"/>
          </p:cNvSpPr>
          <p:nvPr>
            <p:ph type="title"/>
          </p:nvPr>
        </p:nvSpPr>
        <p:spPr>
          <a:xfrm>
            <a:off x="264314" y="62718"/>
            <a:ext cx="11508585" cy="979747"/>
          </a:xfrm>
        </p:spPr>
        <p:txBody>
          <a:bodyPr/>
          <a:lstStyle/>
          <a:p>
            <a:r>
              <a:rPr lang="en-IE" dirty="0"/>
              <a:t>Ethernet: MAC Address Table</a:t>
            </a:r>
          </a:p>
        </p:txBody>
      </p:sp>
      <p:sp>
        <p:nvSpPr>
          <p:cNvPr id="3" name="Content Placeholder 2">
            <a:extLst>
              <a:ext uri="{FF2B5EF4-FFF2-40B4-BE49-F238E27FC236}">
                <a16:creationId xmlns:a16="http://schemas.microsoft.com/office/drawing/2014/main" id="{52ECA294-7D1C-45D3-A591-3D66AA81AB16}"/>
              </a:ext>
            </a:extLst>
          </p:cNvPr>
          <p:cNvSpPr>
            <a:spLocks noGrp="1"/>
          </p:cNvSpPr>
          <p:nvPr>
            <p:ph idx="1"/>
          </p:nvPr>
        </p:nvSpPr>
        <p:spPr>
          <a:xfrm>
            <a:off x="217038" y="993229"/>
            <a:ext cx="4656135" cy="4311832"/>
          </a:xfrm>
        </p:spPr>
        <p:txBody>
          <a:bodyPr>
            <a:normAutofit fontScale="77500" lnSpcReduction="20000"/>
          </a:bodyPr>
          <a:lstStyle/>
          <a:p>
            <a:r>
              <a:rPr lang="en-GB" dirty="0"/>
              <a:t>A switch builds its forwarding MAC address table by examining the source MAC address of every frame that enters the switch. </a:t>
            </a:r>
          </a:p>
          <a:p>
            <a:pPr lvl="1"/>
            <a:r>
              <a:rPr lang="en-GB" dirty="0"/>
              <a:t>If the source MAC address does not exist, it is added to the table along with the incoming port number. If the source MAC address does exist, the switch updates the refresh timer for that entry. By default, most Ethernet switches keep an entry in the table for 5 minutes.</a:t>
            </a:r>
          </a:p>
          <a:p>
            <a:r>
              <a:rPr lang="en-GB" b="1" dirty="0"/>
              <a:t>Note: If the source MAC address does exist in the table but on a different port, the switch treats this as a new entry. The entry is replaced using the same MAC address but with the more current port number.</a:t>
            </a:r>
          </a:p>
          <a:p>
            <a:endParaRPr lang="en-IE" dirty="0"/>
          </a:p>
        </p:txBody>
      </p:sp>
      <p:pic>
        <p:nvPicPr>
          <p:cNvPr id="5" name="Picture 4">
            <a:extLst>
              <a:ext uri="{FF2B5EF4-FFF2-40B4-BE49-F238E27FC236}">
                <a16:creationId xmlns:a16="http://schemas.microsoft.com/office/drawing/2014/main" id="{3ACA163B-EA5D-4E78-A862-253C5581CEF4}"/>
              </a:ext>
            </a:extLst>
          </p:cNvPr>
          <p:cNvPicPr>
            <a:picLocks noChangeAspect="1"/>
          </p:cNvPicPr>
          <p:nvPr/>
        </p:nvPicPr>
        <p:blipFill>
          <a:blip r:embed="rId4"/>
          <a:stretch>
            <a:fillRect/>
          </a:stretch>
        </p:blipFill>
        <p:spPr>
          <a:xfrm>
            <a:off x="8504913" y="2539545"/>
            <a:ext cx="3470049" cy="409091"/>
          </a:xfrm>
          <a:prstGeom prst="rect">
            <a:avLst/>
          </a:prstGeom>
        </p:spPr>
      </p:pic>
      <p:sp>
        <p:nvSpPr>
          <p:cNvPr id="8" name="TextBox 7">
            <a:extLst>
              <a:ext uri="{FF2B5EF4-FFF2-40B4-BE49-F238E27FC236}">
                <a16:creationId xmlns:a16="http://schemas.microsoft.com/office/drawing/2014/main" id="{5ABB2145-70A3-4ED5-9A7C-A1148F308A2E}"/>
              </a:ext>
            </a:extLst>
          </p:cNvPr>
          <p:cNvSpPr txBox="1"/>
          <p:nvPr/>
        </p:nvSpPr>
        <p:spPr>
          <a:xfrm>
            <a:off x="8154078" y="3173185"/>
            <a:ext cx="595356" cy="369332"/>
          </a:xfrm>
          <a:prstGeom prst="rect">
            <a:avLst/>
          </a:prstGeom>
          <a:noFill/>
        </p:spPr>
        <p:txBody>
          <a:bodyPr wrap="none" rtlCol="0">
            <a:spAutoFit/>
          </a:bodyPr>
          <a:lstStyle/>
          <a:p>
            <a:r>
              <a:rPr lang="en-IE" dirty="0"/>
              <a:t>fa01</a:t>
            </a:r>
          </a:p>
        </p:txBody>
      </p:sp>
      <p:graphicFrame>
        <p:nvGraphicFramePr>
          <p:cNvPr id="9" name="Table 9">
            <a:extLst>
              <a:ext uri="{FF2B5EF4-FFF2-40B4-BE49-F238E27FC236}">
                <a16:creationId xmlns:a16="http://schemas.microsoft.com/office/drawing/2014/main" id="{384D6470-40AA-4B60-8C2D-31981FB20F18}"/>
              </a:ext>
            </a:extLst>
          </p:cNvPr>
          <p:cNvGraphicFramePr>
            <a:graphicFrameLocks noGrp="1"/>
          </p:cNvGraphicFramePr>
          <p:nvPr>
            <p:extLst>
              <p:ext uri="{D42A27DB-BD31-4B8C-83A1-F6EECF244321}">
                <p14:modId xmlns:p14="http://schemas.microsoft.com/office/powerpoint/2010/main" val="115398372"/>
              </p:ext>
            </p:extLst>
          </p:nvPr>
        </p:nvGraphicFramePr>
        <p:xfrm>
          <a:off x="6651850" y="4258100"/>
          <a:ext cx="4942114" cy="731520"/>
        </p:xfrm>
        <a:graphic>
          <a:graphicData uri="http://schemas.openxmlformats.org/drawingml/2006/table">
            <a:tbl>
              <a:tblPr firstRow="1" bandRow="1">
                <a:tableStyleId>{5C22544A-7EE6-4342-B048-85BDC9FD1C3A}</a:tableStyleId>
              </a:tblPr>
              <a:tblGrid>
                <a:gridCol w="2471057">
                  <a:extLst>
                    <a:ext uri="{9D8B030D-6E8A-4147-A177-3AD203B41FA5}">
                      <a16:colId xmlns:a16="http://schemas.microsoft.com/office/drawing/2014/main" val="1586798562"/>
                    </a:ext>
                  </a:extLst>
                </a:gridCol>
                <a:gridCol w="2471057">
                  <a:extLst>
                    <a:ext uri="{9D8B030D-6E8A-4147-A177-3AD203B41FA5}">
                      <a16:colId xmlns:a16="http://schemas.microsoft.com/office/drawing/2014/main" val="2026302605"/>
                    </a:ext>
                  </a:extLst>
                </a:gridCol>
              </a:tblGrid>
              <a:tr h="0">
                <a:tc>
                  <a:txBody>
                    <a:bodyPr/>
                    <a:lstStyle/>
                    <a:p>
                      <a:r>
                        <a:rPr lang="en-IE" dirty="0"/>
                        <a:t>Address</a:t>
                      </a:r>
                    </a:p>
                  </a:txBody>
                  <a:tcPr/>
                </a:tc>
                <a:tc>
                  <a:txBody>
                    <a:bodyPr/>
                    <a:lstStyle/>
                    <a:p>
                      <a:r>
                        <a:rPr lang="en-IE" dirty="0"/>
                        <a:t>Port</a:t>
                      </a:r>
                    </a:p>
                  </a:txBody>
                  <a:tcPr/>
                </a:tc>
                <a:extLst>
                  <a:ext uri="{0D108BD9-81ED-4DB2-BD59-A6C34878D82A}">
                    <a16:rowId xmlns:a16="http://schemas.microsoft.com/office/drawing/2014/main" val="883713352"/>
                  </a:ext>
                </a:extLst>
              </a:tr>
              <a:tr h="360169">
                <a:tc>
                  <a:txBody>
                    <a:bodyPr/>
                    <a:lstStyle/>
                    <a:p>
                      <a:r>
                        <a:rPr lang="en-IE" dirty="0"/>
                        <a:t>00-0A</a:t>
                      </a:r>
                    </a:p>
                  </a:txBody>
                  <a:tcPr/>
                </a:tc>
                <a:tc>
                  <a:txBody>
                    <a:bodyPr/>
                    <a:lstStyle/>
                    <a:p>
                      <a:r>
                        <a:rPr lang="en-IE" dirty="0"/>
                        <a:t>fa01</a:t>
                      </a:r>
                    </a:p>
                  </a:txBody>
                  <a:tcPr/>
                </a:tc>
                <a:extLst>
                  <a:ext uri="{0D108BD9-81ED-4DB2-BD59-A6C34878D82A}">
                    <a16:rowId xmlns:a16="http://schemas.microsoft.com/office/drawing/2014/main" val="576364570"/>
                  </a:ext>
                </a:extLst>
              </a:tr>
            </a:tbl>
          </a:graphicData>
        </a:graphic>
      </p:graphicFrame>
      <p:sp>
        <p:nvSpPr>
          <p:cNvPr id="10" name="TextBox 9">
            <a:extLst>
              <a:ext uri="{FF2B5EF4-FFF2-40B4-BE49-F238E27FC236}">
                <a16:creationId xmlns:a16="http://schemas.microsoft.com/office/drawing/2014/main" id="{24F6C1CB-8008-46C6-966E-646D424F700E}"/>
              </a:ext>
            </a:extLst>
          </p:cNvPr>
          <p:cNvSpPr txBox="1"/>
          <p:nvPr/>
        </p:nvSpPr>
        <p:spPr>
          <a:xfrm>
            <a:off x="6247210" y="5374243"/>
            <a:ext cx="5191036" cy="369332"/>
          </a:xfrm>
          <a:prstGeom prst="rect">
            <a:avLst/>
          </a:prstGeom>
          <a:noFill/>
        </p:spPr>
        <p:txBody>
          <a:bodyPr wrap="none" rtlCol="0">
            <a:spAutoFit/>
          </a:bodyPr>
          <a:lstStyle/>
          <a:p>
            <a:r>
              <a:rPr lang="en-IE" dirty="0"/>
              <a:t>Note: MAC address in diagram abbreviated to 2 bytes</a:t>
            </a:r>
          </a:p>
        </p:txBody>
      </p:sp>
      <p:sp>
        <p:nvSpPr>
          <p:cNvPr id="11" name="Speech Bubble: Rectangle 10">
            <a:extLst>
              <a:ext uri="{FF2B5EF4-FFF2-40B4-BE49-F238E27FC236}">
                <a16:creationId xmlns:a16="http://schemas.microsoft.com/office/drawing/2014/main" id="{E1C30E30-B8B6-4756-9C04-903BF50284F2}"/>
              </a:ext>
            </a:extLst>
          </p:cNvPr>
          <p:cNvSpPr/>
          <p:nvPr/>
        </p:nvSpPr>
        <p:spPr>
          <a:xfrm>
            <a:off x="7783965" y="154486"/>
            <a:ext cx="2242457" cy="1604544"/>
          </a:xfrm>
          <a:prstGeom prst="wedgeRectCallout">
            <a:avLst>
              <a:gd name="adj1" fmla="val -62904"/>
              <a:gd name="adj2" fmla="val 105016"/>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i="1" dirty="0">
                <a:solidFill>
                  <a:schemeClr val="tx1"/>
                </a:solidFill>
              </a:rPr>
              <a:t>So device 00-0A is connected to port fa01. </a:t>
            </a:r>
          </a:p>
          <a:p>
            <a:pPr algn="ctr"/>
            <a:r>
              <a:rPr lang="en-IE" i="1" dirty="0">
                <a:solidFill>
                  <a:schemeClr val="tx1"/>
                </a:solidFill>
              </a:rPr>
              <a:t>I better write that down for later use …  </a:t>
            </a:r>
          </a:p>
        </p:txBody>
      </p:sp>
      <p:sp>
        <p:nvSpPr>
          <p:cNvPr id="12" name="Arrow: Down 11">
            <a:extLst>
              <a:ext uri="{FF2B5EF4-FFF2-40B4-BE49-F238E27FC236}">
                <a16:creationId xmlns:a16="http://schemas.microsoft.com/office/drawing/2014/main" id="{94C07902-258C-40CC-B993-0FC55BD3B53C}"/>
              </a:ext>
            </a:extLst>
          </p:cNvPr>
          <p:cNvSpPr/>
          <p:nvPr/>
        </p:nvSpPr>
        <p:spPr>
          <a:xfrm>
            <a:off x="7653336" y="3806826"/>
            <a:ext cx="130629"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3" name="Picture 12">
            <a:extLst>
              <a:ext uri="{FF2B5EF4-FFF2-40B4-BE49-F238E27FC236}">
                <a16:creationId xmlns:a16="http://schemas.microsoft.com/office/drawing/2014/main" id="{61344F20-21F0-4381-91DE-0F72E2272454}"/>
              </a:ext>
            </a:extLst>
          </p:cNvPr>
          <p:cNvPicPr>
            <a:picLocks noChangeAspect="1"/>
          </p:cNvPicPr>
          <p:nvPr/>
        </p:nvPicPr>
        <p:blipFill>
          <a:blip r:embed="rId5"/>
          <a:stretch>
            <a:fillRect/>
          </a:stretch>
        </p:blipFill>
        <p:spPr>
          <a:xfrm>
            <a:off x="1405281" y="5859937"/>
            <a:ext cx="8431574" cy="771516"/>
          </a:xfrm>
          <a:prstGeom prst="rect">
            <a:avLst/>
          </a:prstGeom>
        </p:spPr>
      </p:pic>
    </p:spTree>
    <p:extLst>
      <p:ext uri="{BB962C8B-B14F-4D97-AF65-F5344CB8AC3E}">
        <p14:creationId xmlns:p14="http://schemas.microsoft.com/office/powerpoint/2010/main" val="415063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95711-2B55-4C79-BFCD-61456DB3CB3E}"/>
              </a:ext>
            </a:extLst>
          </p:cNvPr>
          <p:cNvSpPr>
            <a:spLocks noGrp="1"/>
          </p:cNvSpPr>
          <p:nvPr>
            <p:ph type="title"/>
          </p:nvPr>
        </p:nvSpPr>
        <p:spPr/>
        <p:txBody>
          <a:bodyPr/>
          <a:lstStyle/>
          <a:p>
            <a:r>
              <a:rPr lang="en-IE" dirty="0"/>
              <a:t>Ethernet: Switch Forwarding Table</a:t>
            </a:r>
          </a:p>
        </p:txBody>
      </p:sp>
      <p:sp>
        <p:nvSpPr>
          <p:cNvPr id="3" name="Content Placeholder 2">
            <a:extLst>
              <a:ext uri="{FF2B5EF4-FFF2-40B4-BE49-F238E27FC236}">
                <a16:creationId xmlns:a16="http://schemas.microsoft.com/office/drawing/2014/main" id="{7FFE808E-5AA6-4425-B9E9-86F1C05EEE45}"/>
              </a:ext>
            </a:extLst>
          </p:cNvPr>
          <p:cNvSpPr>
            <a:spLocks noGrp="1"/>
          </p:cNvSpPr>
          <p:nvPr>
            <p:ph idx="1"/>
          </p:nvPr>
        </p:nvSpPr>
        <p:spPr>
          <a:xfrm>
            <a:off x="838200" y="1825625"/>
            <a:ext cx="6304722" cy="4351338"/>
          </a:xfrm>
        </p:spPr>
        <p:txBody>
          <a:bodyPr/>
          <a:lstStyle/>
          <a:p>
            <a:r>
              <a:rPr lang="en-US" sz="2800" dirty="0">
                <a:solidFill>
                  <a:srgbClr val="000000"/>
                </a:solidFill>
              </a:rPr>
              <a:t>A </a:t>
            </a:r>
            <a:r>
              <a:rPr lang="en-US" dirty="0">
                <a:solidFill>
                  <a:srgbClr val="000000"/>
                </a:solidFill>
              </a:rPr>
              <a:t>s</a:t>
            </a:r>
            <a:r>
              <a:rPr lang="en-US" sz="2800" dirty="0">
                <a:solidFill>
                  <a:srgbClr val="000000"/>
                </a:solidFill>
              </a:rPr>
              <a:t>witch will try to match the destination MAC address of the frame and an entry in its MAC address table. </a:t>
            </a:r>
          </a:p>
          <a:p>
            <a:pPr lvl="1"/>
            <a:r>
              <a:rPr lang="en-US" dirty="0">
                <a:solidFill>
                  <a:srgbClr val="000000"/>
                </a:solidFill>
              </a:rPr>
              <a:t>If the destination MAC address is in the table, it will forward the frame out the specified port. </a:t>
            </a:r>
          </a:p>
          <a:p>
            <a:pPr lvl="1"/>
            <a:r>
              <a:rPr lang="en-US" dirty="0">
                <a:solidFill>
                  <a:srgbClr val="000000"/>
                </a:solidFill>
              </a:rPr>
              <a:t>If the destination MAC address is not in the table, the switch will forward the frame out all ports except the incoming port. This is called an </a:t>
            </a:r>
            <a:r>
              <a:rPr lang="en-US" b="1" dirty="0">
                <a:solidFill>
                  <a:srgbClr val="000000"/>
                </a:solidFill>
              </a:rPr>
              <a:t>unknown unicast.</a:t>
            </a:r>
          </a:p>
          <a:p>
            <a:endParaRPr lang="en-IE" dirty="0"/>
          </a:p>
        </p:txBody>
      </p:sp>
      <p:pic>
        <p:nvPicPr>
          <p:cNvPr id="5" name="Picture 4" descr="A screenshot of a computer&#10;&#10;Description automatically generated">
            <a:extLst>
              <a:ext uri="{FF2B5EF4-FFF2-40B4-BE49-F238E27FC236}">
                <a16:creationId xmlns:a16="http://schemas.microsoft.com/office/drawing/2014/main" id="{30181FB2-FC1A-4B09-9374-80DFCF5C27E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290934" y="1591439"/>
            <a:ext cx="4691645" cy="3675122"/>
          </a:xfrm>
          <a:prstGeom prst="rect">
            <a:avLst/>
          </a:prstGeom>
        </p:spPr>
      </p:pic>
      <p:sp>
        <p:nvSpPr>
          <p:cNvPr id="7" name="TextBox 6">
            <a:extLst>
              <a:ext uri="{FF2B5EF4-FFF2-40B4-BE49-F238E27FC236}">
                <a16:creationId xmlns:a16="http://schemas.microsoft.com/office/drawing/2014/main" id="{ACA5278E-D2AF-4654-9AEE-D543ADB946E8}"/>
              </a:ext>
            </a:extLst>
          </p:cNvPr>
          <p:cNvSpPr txBox="1"/>
          <p:nvPr/>
        </p:nvSpPr>
        <p:spPr>
          <a:xfrm>
            <a:off x="4815030" y="6311900"/>
            <a:ext cx="6858957" cy="230832"/>
          </a:xfrm>
          <a:prstGeom prst="rect">
            <a:avLst/>
          </a:prstGeom>
          <a:noFill/>
        </p:spPr>
        <p:txBody>
          <a:bodyPr wrap="square" rtlCol="0">
            <a:spAutoFit/>
          </a:bodyPr>
          <a:lstStyle/>
          <a:p>
            <a:r>
              <a:rPr lang="en-IE" sz="900" dirty="0">
                <a:hlinkClick r:id="rId4" tooltip="https://networkengineering.stackexchange.com/questions/3503/switch-lookup-table"/>
              </a:rPr>
              <a:t>This Photo</a:t>
            </a:r>
            <a:r>
              <a:rPr lang="en-IE" sz="900" dirty="0"/>
              <a:t> by Unknown Author is licensed under </a:t>
            </a:r>
            <a:r>
              <a:rPr lang="en-IE" sz="900" dirty="0">
                <a:hlinkClick r:id="rId5" tooltip="https://creativecommons.org/licenses/by-sa/3.0/"/>
              </a:rPr>
              <a:t>CC BY-SA</a:t>
            </a:r>
            <a:endParaRPr lang="en-IE" sz="900" dirty="0"/>
          </a:p>
        </p:txBody>
      </p:sp>
    </p:spTree>
    <p:extLst>
      <p:ext uri="{BB962C8B-B14F-4D97-AF65-F5344CB8AC3E}">
        <p14:creationId xmlns:p14="http://schemas.microsoft.com/office/powerpoint/2010/main" val="2416407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F9974-F150-465F-998E-1EB133CB8D58}"/>
              </a:ext>
            </a:extLst>
          </p:cNvPr>
          <p:cNvSpPr>
            <a:spLocks noGrp="1"/>
          </p:cNvSpPr>
          <p:nvPr>
            <p:ph type="title"/>
          </p:nvPr>
        </p:nvSpPr>
        <p:spPr/>
        <p:txBody>
          <a:bodyPr/>
          <a:lstStyle/>
          <a:p>
            <a:r>
              <a:rPr lang="en-IE" dirty="0"/>
              <a:t>Ethernet: Switch Filtering</a:t>
            </a:r>
          </a:p>
        </p:txBody>
      </p:sp>
      <p:sp>
        <p:nvSpPr>
          <p:cNvPr id="3" name="Content Placeholder 2">
            <a:extLst>
              <a:ext uri="{FF2B5EF4-FFF2-40B4-BE49-F238E27FC236}">
                <a16:creationId xmlns:a16="http://schemas.microsoft.com/office/drawing/2014/main" id="{0C93E85E-2006-4FB3-A432-1D7EDA211C7C}"/>
              </a:ext>
            </a:extLst>
          </p:cNvPr>
          <p:cNvSpPr>
            <a:spLocks noGrp="1"/>
          </p:cNvSpPr>
          <p:nvPr>
            <p:ph idx="1"/>
          </p:nvPr>
        </p:nvSpPr>
        <p:spPr/>
        <p:txBody>
          <a:bodyPr/>
          <a:lstStyle/>
          <a:p>
            <a:r>
              <a:rPr lang="en-US" sz="2800" dirty="0">
                <a:solidFill>
                  <a:srgbClr val="000000"/>
                </a:solidFill>
              </a:rPr>
              <a:t>When the MAC address table of the switch contains the destination MAC address, it filters the frame and forward out a single port.</a:t>
            </a:r>
            <a:endParaRPr lang="en-IE" dirty="0"/>
          </a:p>
        </p:txBody>
      </p:sp>
      <p:pic>
        <p:nvPicPr>
          <p:cNvPr id="4" name="Picture 3">
            <a:extLst>
              <a:ext uri="{FF2B5EF4-FFF2-40B4-BE49-F238E27FC236}">
                <a16:creationId xmlns:a16="http://schemas.microsoft.com/office/drawing/2014/main" id="{DD77665A-333C-41E6-BD70-8CAC2A0A4C6E}"/>
              </a:ext>
            </a:extLst>
          </p:cNvPr>
          <p:cNvPicPr>
            <a:picLocks noChangeAspect="1"/>
          </p:cNvPicPr>
          <p:nvPr/>
        </p:nvPicPr>
        <p:blipFill>
          <a:blip r:embed="rId2"/>
          <a:stretch>
            <a:fillRect/>
          </a:stretch>
        </p:blipFill>
        <p:spPr>
          <a:xfrm>
            <a:off x="2933809" y="3029963"/>
            <a:ext cx="5257800" cy="3352800"/>
          </a:xfrm>
          <a:prstGeom prst="rect">
            <a:avLst/>
          </a:prstGeom>
        </p:spPr>
      </p:pic>
    </p:spTree>
    <p:extLst>
      <p:ext uri="{BB962C8B-B14F-4D97-AF65-F5344CB8AC3E}">
        <p14:creationId xmlns:p14="http://schemas.microsoft.com/office/powerpoint/2010/main" val="1397951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53D6-7327-4280-AE0D-EA52562326C2}"/>
              </a:ext>
            </a:extLst>
          </p:cNvPr>
          <p:cNvSpPr>
            <a:spLocks noGrp="1"/>
          </p:cNvSpPr>
          <p:nvPr>
            <p:ph type="title"/>
          </p:nvPr>
        </p:nvSpPr>
        <p:spPr>
          <a:xfrm>
            <a:off x="838200" y="365125"/>
            <a:ext cx="10515600" cy="1325563"/>
          </a:xfrm>
        </p:spPr>
        <p:txBody>
          <a:bodyPr>
            <a:normAutofit/>
          </a:bodyPr>
          <a:lstStyle/>
          <a:p>
            <a:r>
              <a:rPr lang="en-US" dirty="0">
                <a:cs typeface="Calibri Light"/>
              </a:rPr>
              <a:t>Ethernet: Switch Operation Summary</a:t>
            </a:r>
            <a:endParaRPr lang="en-US" dirty="0"/>
          </a:p>
        </p:txBody>
      </p:sp>
      <p:sp>
        <p:nvSpPr>
          <p:cNvPr id="3" name="Content Placeholder 2">
            <a:extLst>
              <a:ext uri="{FF2B5EF4-FFF2-40B4-BE49-F238E27FC236}">
                <a16:creationId xmlns:a16="http://schemas.microsoft.com/office/drawing/2014/main" id="{2FFE85ED-419F-4671-9460-9B4722E51EA7}"/>
              </a:ext>
            </a:extLst>
          </p:cNvPr>
          <p:cNvSpPr>
            <a:spLocks noGrp="1"/>
          </p:cNvSpPr>
          <p:nvPr>
            <p:ph idx="1"/>
          </p:nvPr>
        </p:nvSpPr>
        <p:spPr>
          <a:xfrm>
            <a:off x="838200" y="1825625"/>
            <a:ext cx="3797807" cy="4351338"/>
          </a:xfrm>
        </p:spPr>
        <p:txBody>
          <a:bodyPr vert="horz" lIns="91440" tIns="45720" rIns="91440" bIns="45720" rtlCol="0">
            <a:normAutofit/>
          </a:bodyPr>
          <a:lstStyle/>
          <a:p>
            <a:r>
              <a:rPr lang="en-US" sz="1400" dirty="0">
                <a:cs typeface="Calibri"/>
              </a:rPr>
              <a:t>Learning    </a:t>
            </a:r>
          </a:p>
          <a:p>
            <a:pPr lvl="1"/>
            <a:r>
              <a:rPr lang="en-US" sz="1400" dirty="0">
                <a:cs typeface="Calibri"/>
              </a:rPr>
              <a:t> MAC table populated by examining traffic across ports</a:t>
            </a:r>
          </a:p>
          <a:p>
            <a:r>
              <a:rPr lang="en-US" sz="1400" dirty="0">
                <a:cs typeface="Calibri"/>
              </a:rPr>
              <a:t>Aging</a:t>
            </a:r>
          </a:p>
          <a:p>
            <a:pPr lvl="1"/>
            <a:r>
              <a:rPr lang="en-US" sz="1400" dirty="0">
                <a:cs typeface="Calibri"/>
              </a:rPr>
              <a:t>MAC table entries are timestamped</a:t>
            </a:r>
          </a:p>
          <a:p>
            <a:pPr lvl="1"/>
            <a:r>
              <a:rPr lang="en-US" sz="1400" dirty="0">
                <a:cs typeface="Calibri"/>
              </a:rPr>
              <a:t>Removed after a period of time</a:t>
            </a:r>
          </a:p>
          <a:p>
            <a:r>
              <a:rPr lang="en-US" sz="1400" dirty="0">
                <a:cs typeface="Calibri"/>
              </a:rPr>
              <a:t>Flooding</a:t>
            </a:r>
          </a:p>
          <a:p>
            <a:pPr lvl="1"/>
            <a:r>
              <a:rPr lang="en-US" sz="1400" dirty="0">
                <a:cs typeface="Calibri"/>
              </a:rPr>
              <a:t>If destination MAC not in address, frame transmitted on all ports on switch</a:t>
            </a:r>
          </a:p>
          <a:p>
            <a:r>
              <a:rPr lang="en-US" sz="1400" dirty="0">
                <a:cs typeface="Calibri"/>
              </a:rPr>
              <a:t>Selective Forwarding/Filtering</a:t>
            </a:r>
          </a:p>
          <a:p>
            <a:pPr lvl="1"/>
            <a:r>
              <a:rPr lang="en-US" sz="1400" dirty="0">
                <a:cs typeface="Calibri"/>
              </a:rPr>
              <a:t>Sending frame on one port based on MAC address</a:t>
            </a:r>
          </a:p>
          <a:p>
            <a:r>
              <a:rPr lang="en-US" sz="1400" dirty="0">
                <a:cs typeface="Calibri"/>
              </a:rPr>
              <a:t>Frame Dropping</a:t>
            </a:r>
          </a:p>
          <a:p>
            <a:pPr lvl="1"/>
            <a:r>
              <a:rPr lang="en-US" sz="1400" dirty="0">
                <a:cs typeface="Calibri"/>
              </a:rPr>
              <a:t>Performs CRC and drops corrupted frames</a:t>
            </a:r>
          </a:p>
          <a:p>
            <a:pPr lvl="1"/>
            <a:r>
              <a:rPr lang="en-US" sz="1400" dirty="0">
                <a:cs typeface="Calibri"/>
              </a:rPr>
              <a:t>Block frames to/from selected MAC addresses</a:t>
            </a:r>
          </a:p>
        </p:txBody>
      </p:sp>
      <p:pic>
        <p:nvPicPr>
          <p:cNvPr id="4" name="Picture 4" descr="A picture containing device&#10;&#10;Description generated with high confidence">
            <a:extLst>
              <a:ext uri="{FF2B5EF4-FFF2-40B4-BE49-F238E27FC236}">
                <a16:creationId xmlns:a16="http://schemas.microsoft.com/office/drawing/2014/main" id="{13F24384-2EF1-4AB6-A779-F303AA2D02FA}"/>
              </a:ext>
            </a:extLst>
          </p:cNvPr>
          <p:cNvPicPr>
            <a:picLocks noChangeAspect="1"/>
          </p:cNvPicPr>
          <p:nvPr/>
        </p:nvPicPr>
        <p:blipFill rotWithShape="1">
          <a:blip r:embed="rId2"/>
          <a:srcRect r="15273" b="3"/>
          <a:stretch/>
        </p:blipFill>
        <p:spPr>
          <a:xfrm>
            <a:off x="5120640" y="1904281"/>
            <a:ext cx="6233160" cy="4272681"/>
          </a:xfrm>
          <a:prstGeom prst="rect">
            <a:avLst/>
          </a:prstGeom>
        </p:spPr>
      </p:pic>
    </p:spTree>
    <p:extLst>
      <p:ext uri="{BB962C8B-B14F-4D97-AF65-F5344CB8AC3E}">
        <p14:creationId xmlns:p14="http://schemas.microsoft.com/office/powerpoint/2010/main" val="163955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D9415-9D7F-4262-9B90-4A768599FBFB}"/>
              </a:ext>
            </a:extLst>
          </p:cNvPr>
          <p:cNvSpPr>
            <a:spLocks noGrp="1"/>
          </p:cNvSpPr>
          <p:nvPr>
            <p:ph type="title"/>
          </p:nvPr>
        </p:nvSpPr>
        <p:spPr/>
        <p:txBody>
          <a:bodyPr/>
          <a:lstStyle/>
          <a:p>
            <a:r>
              <a:rPr lang="en-IE" dirty="0"/>
              <a:t>Ethernet: Switch Frame Forwarding</a:t>
            </a:r>
          </a:p>
        </p:txBody>
      </p:sp>
      <p:sp>
        <p:nvSpPr>
          <p:cNvPr id="3" name="Text Placeholder 2">
            <a:extLst>
              <a:ext uri="{FF2B5EF4-FFF2-40B4-BE49-F238E27FC236}">
                <a16:creationId xmlns:a16="http://schemas.microsoft.com/office/drawing/2014/main" id="{90989F9B-22ED-4316-BCD8-A77267141E76}"/>
              </a:ext>
            </a:extLst>
          </p:cNvPr>
          <p:cNvSpPr>
            <a:spLocks noGrp="1"/>
          </p:cNvSpPr>
          <p:nvPr>
            <p:ph type="body" idx="1"/>
          </p:nvPr>
        </p:nvSpPr>
        <p:spPr/>
        <p:txBody>
          <a:bodyPr/>
          <a:lstStyle/>
          <a:p>
            <a:endParaRPr lang="en-IE"/>
          </a:p>
        </p:txBody>
      </p:sp>
    </p:spTree>
    <p:extLst>
      <p:ext uri="{BB962C8B-B14F-4D97-AF65-F5344CB8AC3E}">
        <p14:creationId xmlns:p14="http://schemas.microsoft.com/office/powerpoint/2010/main" val="498359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A2567-C1D5-4021-B41F-B06046E1C80F}"/>
              </a:ext>
            </a:extLst>
          </p:cNvPr>
          <p:cNvSpPr>
            <a:spLocks noGrp="1"/>
          </p:cNvSpPr>
          <p:nvPr>
            <p:ph type="title"/>
          </p:nvPr>
        </p:nvSpPr>
        <p:spPr/>
        <p:txBody>
          <a:bodyPr/>
          <a:lstStyle/>
          <a:p>
            <a:r>
              <a:rPr lang="en-IE" dirty="0"/>
              <a:t>Ethernet: Store-and-forward</a:t>
            </a:r>
          </a:p>
        </p:txBody>
      </p:sp>
      <p:sp>
        <p:nvSpPr>
          <p:cNvPr id="3" name="Content Placeholder 2">
            <a:extLst>
              <a:ext uri="{FF2B5EF4-FFF2-40B4-BE49-F238E27FC236}">
                <a16:creationId xmlns:a16="http://schemas.microsoft.com/office/drawing/2014/main" id="{9276C021-E2A6-4510-A816-05EA60501128}"/>
              </a:ext>
            </a:extLst>
          </p:cNvPr>
          <p:cNvSpPr>
            <a:spLocks noGrp="1"/>
          </p:cNvSpPr>
          <p:nvPr>
            <p:ph idx="1"/>
          </p:nvPr>
        </p:nvSpPr>
        <p:spPr/>
        <p:txBody>
          <a:bodyPr/>
          <a:lstStyle/>
          <a:p>
            <a:r>
              <a:rPr lang="en-IE" dirty="0"/>
              <a:t>Store-and-forward switching</a:t>
            </a:r>
          </a:p>
          <a:p>
            <a:pPr lvl="1"/>
            <a:r>
              <a:rPr lang="en-US" sz="2400" dirty="0">
                <a:solidFill>
                  <a:srgbClr val="000000"/>
                </a:solidFill>
              </a:rPr>
              <a:t>Switch receives the entire frame and computes the CRC. If the CRC is valid, frame is forwarded as usual. If not, frame is dropped</a:t>
            </a:r>
          </a:p>
          <a:p>
            <a:r>
              <a:rPr lang="en-US" dirty="0">
                <a:solidFill>
                  <a:srgbClr val="000000"/>
                </a:solidFill>
              </a:rPr>
              <a:t> </a:t>
            </a:r>
            <a:r>
              <a:rPr lang="en-US" sz="2800" dirty="0">
                <a:solidFill>
                  <a:srgbClr val="000000"/>
                </a:solidFill>
              </a:rPr>
              <a:t>Advantage: High integrity. </a:t>
            </a:r>
            <a:r>
              <a:rPr lang="en-US" dirty="0">
                <a:solidFill>
                  <a:srgbClr val="000000"/>
                </a:solidFill>
              </a:rPr>
              <a:t>D</a:t>
            </a:r>
            <a:r>
              <a:rPr lang="en-US" sz="2800" dirty="0">
                <a:solidFill>
                  <a:srgbClr val="000000"/>
                </a:solidFill>
              </a:rPr>
              <a:t>etermines if a frame has errors before propagating the frame. Discarding frames with errors reduces the amount of bandwidth consumed by corrupt data.</a:t>
            </a:r>
          </a:p>
          <a:p>
            <a:r>
              <a:rPr lang="en-US" dirty="0">
                <a:solidFill>
                  <a:srgbClr val="000000"/>
                </a:solidFill>
              </a:rPr>
              <a:t>Disadvantage: Overhead of CRC calculation, Added latency of process, increased frame buffering required</a:t>
            </a:r>
            <a:endParaRPr lang="en-IE" dirty="0"/>
          </a:p>
        </p:txBody>
      </p:sp>
    </p:spTree>
    <p:extLst>
      <p:ext uri="{BB962C8B-B14F-4D97-AF65-F5344CB8AC3E}">
        <p14:creationId xmlns:p14="http://schemas.microsoft.com/office/powerpoint/2010/main" val="1662508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3E320-B35C-9201-6EC8-CBEBBE8D56A8}"/>
              </a:ext>
            </a:extLst>
          </p:cNvPr>
          <p:cNvPicPr>
            <a:picLocks noChangeAspect="1"/>
          </p:cNvPicPr>
          <p:nvPr/>
        </p:nvPicPr>
        <p:blipFill>
          <a:blip r:embed="rId3"/>
          <a:stretch>
            <a:fillRect/>
          </a:stretch>
        </p:blipFill>
        <p:spPr>
          <a:xfrm>
            <a:off x="605440" y="1809697"/>
            <a:ext cx="11189275" cy="2019404"/>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5FCB47A-E308-8764-44BC-8BA8A3205D01}"/>
                  </a:ext>
                </a:extLst>
              </p14:cNvPr>
              <p14:cNvContentPartPr/>
              <p14:nvPr/>
            </p14:nvContentPartPr>
            <p14:xfrm>
              <a:off x="1875097" y="3075623"/>
              <a:ext cx="2908080" cy="69480"/>
            </p14:xfrm>
          </p:contentPart>
        </mc:Choice>
        <mc:Fallback xmlns="">
          <p:pic>
            <p:nvPicPr>
              <p:cNvPr id="10" name="Ink 9">
                <a:extLst>
                  <a:ext uri="{FF2B5EF4-FFF2-40B4-BE49-F238E27FC236}">
                    <a16:creationId xmlns:a16="http://schemas.microsoft.com/office/drawing/2014/main" id="{F5FCB47A-E308-8764-44BC-8BA8A3205D01}"/>
                  </a:ext>
                </a:extLst>
              </p:cNvPr>
              <p:cNvPicPr/>
              <p:nvPr/>
            </p:nvPicPr>
            <p:blipFill>
              <a:blip r:embed="rId5"/>
              <a:stretch>
                <a:fillRect/>
              </a:stretch>
            </p:blipFill>
            <p:spPr>
              <a:xfrm>
                <a:off x="1866457" y="3066623"/>
                <a:ext cx="29257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12523028-A863-6E8A-3950-964CA51FD7FD}"/>
                  </a:ext>
                </a:extLst>
              </p14:cNvPr>
              <p14:cNvContentPartPr/>
              <p14:nvPr/>
            </p14:nvContentPartPr>
            <p14:xfrm>
              <a:off x="7547977" y="3073823"/>
              <a:ext cx="3224880" cy="64080"/>
            </p14:xfrm>
          </p:contentPart>
        </mc:Choice>
        <mc:Fallback xmlns="">
          <p:pic>
            <p:nvPicPr>
              <p:cNvPr id="11" name="Ink 10">
                <a:extLst>
                  <a:ext uri="{FF2B5EF4-FFF2-40B4-BE49-F238E27FC236}">
                    <a16:creationId xmlns:a16="http://schemas.microsoft.com/office/drawing/2014/main" id="{12523028-A863-6E8A-3950-964CA51FD7FD}"/>
                  </a:ext>
                </a:extLst>
              </p:cNvPr>
              <p:cNvPicPr/>
              <p:nvPr/>
            </p:nvPicPr>
            <p:blipFill>
              <a:blip r:embed="rId7"/>
              <a:stretch>
                <a:fillRect/>
              </a:stretch>
            </p:blipFill>
            <p:spPr>
              <a:xfrm>
                <a:off x="7538977" y="3065183"/>
                <a:ext cx="3242520" cy="81720"/>
              </a:xfrm>
              <a:prstGeom prst="rect">
                <a:avLst/>
              </a:prstGeom>
            </p:spPr>
          </p:pic>
        </mc:Fallback>
      </mc:AlternateContent>
      <p:sp>
        <p:nvSpPr>
          <p:cNvPr id="18" name="Callout: Line 17">
            <a:extLst>
              <a:ext uri="{FF2B5EF4-FFF2-40B4-BE49-F238E27FC236}">
                <a16:creationId xmlns:a16="http://schemas.microsoft.com/office/drawing/2014/main" id="{1F0BB22F-7CEE-0769-5335-4F49502DF9D2}"/>
              </a:ext>
            </a:extLst>
          </p:cNvPr>
          <p:cNvSpPr/>
          <p:nvPr/>
        </p:nvSpPr>
        <p:spPr>
          <a:xfrm>
            <a:off x="892097" y="4622204"/>
            <a:ext cx="2698595" cy="857564"/>
          </a:xfrm>
          <a:prstGeom prst="borderCallout1">
            <a:avLst>
              <a:gd name="adj1" fmla="val -8990"/>
              <a:gd name="adj2" fmla="val 46763"/>
              <a:gd name="adj3" fmla="val -132428"/>
              <a:gd name="adj4" fmla="val 1816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Device calculates CRC value and inserts into frame</a:t>
            </a:r>
          </a:p>
        </p:txBody>
      </p:sp>
      <p:grpSp>
        <p:nvGrpSpPr>
          <p:cNvPr id="21" name="Group 20">
            <a:extLst>
              <a:ext uri="{FF2B5EF4-FFF2-40B4-BE49-F238E27FC236}">
                <a16:creationId xmlns:a16="http://schemas.microsoft.com/office/drawing/2014/main" id="{60B4D377-FA6B-2EE8-8476-335C348104EC}"/>
              </a:ext>
            </a:extLst>
          </p:cNvPr>
          <p:cNvGrpSpPr/>
          <p:nvPr/>
        </p:nvGrpSpPr>
        <p:grpSpPr>
          <a:xfrm>
            <a:off x="1864504" y="2396663"/>
            <a:ext cx="1140480" cy="579240"/>
            <a:chOff x="1708387" y="1385620"/>
            <a:chExt cx="1140480" cy="579240"/>
          </a:xfrm>
        </p:grpSpPr>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4F6D3097-BA8C-22D6-FF89-7E31C77BFA19}"/>
                    </a:ext>
                  </a:extLst>
                </p14:cNvPr>
                <p14:cNvContentPartPr/>
                <p14:nvPr/>
              </p14:nvContentPartPr>
              <p14:xfrm>
                <a:off x="1708387" y="1405060"/>
                <a:ext cx="1049040" cy="559800"/>
              </p14:xfrm>
            </p:contentPart>
          </mc:Choice>
          <mc:Fallback xmlns="">
            <p:pic>
              <p:nvPicPr>
                <p:cNvPr id="19" name="Ink 18">
                  <a:extLst>
                    <a:ext uri="{FF2B5EF4-FFF2-40B4-BE49-F238E27FC236}">
                      <a16:creationId xmlns:a16="http://schemas.microsoft.com/office/drawing/2014/main" id="{4F6D3097-BA8C-22D6-FF89-7E31C77BFA19}"/>
                    </a:ext>
                  </a:extLst>
                </p:cNvPr>
                <p:cNvPicPr/>
                <p:nvPr/>
              </p:nvPicPr>
              <p:blipFill>
                <a:blip r:embed="rId9"/>
                <a:stretch>
                  <a:fillRect/>
                </a:stretch>
              </p:blipFill>
              <p:spPr>
                <a:xfrm>
                  <a:off x="1699747" y="1396060"/>
                  <a:ext cx="106668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1B88F180-09FE-1B4A-5E38-C63CF8466DCD}"/>
                    </a:ext>
                  </a:extLst>
                </p14:cNvPr>
                <p14:cNvContentPartPr/>
                <p14:nvPr/>
              </p14:nvContentPartPr>
              <p14:xfrm>
                <a:off x="2521987" y="1385620"/>
                <a:ext cx="326880" cy="297720"/>
              </p14:xfrm>
            </p:contentPart>
          </mc:Choice>
          <mc:Fallback xmlns="">
            <p:pic>
              <p:nvPicPr>
                <p:cNvPr id="20" name="Ink 19">
                  <a:extLst>
                    <a:ext uri="{FF2B5EF4-FFF2-40B4-BE49-F238E27FC236}">
                      <a16:creationId xmlns:a16="http://schemas.microsoft.com/office/drawing/2014/main" id="{1B88F180-09FE-1B4A-5E38-C63CF8466DCD}"/>
                    </a:ext>
                  </a:extLst>
                </p:cNvPr>
                <p:cNvPicPr/>
                <p:nvPr/>
              </p:nvPicPr>
              <p:blipFill>
                <a:blip r:embed="rId11"/>
                <a:stretch>
                  <a:fillRect/>
                </a:stretch>
              </p:blipFill>
              <p:spPr>
                <a:xfrm>
                  <a:off x="2512987" y="1376620"/>
                  <a:ext cx="344520" cy="315360"/>
                </a:xfrm>
                <a:prstGeom prst="rect">
                  <a:avLst/>
                </a:prstGeom>
              </p:spPr>
            </p:pic>
          </mc:Fallback>
        </mc:AlternateContent>
      </p:grpSp>
      <p:sp>
        <p:nvSpPr>
          <p:cNvPr id="22" name="Callout: Line 21">
            <a:extLst>
              <a:ext uri="{FF2B5EF4-FFF2-40B4-BE49-F238E27FC236}">
                <a16:creationId xmlns:a16="http://schemas.microsoft.com/office/drawing/2014/main" id="{04C0328C-26E8-4194-8918-DE5E32A548F2}"/>
              </a:ext>
            </a:extLst>
          </p:cNvPr>
          <p:cNvSpPr/>
          <p:nvPr/>
        </p:nvSpPr>
        <p:spPr>
          <a:xfrm>
            <a:off x="4163121" y="4635238"/>
            <a:ext cx="2698595" cy="857564"/>
          </a:xfrm>
          <a:prstGeom prst="borderCallout1">
            <a:avLst>
              <a:gd name="adj1" fmla="val -8990"/>
              <a:gd name="adj2" fmla="val 46763"/>
              <a:gd name="adj3" fmla="val -136762"/>
              <a:gd name="adj4" fmla="val 655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Switch stores the frame and calculates/checks the CRC</a:t>
            </a:r>
          </a:p>
        </p:txBody>
      </p:sp>
      <p:sp>
        <p:nvSpPr>
          <p:cNvPr id="23" name="Callout: Line 22">
            <a:extLst>
              <a:ext uri="{FF2B5EF4-FFF2-40B4-BE49-F238E27FC236}">
                <a16:creationId xmlns:a16="http://schemas.microsoft.com/office/drawing/2014/main" id="{32CB28BC-52B9-51D5-4709-3DB5815D4F94}"/>
              </a:ext>
            </a:extLst>
          </p:cNvPr>
          <p:cNvSpPr/>
          <p:nvPr/>
        </p:nvSpPr>
        <p:spPr>
          <a:xfrm>
            <a:off x="7811119" y="4664445"/>
            <a:ext cx="2698595" cy="857564"/>
          </a:xfrm>
          <a:prstGeom prst="borderCallout1">
            <a:avLst>
              <a:gd name="adj1" fmla="val -8990"/>
              <a:gd name="adj2" fmla="val 46763"/>
              <a:gd name="adj3" fmla="val -159301"/>
              <a:gd name="adj4" fmla="val 2009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If no errors (CRC match), frame is forwarded</a:t>
            </a:r>
          </a:p>
        </p:txBody>
      </p:sp>
      <p:sp>
        <p:nvSpPr>
          <p:cNvPr id="25" name="Rectangle 24">
            <a:extLst>
              <a:ext uri="{FF2B5EF4-FFF2-40B4-BE49-F238E27FC236}">
                <a16:creationId xmlns:a16="http://schemas.microsoft.com/office/drawing/2014/main" id="{C99BF755-0B09-FB8D-1704-14B8F5DB0568}"/>
              </a:ext>
            </a:extLst>
          </p:cNvPr>
          <p:cNvSpPr/>
          <p:nvPr/>
        </p:nvSpPr>
        <p:spPr>
          <a:xfrm>
            <a:off x="6729540" y="2396663"/>
            <a:ext cx="1636873" cy="39664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MATCH</a:t>
            </a:r>
          </a:p>
        </p:txBody>
      </p:sp>
      <p:sp>
        <p:nvSpPr>
          <p:cNvPr id="26" name="Rectangle 25">
            <a:extLst>
              <a:ext uri="{FF2B5EF4-FFF2-40B4-BE49-F238E27FC236}">
                <a16:creationId xmlns:a16="http://schemas.microsoft.com/office/drawing/2014/main" id="{F5C23AE5-9C10-E262-7039-75E993F06585}"/>
              </a:ext>
            </a:extLst>
          </p:cNvPr>
          <p:cNvSpPr/>
          <p:nvPr/>
        </p:nvSpPr>
        <p:spPr>
          <a:xfrm>
            <a:off x="6733813" y="2814714"/>
            <a:ext cx="1636873" cy="39664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184784387348</a:t>
            </a:r>
          </a:p>
        </p:txBody>
      </p:sp>
      <p:grpSp>
        <p:nvGrpSpPr>
          <p:cNvPr id="28" name="Group 27">
            <a:extLst>
              <a:ext uri="{FF2B5EF4-FFF2-40B4-BE49-F238E27FC236}">
                <a16:creationId xmlns:a16="http://schemas.microsoft.com/office/drawing/2014/main" id="{BD8CFDAD-936A-56A1-7985-57D8B09122E4}"/>
              </a:ext>
            </a:extLst>
          </p:cNvPr>
          <p:cNvGrpSpPr/>
          <p:nvPr/>
        </p:nvGrpSpPr>
        <p:grpSpPr>
          <a:xfrm>
            <a:off x="251401" y="1847688"/>
            <a:ext cx="3911720" cy="410662"/>
            <a:chOff x="95284" y="836645"/>
            <a:chExt cx="3911720" cy="410662"/>
          </a:xfrm>
        </p:grpSpPr>
        <p:grpSp>
          <p:nvGrpSpPr>
            <p:cNvPr id="15" name="Group 14">
              <a:extLst>
                <a:ext uri="{FF2B5EF4-FFF2-40B4-BE49-F238E27FC236}">
                  <a16:creationId xmlns:a16="http://schemas.microsoft.com/office/drawing/2014/main" id="{F8C4A9EE-D03F-FA35-FCDE-8270A2BFE1BC}"/>
                </a:ext>
              </a:extLst>
            </p:cNvPr>
            <p:cNvGrpSpPr/>
            <p:nvPr/>
          </p:nvGrpSpPr>
          <p:grpSpPr>
            <a:xfrm>
              <a:off x="95284" y="836645"/>
              <a:ext cx="3911720" cy="396648"/>
              <a:chOff x="3173020" y="4207727"/>
              <a:chExt cx="3911720" cy="396648"/>
            </a:xfrm>
          </p:grpSpPr>
          <p:sp>
            <p:nvSpPr>
              <p:cNvPr id="12" name="Rectangle 11">
                <a:extLst>
                  <a:ext uri="{FF2B5EF4-FFF2-40B4-BE49-F238E27FC236}">
                    <a16:creationId xmlns:a16="http://schemas.microsoft.com/office/drawing/2014/main" id="{19FBA13F-93D5-4808-BBE7-DD94DA554833}"/>
                  </a:ext>
                </a:extLst>
              </p:cNvPr>
              <p:cNvSpPr/>
              <p:nvPr/>
            </p:nvSpPr>
            <p:spPr>
              <a:xfrm>
                <a:off x="3173020" y="4207728"/>
                <a:ext cx="1137424" cy="39664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Header</a:t>
                </a:r>
              </a:p>
            </p:txBody>
          </p:sp>
          <p:sp>
            <p:nvSpPr>
              <p:cNvPr id="13" name="Rectangle 12">
                <a:extLst>
                  <a:ext uri="{FF2B5EF4-FFF2-40B4-BE49-F238E27FC236}">
                    <a16:creationId xmlns:a16="http://schemas.microsoft.com/office/drawing/2014/main" id="{61C50AED-546D-B53E-0F14-C0BA97AA91B8}"/>
                  </a:ext>
                </a:extLst>
              </p:cNvPr>
              <p:cNvSpPr/>
              <p:nvPr/>
            </p:nvSpPr>
            <p:spPr>
              <a:xfrm>
                <a:off x="4310444" y="4207727"/>
                <a:ext cx="1137424" cy="396647"/>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Data</a:t>
                </a:r>
              </a:p>
            </p:txBody>
          </p:sp>
          <p:sp>
            <p:nvSpPr>
              <p:cNvPr id="14" name="Rectangle 13">
                <a:extLst>
                  <a:ext uri="{FF2B5EF4-FFF2-40B4-BE49-F238E27FC236}">
                    <a16:creationId xmlns:a16="http://schemas.microsoft.com/office/drawing/2014/main" id="{9F6E7802-62ED-8729-B210-B1F5E96722C1}"/>
                  </a:ext>
                </a:extLst>
              </p:cNvPr>
              <p:cNvSpPr/>
              <p:nvPr/>
            </p:nvSpPr>
            <p:spPr>
              <a:xfrm>
                <a:off x="5447867" y="4207727"/>
                <a:ext cx="1636873" cy="39664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Error Detection</a:t>
                </a:r>
              </a:p>
            </p:txBody>
          </p:sp>
        </p:grpSp>
        <p:sp>
          <p:nvSpPr>
            <p:cNvPr id="27" name="Rectangle 26">
              <a:extLst>
                <a:ext uri="{FF2B5EF4-FFF2-40B4-BE49-F238E27FC236}">
                  <a16:creationId xmlns:a16="http://schemas.microsoft.com/office/drawing/2014/main" id="{D9142DE1-C830-150C-CC57-CD8ACE9F3AD0}"/>
                </a:ext>
              </a:extLst>
            </p:cNvPr>
            <p:cNvSpPr/>
            <p:nvPr/>
          </p:nvSpPr>
          <p:spPr>
            <a:xfrm>
              <a:off x="2370130" y="850660"/>
              <a:ext cx="1636873" cy="39664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184784387348</a:t>
              </a:r>
            </a:p>
          </p:txBody>
        </p:sp>
      </p:grpSp>
      <p:sp>
        <p:nvSpPr>
          <p:cNvPr id="63" name="TextBox 62">
            <a:extLst>
              <a:ext uri="{FF2B5EF4-FFF2-40B4-BE49-F238E27FC236}">
                <a16:creationId xmlns:a16="http://schemas.microsoft.com/office/drawing/2014/main" id="{CA279D97-AC98-3D63-D58C-1E416CA70D98}"/>
              </a:ext>
            </a:extLst>
          </p:cNvPr>
          <p:cNvSpPr txBox="1"/>
          <p:nvPr/>
        </p:nvSpPr>
        <p:spPr>
          <a:xfrm>
            <a:off x="3590692" y="245360"/>
            <a:ext cx="4030399" cy="707886"/>
          </a:xfrm>
          <a:prstGeom prst="rect">
            <a:avLst/>
          </a:prstGeom>
          <a:noFill/>
        </p:spPr>
        <p:txBody>
          <a:bodyPr wrap="none" rtlCol="0">
            <a:spAutoFit/>
          </a:bodyPr>
          <a:lstStyle/>
          <a:p>
            <a:r>
              <a:rPr lang="en-IE" sz="4000" dirty="0"/>
              <a:t>Store and Forward</a:t>
            </a:r>
          </a:p>
        </p:txBody>
      </p:sp>
    </p:spTree>
    <p:extLst>
      <p:ext uri="{BB962C8B-B14F-4D97-AF65-F5344CB8AC3E}">
        <p14:creationId xmlns:p14="http://schemas.microsoft.com/office/powerpoint/2010/main" val="329866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4.16667E-7 4.44444E-6 L 0.34427 0.00902 " pathEditMode="relative" rAng="0" ptsTypes="AA">
                                      <p:cBhvr>
                                        <p:cTn id="14" dur="2000" fill="hold"/>
                                        <p:tgtEl>
                                          <p:spTgt spid="28"/>
                                        </p:tgtEl>
                                        <p:attrNameLst>
                                          <p:attrName>ppt_x</p:attrName>
                                          <p:attrName>ppt_y</p:attrName>
                                        </p:attrNameLst>
                                      </p:cBhvr>
                                      <p:rCtr x="17214" y="440"/>
                                    </p:animMotion>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nodeType="clickEffect">
                                  <p:stCondLst>
                                    <p:cond delay="0"/>
                                  </p:stCondLst>
                                  <p:childTnLst>
                                    <p:animMotion origin="layout" path="M 0.34427 0.00902 L 0.7306 0.00902 " pathEditMode="relative" rAng="0" ptsTypes="AA">
                                      <p:cBhvr>
                                        <p:cTn id="34" dur="2000" fill="hold"/>
                                        <p:tgtEl>
                                          <p:spTgt spid="28"/>
                                        </p:tgtEl>
                                        <p:attrNameLst>
                                          <p:attrName>ppt_x</p:attrName>
                                          <p:attrName>ppt_y</p:attrName>
                                        </p:attrNameLst>
                                      </p:cBhvr>
                                      <p:rCtr x="1931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3" grpId="0" animBg="1"/>
      <p:bldP spid="25" grpId="0" animBg="1"/>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14593-C691-4A0A-9031-5947A383139A}"/>
              </a:ext>
            </a:extLst>
          </p:cNvPr>
          <p:cNvSpPr>
            <a:spLocks noGrp="1"/>
          </p:cNvSpPr>
          <p:nvPr>
            <p:ph type="title"/>
          </p:nvPr>
        </p:nvSpPr>
        <p:spPr/>
        <p:txBody>
          <a:bodyPr/>
          <a:lstStyle/>
          <a:p>
            <a:r>
              <a:rPr lang="en-IE" dirty="0"/>
              <a:t>Ethernet: Cut-Through Switching</a:t>
            </a:r>
          </a:p>
        </p:txBody>
      </p:sp>
      <p:sp>
        <p:nvSpPr>
          <p:cNvPr id="3" name="Content Placeholder 2">
            <a:extLst>
              <a:ext uri="{FF2B5EF4-FFF2-40B4-BE49-F238E27FC236}">
                <a16:creationId xmlns:a16="http://schemas.microsoft.com/office/drawing/2014/main" id="{0464E31C-8509-4AFC-A7CE-877EC68B1500}"/>
              </a:ext>
            </a:extLst>
          </p:cNvPr>
          <p:cNvSpPr>
            <a:spLocks noGrp="1"/>
          </p:cNvSpPr>
          <p:nvPr>
            <p:ph idx="1"/>
          </p:nvPr>
        </p:nvSpPr>
        <p:spPr>
          <a:xfrm>
            <a:off x="418011" y="1690688"/>
            <a:ext cx="11469189" cy="4605609"/>
          </a:xfrm>
        </p:spPr>
        <p:txBody>
          <a:bodyPr>
            <a:normAutofit lnSpcReduction="10000"/>
          </a:bodyPr>
          <a:lstStyle/>
          <a:p>
            <a:pPr marL="0" indent="0">
              <a:buNone/>
            </a:pPr>
            <a:r>
              <a:rPr lang="en-US" dirty="0">
                <a:solidFill>
                  <a:srgbClr val="000000"/>
                </a:solidFill>
              </a:rPr>
              <a:t>C</a:t>
            </a:r>
            <a:r>
              <a:rPr lang="en-US" sz="2800" dirty="0">
                <a:solidFill>
                  <a:srgbClr val="000000"/>
                </a:solidFill>
              </a:rPr>
              <a:t>ut-through switching acts on frame data as soon as it is received, even if the transmission is not complete. </a:t>
            </a:r>
          </a:p>
          <a:p>
            <a:pPr marL="0" indent="0">
              <a:buNone/>
            </a:pPr>
            <a:r>
              <a:rPr lang="en-US" sz="2800" dirty="0">
                <a:solidFill>
                  <a:srgbClr val="000000"/>
                </a:solidFill>
              </a:rPr>
              <a:t>The switch buffers just enough of the frame to read the destination MAC address  and determine to which port </a:t>
            </a:r>
            <a:r>
              <a:rPr lang="en-US" dirty="0">
                <a:solidFill>
                  <a:srgbClr val="000000"/>
                </a:solidFill>
              </a:rPr>
              <a:t>to</a:t>
            </a:r>
            <a:r>
              <a:rPr lang="en-US" sz="2800" dirty="0">
                <a:solidFill>
                  <a:srgbClr val="000000"/>
                </a:solidFill>
              </a:rPr>
              <a:t> forward out the data.</a:t>
            </a:r>
          </a:p>
          <a:p>
            <a:pPr marL="0" indent="0">
              <a:buNone/>
            </a:pPr>
            <a:r>
              <a:rPr lang="en-US" sz="2800" dirty="0">
                <a:solidFill>
                  <a:srgbClr val="000000"/>
                </a:solidFill>
              </a:rPr>
              <a:t>The switch does not perform any error checking on the frame.</a:t>
            </a:r>
          </a:p>
          <a:p>
            <a:r>
              <a:rPr lang="en-US" sz="2800" b="1" dirty="0">
                <a:solidFill>
                  <a:srgbClr val="000000"/>
                </a:solidFill>
              </a:rPr>
              <a:t>Fast-forward switching -</a:t>
            </a:r>
            <a:r>
              <a:rPr lang="en-US" sz="2800" dirty="0">
                <a:solidFill>
                  <a:srgbClr val="000000"/>
                </a:solidFill>
              </a:rPr>
              <a:t> Offers the lowest level of latency by immediately forwarding a packet after reading the destination address. </a:t>
            </a:r>
          </a:p>
          <a:p>
            <a:r>
              <a:rPr lang="en-US" sz="2800" b="1" dirty="0">
                <a:solidFill>
                  <a:srgbClr val="000000"/>
                </a:solidFill>
              </a:rPr>
              <a:t>Fragment-free switching -</a:t>
            </a:r>
            <a:r>
              <a:rPr lang="en-US" sz="2800" dirty="0">
                <a:solidFill>
                  <a:srgbClr val="000000"/>
                </a:solidFill>
              </a:rPr>
              <a:t> A compromise between the high latency and high integrity of store-and-forward switching and the low latency and reduced integrity of fast-forward switching, the switch stores and performs an error check on the first 64 bytes of the frame before forwarding. </a:t>
            </a:r>
          </a:p>
          <a:p>
            <a:endParaRPr lang="en-IE" dirty="0"/>
          </a:p>
        </p:txBody>
      </p:sp>
    </p:spTree>
    <p:extLst>
      <p:ext uri="{BB962C8B-B14F-4D97-AF65-F5344CB8AC3E}">
        <p14:creationId xmlns:p14="http://schemas.microsoft.com/office/powerpoint/2010/main" val="2390124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3E320-B35C-9201-6EC8-CBEBBE8D56A8}"/>
              </a:ext>
            </a:extLst>
          </p:cNvPr>
          <p:cNvPicPr>
            <a:picLocks noChangeAspect="1"/>
          </p:cNvPicPr>
          <p:nvPr/>
        </p:nvPicPr>
        <p:blipFill>
          <a:blip r:embed="rId3"/>
          <a:stretch>
            <a:fillRect/>
          </a:stretch>
        </p:blipFill>
        <p:spPr>
          <a:xfrm>
            <a:off x="605440" y="1809697"/>
            <a:ext cx="11189275" cy="2019404"/>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F5FCB47A-E308-8764-44BC-8BA8A3205D01}"/>
                  </a:ext>
                </a:extLst>
              </p14:cNvPr>
              <p14:cNvContentPartPr/>
              <p14:nvPr/>
            </p14:nvContentPartPr>
            <p14:xfrm>
              <a:off x="1875097" y="3075623"/>
              <a:ext cx="2908080" cy="69480"/>
            </p14:xfrm>
          </p:contentPart>
        </mc:Choice>
        <mc:Fallback xmlns="">
          <p:pic>
            <p:nvPicPr>
              <p:cNvPr id="10" name="Ink 9">
                <a:extLst>
                  <a:ext uri="{FF2B5EF4-FFF2-40B4-BE49-F238E27FC236}">
                    <a16:creationId xmlns:a16="http://schemas.microsoft.com/office/drawing/2014/main" id="{F5FCB47A-E308-8764-44BC-8BA8A3205D01}"/>
                  </a:ext>
                </a:extLst>
              </p:cNvPr>
              <p:cNvPicPr/>
              <p:nvPr/>
            </p:nvPicPr>
            <p:blipFill>
              <a:blip r:embed="rId5"/>
              <a:stretch>
                <a:fillRect/>
              </a:stretch>
            </p:blipFill>
            <p:spPr>
              <a:xfrm>
                <a:off x="1866457" y="3066623"/>
                <a:ext cx="29257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12523028-A863-6E8A-3950-964CA51FD7FD}"/>
                  </a:ext>
                </a:extLst>
              </p14:cNvPr>
              <p14:cNvContentPartPr/>
              <p14:nvPr/>
            </p14:nvContentPartPr>
            <p14:xfrm>
              <a:off x="7547977" y="3073823"/>
              <a:ext cx="3224880" cy="64080"/>
            </p14:xfrm>
          </p:contentPart>
        </mc:Choice>
        <mc:Fallback xmlns="">
          <p:pic>
            <p:nvPicPr>
              <p:cNvPr id="11" name="Ink 10">
                <a:extLst>
                  <a:ext uri="{FF2B5EF4-FFF2-40B4-BE49-F238E27FC236}">
                    <a16:creationId xmlns:a16="http://schemas.microsoft.com/office/drawing/2014/main" id="{12523028-A863-6E8A-3950-964CA51FD7FD}"/>
                  </a:ext>
                </a:extLst>
              </p:cNvPr>
              <p:cNvPicPr/>
              <p:nvPr/>
            </p:nvPicPr>
            <p:blipFill>
              <a:blip r:embed="rId7"/>
              <a:stretch>
                <a:fillRect/>
              </a:stretch>
            </p:blipFill>
            <p:spPr>
              <a:xfrm>
                <a:off x="7538977" y="3065183"/>
                <a:ext cx="3242520" cy="81720"/>
              </a:xfrm>
              <a:prstGeom prst="rect">
                <a:avLst/>
              </a:prstGeom>
            </p:spPr>
          </p:pic>
        </mc:Fallback>
      </mc:AlternateContent>
      <p:sp>
        <p:nvSpPr>
          <p:cNvPr id="18" name="Callout: Line 17">
            <a:extLst>
              <a:ext uri="{FF2B5EF4-FFF2-40B4-BE49-F238E27FC236}">
                <a16:creationId xmlns:a16="http://schemas.microsoft.com/office/drawing/2014/main" id="{1F0BB22F-7CEE-0769-5335-4F49502DF9D2}"/>
              </a:ext>
            </a:extLst>
          </p:cNvPr>
          <p:cNvSpPr/>
          <p:nvPr/>
        </p:nvSpPr>
        <p:spPr>
          <a:xfrm>
            <a:off x="892097" y="4622204"/>
            <a:ext cx="2698595" cy="857564"/>
          </a:xfrm>
          <a:prstGeom prst="borderCallout1">
            <a:avLst>
              <a:gd name="adj1" fmla="val -8990"/>
              <a:gd name="adj2" fmla="val 46763"/>
              <a:gd name="adj3" fmla="val -132428"/>
              <a:gd name="adj4" fmla="val 1816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Device sends Frame</a:t>
            </a:r>
          </a:p>
        </p:txBody>
      </p:sp>
      <p:sp>
        <p:nvSpPr>
          <p:cNvPr id="22" name="Callout: Line 21">
            <a:extLst>
              <a:ext uri="{FF2B5EF4-FFF2-40B4-BE49-F238E27FC236}">
                <a16:creationId xmlns:a16="http://schemas.microsoft.com/office/drawing/2014/main" id="{04C0328C-26E8-4194-8918-DE5E32A548F2}"/>
              </a:ext>
            </a:extLst>
          </p:cNvPr>
          <p:cNvSpPr/>
          <p:nvPr/>
        </p:nvSpPr>
        <p:spPr>
          <a:xfrm>
            <a:off x="4163121" y="4635238"/>
            <a:ext cx="2698595" cy="1341816"/>
          </a:xfrm>
          <a:prstGeom prst="borderCallout1">
            <a:avLst>
              <a:gd name="adj1" fmla="val -8990"/>
              <a:gd name="adj2" fmla="val 46763"/>
              <a:gd name="adj3" fmla="val -136762"/>
              <a:gd name="adj4" fmla="val 655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Switch checks destination MAC as soon as it arrives and begins to forward(NO CRC CHECK)</a:t>
            </a:r>
          </a:p>
        </p:txBody>
      </p:sp>
      <p:grpSp>
        <p:nvGrpSpPr>
          <p:cNvPr id="4" name="Group 3">
            <a:extLst>
              <a:ext uri="{FF2B5EF4-FFF2-40B4-BE49-F238E27FC236}">
                <a16:creationId xmlns:a16="http://schemas.microsoft.com/office/drawing/2014/main" id="{81FDC10C-04AD-0C69-9D57-BFAA784F9E36}"/>
              </a:ext>
            </a:extLst>
          </p:cNvPr>
          <p:cNvGrpSpPr/>
          <p:nvPr/>
        </p:nvGrpSpPr>
        <p:grpSpPr>
          <a:xfrm>
            <a:off x="305932" y="1843345"/>
            <a:ext cx="3440877" cy="396934"/>
            <a:chOff x="722244" y="992423"/>
            <a:chExt cx="3440877" cy="396934"/>
          </a:xfrm>
        </p:grpSpPr>
        <p:grpSp>
          <p:nvGrpSpPr>
            <p:cNvPr id="15" name="Group 14">
              <a:extLst>
                <a:ext uri="{FF2B5EF4-FFF2-40B4-BE49-F238E27FC236}">
                  <a16:creationId xmlns:a16="http://schemas.microsoft.com/office/drawing/2014/main" id="{F8C4A9EE-D03F-FA35-FCDE-8270A2BFE1BC}"/>
                </a:ext>
              </a:extLst>
            </p:cNvPr>
            <p:cNvGrpSpPr/>
            <p:nvPr/>
          </p:nvGrpSpPr>
          <p:grpSpPr>
            <a:xfrm>
              <a:off x="722244" y="992424"/>
              <a:ext cx="2274848" cy="396648"/>
              <a:chOff x="3173020" y="4207727"/>
              <a:chExt cx="2274848" cy="396648"/>
            </a:xfrm>
          </p:grpSpPr>
          <p:sp>
            <p:nvSpPr>
              <p:cNvPr id="12" name="Rectangle 11">
                <a:extLst>
                  <a:ext uri="{FF2B5EF4-FFF2-40B4-BE49-F238E27FC236}">
                    <a16:creationId xmlns:a16="http://schemas.microsoft.com/office/drawing/2014/main" id="{19FBA13F-93D5-4808-BBE7-DD94DA554833}"/>
                  </a:ext>
                </a:extLst>
              </p:cNvPr>
              <p:cNvSpPr/>
              <p:nvPr/>
            </p:nvSpPr>
            <p:spPr>
              <a:xfrm>
                <a:off x="3173020" y="4207728"/>
                <a:ext cx="722472" cy="39664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200" dirty="0" err="1"/>
                  <a:t>sMAC</a:t>
                </a:r>
                <a:endParaRPr lang="en-IE" sz="1200" dirty="0"/>
              </a:p>
            </p:txBody>
          </p:sp>
          <p:sp>
            <p:nvSpPr>
              <p:cNvPr id="13" name="Rectangle 12">
                <a:extLst>
                  <a:ext uri="{FF2B5EF4-FFF2-40B4-BE49-F238E27FC236}">
                    <a16:creationId xmlns:a16="http://schemas.microsoft.com/office/drawing/2014/main" id="{61C50AED-546D-B53E-0F14-C0BA97AA91B8}"/>
                  </a:ext>
                </a:extLst>
              </p:cNvPr>
              <p:cNvSpPr/>
              <p:nvPr/>
            </p:nvSpPr>
            <p:spPr>
              <a:xfrm>
                <a:off x="4310444" y="4207727"/>
                <a:ext cx="1137424" cy="396647"/>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Data</a:t>
                </a:r>
              </a:p>
            </p:txBody>
          </p:sp>
        </p:grpSp>
        <p:sp>
          <p:nvSpPr>
            <p:cNvPr id="2" name="Rectangle 1">
              <a:extLst>
                <a:ext uri="{FF2B5EF4-FFF2-40B4-BE49-F238E27FC236}">
                  <a16:creationId xmlns:a16="http://schemas.microsoft.com/office/drawing/2014/main" id="{62C36D50-D9BF-7A88-E2F8-D10C0841149A}"/>
                </a:ext>
              </a:extLst>
            </p:cNvPr>
            <p:cNvSpPr/>
            <p:nvPr/>
          </p:nvSpPr>
          <p:spPr>
            <a:xfrm>
              <a:off x="1325996" y="992710"/>
              <a:ext cx="652393" cy="39664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200" dirty="0" err="1"/>
                <a:t>dMAC</a:t>
              </a:r>
              <a:endParaRPr lang="en-IE" sz="1200" dirty="0"/>
            </a:p>
          </p:txBody>
        </p:sp>
        <p:sp>
          <p:nvSpPr>
            <p:cNvPr id="3" name="Rectangle 2">
              <a:extLst>
                <a:ext uri="{FF2B5EF4-FFF2-40B4-BE49-F238E27FC236}">
                  <a16:creationId xmlns:a16="http://schemas.microsoft.com/office/drawing/2014/main" id="{C01AFEF6-8C14-76F0-A64B-1F14439D6E31}"/>
                </a:ext>
              </a:extLst>
            </p:cNvPr>
            <p:cNvSpPr/>
            <p:nvPr/>
          </p:nvSpPr>
          <p:spPr>
            <a:xfrm>
              <a:off x="3004984" y="992423"/>
              <a:ext cx="1158137" cy="396647"/>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200" dirty="0"/>
                <a:t>184784387348</a:t>
              </a:r>
            </a:p>
          </p:txBody>
        </p:sp>
      </p:grpSp>
      <p:sp>
        <p:nvSpPr>
          <p:cNvPr id="6" name="TextBox 5">
            <a:extLst>
              <a:ext uri="{FF2B5EF4-FFF2-40B4-BE49-F238E27FC236}">
                <a16:creationId xmlns:a16="http://schemas.microsoft.com/office/drawing/2014/main" id="{0C6F7EFA-B5E0-C780-B338-A6226FC02F7D}"/>
              </a:ext>
            </a:extLst>
          </p:cNvPr>
          <p:cNvSpPr txBox="1"/>
          <p:nvPr/>
        </p:nvSpPr>
        <p:spPr>
          <a:xfrm>
            <a:off x="3590692" y="245360"/>
            <a:ext cx="2757230" cy="707886"/>
          </a:xfrm>
          <a:prstGeom prst="rect">
            <a:avLst/>
          </a:prstGeom>
          <a:noFill/>
        </p:spPr>
        <p:txBody>
          <a:bodyPr wrap="none" rtlCol="0">
            <a:spAutoFit/>
          </a:bodyPr>
          <a:lstStyle/>
          <a:p>
            <a:r>
              <a:rPr lang="en-IE" sz="4000" dirty="0"/>
              <a:t>Cut Through</a:t>
            </a:r>
          </a:p>
        </p:txBody>
      </p:sp>
    </p:spTree>
    <p:extLst>
      <p:ext uri="{BB962C8B-B14F-4D97-AF65-F5344CB8AC3E}">
        <p14:creationId xmlns:p14="http://schemas.microsoft.com/office/powerpoint/2010/main" val="3292473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4.16667E-6 4.81481E-6 L 0.32656 -0.01019 " pathEditMode="relative" rAng="0" ptsTypes="AA">
                                      <p:cBhvr>
                                        <p:cTn id="11" dur="2000" fill="hold"/>
                                        <p:tgtEl>
                                          <p:spTgt spid="4"/>
                                        </p:tgtEl>
                                        <p:attrNameLst>
                                          <p:attrName>ppt_x</p:attrName>
                                          <p:attrName>ppt_y</p:attrName>
                                        </p:attrNameLst>
                                      </p:cBhvr>
                                      <p:rCtr x="16328" y="-509"/>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0.32656 -0.01019 L 0.69583 -0.01019 " pathEditMode="relative" rAng="0" ptsTypes="AA">
                                      <p:cBhvr>
                                        <p:cTn id="20" dur="2000" fill="hold"/>
                                        <p:tgtEl>
                                          <p:spTgt spid="4"/>
                                        </p:tgtEl>
                                        <p:attrNameLst>
                                          <p:attrName>ppt_x</p:attrName>
                                          <p:attrName>ppt_y</p:attrName>
                                        </p:attrNameLst>
                                      </p:cBhvr>
                                      <p:rCtr x="1846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0B369-B897-4512-8870-F4F3E8B0A0A6}"/>
              </a:ext>
            </a:extLst>
          </p:cNvPr>
          <p:cNvSpPr>
            <a:spLocks noGrp="1"/>
          </p:cNvSpPr>
          <p:nvPr>
            <p:ph type="title"/>
          </p:nvPr>
        </p:nvSpPr>
        <p:spPr/>
        <p:txBody>
          <a:bodyPr/>
          <a:lstStyle/>
          <a:p>
            <a:r>
              <a:rPr lang="en-IE" dirty="0"/>
              <a:t>Ethernet: Memory Buffering</a:t>
            </a:r>
          </a:p>
        </p:txBody>
      </p:sp>
      <p:sp>
        <p:nvSpPr>
          <p:cNvPr id="3" name="Content Placeholder 2">
            <a:extLst>
              <a:ext uri="{FF2B5EF4-FFF2-40B4-BE49-F238E27FC236}">
                <a16:creationId xmlns:a16="http://schemas.microsoft.com/office/drawing/2014/main" id="{089A50CE-ABF0-4D5B-A139-EC3C7686D45D}"/>
              </a:ext>
            </a:extLst>
          </p:cNvPr>
          <p:cNvSpPr>
            <a:spLocks noGrp="1"/>
          </p:cNvSpPr>
          <p:nvPr>
            <p:ph idx="1"/>
          </p:nvPr>
        </p:nvSpPr>
        <p:spPr/>
        <p:txBody>
          <a:bodyPr>
            <a:normAutofit fontScale="77500" lnSpcReduction="20000"/>
          </a:bodyPr>
          <a:lstStyle/>
          <a:p>
            <a:r>
              <a:rPr lang="en-US" sz="2800" dirty="0">
                <a:solidFill>
                  <a:srgbClr val="000000"/>
                </a:solidFill>
              </a:rPr>
              <a:t>Switches are fast, but may have to deal with large bursts of traffic/congestion, collisions</a:t>
            </a:r>
            <a:r>
              <a:rPr lang="en-US" dirty="0">
                <a:solidFill>
                  <a:srgbClr val="000000"/>
                </a:solidFill>
              </a:rPr>
              <a:t>, </a:t>
            </a:r>
            <a:r>
              <a:rPr lang="en-US" sz="2800" dirty="0">
                <a:solidFill>
                  <a:srgbClr val="000000"/>
                </a:solidFill>
              </a:rPr>
              <a:t> or a busy destination port</a:t>
            </a:r>
            <a:endParaRPr lang="en-US" dirty="0">
              <a:solidFill>
                <a:srgbClr val="000000"/>
              </a:solidFill>
            </a:endParaRPr>
          </a:p>
          <a:p>
            <a:r>
              <a:rPr lang="en-US" sz="2800" dirty="0">
                <a:solidFill>
                  <a:srgbClr val="000000"/>
                </a:solidFill>
              </a:rPr>
              <a:t>An Ethernet switch buffer is memory </a:t>
            </a:r>
            <a:r>
              <a:rPr lang="en-US" dirty="0">
                <a:solidFill>
                  <a:srgbClr val="000000"/>
                </a:solidFill>
              </a:rPr>
              <a:t>that</a:t>
            </a:r>
            <a:r>
              <a:rPr lang="en-US" sz="2800" dirty="0">
                <a:solidFill>
                  <a:srgbClr val="000000"/>
                </a:solidFill>
              </a:rPr>
              <a:t> can store frames before forwarding them.</a:t>
            </a:r>
          </a:p>
          <a:p>
            <a:pPr lvl="1"/>
            <a:r>
              <a:rPr lang="en-GB" dirty="0">
                <a:solidFill>
                  <a:srgbClr val="000000"/>
                </a:solidFill>
              </a:rPr>
              <a:t>Supports error checking on the received frames.</a:t>
            </a:r>
          </a:p>
          <a:p>
            <a:pPr lvl="1"/>
            <a:r>
              <a:rPr lang="en-GB" dirty="0">
                <a:solidFill>
                  <a:srgbClr val="000000"/>
                </a:solidFill>
              </a:rPr>
              <a:t>Prevents the need to drop frames when network congestion occurs.</a:t>
            </a:r>
          </a:p>
          <a:p>
            <a:pPr lvl="1"/>
            <a:r>
              <a:rPr lang="en-GB" dirty="0">
                <a:solidFill>
                  <a:srgbClr val="000000"/>
                </a:solidFill>
              </a:rPr>
              <a:t>They provide a mechanism to store a frame  for a particular port if </a:t>
            </a:r>
            <a:r>
              <a:rPr lang="en-GB" dirty="0" err="1">
                <a:solidFill>
                  <a:srgbClr val="000000"/>
                </a:solidFill>
              </a:rPr>
              <a:t>autonegotiation</a:t>
            </a:r>
            <a:r>
              <a:rPr lang="en-GB" dirty="0">
                <a:solidFill>
                  <a:srgbClr val="000000"/>
                </a:solidFill>
              </a:rPr>
              <a:t> of speed or duplex fails.</a:t>
            </a:r>
          </a:p>
          <a:p>
            <a:pPr lvl="1"/>
            <a:r>
              <a:rPr lang="en-GB" dirty="0">
                <a:solidFill>
                  <a:srgbClr val="000000"/>
                </a:solidFill>
              </a:rPr>
              <a:t>They hold frames  when a collision occurs until normal data transmission resumes.</a:t>
            </a:r>
            <a:r>
              <a:rPr lang="en-US" sz="2800" dirty="0">
                <a:solidFill>
                  <a:srgbClr val="000000"/>
                </a:solidFill>
              </a:rPr>
              <a:t> </a:t>
            </a:r>
            <a:endParaRPr lang="en-IE" dirty="0"/>
          </a:p>
          <a:p>
            <a:r>
              <a:rPr lang="en-IE" b="1" dirty="0"/>
              <a:t>Port-Based Memory Buffering:</a:t>
            </a:r>
          </a:p>
          <a:p>
            <a:pPr lvl="1"/>
            <a:r>
              <a:rPr lang="en-IE" dirty="0"/>
              <a:t>Frames stored in Queues linked to specific ports.</a:t>
            </a:r>
          </a:p>
          <a:p>
            <a:r>
              <a:rPr lang="en-IE" b="1" dirty="0"/>
              <a:t>Shared Memory:</a:t>
            </a:r>
          </a:p>
          <a:p>
            <a:pPr lvl="1"/>
            <a:r>
              <a:rPr lang="en-IE" dirty="0"/>
              <a:t>Common memory buffer for all frames. </a:t>
            </a:r>
          </a:p>
          <a:p>
            <a:pPr lvl="1"/>
            <a:r>
              <a:rPr lang="en-IE" dirty="0"/>
              <a:t>Dynamic links to ports. Enables a Packet to be received on one port and transmitted on another</a:t>
            </a:r>
          </a:p>
          <a:p>
            <a:endParaRPr lang="en-IE" dirty="0"/>
          </a:p>
        </p:txBody>
      </p:sp>
    </p:spTree>
    <p:extLst>
      <p:ext uri="{BB962C8B-B14F-4D97-AF65-F5344CB8AC3E}">
        <p14:creationId xmlns:p14="http://schemas.microsoft.com/office/powerpoint/2010/main" val="4080316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42533"/>
            <a:ext cx="11127317" cy="975783"/>
          </a:xfrm>
        </p:spPr>
        <p:txBody>
          <a:bodyPr>
            <a:normAutofit/>
          </a:bodyPr>
          <a:lstStyle/>
          <a:p>
            <a:pPr algn="ctr"/>
            <a:r>
              <a:rPr lang="en-US" dirty="0">
                <a:solidFill>
                  <a:schemeClr val="tx1"/>
                </a:solidFill>
              </a:rPr>
              <a:t>Port Setting </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632883" y="1018315"/>
            <a:ext cx="11040076" cy="4877331"/>
          </a:xfrm>
        </p:spPr>
        <p:txBody>
          <a:bodyPr/>
          <a:lstStyle/>
          <a:p>
            <a:pPr marL="0" indent="0" algn="l"/>
            <a:r>
              <a:rPr lang="en-US" sz="2133" dirty="0">
                <a:solidFill>
                  <a:srgbClr val="000000"/>
                </a:solidFill>
              </a:rPr>
              <a:t>Two of the most basic settings on a switch are the bandwidth (“speed”) and duplex settings for each individual switch port. It is critical that the duplex and bandwidth settings match between the switch port and the connected devices.</a:t>
            </a:r>
          </a:p>
          <a:p>
            <a:pPr marL="0" indent="0" algn="l"/>
            <a:endParaRPr lang="en-US" sz="2133" dirty="0">
              <a:solidFill>
                <a:srgbClr val="000000"/>
              </a:solidFill>
            </a:endParaRPr>
          </a:p>
          <a:p>
            <a:pPr marL="0" indent="0" algn="l"/>
            <a:r>
              <a:rPr lang="en-US" sz="2133" dirty="0">
                <a:solidFill>
                  <a:srgbClr val="000000"/>
                </a:solidFill>
              </a:rPr>
              <a:t>There are two types of duplex settings used for communications on an Ethernet network:</a:t>
            </a:r>
          </a:p>
          <a:p>
            <a:pPr marL="478435" lvl="1" indent="-380990"/>
            <a:r>
              <a:rPr lang="en-US" sz="2133" b="1" dirty="0">
                <a:solidFill>
                  <a:srgbClr val="000000"/>
                </a:solidFill>
              </a:rPr>
              <a:t>Full-duplex</a:t>
            </a:r>
            <a:r>
              <a:rPr lang="en-US" sz="2133" dirty="0">
                <a:solidFill>
                  <a:srgbClr val="000000"/>
                </a:solidFill>
              </a:rPr>
              <a:t> - Both ends of the connection can send and receive simultaneously.</a:t>
            </a:r>
          </a:p>
          <a:p>
            <a:pPr marL="478435" lvl="1" indent="-380990"/>
            <a:r>
              <a:rPr lang="en-US" sz="2133" b="1" dirty="0">
                <a:solidFill>
                  <a:srgbClr val="000000"/>
                </a:solidFill>
              </a:rPr>
              <a:t>Half-duplex</a:t>
            </a:r>
            <a:r>
              <a:rPr lang="en-US" sz="2133" dirty="0">
                <a:solidFill>
                  <a:srgbClr val="000000"/>
                </a:solidFill>
              </a:rPr>
              <a:t> - Only one end of the connection can send at a time.</a:t>
            </a:r>
          </a:p>
          <a:p>
            <a:pPr marL="0" indent="0" algn="l"/>
            <a:endParaRPr lang="en-US" sz="2133" dirty="0">
              <a:solidFill>
                <a:srgbClr val="000000"/>
              </a:solidFill>
            </a:endParaRPr>
          </a:p>
          <a:p>
            <a:pPr marL="0" indent="0" algn="l"/>
            <a:r>
              <a:rPr lang="en-US" sz="2133" dirty="0">
                <a:solidFill>
                  <a:srgbClr val="000000"/>
                </a:solidFill>
              </a:rPr>
              <a:t>Autonegotiation is an optional function found on most Ethernet switches and NICs. It enables two devices to automatically negotiate the best speed and duplex capabilities.</a:t>
            </a:r>
          </a:p>
          <a:p>
            <a:pPr marL="0" indent="0" algn="l"/>
            <a:endParaRPr lang="en-US" sz="2133" b="1" dirty="0">
              <a:solidFill>
                <a:srgbClr val="000000"/>
              </a:solidFill>
            </a:endParaRPr>
          </a:p>
          <a:p>
            <a:pPr marL="0" indent="0" algn="l"/>
            <a:r>
              <a:rPr lang="en-US" sz="2133" b="1" dirty="0">
                <a:solidFill>
                  <a:srgbClr val="000000"/>
                </a:solidFill>
              </a:rPr>
              <a:t>Note</a:t>
            </a:r>
            <a:r>
              <a:rPr lang="en-US" sz="2133" dirty="0">
                <a:solidFill>
                  <a:srgbClr val="000000"/>
                </a:solidFill>
              </a:rPr>
              <a:t>: Gigabit Ethernet ports only operate in full-duplex. </a:t>
            </a:r>
          </a:p>
        </p:txBody>
      </p:sp>
    </p:spTree>
    <p:extLst>
      <p:ext uri="{BB962C8B-B14F-4D97-AF65-F5344CB8AC3E}">
        <p14:creationId xmlns:p14="http://schemas.microsoft.com/office/powerpoint/2010/main" val="405540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42533"/>
            <a:ext cx="11127317" cy="975783"/>
          </a:xfrm>
        </p:spPr>
        <p:txBody>
          <a:bodyPr>
            <a:normAutofit/>
          </a:bodyPr>
          <a:lstStyle/>
          <a:p>
            <a:pPr algn="ctr"/>
            <a:r>
              <a:rPr lang="en-US" dirty="0">
                <a:solidFill>
                  <a:schemeClr val="tx1"/>
                </a:solidFill>
              </a:rPr>
              <a:t>Duplex and Speed Settings</a:t>
            </a:r>
          </a:p>
        </p:txBody>
      </p:sp>
      <p:sp>
        <p:nvSpPr>
          <p:cNvPr id="5" name="Content Placeholder 4">
            <a:extLst>
              <a:ext uri="{FF2B5EF4-FFF2-40B4-BE49-F238E27FC236}">
                <a16:creationId xmlns:a16="http://schemas.microsoft.com/office/drawing/2014/main" id="{EAF5B935-3345-4044-9B1C-FFAA3841A95F}"/>
              </a:ext>
            </a:extLst>
          </p:cNvPr>
          <p:cNvSpPr>
            <a:spLocks noGrp="1"/>
          </p:cNvSpPr>
          <p:nvPr>
            <p:ph idx="1"/>
          </p:nvPr>
        </p:nvSpPr>
        <p:spPr>
          <a:xfrm>
            <a:off x="632883" y="1018315"/>
            <a:ext cx="11040076" cy="2853677"/>
          </a:xfrm>
        </p:spPr>
        <p:txBody>
          <a:bodyPr/>
          <a:lstStyle/>
          <a:p>
            <a:pPr marL="457189" indent="-457189" algn="l">
              <a:buFont typeface="Arial" panose="020B0604020202020204" pitchFamily="34" charset="0"/>
              <a:buChar char="•"/>
            </a:pPr>
            <a:r>
              <a:rPr lang="en-US" sz="2133" dirty="0">
                <a:solidFill>
                  <a:srgbClr val="000000"/>
                </a:solidFill>
              </a:rPr>
              <a:t>Duplex mismatch is one of the most common causes of performance issues on 10/100 Mbps Ethernet links. It occurs when one port on the link operates at half-duplex while the other port operates at full-duplex.</a:t>
            </a:r>
          </a:p>
          <a:p>
            <a:pPr marL="457189" indent="-457189" algn="l">
              <a:buFont typeface="Arial" panose="020B0604020202020204" pitchFamily="34" charset="0"/>
              <a:buChar char="•"/>
            </a:pPr>
            <a:r>
              <a:rPr lang="en-US" sz="2133" dirty="0">
                <a:solidFill>
                  <a:srgbClr val="000000"/>
                </a:solidFill>
              </a:rPr>
              <a:t>This can occur when one or both ports on a link are reset, and the autonegotiation process does not result in both link partners having the same configuration. </a:t>
            </a:r>
          </a:p>
          <a:p>
            <a:pPr marL="457189" indent="-457189" algn="l">
              <a:buFont typeface="Arial" panose="020B0604020202020204" pitchFamily="34" charset="0"/>
              <a:buChar char="•"/>
            </a:pPr>
            <a:r>
              <a:rPr lang="en-US" sz="2133" dirty="0">
                <a:solidFill>
                  <a:srgbClr val="000000"/>
                </a:solidFill>
              </a:rPr>
              <a:t>It also can occur when users reconfigure one side of a link and forget to reconfigure the other. Both sides of a link should have autonegotiation on, or both sides should have it off. Best practice is to configure both Ethernet switch ports as full-duplex.</a:t>
            </a:r>
          </a:p>
        </p:txBody>
      </p:sp>
      <p:pic>
        <p:nvPicPr>
          <p:cNvPr id="7" name="Picture 6">
            <a:extLst>
              <a:ext uri="{FF2B5EF4-FFF2-40B4-BE49-F238E27FC236}">
                <a16:creationId xmlns:a16="http://schemas.microsoft.com/office/drawing/2014/main" id="{E391F5F5-84B2-074A-ADD6-27895E0506BE}"/>
              </a:ext>
            </a:extLst>
          </p:cNvPr>
          <p:cNvPicPr>
            <a:picLocks noChangeAspect="1"/>
          </p:cNvPicPr>
          <p:nvPr/>
        </p:nvPicPr>
        <p:blipFill>
          <a:blip r:embed="rId3"/>
          <a:stretch>
            <a:fillRect/>
          </a:stretch>
        </p:blipFill>
        <p:spPr>
          <a:xfrm>
            <a:off x="1614273" y="3986292"/>
            <a:ext cx="8963455" cy="2259083"/>
          </a:xfrm>
          <a:prstGeom prst="rect">
            <a:avLst/>
          </a:prstGeom>
        </p:spPr>
      </p:pic>
    </p:spTree>
    <p:extLst>
      <p:ext uri="{BB962C8B-B14F-4D97-AF65-F5344CB8AC3E}">
        <p14:creationId xmlns:p14="http://schemas.microsoft.com/office/powerpoint/2010/main" val="383320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42533"/>
            <a:ext cx="11127317" cy="975783"/>
          </a:xfrm>
        </p:spPr>
        <p:txBody>
          <a:bodyPr>
            <a:normAutofit/>
          </a:bodyPr>
          <a:lstStyle/>
          <a:p>
            <a:r>
              <a:rPr lang="en-US" dirty="0">
                <a:solidFill>
                  <a:schemeClr val="tx1"/>
                </a:solidFill>
              </a:rPr>
              <a:t>Auto-MDIX</a:t>
            </a:r>
          </a:p>
        </p:txBody>
      </p:sp>
      <p:sp>
        <p:nvSpPr>
          <p:cNvPr id="4" name="Content Placeholder 3">
            <a:extLst>
              <a:ext uri="{FF2B5EF4-FFF2-40B4-BE49-F238E27FC236}">
                <a16:creationId xmlns:a16="http://schemas.microsoft.com/office/drawing/2014/main" id="{1F3CA7BB-7E7C-7149-9859-4AA0DDEC8CC4}"/>
              </a:ext>
            </a:extLst>
          </p:cNvPr>
          <p:cNvSpPr>
            <a:spLocks noGrp="1"/>
          </p:cNvSpPr>
          <p:nvPr>
            <p:ph idx="1"/>
          </p:nvPr>
        </p:nvSpPr>
        <p:spPr>
          <a:xfrm>
            <a:off x="87241" y="1018316"/>
            <a:ext cx="6008759" cy="5623784"/>
          </a:xfrm>
        </p:spPr>
        <p:txBody>
          <a:bodyPr/>
          <a:lstStyle/>
          <a:p>
            <a:pPr marL="0" indent="0" algn="l"/>
            <a:r>
              <a:rPr lang="en-US" sz="2000" dirty="0">
                <a:solidFill>
                  <a:srgbClr val="000000"/>
                </a:solidFill>
              </a:rPr>
              <a:t>Connections between devices once required the use of either a crossover or straight-through cable. The type of cable required depended on the type of interconnecting devices.</a:t>
            </a:r>
          </a:p>
          <a:p>
            <a:pPr marL="0" indent="0" algn="l"/>
            <a:r>
              <a:rPr lang="en-US" sz="2000" b="1" dirty="0">
                <a:solidFill>
                  <a:srgbClr val="000000"/>
                </a:solidFill>
              </a:rPr>
              <a:t>Note</a:t>
            </a:r>
            <a:r>
              <a:rPr lang="en-US" sz="2000" dirty="0">
                <a:solidFill>
                  <a:srgbClr val="000000"/>
                </a:solidFill>
              </a:rPr>
              <a:t>: A direct connection between a router and a host requires a cross-over connection.</a:t>
            </a:r>
          </a:p>
          <a:p>
            <a:pPr marL="380990" indent="-380990" algn="l">
              <a:buFont typeface="Arial" panose="020B0604020202020204" pitchFamily="34" charset="0"/>
              <a:buChar char="•"/>
            </a:pPr>
            <a:r>
              <a:rPr lang="en-US" sz="1800" dirty="0">
                <a:solidFill>
                  <a:srgbClr val="000000"/>
                </a:solidFill>
              </a:rPr>
              <a:t>Most switch devices now support the automatic medium-dependent interface crossover (auto-MDIX) feature. When enabled, the switch automatically detects the type of cable attached to the port and configures the interfaces accordingly. </a:t>
            </a:r>
          </a:p>
          <a:p>
            <a:pPr marL="380990" indent="-380990" algn="l">
              <a:buFont typeface="Arial" panose="020B0604020202020204" pitchFamily="34" charset="0"/>
              <a:buChar char="•"/>
            </a:pPr>
            <a:r>
              <a:rPr lang="en-US" sz="1800" dirty="0">
                <a:solidFill>
                  <a:srgbClr val="000000"/>
                </a:solidFill>
              </a:rPr>
              <a:t>The auto-MDIX feature is enabled by default on switches running Cisco IOS Release 12.2(18)SE or later. However, the feature could be disabled. For this reason, you should always use the correct cable type and not rely on the auto-MDIX feature. </a:t>
            </a:r>
          </a:p>
          <a:p>
            <a:pPr marL="380990" indent="-380990" algn="l">
              <a:buFont typeface="Arial" panose="020B0604020202020204" pitchFamily="34" charset="0"/>
              <a:buChar char="•"/>
            </a:pPr>
            <a:r>
              <a:rPr lang="en-US" sz="1800" dirty="0">
                <a:solidFill>
                  <a:srgbClr val="000000"/>
                </a:solidFill>
              </a:rPr>
              <a:t>Auto-MDIX can be re-enabled using the </a:t>
            </a:r>
            <a:r>
              <a:rPr lang="en-US" sz="1800" b="1" dirty="0">
                <a:solidFill>
                  <a:srgbClr val="000000"/>
                </a:solidFill>
              </a:rPr>
              <a:t>mdix auto</a:t>
            </a:r>
            <a:r>
              <a:rPr lang="en-US" sz="1800" dirty="0">
                <a:solidFill>
                  <a:srgbClr val="000000"/>
                </a:solidFill>
              </a:rPr>
              <a:t> interface configuration command.</a:t>
            </a:r>
          </a:p>
        </p:txBody>
      </p:sp>
      <p:pic>
        <p:nvPicPr>
          <p:cNvPr id="6" name="Picture 5">
            <a:extLst>
              <a:ext uri="{FF2B5EF4-FFF2-40B4-BE49-F238E27FC236}">
                <a16:creationId xmlns:a16="http://schemas.microsoft.com/office/drawing/2014/main" id="{99D18851-2817-42AB-A78F-8857B8DFB99F}"/>
              </a:ext>
            </a:extLst>
          </p:cNvPr>
          <p:cNvPicPr>
            <a:picLocks noChangeAspect="1"/>
          </p:cNvPicPr>
          <p:nvPr/>
        </p:nvPicPr>
        <p:blipFill>
          <a:blip r:embed="rId3"/>
          <a:stretch>
            <a:fillRect/>
          </a:stretch>
        </p:blipFill>
        <p:spPr>
          <a:xfrm>
            <a:off x="6285440" y="1018316"/>
            <a:ext cx="5648254" cy="4480784"/>
          </a:xfrm>
          <a:prstGeom prst="rect">
            <a:avLst/>
          </a:prstGeom>
        </p:spPr>
      </p:pic>
    </p:spTree>
    <p:extLst>
      <p:ext uri="{BB962C8B-B14F-4D97-AF65-F5344CB8AC3E}">
        <p14:creationId xmlns:p14="http://schemas.microsoft.com/office/powerpoint/2010/main" val="107653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868EA-76A6-4643-8E84-CB6FE25350C9}"/>
              </a:ext>
            </a:extLst>
          </p:cNvPr>
          <p:cNvSpPr>
            <a:spLocks noGrp="1"/>
          </p:cNvSpPr>
          <p:nvPr>
            <p:ph type="title"/>
          </p:nvPr>
        </p:nvSpPr>
        <p:spPr/>
        <p:txBody>
          <a:bodyPr/>
          <a:lstStyle/>
          <a:p>
            <a:r>
              <a:rPr lang="en-IE" dirty="0"/>
              <a:t>Key Points</a:t>
            </a:r>
          </a:p>
        </p:txBody>
      </p:sp>
      <p:sp>
        <p:nvSpPr>
          <p:cNvPr id="3" name="Content Placeholder 2">
            <a:extLst>
              <a:ext uri="{FF2B5EF4-FFF2-40B4-BE49-F238E27FC236}">
                <a16:creationId xmlns:a16="http://schemas.microsoft.com/office/drawing/2014/main" id="{26356DAE-1877-4F5C-8C7A-B3B3693586CE}"/>
              </a:ext>
            </a:extLst>
          </p:cNvPr>
          <p:cNvSpPr>
            <a:spLocks noGrp="1"/>
          </p:cNvSpPr>
          <p:nvPr>
            <p:ph idx="1"/>
          </p:nvPr>
        </p:nvSpPr>
        <p:spPr/>
        <p:txBody>
          <a:bodyPr/>
          <a:lstStyle/>
          <a:p>
            <a:r>
              <a:rPr lang="en-IE" dirty="0"/>
              <a:t>Data Link MAC Addresses - “Physical” address assigned to network interface. </a:t>
            </a:r>
          </a:p>
          <a:p>
            <a:r>
              <a:rPr lang="en-IE" dirty="0"/>
              <a:t>Switched Ethernet now standard practice (no more hubs)</a:t>
            </a:r>
          </a:p>
          <a:p>
            <a:r>
              <a:rPr lang="en-IE" dirty="0"/>
              <a:t>Switch Mac Address Table</a:t>
            </a:r>
          </a:p>
          <a:p>
            <a:pPr lvl="1"/>
            <a:r>
              <a:rPr lang="en-IE" dirty="0"/>
              <a:t>Uses MAC addresses to Forward Ethernet Frames to Destination.  </a:t>
            </a:r>
          </a:p>
        </p:txBody>
      </p:sp>
    </p:spTree>
    <p:extLst>
      <p:ext uri="{BB962C8B-B14F-4D97-AF65-F5344CB8AC3E}">
        <p14:creationId xmlns:p14="http://schemas.microsoft.com/office/powerpoint/2010/main" val="4193769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8E46-89B0-39E4-DA91-CF4840A49ABC}"/>
              </a:ext>
            </a:extLst>
          </p:cNvPr>
          <p:cNvSpPr>
            <a:spLocks noGrp="1"/>
          </p:cNvSpPr>
          <p:nvPr>
            <p:ph type="title"/>
          </p:nvPr>
        </p:nvSpPr>
        <p:spPr/>
        <p:txBody>
          <a:bodyPr/>
          <a:lstStyle/>
          <a:p>
            <a:r>
              <a:rPr lang="en-IE" dirty="0"/>
              <a:t>ARP</a:t>
            </a:r>
          </a:p>
        </p:txBody>
      </p:sp>
      <p:sp>
        <p:nvSpPr>
          <p:cNvPr id="3" name="Text Placeholder 2">
            <a:extLst>
              <a:ext uri="{FF2B5EF4-FFF2-40B4-BE49-F238E27FC236}">
                <a16:creationId xmlns:a16="http://schemas.microsoft.com/office/drawing/2014/main" id="{237494AF-1D91-FDD9-5D2C-7E52EEBC29FE}"/>
              </a:ext>
            </a:extLst>
          </p:cNvPr>
          <p:cNvSpPr>
            <a:spLocks noGrp="1"/>
          </p:cNvSpPr>
          <p:nvPr>
            <p:ph type="body" idx="1"/>
          </p:nvPr>
        </p:nvSpPr>
        <p:spPr/>
        <p:txBody>
          <a:bodyPr/>
          <a:lstStyle/>
          <a:p>
            <a:r>
              <a:rPr lang="en-IE" dirty="0"/>
              <a:t>Address </a:t>
            </a:r>
            <a:r>
              <a:rPr lang="en-IE"/>
              <a:t>resolution protocol</a:t>
            </a:r>
          </a:p>
        </p:txBody>
      </p:sp>
    </p:spTree>
    <p:extLst>
      <p:ext uri="{BB962C8B-B14F-4D97-AF65-F5344CB8AC3E}">
        <p14:creationId xmlns:p14="http://schemas.microsoft.com/office/powerpoint/2010/main" val="2122949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44379-AEA0-4BD8-8DC7-A405D443C6EF}"/>
              </a:ext>
            </a:extLst>
          </p:cNvPr>
          <p:cNvSpPr>
            <a:spLocks noGrp="1"/>
          </p:cNvSpPr>
          <p:nvPr>
            <p:ph type="title"/>
          </p:nvPr>
        </p:nvSpPr>
        <p:spPr>
          <a:xfrm>
            <a:off x="634039" y="116788"/>
            <a:ext cx="10515600" cy="914149"/>
          </a:xfrm>
        </p:spPr>
        <p:txBody>
          <a:bodyPr/>
          <a:lstStyle/>
          <a:p>
            <a:r>
              <a:rPr lang="en-IE" dirty="0"/>
              <a:t>Introduction to ARP</a:t>
            </a:r>
          </a:p>
        </p:txBody>
      </p:sp>
      <p:pic>
        <p:nvPicPr>
          <p:cNvPr id="4" name="Picture 3" descr="A close up of a logo&#10;&#10;Description generated with very high confidence">
            <a:extLst>
              <a:ext uri="{FF2B5EF4-FFF2-40B4-BE49-F238E27FC236}">
                <a16:creationId xmlns:a16="http://schemas.microsoft.com/office/drawing/2014/main" id="{4B31A092-0CAB-4D31-AFE4-E66A336E8B13}"/>
              </a:ext>
            </a:extLst>
          </p:cNvPr>
          <p:cNvPicPr>
            <a:picLocks noChangeAspect="1"/>
          </p:cNvPicPr>
          <p:nvPr/>
        </p:nvPicPr>
        <p:blipFill>
          <a:blip r:embed="rId2"/>
          <a:stretch>
            <a:fillRect/>
          </a:stretch>
        </p:blipFill>
        <p:spPr>
          <a:xfrm>
            <a:off x="3505876" y="2707085"/>
            <a:ext cx="1192307" cy="1192307"/>
          </a:xfrm>
          <a:prstGeom prst="rect">
            <a:avLst/>
          </a:prstGeom>
        </p:spPr>
      </p:pic>
      <p:pic>
        <p:nvPicPr>
          <p:cNvPr id="5" name="Picture 4">
            <a:extLst>
              <a:ext uri="{FF2B5EF4-FFF2-40B4-BE49-F238E27FC236}">
                <a16:creationId xmlns:a16="http://schemas.microsoft.com/office/drawing/2014/main" id="{D9BF4EC6-BC30-48DE-A2B4-A67745C89102}"/>
              </a:ext>
            </a:extLst>
          </p:cNvPr>
          <p:cNvPicPr>
            <a:picLocks noChangeAspect="1"/>
          </p:cNvPicPr>
          <p:nvPr/>
        </p:nvPicPr>
        <p:blipFill>
          <a:blip r:embed="rId3"/>
          <a:stretch>
            <a:fillRect/>
          </a:stretch>
        </p:blipFill>
        <p:spPr>
          <a:xfrm>
            <a:off x="5745552" y="4021347"/>
            <a:ext cx="1333500" cy="914400"/>
          </a:xfrm>
          <a:prstGeom prst="rect">
            <a:avLst/>
          </a:prstGeom>
        </p:spPr>
      </p:pic>
      <p:pic>
        <p:nvPicPr>
          <p:cNvPr id="6" name="Picture 5" descr="A close up of a logo&#10;&#10;Description generated with very high confidence">
            <a:extLst>
              <a:ext uri="{FF2B5EF4-FFF2-40B4-BE49-F238E27FC236}">
                <a16:creationId xmlns:a16="http://schemas.microsoft.com/office/drawing/2014/main" id="{1137ACC1-E712-4E8B-9D88-9C4530579461}"/>
              </a:ext>
            </a:extLst>
          </p:cNvPr>
          <p:cNvPicPr>
            <a:picLocks noChangeAspect="1"/>
          </p:cNvPicPr>
          <p:nvPr/>
        </p:nvPicPr>
        <p:blipFill>
          <a:blip r:embed="rId2"/>
          <a:stretch>
            <a:fillRect/>
          </a:stretch>
        </p:blipFill>
        <p:spPr>
          <a:xfrm>
            <a:off x="3577762" y="3914784"/>
            <a:ext cx="1192307" cy="1192307"/>
          </a:xfrm>
          <a:prstGeom prst="rect">
            <a:avLst/>
          </a:prstGeom>
        </p:spPr>
      </p:pic>
      <p:pic>
        <p:nvPicPr>
          <p:cNvPr id="7" name="Picture 6" descr="A close up of a logo&#10;&#10;Description generated with very high confidence">
            <a:extLst>
              <a:ext uri="{FF2B5EF4-FFF2-40B4-BE49-F238E27FC236}">
                <a16:creationId xmlns:a16="http://schemas.microsoft.com/office/drawing/2014/main" id="{6CE76988-8AA2-4D10-8564-BD9F55AE0F20}"/>
              </a:ext>
            </a:extLst>
          </p:cNvPr>
          <p:cNvPicPr>
            <a:picLocks noChangeAspect="1"/>
          </p:cNvPicPr>
          <p:nvPr/>
        </p:nvPicPr>
        <p:blipFill>
          <a:blip r:embed="rId2"/>
          <a:stretch>
            <a:fillRect/>
          </a:stretch>
        </p:blipFill>
        <p:spPr>
          <a:xfrm>
            <a:off x="3577763" y="5251878"/>
            <a:ext cx="1192307" cy="1192307"/>
          </a:xfrm>
          <a:prstGeom prst="rect">
            <a:avLst/>
          </a:prstGeom>
        </p:spPr>
      </p:pic>
      <p:sp>
        <p:nvSpPr>
          <p:cNvPr id="8" name="TextBox 5">
            <a:extLst>
              <a:ext uri="{FF2B5EF4-FFF2-40B4-BE49-F238E27FC236}">
                <a16:creationId xmlns:a16="http://schemas.microsoft.com/office/drawing/2014/main" id="{D046B521-EC23-40B5-802D-F0C0D026B17F}"/>
              </a:ext>
            </a:extLst>
          </p:cNvPr>
          <p:cNvSpPr txBox="1"/>
          <p:nvPr/>
        </p:nvSpPr>
        <p:spPr>
          <a:xfrm>
            <a:off x="2740325" y="3653286"/>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192.168.1.21</a:t>
            </a:r>
          </a:p>
        </p:txBody>
      </p:sp>
      <p:sp>
        <p:nvSpPr>
          <p:cNvPr id="9" name="TextBox 6">
            <a:extLst>
              <a:ext uri="{FF2B5EF4-FFF2-40B4-BE49-F238E27FC236}">
                <a16:creationId xmlns:a16="http://schemas.microsoft.com/office/drawing/2014/main" id="{D21DFF16-E64D-4978-A0B0-86E13225D4CB}"/>
              </a:ext>
            </a:extLst>
          </p:cNvPr>
          <p:cNvSpPr txBox="1"/>
          <p:nvPr/>
        </p:nvSpPr>
        <p:spPr>
          <a:xfrm>
            <a:off x="2740324" y="4918493"/>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192.168.1.101</a:t>
            </a:r>
          </a:p>
        </p:txBody>
      </p:sp>
      <p:sp>
        <p:nvSpPr>
          <p:cNvPr id="10" name="TextBox 7">
            <a:extLst>
              <a:ext uri="{FF2B5EF4-FFF2-40B4-BE49-F238E27FC236}">
                <a16:creationId xmlns:a16="http://schemas.microsoft.com/office/drawing/2014/main" id="{48FA36E8-74F5-4CCD-A9FF-88BA6926EB6D}"/>
              </a:ext>
            </a:extLst>
          </p:cNvPr>
          <p:cNvSpPr txBox="1"/>
          <p:nvPr/>
        </p:nvSpPr>
        <p:spPr>
          <a:xfrm>
            <a:off x="2740325" y="6255587"/>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192.168.1.88</a:t>
            </a:r>
          </a:p>
        </p:txBody>
      </p:sp>
      <p:cxnSp>
        <p:nvCxnSpPr>
          <p:cNvPr id="11" name="Straight Arrow Connector 10">
            <a:extLst>
              <a:ext uri="{FF2B5EF4-FFF2-40B4-BE49-F238E27FC236}">
                <a16:creationId xmlns:a16="http://schemas.microsoft.com/office/drawing/2014/main" id="{321B4575-A8A0-44B7-A1A3-9BC8020FC0F2}"/>
              </a:ext>
            </a:extLst>
          </p:cNvPr>
          <p:cNvCxnSpPr/>
          <p:nvPr/>
        </p:nvCxnSpPr>
        <p:spPr>
          <a:xfrm>
            <a:off x="4618008" y="3654725"/>
            <a:ext cx="1230700" cy="1015039"/>
          </a:xfrm>
          <a:prstGeom prst="straightConnector1">
            <a:avLst/>
          </a:prstGeom>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629858E0-5681-4577-850C-3784FDC20598}"/>
              </a:ext>
            </a:extLst>
          </p:cNvPr>
          <p:cNvCxnSpPr>
            <a:cxnSpLocks/>
          </p:cNvCxnSpPr>
          <p:nvPr/>
        </p:nvCxnSpPr>
        <p:spPr>
          <a:xfrm>
            <a:off x="4574876" y="4632383"/>
            <a:ext cx="1316963" cy="8626"/>
          </a:xfrm>
          <a:prstGeom prst="straightConnector1">
            <a:avLst/>
          </a:prstGeom>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8599B7B8-4A71-44A1-9662-7DE9447CBA87}"/>
              </a:ext>
            </a:extLst>
          </p:cNvPr>
          <p:cNvCxnSpPr>
            <a:cxnSpLocks/>
          </p:cNvCxnSpPr>
          <p:nvPr/>
        </p:nvCxnSpPr>
        <p:spPr>
          <a:xfrm flipV="1">
            <a:off x="4517366" y="4669765"/>
            <a:ext cx="1316964" cy="1170317"/>
          </a:xfrm>
          <a:prstGeom prst="straightConnector1">
            <a:avLst/>
          </a:prstGeom>
        </p:spPr>
        <p:style>
          <a:lnRef idx="1">
            <a:schemeClr val="dk1"/>
          </a:lnRef>
          <a:fillRef idx="0">
            <a:schemeClr val="dk1"/>
          </a:fillRef>
          <a:effectRef idx="0">
            <a:schemeClr val="dk1"/>
          </a:effectRef>
          <a:fontRef idx="minor">
            <a:schemeClr val="tx1"/>
          </a:fontRef>
        </p:style>
      </p:cxnSp>
      <p:sp>
        <p:nvSpPr>
          <p:cNvPr id="14" name="Speech Bubble: Rectangle 13">
            <a:extLst>
              <a:ext uri="{FF2B5EF4-FFF2-40B4-BE49-F238E27FC236}">
                <a16:creationId xmlns:a16="http://schemas.microsoft.com/office/drawing/2014/main" id="{F59869AB-5265-46DD-9B43-A9083EFAA5BB}"/>
              </a:ext>
            </a:extLst>
          </p:cNvPr>
          <p:cNvSpPr/>
          <p:nvPr/>
        </p:nvSpPr>
        <p:spPr>
          <a:xfrm>
            <a:off x="4698183" y="1446442"/>
            <a:ext cx="4940059" cy="1245251"/>
          </a:xfrm>
          <a:prstGeom prst="wedgeRectCallout">
            <a:avLst>
              <a:gd name="adj1" fmla="val -53561"/>
              <a:gd name="adj2" fmla="val 92298"/>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I need to send a message to </a:t>
            </a:r>
            <a:r>
              <a:rPr lang="en-US" b="1" dirty="0">
                <a:cs typeface="Calibri"/>
              </a:rPr>
              <a:t>192.168.1.88</a:t>
            </a:r>
            <a:r>
              <a:rPr lang="en-US" dirty="0">
                <a:cs typeface="Calibri"/>
              </a:rPr>
              <a:t> but I don’t have  a MAC address of the device that has that has that IP.</a:t>
            </a:r>
            <a:endParaRPr lang="en-US" dirty="0"/>
          </a:p>
        </p:txBody>
      </p:sp>
    </p:spTree>
    <p:extLst>
      <p:ext uri="{BB962C8B-B14F-4D97-AF65-F5344CB8AC3E}">
        <p14:creationId xmlns:p14="http://schemas.microsoft.com/office/powerpoint/2010/main" val="194068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77724-58DA-403E-82D0-D52D167F3658}"/>
              </a:ext>
            </a:extLst>
          </p:cNvPr>
          <p:cNvSpPr>
            <a:spLocks noGrp="1"/>
          </p:cNvSpPr>
          <p:nvPr>
            <p:ph type="title"/>
          </p:nvPr>
        </p:nvSpPr>
        <p:spPr>
          <a:xfrm>
            <a:off x="694426" y="77578"/>
            <a:ext cx="10515600" cy="611817"/>
          </a:xfrm>
        </p:spPr>
        <p:txBody>
          <a:bodyPr>
            <a:normAutofit fontScale="90000"/>
          </a:bodyPr>
          <a:lstStyle/>
          <a:p>
            <a:r>
              <a:rPr lang="en-US" dirty="0">
                <a:cs typeface="Calibri Light"/>
              </a:rPr>
              <a:t>ARP Conversation</a:t>
            </a:r>
            <a:endParaRPr lang="en-US" dirty="0"/>
          </a:p>
        </p:txBody>
      </p:sp>
      <p:pic>
        <p:nvPicPr>
          <p:cNvPr id="5" name="Picture 4" descr="A close up of a logo&#10;&#10;Description generated with very high confidence">
            <a:extLst>
              <a:ext uri="{FF2B5EF4-FFF2-40B4-BE49-F238E27FC236}">
                <a16:creationId xmlns:a16="http://schemas.microsoft.com/office/drawing/2014/main" id="{DE9CF652-D168-42E8-A2CA-555595D91AA3}"/>
              </a:ext>
            </a:extLst>
          </p:cNvPr>
          <p:cNvPicPr>
            <a:picLocks noChangeAspect="1"/>
          </p:cNvPicPr>
          <p:nvPr/>
        </p:nvPicPr>
        <p:blipFill>
          <a:blip r:embed="rId2"/>
          <a:stretch>
            <a:fillRect/>
          </a:stretch>
        </p:blipFill>
        <p:spPr>
          <a:xfrm>
            <a:off x="3232706" y="2491425"/>
            <a:ext cx="1192307" cy="1192307"/>
          </a:xfrm>
          <a:prstGeom prst="rect">
            <a:avLst/>
          </a:prstGeom>
        </p:spPr>
      </p:pic>
      <p:pic>
        <p:nvPicPr>
          <p:cNvPr id="7" name="Picture 6">
            <a:extLst>
              <a:ext uri="{FF2B5EF4-FFF2-40B4-BE49-F238E27FC236}">
                <a16:creationId xmlns:a16="http://schemas.microsoft.com/office/drawing/2014/main" id="{F861248A-398F-466B-8CBE-8A33DA0C0D77}"/>
              </a:ext>
            </a:extLst>
          </p:cNvPr>
          <p:cNvPicPr>
            <a:picLocks noChangeAspect="1"/>
          </p:cNvPicPr>
          <p:nvPr/>
        </p:nvPicPr>
        <p:blipFill>
          <a:blip r:embed="rId3"/>
          <a:stretch>
            <a:fillRect/>
          </a:stretch>
        </p:blipFill>
        <p:spPr>
          <a:xfrm>
            <a:off x="5472382" y="3805687"/>
            <a:ext cx="1333500" cy="914400"/>
          </a:xfrm>
          <a:prstGeom prst="rect">
            <a:avLst/>
          </a:prstGeom>
        </p:spPr>
      </p:pic>
      <p:pic>
        <p:nvPicPr>
          <p:cNvPr id="9" name="Picture 8" descr="A close up of a logo&#10;&#10;Description generated with very high confidence">
            <a:extLst>
              <a:ext uri="{FF2B5EF4-FFF2-40B4-BE49-F238E27FC236}">
                <a16:creationId xmlns:a16="http://schemas.microsoft.com/office/drawing/2014/main" id="{31F07E01-D7C1-4761-B72A-B62838FD5227}"/>
              </a:ext>
            </a:extLst>
          </p:cNvPr>
          <p:cNvPicPr>
            <a:picLocks noChangeAspect="1"/>
          </p:cNvPicPr>
          <p:nvPr/>
        </p:nvPicPr>
        <p:blipFill>
          <a:blip r:embed="rId2"/>
          <a:stretch>
            <a:fillRect/>
          </a:stretch>
        </p:blipFill>
        <p:spPr>
          <a:xfrm>
            <a:off x="3304592" y="3699124"/>
            <a:ext cx="1192307" cy="1192307"/>
          </a:xfrm>
          <a:prstGeom prst="rect">
            <a:avLst/>
          </a:prstGeom>
        </p:spPr>
      </p:pic>
      <p:pic>
        <p:nvPicPr>
          <p:cNvPr id="11" name="Picture 10" descr="A close up of a logo&#10;&#10;Description generated with very high confidence">
            <a:extLst>
              <a:ext uri="{FF2B5EF4-FFF2-40B4-BE49-F238E27FC236}">
                <a16:creationId xmlns:a16="http://schemas.microsoft.com/office/drawing/2014/main" id="{B33C818F-DAB1-4549-8118-2B8DCD625BDF}"/>
              </a:ext>
            </a:extLst>
          </p:cNvPr>
          <p:cNvPicPr>
            <a:picLocks noChangeAspect="1"/>
          </p:cNvPicPr>
          <p:nvPr/>
        </p:nvPicPr>
        <p:blipFill>
          <a:blip r:embed="rId2"/>
          <a:stretch>
            <a:fillRect/>
          </a:stretch>
        </p:blipFill>
        <p:spPr>
          <a:xfrm>
            <a:off x="3304593" y="5036218"/>
            <a:ext cx="1192307" cy="1192307"/>
          </a:xfrm>
          <a:prstGeom prst="rect">
            <a:avLst/>
          </a:prstGeom>
        </p:spPr>
      </p:pic>
      <p:sp>
        <p:nvSpPr>
          <p:cNvPr id="13" name="TextBox 5">
            <a:extLst>
              <a:ext uri="{FF2B5EF4-FFF2-40B4-BE49-F238E27FC236}">
                <a16:creationId xmlns:a16="http://schemas.microsoft.com/office/drawing/2014/main" id="{87547049-8B5B-4627-93EC-F514FE5BF9E3}"/>
              </a:ext>
            </a:extLst>
          </p:cNvPr>
          <p:cNvSpPr txBox="1"/>
          <p:nvPr/>
        </p:nvSpPr>
        <p:spPr>
          <a:xfrm>
            <a:off x="2529145" y="3487067"/>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192.168.1.21</a:t>
            </a:r>
          </a:p>
        </p:txBody>
      </p:sp>
      <p:sp>
        <p:nvSpPr>
          <p:cNvPr id="15" name="TextBox 6">
            <a:extLst>
              <a:ext uri="{FF2B5EF4-FFF2-40B4-BE49-F238E27FC236}">
                <a16:creationId xmlns:a16="http://schemas.microsoft.com/office/drawing/2014/main" id="{CA39F6ED-DDF9-4742-91A0-B8B05F5D3CFF}"/>
              </a:ext>
            </a:extLst>
          </p:cNvPr>
          <p:cNvSpPr txBox="1"/>
          <p:nvPr/>
        </p:nvSpPr>
        <p:spPr>
          <a:xfrm>
            <a:off x="2467154" y="4702833"/>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192.168.1.101</a:t>
            </a:r>
          </a:p>
        </p:txBody>
      </p:sp>
      <p:sp>
        <p:nvSpPr>
          <p:cNvPr id="17" name="TextBox 7">
            <a:extLst>
              <a:ext uri="{FF2B5EF4-FFF2-40B4-BE49-F238E27FC236}">
                <a16:creationId xmlns:a16="http://schemas.microsoft.com/office/drawing/2014/main" id="{F3864E1C-06E8-40BB-B7D2-757BFA66B94C}"/>
              </a:ext>
            </a:extLst>
          </p:cNvPr>
          <p:cNvSpPr txBox="1"/>
          <p:nvPr/>
        </p:nvSpPr>
        <p:spPr>
          <a:xfrm>
            <a:off x="2467155" y="6039927"/>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192.168.1.88</a:t>
            </a:r>
          </a:p>
        </p:txBody>
      </p:sp>
      <p:cxnSp>
        <p:nvCxnSpPr>
          <p:cNvPr id="19" name="Straight Arrow Connector 18">
            <a:extLst>
              <a:ext uri="{FF2B5EF4-FFF2-40B4-BE49-F238E27FC236}">
                <a16:creationId xmlns:a16="http://schemas.microsoft.com/office/drawing/2014/main" id="{7E76CB0A-B6D6-4752-9DED-70F4BDB7503C}"/>
              </a:ext>
            </a:extLst>
          </p:cNvPr>
          <p:cNvCxnSpPr/>
          <p:nvPr/>
        </p:nvCxnSpPr>
        <p:spPr>
          <a:xfrm>
            <a:off x="4344838" y="3439065"/>
            <a:ext cx="1230700" cy="1015039"/>
          </a:xfrm>
          <a:prstGeom prst="straightConnector1">
            <a:avLst/>
          </a:prstGeom>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EB00E555-DB28-445C-9A37-511B7685C46C}"/>
              </a:ext>
            </a:extLst>
          </p:cNvPr>
          <p:cNvCxnSpPr>
            <a:cxnSpLocks/>
          </p:cNvCxnSpPr>
          <p:nvPr/>
        </p:nvCxnSpPr>
        <p:spPr>
          <a:xfrm>
            <a:off x="4301706" y="4416723"/>
            <a:ext cx="1316963" cy="8626"/>
          </a:xfrm>
          <a:prstGeom prst="straightConnector1">
            <a:avLst/>
          </a:prstGeom>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C56A6834-E5B9-40A1-9088-F5D426619B1D}"/>
              </a:ext>
            </a:extLst>
          </p:cNvPr>
          <p:cNvCxnSpPr>
            <a:cxnSpLocks/>
          </p:cNvCxnSpPr>
          <p:nvPr/>
        </p:nvCxnSpPr>
        <p:spPr>
          <a:xfrm flipV="1">
            <a:off x="4244196" y="4454105"/>
            <a:ext cx="1316964" cy="1170317"/>
          </a:xfrm>
          <a:prstGeom prst="straightConnector1">
            <a:avLst/>
          </a:prstGeom>
        </p:spPr>
        <p:style>
          <a:lnRef idx="1">
            <a:schemeClr val="dk1"/>
          </a:lnRef>
          <a:fillRef idx="0">
            <a:schemeClr val="dk1"/>
          </a:fillRef>
          <a:effectRef idx="0">
            <a:schemeClr val="dk1"/>
          </a:effectRef>
          <a:fontRef idx="minor">
            <a:schemeClr val="tx1"/>
          </a:fontRef>
        </p:style>
      </p:cxnSp>
      <p:sp>
        <p:nvSpPr>
          <p:cNvPr id="25" name="Speech Bubble: Rectangle 24">
            <a:extLst>
              <a:ext uri="{FF2B5EF4-FFF2-40B4-BE49-F238E27FC236}">
                <a16:creationId xmlns:a16="http://schemas.microsoft.com/office/drawing/2014/main" id="{F1527F3D-8102-4FFE-8E3A-D1D32CE6CEE4}"/>
              </a:ext>
            </a:extLst>
          </p:cNvPr>
          <p:cNvSpPr/>
          <p:nvPr/>
        </p:nvSpPr>
        <p:spPr>
          <a:xfrm>
            <a:off x="2329758" y="924257"/>
            <a:ext cx="4940059" cy="1245251"/>
          </a:xfrm>
          <a:prstGeom prst="wedgeRectCallout">
            <a:avLst>
              <a:gd name="adj1" fmla="val -21369"/>
              <a:gd name="adj2" fmla="val 92298"/>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Hey everyone! I need to send a message to </a:t>
            </a:r>
            <a:r>
              <a:rPr lang="en-US" b="1" dirty="0">
                <a:cs typeface="Calibri"/>
              </a:rPr>
              <a:t>192.168.1.88</a:t>
            </a:r>
            <a:r>
              <a:rPr lang="en-US" dirty="0">
                <a:cs typeface="Calibri"/>
              </a:rPr>
              <a:t> but I don’t have  a MAC address. Is there anybody out there with an IP of </a:t>
            </a:r>
            <a:r>
              <a:rPr lang="en-US" b="1" dirty="0">
                <a:cs typeface="Calibri"/>
              </a:rPr>
              <a:t>192.168.1.88</a:t>
            </a:r>
            <a:endParaRPr lang="en-US" dirty="0"/>
          </a:p>
        </p:txBody>
      </p:sp>
      <p:sp>
        <p:nvSpPr>
          <p:cNvPr id="26" name="Speech Bubble: Rectangle 25">
            <a:extLst>
              <a:ext uri="{FF2B5EF4-FFF2-40B4-BE49-F238E27FC236}">
                <a16:creationId xmlns:a16="http://schemas.microsoft.com/office/drawing/2014/main" id="{F298A933-7074-4F78-A35A-3E6975187A82}"/>
              </a:ext>
            </a:extLst>
          </p:cNvPr>
          <p:cNvSpPr/>
          <p:nvPr/>
        </p:nvSpPr>
        <p:spPr>
          <a:xfrm>
            <a:off x="5472382" y="5109325"/>
            <a:ext cx="4940059" cy="1245251"/>
          </a:xfrm>
          <a:prstGeom prst="wedgeRectCallout">
            <a:avLst>
              <a:gd name="adj1" fmla="val -73144"/>
              <a:gd name="adj2" fmla="val -4545"/>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cs typeface="Calibri"/>
              </a:rPr>
              <a:t>Hey, I'm  </a:t>
            </a:r>
            <a:r>
              <a:rPr lang="en-US" b="1" dirty="0">
                <a:cs typeface="Calibri"/>
              </a:rPr>
              <a:t>192.168.1.88</a:t>
            </a:r>
            <a:r>
              <a:rPr lang="en-US" dirty="0">
                <a:cs typeface="Calibri"/>
              </a:rPr>
              <a:t>  and my MAC address is </a:t>
            </a:r>
            <a:r>
              <a:rPr lang="en-US" b="1" dirty="0">
                <a:cs typeface="Calibri"/>
              </a:rPr>
              <a:t>00:cd:12:4d:3a:08</a:t>
            </a:r>
          </a:p>
        </p:txBody>
      </p:sp>
      <p:cxnSp>
        <p:nvCxnSpPr>
          <p:cNvPr id="4" name="Straight Arrow Connector 3">
            <a:extLst>
              <a:ext uri="{FF2B5EF4-FFF2-40B4-BE49-F238E27FC236}">
                <a16:creationId xmlns:a16="http://schemas.microsoft.com/office/drawing/2014/main" id="{70E99412-974C-4C38-9F7C-424805946933}"/>
              </a:ext>
            </a:extLst>
          </p:cNvPr>
          <p:cNvCxnSpPr>
            <a:endCxn id="7" idx="1"/>
          </p:cNvCxnSpPr>
          <p:nvPr/>
        </p:nvCxnSpPr>
        <p:spPr>
          <a:xfrm>
            <a:off x="4496899" y="3429000"/>
            <a:ext cx="975483" cy="833887"/>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07EF776-F997-451A-BE6C-33DBD995FADE}"/>
              </a:ext>
            </a:extLst>
          </p:cNvPr>
          <p:cNvCxnSpPr>
            <a:cxnSpLocks/>
          </p:cNvCxnSpPr>
          <p:nvPr/>
        </p:nvCxnSpPr>
        <p:spPr>
          <a:xfrm flipH="1">
            <a:off x="4365885" y="4345604"/>
            <a:ext cx="887601"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CB1812B-5ADE-43E6-916B-74F29E096902}"/>
              </a:ext>
            </a:extLst>
          </p:cNvPr>
          <p:cNvCxnSpPr>
            <a:cxnSpLocks/>
          </p:cNvCxnSpPr>
          <p:nvPr/>
        </p:nvCxnSpPr>
        <p:spPr>
          <a:xfrm flipH="1">
            <a:off x="4425013" y="4498004"/>
            <a:ext cx="980874" cy="842622"/>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6DD9D22-B8FD-434C-A8A3-054EBDD38148}"/>
              </a:ext>
            </a:extLst>
          </p:cNvPr>
          <p:cNvCxnSpPr>
            <a:cxnSpLocks/>
          </p:cNvCxnSpPr>
          <p:nvPr/>
        </p:nvCxnSpPr>
        <p:spPr>
          <a:xfrm flipV="1">
            <a:off x="4563394" y="4652125"/>
            <a:ext cx="990231" cy="8607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D2D896F-FDAE-4EEC-B17D-CD15CDE50E29}"/>
              </a:ext>
            </a:extLst>
          </p:cNvPr>
          <p:cNvCxnSpPr>
            <a:cxnSpLocks/>
          </p:cNvCxnSpPr>
          <p:nvPr/>
        </p:nvCxnSpPr>
        <p:spPr>
          <a:xfrm flipH="1" flipV="1">
            <a:off x="4585677" y="3371391"/>
            <a:ext cx="975483" cy="81047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Speech Bubble: Rectangle 27">
            <a:extLst>
              <a:ext uri="{FF2B5EF4-FFF2-40B4-BE49-F238E27FC236}">
                <a16:creationId xmlns:a16="http://schemas.microsoft.com/office/drawing/2014/main" id="{2C7EC8DA-614D-42E8-8A39-3EA7A913FF42}"/>
              </a:ext>
            </a:extLst>
          </p:cNvPr>
          <p:cNvSpPr/>
          <p:nvPr/>
        </p:nvSpPr>
        <p:spPr>
          <a:xfrm>
            <a:off x="5897217" y="2782957"/>
            <a:ext cx="2464905" cy="810470"/>
          </a:xfrm>
          <a:prstGeom prst="wedgeRectCallout">
            <a:avLst>
              <a:gd name="adj1" fmla="val -74596"/>
              <a:gd name="adj2" fmla="val 113189"/>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ARP request sent to all devices on network: “Broadcast”</a:t>
            </a:r>
          </a:p>
        </p:txBody>
      </p:sp>
      <p:sp>
        <p:nvSpPr>
          <p:cNvPr id="29" name="Speech Bubble: Rectangle 28">
            <a:extLst>
              <a:ext uri="{FF2B5EF4-FFF2-40B4-BE49-F238E27FC236}">
                <a16:creationId xmlns:a16="http://schemas.microsoft.com/office/drawing/2014/main" id="{E8A0A45D-CA4C-4F0B-BE61-19E7A08D2460}"/>
              </a:ext>
            </a:extLst>
          </p:cNvPr>
          <p:cNvSpPr/>
          <p:nvPr/>
        </p:nvSpPr>
        <p:spPr>
          <a:xfrm>
            <a:off x="627637" y="4232375"/>
            <a:ext cx="2464905" cy="810470"/>
          </a:xfrm>
          <a:prstGeom prst="wedgeRectCallout">
            <a:avLst>
              <a:gd name="adj1" fmla="val 122716"/>
              <a:gd name="adj2" fmla="val 67406"/>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dirty="0"/>
              <a:t>ARP response sent only to requesting device: “Unicast”</a:t>
            </a:r>
          </a:p>
        </p:txBody>
      </p:sp>
    </p:spTree>
    <p:extLst>
      <p:ext uri="{BB962C8B-B14F-4D97-AF65-F5344CB8AC3E}">
        <p14:creationId xmlns:p14="http://schemas.microsoft.com/office/powerpoint/2010/main" val="3712214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8" grpId="0" animBg="1"/>
      <p:bldP spid="2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 Resolution Protocol</a:t>
            </a:r>
          </a:p>
        </p:txBody>
      </p:sp>
      <p:sp>
        <p:nvSpPr>
          <p:cNvPr id="3" name="Content Placeholder 2"/>
          <p:cNvSpPr>
            <a:spLocks noGrp="1"/>
          </p:cNvSpPr>
          <p:nvPr>
            <p:ph idx="1"/>
          </p:nvPr>
        </p:nvSpPr>
        <p:spPr/>
        <p:txBody>
          <a:bodyPr vert="horz" lIns="91440" tIns="45720" rIns="91440" bIns="45720" rtlCol="0" anchor="t">
            <a:normAutofit/>
          </a:bodyPr>
          <a:lstStyle/>
          <a:p>
            <a:pPr eaLnBrk="0" fontAlgn="base" hangingPunct="0">
              <a:lnSpc>
                <a:spcPct val="100000"/>
              </a:lnSpc>
              <a:spcBef>
                <a:spcPts val="1800"/>
              </a:spcBef>
              <a:spcAft>
                <a:spcPct val="0"/>
              </a:spcAft>
              <a:buSzPct val="85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800" kern="0" dirty="0">
                <a:solidFill>
                  <a:srgbClr val="000000"/>
                </a:solidFill>
              </a:rPr>
              <a:t>The </a:t>
            </a:r>
            <a:r>
              <a:rPr lang="en-GB" altLang="en-US" sz="2800" i="1" kern="0" dirty="0">
                <a:solidFill>
                  <a:srgbClr val="000000"/>
                </a:solidFill>
              </a:rPr>
              <a:t>Address Resolution Protocol</a:t>
            </a:r>
            <a:r>
              <a:rPr lang="en-GB" altLang="en-US" i="1" kern="0" dirty="0">
                <a:solidFill>
                  <a:srgbClr val="000000"/>
                </a:solidFill>
              </a:rPr>
              <a:t> </a:t>
            </a:r>
            <a:r>
              <a:rPr lang="en-GB" altLang="en-US" sz="2800" i="1" kern="0" dirty="0">
                <a:solidFill>
                  <a:srgbClr val="000000"/>
                </a:solidFill>
              </a:rPr>
              <a:t> (ARP) </a:t>
            </a:r>
            <a:r>
              <a:rPr lang="en-GB" altLang="en-US" sz="2800" kern="0" dirty="0">
                <a:solidFill>
                  <a:srgbClr val="000000"/>
                </a:solidFill>
              </a:rPr>
              <a:t>is used by a sending</a:t>
            </a:r>
            <a:r>
              <a:rPr lang="en-GB" altLang="en-US" kern="0" dirty="0">
                <a:solidFill>
                  <a:srgbClr val="000000"/>
                </a:solidFill>
              </a:rPr>
              <a:t> device </a:t>
            </a:r>
            <a:r>
              <a:rPr lang="en-GB" altLang="en-US" sz="2800" kern="0" dirty="0">
                <a:solidFill>
                  <a:srgbClr val="000000"/>
                </a:solidFill>
              </a:rPr>
              <a:t>when it</a:t>
            </a:r>
            <a:r>
              <a:rPr lang="en-GB" altLang="en-US" kern="0" dirty="0">
                <a:solidFill>
                  <a:srgbClr val="000000"/>
                </a:solidFill>
              </a:rPr>
              <a:t> </a:t>
            </a:r>
            <a:r>
              <a:rPr lang="en-GB" altLang="en-US" sz="2800" kern="0" dirty="0">
                <a:solidFill>
                  <a:srgbClr val="000000"/>
                </a:solidFill>
              </a:rPr>
              <a:t> knows the IP address of the destination but needs the Ethernet address.</a:t>
            </a:r>
          </a:p>
          <a:p>
            <a:pPr lvl="0" eaLnBrk="0" fontAlgn="base" hangingPunct="0">
              <a:lnSpc>
                <a:spcPct val="100000"/>
              </a:lnSpc>
              <a:spcBef>
                <a:spcPts val="1800"/>
              </a:spcBef>
              <a:spcAft>
                <a:spcPct val="0"/>
              </a:spcAft>
              <a:buSzPct val="85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800" kern="0" dirty="0">
                <a:solidFill>
                  <a:srgbClr val="000000"/>
                </a:solidFill>
              </a:rPr>
              <a:t>ARP is a broadcast protocol - every host on the network receives the request.</a:t>
            </a:r>
          </a:p>
          <a:p>
            <a:pPr lvl="0" eaLnBrk="0" fontAlgn="base" hangingPunct="0">
              <a:lnSpc>
                <a:spcPct val="100000"/>
              </a:lnSpc>
              <a:spcBef>
                <a:spcPts val="1800"/>
              </a:spcBef>
              <a:spcAft>
                <a:spcPct val="0"/>
              </a:spcAft>
              <a:buSzPct val="85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800" kern="0" dirty="0">
                <a:solidFill>
                  <a:srgbClr val="000000"/>
                </a:solidFill>
              </a:rPr>
              <a:t>Each host checks the request against it’s IP address - the right one responds.</a:t>
            </a:r>
          </a:p>
          <a:p>
            <a:pPr lvl="0" eaLnBrk="0" fontAlgn="base" hangingPunct="0">
              <a:lnSpc>
                <a:spcPct val="100000"/>
              </a:lnSpc>
              <a:spcBef>
                <a:spcPts val="1800"/>
              </a:spcBef>
              <a:spcAft>
                <a:spcPct val="0"/>
              </a:spcAft>
              <a:buSzPct val="85000"/>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800" kern="0" dirty="0">
                <a:solidFill>
                  <a:srgbClr val="000000"/>
                </a:solidFill>
              </a:rPr>
              <a:t>Hosts </a:t>
            </a:r>
            <a:r>
              <a:rPr lang="en-GB" altLang="en-US" sz="2800" i="1" kern="0" dirty="0">
                <a:solidFill>
                  <a:srgbClr val="000000"/>
                </a:solidFill>
              </a:rPr>
              <a:t>remember</a:t>
            </a:r>
            <a:r>
              <a:rPr lang="en-GB" altLang="en-US" sz="2800" kern="0" dirty="0">
                <a:solidFill>
                  <a:srgbClr val="000000"/>
                </a:solidFill>
              </a:rPr>
              <a:t> the hardware addresses of each other.</a:t>
            </a:r>
          </a:p>
          <a:p>
            <a:pPr>
              <a:buClr>
                <a:srgbClr val="FFC82E"/>
              </a:buClr>
              <a:buFont typeface="Wingdings" panose="05000000000000000000" pitchFamily="2" charset="2"/>
              <a:buChar char="v"/>
            </a:pPr>
            <a:endParaRPr lang="en-US" dirty="0"/>
          </a:p>
        </p:txBody>
      </p:sp>
      <p:sp>
        <p:nvSpPr>
          <p:cNvPr id="4" name="Slide Number Placeholder 3"/>
          <p:cNvSpPr>
            <a:spLocks noGrp="1"/>
          </p:cNvSpPr>
          <p:nvPr>
            <p:ph type="sldNum" sz="quarter" idx="12"/>
          </p:nvPr>
        </p:nvSpPr>
        <p:spPr/>
        <p:txBody>
          <a:bodyPr/>
          <a:lstStyle/>
          <a:p>
            <a:fld id="{CC3AA60A-E467-4DB9-BF1F-F60A1C08184A}" type="slidenum">
              <a:rPr lang="en-US" smtClean="0"/>
              <a:pPr/>
              <a:t>33</a:t>
            </a:fld>
            <a:endParaRPr lang="en-US"/>
          </a:p>
        </p:txBody>
      </p:sp>
    </p:spTree>
    <p:extLst>
      <p:ext uri="{BB962C8B-B14F-4D97-AF65-F5344CB8AC3E}">
        <p14:creationId xmlns:p14="http://schemas.microsoft.com/office/powerpoint/2010/main" val="103009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6CD7D-0987-4797-94AE-103E272B8EED}"/>
              </a:ext>
            </a:extLst>
          </p:cNvPr>
          <p:cNvSpPr>
            <a:spLocks noGrp="1"/>
          </p:cNvSpPr>
          <p:nvPr>
            <p:ph type="title"/>
          </p:nvPr>
        </p:nvSpPr>
        <p:spPr>
          <a:xfrm>
            <a:off x="192677" y="169183"/>
            <a:ext cx="11806646" cy="679904"/>
          </a:xfrm>
        </p:spPr>
        <p:txBody>
          <a:bodyPr>
            <a:normAutofit fontScale="90000"/>
          </a:bodyPr>
          <a:lstStyle/>
          <a:p>
            <a:r>
              <a:rPr lang="en-US" dirty="0">
                <a:cs typeface="Calibri Light"/>
              </a:rPr>
              <a:t>The  ARP  Process  –  Mapping  IP  to  MAC  Address</a:t>
            </a:r>
            <a:endParaRPr lang="en-US" dirty="0"/>
          </a:p>
        </p:txBody>
      </p:sp>
      <p:sp>
        <p:nvSpPr>
          <p:cNvPr id="3" name="Content Placeholder 2">
            <a:extLst>
              <a:ext uri="{FF2B5EF4-FFF2-40B4-BE49-F238E27FC236}">
                <a16:creationId xmlns:a16="http://schemas.microsoft.com/office/drawing/2014/main" id="{D4E671F1-4D77-47D0-AA1E-1A5B5CC3BAD3}"/>
              </a:ext>
            </a:extLst>
          </p:cNvPr>
          <p:cNvSpPr>
            <a:spLocks noGrp="1"/>
          </p:cNvSpPr>
          <p:nvPr>
            <p:ph idx="1"/>
          </p:nvPr>
        </p:nvSpPr>
        <p:spPr>
          <a:xfrm>
            <a:off x="537753" y="1420675"/>
            <a:ext cx="11461569" cy="4927873"/>
          </a:xfrm>
        </p:spPr>
        <p:txBody>
          <a:bodyPr vert="horz" lIns="91440" tIns="45720" rIns="91440" bIns="45720" rtlCol="0" anchor="t">
            <a:normAutofit/>
          </a:bodyPr>
          <a:lstStyle/>
          <a:p>
            <a:r>
              <a:rPr lang="en-US" dirty="0">
                <a:cs typeface="Calibri"/>
              </a:rPr>
              <a:t>Ethernet frames must have a destination MAC address</a:t>
            </a:r>
          </a:p>
          <a:p>
            <a:r>
              <a:rPr lang="en-US" dirty="0">
                <a:cs typeface="Calibri"/>
              </a:rPr>
              <a:t>Devices will maintain a table in memory that maps IP addresses to MAC addresses: the </a:t>
            </a:r>
            <a:r>
              <a:rPr lang="en-US" b="1" dirty="0">
                <a:cs typeface="Calibri"/>
              </a:rPr>
              <a:t>ARP Table</a:t>
            </a:r>
            <a:endParaRPr lang="en-US" dirty="0">
              <a:cs typeface="Calibri"/>
            </a:endParaRPr>
          </a:p>
          <a:p>
            <a:r>
              <a:rPr lang="en-US" dirty="0">
                <a:cs typeface="Calibri"/>
              </a:rPr>
              <a:t>The ARP table is populated using 2 mechanisms:</a:t>
            </a:r>
            <a:endParaRPr lang="en-US" b="1" dirty="0">
              <a:cs typeface="Calibri"/>
            </a:endParaRPr>
          </a:p>
          <a:p>
            <a:pPr lvl="1"/>
            <a:r>
              <a:rPr lang="en-US" dirty="0">
                <a:cs typeface="Calibri"/>
              </a:rPr>
              <a:t>Monitor traffic on the local network</a:t>
            </a:r>
          </a:p>
          <a:p>
            <a:pPr lvl="1"/>
            <a:r>
              <a:rPr lang="en-US" dirty="0">
                <a:cs typeface="Calibri"/>
              </a:rPr>
              <a:t>Broadcast an ARP request</a:t>
            </a:r>
          </a:p>
          <a:p>
            <a:r>
              <a:rPr lang="en-US" dirty="0">
                <a:cs typeface="Calibri"/>
              </a:rPr>
              <a:t>ARP request is broadcast to all devices on the Ethernet network. </a:t>
            </a:r>
          </a:p>
          <a:p>
            <a:pPr lvl="1"/>
            <a:r>
              <a:rPr lang="en-US" dirty="0">
                <a:cs typeface="Calibri"/>
              </a:rPr>
              <a:t>Node receiving an ARP request  that identifies the IP address as it sends a single response (I.e. unicast) back to the sender. Senter uses this to update the ARP table </a:t>
            </a:r>
          </a:p>
          <a:p>
            <a:endParaRPr lang="en-US" dirty="0">
              <a:cs typeface="Calibri"/>
            </a:endParaRPr>
          </a:p>
        </p:txBody>
      </p:sp>
    </p:spTree>
    <p:extLst>
      <p:ext uri="{BB962C8B-B14F-4D97-AF65-F5344CB8AC3E}">
        <p14:creationId xmlns:p14="http://schemas.microsoft.com/office/powerpoint/2010/main" val="2514115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B8B4D-4152-40BE-B781-BBFC891CE34A}"/>
              </a:ext>
            </a:extLst>
          </p:cNvPr>
          <p:cNvSpPr>
            <a:spLocks noGrp="1"/>
          </p:cNvSpPr>
          <p:nvPr>
            <p:ph type="title"/>
          </p:nvPr>
        </p:nvSpPr>
        <p:spPr/>
        <p:txBody>
          <a:bodyPr/>
          <a:lstStyle/>
          <a:p>
            <a:r>
              <a:rPr lang="en-US">
                <a:cs typeface="Calibri Light"/>
              </a:rPr>
              <a:t>ARP Request for device on another network</a:t>
            </a:r>
            <a:endParaRPr lang="en-US"/>
          </a:p>
        </p:txBody>
      </p:sp>
      <p:sp>
        <p:nvSpPr>
          <p:cNvPr id="3" name="Content Placeholder 2">
            <a:extLst>
              <a:ext uri="{FF2B5EF4-FFF2-40B4-BE49-F238E27FC236}">
                <a16:creationId xmlns:a16="http://schemas.microsoft.com/office/drawing/2014/main" id="{98EB0D10-DE22-4562-8D5B-C372BB25C7D3}"/>
              </a:ext>
            </a:extLst>
          </p:cNvPr>
          <p:cNvSpPr>
            <a:spLocks noGrp="1"/>
          </p:cNvSpPr>
          <p:nvPr>
            <p:ph idx="1"/>
          </p:nvPr>
        </p:nvSpPr>
        <p:spPr/>
        <p:txBody>
          <a:bodyPr vert="horz" lIns="91440" tIns="45720" rIns="91440" bIns="45720" rtlCol="0" anchor="t">
            <a:normAutofit/>
          </a:bodyPr>
          <a:lstStyle/>
          <a:p>
            <a:r>
              <a:rPr lang="en-US" dirty="0">
                <a:cs typeface="Calibri"/>
              </a:rPr>
              <a:t>Sending device needs to send a message to a device on another/external network. What's the destination MAC address???</a:t>
            </a:r>
          </a:p>
          <a:p>
            <a:r>
              <a:rPr lang="en-US" dirty="0">
                <a:cs typeface="Calibri"/>
              </a:rPr>
              <a:t>Sending device will use the MAC address of the "default gateway" - usually the MAC address of the router interface that routes to that network</a:t>
            </a:r>
          </a:p>
          <a:p>
            <a:r>
              <a:rPr lang="en-US" dirty="0">
                <a:cs typeface="Calibri"/>
              </a:rPr>
              <a:t>What if the ARP table doesn't contain an entry for the default gateway???</a:t>
            </a:r>
          </a:p>
          <a:p>
            <a:pPr lvl="1"/>
            <a:r>
              <a:rPr lang="en-US" dirty="0">
                <a:cs typeface="Calibri"/>
              </a:rPr>
              <a:t>Device will perform ARP request for MAC</a:t>
            </a:r>
          </a:p>
        </p:txBody>
      </p:sp>
    </p:spTree>
    <p:extLst>
      <p:ext uri="{BB962C8B-B14F-4D97-AF65-F5344CB8AC3E}">
        <p14:creationId xmlns:p14="http://schemas.microsoft.com/office/powerpoint/2010/main" val="3973433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8827E-7F5C-4FB1-BEF3-006E123C077B}"/>
              </a:ext>
            </a:extLst>
          </p:cNvPr>
          <p:cNvSpPr>
            <a:spLocks noGrp="1"/>
          </p:cNvSpPr>
          <p:nvPr>
            <p:ph type="title"/>
          </p:nvPr>
        </p:nvSpPr>
        <p:spPr/>
        <p:txBody>
          <a:bodyPr/>
          <a:lstStyle/>
          <a:p>
            <a:r>
              <a:rPr lang="en-US" dirty="0">
                <a:cs typeface="Calibri Light"/>
              </a:rPr>
              <a:t>Maintaining ARP tables</a:t>
            </a:r>
            <a:endParaRPr lang="en-US" dirty="0"/>
          </a:p>
        </p:txBody>
      </p:sp>
      <p:sp>
        <p:nvSpPr>
          <p:cNvPr id="3" name="Content Placeholder 2">
            <a:extLst>
              <a:ext uri="{FF2B5EF4-FFF2-40B4-BE49-F238E27FC236}">
                <a16:creationId xmlns:a16="http://schemas.microsoft.com/office/drawing/2014/main" id="{2E7E50AF-AD6C-43E8-9B0B-8BC1AB56CC06}"/>
              </a:ext>
            </a:extLst>
          </p:cNvPr>
          <p:cNvSpPr>
            <a:spLocks noGrp="1"/>
          </p:cNvSpPr>
          <p:nvPr>
            <p:ph idx="1"/>
          </p:nvPr>
        </p:nvSpPr>
        <p:spPr/>
        <p:txBody>
          <a:bodyPr vert="horz" lIns="91440" tIns="45720" rIns="91440" bIns="45720" rtlCol="0" anchor="t">
            <a:normAutofit/>
          </a:bodyPr>
          <a:lstStyle/>
          <a:p>
            <a:r>
              <a:rPr lang="en-US" dirty="0">
                <a:cs typeface="Calibri"/>
              </a:rPr>
              <a:t>Devices remove ARP table entries that have not been used in a specified period. </a:t>
            </a:r>
          </a:p>
          <a:p>
            <a:pPr lvl="1"/>
            <a:r>
              <a:rPr lang="en-US" dirty="0">
                <a:cs typeface="Calibri"/>
              </a:rPr>
              <a:t>Period differs across devices. Typically, 2 minutes for Windows.</a:t>
            </a:r>
          </a:p>
          <a:p>
            <a:r>
              <a:rPr lang="en-US" dirty="0">
                <a:cs typeface="Calibri"/>
              </a:rPr>
              <a:t>Example use: Device removed from network/switched off</a:t>
            </a:r>
          </a:p>
        </p:txBody>
      </p:sp>
    </p:spTree>
    <p:extLst>
      <p:ext uri="{BB962C8B-B14F-4D97-AF65-F5344CB8AC3E}">
        <p14:creationId xmlns:p14="http://schemas.microsoft.com/office/powerpoint/2010/main" val="2379215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1279-DCDA-4DD6-B217-95F458BB4F62}"/>
              </a:ext>
            </a:extLst>
          </p:cNvPr>
          <p:cNvSpPr>
            <a:spLocks noGrp="1"/>
          </p:cNvSpPr>
          <p:nvPr>
            <p:ph type="title"/>
          </p:nvPr>
        </p:nvSpPr>
        <p:spPr>
          <a:xfrm>
            <a:off x="838200" y="365125"/>
            <a:ext cx="10515600" cy="1325563"/>
          </a:xfrm>
        </p:spPr>
        <p:txBody>
          <a:bodyPr>
            <a:normAutofit/>
          </a:bodyPr>
          <a:lstStyle/>
          <a:p>
            <a:r>
              <a:rPr lang="en-US" dirty="0">
                <a:cs typeface="Calibri Light"/>
              </a:rPr>
              <a:t>ARP Issues...</a:t>
            </a:r>
            <a:endParaRPr lang="en-US" dirty="0"/>
          </a:p>
        </p:txBody>
      </p:sp>
      <p:sp>
        <p:nvSpPr>
          <p:cNvPr id="3" name="Content Placeholder 2">
            <a:extLst>
              <a:ext uri="{FF2B5EF4-FFF2-40B4-BE49-F238E27FC236}">
                <a16:creationId xmlns:a16="http://schemas.microsoft.com/office/drawing/2014/main" id="{B538FFB8-82B5-410E-934B-46CDB2141411}"/>
              </a:ext>
            </a:extLst>
          </p:cNvPr>
          <p:cNvSpPr>
            <a:spLocks noGrp="1"/>
          </p:cNvSpPr>
          <p:nvPr>
            <p:ph idx="1"/>
          </p:nvPr>
        </p:nvSpPr>
        <p:spPr>
          <a:xfrm>
            <a:off x="838200" y="1825625"/>
            <a:ext cx="3797807" cy="4351338"/>
          </a:xfrm>
        </p:spPr>
        <p:txBody>
          <a:bodyPr vert="horz" lIns="91440" tIns="45720" rIns="91440" bIns="45720" rtlCol="0" anchor="t">
            <a:normAutofit lnSpcReduction="10000"/>
          </a:bodyPr>
          <a:lstStyle/>
          <a:p>
            <a:r>
              <a:rPr lang="en-US" sz="2000" dirty="0">
                <a:cs typeface="Calibri"/>
              </a:rPr>
              <a:t>Media Overhead</a:t>
            </a:r>
          </a:p>
          <a:p>
            <a:pPr lvl="1"/>
            <a:r>
              <a:rPr lang="en-US" sz="2000" dirty="0">
                <a:cs typeface="Calibri"/>
              </a:rPr>
              <a:t>A lot of traffic can be generated by ARP request (broadcast). Minimal impact in typical business setting in well “segmented” network.</a:t>
            </a:r>
          </a:p>
          <a:p>
            <a:r>
              <a:rPr lang="en-US" sz="2000" dirty="0">
                <a:cs typeface="Calibri"/>
              </a:rPr>
              <a:t>Security</a:t>
            </a:r>
          </a:p>
          <a:p>
            <a:pPr lvl="1"/>
            <a:r>
              <a:rPr lang="en-US" sz="2000" dirty="0">
                <a:cs typeface="Calibri"/>
              </a:rPr>
              <a:t>ARP Spoofing/Poisoning: Attacker forges MAC address – frames sent to wrong device...</a:t>
            </a:r>
          </a:p>
          <a:p>
            <a:pPr lvl="1"/>
            <a:r>
              <a:rPr lang="en-US" sz="2000" dirty="0">
                <a:cs typeface="Calibri"/>
              </a:rPr>
              <a:t>Example: Using your Raspberry pi to monitor traffic from a mobile phone on your network</a:t>
            </a:r>
          </a:p>
        </p:txBody>
      </p:sp>
      <p:pic>
        <p:nvPicPr>
          <p:cNvPr id="4" name="Picture 4">
            <a:extLst>
              <a:ext uri="{FF2B5EF4-FFF2-40B4-BE49-F238E27FC236}">
                <a16:creationId xmlns:a16="http://schemas.microsoft.com/office/drawing/2014/main" id="{A8B33FCD-E562-4DB2-B737-217F824E8A01}"/>
              </a:ext>
            </a:extLst>
          </p:cNvPr>
          <p:cNvPicPr>
            <a:picLocks noChangeAspect="1"/>
          </p:cNvPicPr>
          <p:nvPr/>
        </p:nvPicPr>
        <p:blipFill rotWithShape="1">
          <a:blip r:embed="rId2"/>
          <a:srcRect t="2926" r="1" b="7347"/>
          <a:stretch/>
        </p:blipFill>
        <p:spPr>
          <a:xfrm>
            <a:off x="5120640" y="1904281"/>
            <a:ext cx="6233160" cy="4272681"/>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2D71AC65-4947-BC51-C39F-4C239036DE4F}"/>
                  </a:ext>
                </a:extLst>
              </p14:cNvPr>
              <p14:cNvContentPartPr/>
              <p14:nvPr/>
            </p14:nvContentPartPr>
            <p14:xfrm>
              <a:off x="8013787" y="5359660"/>
              <a:ext cx="604080" cy="551520"/>
            </p14:xfrm>
          </p:contentPart>
        </mc:Choice>
        <mc:Fallback xmlns="">
          <p:pic>
            <p:nvPicPr>
              <p:cNvPr id="5" name="Ink 4">
                <a:extLst>
                  <a:ext uri="{FF2B5EF4-FFF2-40B4-BE49-F238E27FC236}">
                    <a16:creationId xmlns:a16="http://schemas.microsoft.com/office/drawing/2014/main" id="{2D71AC65-4947-BC51-C39F-4C239036DE4F}"/>
                  </a:ext>
                </a:extLst>
              </p:cNvPr>
              <p:cNvPicPr/>
              <p:nvPr/>
            </p:nvPicPr>
            <p:blipFill>
              <a:blip r:embed="rId4"/>
              <a:stretch>
                <a:fillRect/>
              </a:stretch>
            </p:blipFill>
            <p:spPr>
              <a:xfrm>
                <a:off x="8004787" y="5351020"/>
                <a:ext cx="621720" cy="569160"/>
              </a:xfrm>
              <a:prstGeom prst="rect">
                <a:avLst/>
              </a:prstGeom>
            </p:spPr>
          </p:pic>
        </mc:Fallback>
      </mc:AlternateContent>
    </p:spTree>
    <p:extLst>
      <p:ext uri="{BB962C8B-B14F-4D97-AF65-F5344CB8AC3E}">
        <p14:creationId xmlns:p14="http://schemas.microsoft.com/office/powerpoint/2010/main" val="28689610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3219D-CF68-4580-B516-D63F01E56BE0}"/>
              </a:ext>
            </a:extLst>
          </p:cNvPr>
          <p:cNvSpPr>
            <a:spLocks noGrp="1"/>
          </p:cNvSpPr>
          <p:nvPr>
            <p:ph type="title"/>
          </p:nvPr>
        </p:nvSpPr>
        <p:spPr/>
        <p:txBody>
          <a:bodyPr/>
          <a:lstStyle/>
          <a:p>
            <a:r>
              <a:rPr lang="en-US" dirty="0">
                <a:cs typeface="Calibri Light"/>
              </a:rPr>
              <a:t>Key Points -ARP</a:t>
            </a:r>
            <a:endParaRPr lang="en-US" dirty="0"/>
          </a:p>
        </p:txBody>
      </p:sp>
      <p:sp>
        <p:nvSpPr>
          <p:cNvPr id="3" name="Content Placeholder 2">
            <a:extLst>
              <a:ext uri="{FF2B5EF4-FFF2-40B4-BE49-F238E27FC236}">
                <a16:creationId xmlns:a16="http://schemas.microsoft.com/office/drawing/2014/main" id="{74A488D4-223C-4723-B4BB-212E19CC9147}"/>
              </a:ext>
            </a:extLst>
          </p:cNvPr>
          <p:cNvSpPr>
            <a:spLocks noGrp="1"/>
          </p:cNvSpPr>
          <p:nvPr>
            <p:ph idx="1"/>
          </p:nvPr>
        </p:nvSpPr>
        <p:spPr/>
        <p:txBody>
          <a:bodyPr vert="horz" lIns="91440" tIns="45720" rIns="91440" bIns="45720" rtlCol="0" anchor="t">
            <a:normAutofit/>
          </a:bodyPr>
          <a:lstStyle/>
          <a:p>
            <a:r>
              <a:rPr lang="en-US" dirty="0">
                <a:cs typeface="Calibri"/>
              </a:rPr>
              <a:t>Ethernet uses ARP to determine MAC addresses</a:t>
            </a:r>
          </a:p>
          <a:p>
            <a:r>
              <a:rPr lang="en-US" dirty="0">
                <a:cs typeface="Calibri"/>
              </a:rPr>
              <a:t>Each device has an IP address and a MAC address.</a:t>
            </a:r>
          </a:p>
          <a:p>
            <a:r>
              <a:rPr lang="en-US" dirty="0">
                <a:cs typeface="Calibri"/>
              </a:rPr>
              <a:t>ARP resolves IP addresses to MAC addresses</a:t>
            </a:r>
          </a:p>
          <a:p>
            <a:pPr marL="0" indent="0">
              <a:buNone/>
            </a:pPr>
            <a:endParaRPr lang="en-US" dirty="0">
              <a:cs typeface="Calibri"/>
            </a:endParaRPr>
          </a:p>
        </p:txBody>
      </p:sp>
    </p:spTree>
    <p:extLst>
      <p:ext uri="{BB962C8B-B14F-4D97-AF65-F5344CB8AC3E}">
        <p14:creationId xmlns:p14="http://schemas.microsoft.com/office/powerpoint/2010/main" val="3502106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03D94-9C51-4CAB-9936-13A3E7318B6F}"/>
              </a:ext>
            </a:extLst>
          </p:cNvPr>
          <p:cNvSpPr>
            <a:spLocks noGrp="1"/>
          </p:cNvSpPr>
          <p:nvPr>
            <p:ph type="title"/>
          </p:nvPr>
        </p:nvSpPr>
        <p:spPr/>
        <p:txBody>
          <a:bodyPr/>
          <a:lstStyle/>
          <a:p>
            <a:r>
              <a:rPr lang="en-IE" dirty="0"/>
              <a:t>Quiz</a:t>
            </a:r>
          </a:p>
        </p:txBody>
      </p:sp>
      <p:sp>
        <p:nvSpPr>
          <p:cNvPr id="3" name="Content Placeholder 2">
            <a:extLst>
              <a:ext uri="{FF2B5EF4-FFF2-40B4-BE49-F238E27FC236}">
                <a16:creationId xmlns:a16="http://schemas.microsoft.com/office/drawing/2014/main" id="{80DCCE33-1D83-48CC-86C9-E6DD69FD3D3B}"/>
              </a:ext>
            </a:extLst>
          </p:cNvPr>
          <p:cNvSpPr>
            <a:spLocks noGrp="1"/>
          </p:cNvSpPr>
          <p:nvPr>
            <p:ph idx="1"/>
          </p:nvPr>
        </p:nvSpPr>
        <p:spPr/>
        <p:txBody>
          <a:bodyPr/>
          <a:lstStyle/>
          <a:p>
            <a:r>
              <a:rPr lang="en-IE" dirty="0"/>
              <a:t>Which of the following will a Switch use to populate it’s MAC-Address-Table?</a:t>
            </a:r>
          </a:p>
          <a:p>
            <a:pPr lvl="1"/>
            <a:r>
              <a:rPr lang="en-IE" dirty="0"/>
              <a:t>Destination IP address</a:t>
            </a:r>
          </a:p>
          <a:p>
            <a:pPr lvl="1"/>
            <a:r>
              <a:rPr lang="en-IE" dirty="0"/>
              <a:t>Source MAC address</a:t>
            </a:r>
          </a:p>
          <a:p>
            <a:pPr lvl="1"/>
            <a:r>
              <a:rPr lang="en-IE" dirty="0"/>
              <a:t>Destination MAC address</a:t>
            </a:r>
          </a:p>
          <a:p>
            <a:pPr lvl="1"/>
            <a:r>
              <a:rPr lang="en-IE" dirty="0"/>
              <a:t>Source IP address</a:t>
            </a:r>
          </a:p>
        </p:txBody>
      </p:sp>
    </p:spTree>
    <p:extLst>
      <p:ext uri="{BB962C8B-B14F-4D97-AF65-F5344CB8AC3E}">
        <p14:creationId xmlns:p14="http://schemas.microsoft.com/office/powerpoint/2010/main" val="35985925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3A6DA-A1FE-46C8-858C-D1B2AC66D178}"/>
              </a:ext>
            </a:extLst>
          </p:cNvPr>
          <p:cNvSpPr>
            <a:spLocks noGrp="1"/>
          </p:cNvSpPr>
          <p:nvPr>
            <p:ph type="title"/>
          </p:nvPr>
        </p:nvSpPr>
        <p:spPr/>
        <p:txBody>
          <a:bodyPr/>
          <a:lstStyle/>
          <a:p>
            <a:r>
              <a:rPr lang="en-IE" dirty="0"/>
              <a:t>Quiz</a:t>
            </a:r>
          </a:p>
        </p:txBody>
      </p:sp>
      <p:sp>
        <p:nvSpPr>
          <p:cNvPr id="3" name="Content Placeholder 2">
            <a:extLst>
              <a:ext uri="{FF2B5EF4-FFF2-40B4-BE49-F238E27FC236}">
                <a16:creationId xmlns:a16="http://schemas.microsoft.com/office/drawing/2014/main" id="{5406485A-8FB8-409C-AF56-306238C8BCE4}"/>
              </a:ext>
            </a:extLst>
          </p:cNvPr>
          <p:cNvSpPr>
            <a:spLocks noGrp="1"/>
          </p:cNvSpPr>
          <p:nvPr>
            <p:ph idx="1"/>
          </p:nvPr>
        </p:nvSpPr>
        <p:spPr/>
        <p:txBody>
          <a:bodyPr/>
          <a:lstStyle/>
          <a:p>
            <a:r>
              <a:rPr lang="en-IE" dirty="0"/>
              <a:t>What does a switch use to make frame forwarding decisions:</a:t>
            </a:r>
          </a:p>
          <a:p>
            <a:pPr lvl="1"/>
            <a:r>
              <a:rPr lang="en-IE" dirty="0"/>
              <a:t>Destination IP address</a:t>
            </a:r>
          </a:p>
          <a:p>
            <a:pPr lvl="1"/>
            <a:r>
              <a:rPr lang="en-IE" dirty="0"/>
              <a:t>Source MAC address</a:t>
            </a:r>
          </a:p>
          <a:p>
            <a:pPr lvl="1"/>
            <a:r>
              <a:rPr lang="en-IE" dirty="0"/>
              <a:t>Destination MAC address</a:t>
            </a:r>
          </a:p>
          <a:p>
            <a:pPr lvl="1"/>
            <a:r>
              <a:rPr lang="en-IE" dirty="0"/>
              <a:t>Source IP address</a:t>
            </a:r>
          </a:p>
          <a:p>
            <a:pPr marL="457200" lvl="1" indent="0">
              <a:buNone/>
            </a:pPr>
            <a:endParaRPr lang="en-IE" dirty="0"/>
          </a:p>
        </p:txBody>
      </p:sp>
    </p:spTree>
    <p:extLst>
      <p:ext uri="{BB962C8B-B14F-4D97-AF65-F5344CB8AC3E}">
        <p14:creationId xmlns:p14="http://schemas.microsoft.com/office/powerpoint/2010/main" val="184436143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3195</TotalTime>
  <Words>2901</Words>
  <Application>Microsoft Office PowerPoint</Application>
  <PresentationFormat>Widescreen</PresentationFormat>
  <Paragraphs>277</Paragraphs>
  <Slides>40</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CiscoSans</vt:lpstr>
      <vt:lpstr>CiscoSans ExtraLight</vt:lpstr>
      <vt:lpstr>Wingdings</vt:lpstr>
      <vt:lpstr>office theme</vt:lpstr>
      <vt:lpstr>Ethernet: Switching</vt:lpstr>
      <vt:lpstr>Agenda(1st Part)</vt:lpstr>
      <vt:lpstr>Network Switches are great!</vt:lpstr>
      <vt:lpstr>Ethernet Encapsulation</vt:lpstr>
      <vt:lpstr>Data Link Sublayers</vt:lpstr>
      <vt:lpstr>MAC Sublayer</vt:lpstr>
      <vt:lpstr>MAC Sublayer</vt:lpstr>
      <vt:lpstr>Ethernet Interface: MAC Addresses</vt:lpstr>
      <vt:lpstr>MAC Addresses: Hexadecimal</vt:lpstr>
      <vt:lpstr>Frame Processing</vt:lpstr>
      <vt:lpstr>Ethernet: Frame Delivery</vt:lpstr>
      <vt:lpstr>Physical/Link Layer (layer 2) intermediate devices</vt:lpstr>
      <vt:lpstr>MAC Addresses: Unicast, Destination, Source</vt:lpstr>
      <vt:lpstr>MAC Addressing: Broadcast</vt:lpstr>
      <vt:lpstr>Ethernet: Switching </vt:lpstr>
      <vt:lpstr>Ethernet: MAC Address Table</vt:lpstr>
      <vt:lpstr>Ethernet: Switch Forwarding Table</vt:lpstr>
      <vt:lpstr>Ethernet: Switch Filtering</vt:lpstr>
      <vt:lpstr>Ethernet: Switch Operation Summary</vt:lpstr>
      <vt:lpstr>Ethernet: Switch Frame Forwarding</vt:lpstr>
      <vt:lpstr>Ethernet: Store-and-forward</vt:lpstr>
      <vt:lpstr>PowerPoint Presentation</vt:lpstr>
      <vt:lpstr>Ethernet: Cut-Through Switching</vt:lpstr>
      <vt:lpstr>PowerPoint Presentation</vt:lpstr>
      <vt:lpstr>Ethernet: Memory Buffering</vt:lpstr>
      <vt:lpstr>Port Setting </vt:lpstr>
      <vt:lpstr>Duplex and Speed Settings</vt:lpstr>
      <vt:lpstr>Auto-MDIX</vt:lpstr>
      <vt:lpstr>Key Points</vt:lpstr>
      <vt:lpstr>ARP</vt:lpstr>
      <vt:lpstr>Introduction to ARP</vt:lpstr>
      <vt:lpstr>ARP Conversation</vt:lpstr>
      <vt:lpstr>Address Resolution Protocol</vt:lpstr>
      <vt:lpstr>The  ARP  Process  –  Mapping  IP  to  MAC  Address</vt:lpstr>
      <vt:lpstr>ARP Request for device on another network</vt:lpstr>
      <vt:lpstr>Maintaining ARP tables</vt:lpstr>
      <vt:lpstr>ARP Issues...</vt:lpstr>
      <vt:lpstr>Key Points -ARP</vt:lpstr>
      <vt:lpstr>Quiz</vt:lpstr>
      <vt:lpstr>Quiz</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Physical/Data Link  Layer</dc:title>
  <dc:creator>Frank X Walsh</dc:creator>
  <cp:lastModifiedBy>Mujahid Tabassum</cp:lastModifiedBy>
  <cp:revision>35</cp:revision>
  <dcterms:created xsi:type="dcterms:W3CDTF">2020-09-22T09:30:17Z</dcterms:created>
  <dcterms:modified xsi:type="dcterms:W3CDTF">2025-10-06T05:58:40Z</dcterms:modified>
</cp:coreProperties>
</file>