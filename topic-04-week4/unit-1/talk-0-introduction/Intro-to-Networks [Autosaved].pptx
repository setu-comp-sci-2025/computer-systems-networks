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2"/>
  </p:notesMasterIdLst>
  <p:sldIdLst>
    <p:sldId id="256" r:id="rId2"/>
    <p:sldId id="257" r:id="rId3"/>
    <p:sldId id="258" r:id="rId4"/>
    <p:sldId id="280" r:id="rId5"/>
    <p:sldId id="281" r:id="rId6"/>
    <p:sldId id="261" r:id="rId7"/>
    <p:sldId id="269" r:id="rId8"/>
    <p:sldId id="268" r:id="rId9"/>
    <p:sldId id="262" r:id="rId10"/>
    <p:sldId id="267" r:id="rId11"/>
    <p:sldId id="270" r:id="rId12"/>
    <p:sldId id="263" r:id="rId13"/>
    <p:sldId id="264" r:id="rId14"/>
    <p:sldId id="265" r:id="rId15"/>
    <p:sldId id="272" r:id="rId16"/>
    <p:sldId id="273" r:id="rId17"/>
    <p:sldId id="271" r:id="rId18"/>
    <p:sldId id="282" r:id="rId19"/>
    <p:sldId id="278" r:id="rId20"/>
    <p:sldId id="279" r:id="rId21"/>
    <p:sldId id="274" r:id="rId22"/>
    <p:sldId id="296" r:id="rId23"/>
    <p:sldId id="297" r:id="rId24"/>
    <p:sldId id="346" r:id="rId25"/>
    <p:sldId id="354" r:id="rId26"/>
    <p:sldId id="313" r:id="rId27"/>
    <p:sldId id="319" r:id="rId28"/>
    <p:sldId id="266" r:id="rId29"/>
    <p:sldId id="355" r:id="rId30"/>
    <p:sldId id="356" r:id="rId31"/>
    <p:sldId id="1131" r:id="rId32"/>
    <p:sldId id="357" r:id="rId33"/>
    <p:sldId id="259" r:id="rId34"/>
    <p:sldId id="260" r:id="rId35"/>
    <p:sldId id="358" r:id="rId36"/>
    <p:sldId id="359" r:id="rId37"/>
    <p:sldId id="361" r:id="rId38"/>
    <p:sldId id="362" r:id="rId39"/>
    <p:sldId id="363" r:id="rId40"/>
    <p:sldId id="364" r:id="rId41"/>
    <p:sldId id="360" r:id="rId42"/>
    <p:sldId id="365" r:id="rId43"/>
    <p:sldId id="366" r:id="rId44"/>
    <p:sldId id="367" r:id="rId45"/>
    <p:sldId id="368" r:id="rId46"/>
    <p:sldId id="1130" r:id="rId47"/>
    <p:sldId id="996" r:id="rId48"/>
    <p:sldId id="1095" r:id="rId49"/>
    <p:sldId id="1096" r:id="rId50"/>
    <p:sldId id="1097" r:id="rId51"/>
    <p:sldId id="1102" r:id="rId52"/>
    <p:sldId id="1098" r:id="rId53"/>
    <p:sldId id="1099" r:id="rId54"/>
    <p:sldId id="1100" r:id="rId55"/>
    <p:sldId id="1105" r:id="rId56"/>
    <p:sldId id="1101" r:id="rId57"/>
    <p:sldId id="1128" r:id="rId58"/>
    <p:sldId id="1127" r:id="rId59"/>
    <p:sldId id="1129" r:id="rId60"/>
    <p:sldId id="1132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43E78E-B8DF-4D94-8BA1-E66F7C925F33}" v="1030" dt="2018-09-12T09:06:31.4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5" autoAdjust="0"/>
    <p:restoredTop sz="78773" autoAdjust="0"/>
  </p:normalViewPr>
  <p:slideViewPr>
    <p:cSldViewPr snapToGrid="0">
      <p:cViewPr varScale="1">
        <p:scale>
          <a:sx n="86" d="100"/>
          <a:sy n="86" d="100"/>
        </p:scale>
        <p:origin x="1380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A15ED5-790F-4A5E-994A-7E23900110C6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7D45332-BC8D-4103-88DB-743A97D46AD7}">
      <dgm:prSet/>
      <dgm:spPr/>
      <dgm:t>
        <a:bodyPr/>
        <a:lstStyle/>
        <a:p>
          <a:r>
            <a:rPr lang="en-US" dirty="0"/>
            <a:t>Devices</a:t>
          </a:r>
        </a:p>
      </dgm:t>
    </dgm:pt>
    <dgm:pt modelId="{44BB9F97-F539-4B6A-BE90-5E8962E8874A}" type="parTrans" cxnId="{0B8E6AFD-CE9A-4750-81B0-D2085DE5BE67}">
      <dgm:prSet/>
      <dgm:spPr/>
      <dgm:t>
        <a:bodyPr/>
        <a:lstStyle/>
        <a:p>
          <a:endParaRPr lang="en-US"/>
        </a:p>
      </dgm:t>
    </dgm:pt>
    <dgm:pt modelId="{B367864A-BBC1-41B9-8A25-C48410870A5E}" type="sibTrans" cxnId="{0B8E6AFD-CE9A-4750-81B0-D2085DE5BE67}">
      <dgm:prSet/>
      <dgm:spPr/>
      <dgm:t>
        <a:bodyPr/>
        <a:lstStyle/>
        <a:p>
          <a:endParaRPr lang="en-US"/>
        </a:p>
      </dgm:t>
    </dgm:pt>
    <dgm:pt modelId="{FF222B91-65DF-422C-802B-D09EA1484C5E}">
      <dgm:prSet/>
      <dgm:spPr/>
      <dgm:t>
        <a:bodyPr/>
        <a:lstStyle/>
        <a:p>
          <a:r>
            <a:rPr lang="en-US" dirty="0"/>
            <a:t>Communicate with one another</a:t>
          </a:r>
        </a:p>
      </dgm:t>
    </dgm:pt>
    <dgm:pt modelId="{31853C7C-0381-4E38-881C-04B714A6FCA7}" type="parTrans" cxnId="{91311891-8643-4D65-8BC6-8A306BEA0CB8}">
      <dgm:prSet/>
      <dgm:spPr/>
      <dgm:t>
        <a:bodyPr/>
        <a:lstStyle/>
        <a:p>
          <a:endParaRPr lang="en-US"/>
        </a:p>
      </dgm:t>
    </dgm:pt>
    <dgm:pt modelId="{3ED52681-71B1-4EF0-BE48-A02154E2797C}" type="sibTrans" cxnId="{91311891-8643-4D65-8BC6-8A306BEA0CB8}">
      <dgm:prSet/>
      <dgm:spPr/>
      <dgm:t>
        <a:bodyPr/>
        <a:lstStyle/>
        <a:p>
          <a:endParaRPr lang="en-US"/>
        </a:p>
      </dgm:t>
    </dgm:pt>
    <dgm:pt modelId="{D10FF8D1-A1B8-4B88-9C63-3692E6CF12BF}">
      <dgm:prSet/>
      <dgm:spPr/>
      <dgm:t>
        <a:bodyPr/>
        <a:lstStyle/>
        <a:p>
          <a:r>
            <a:rPr lang="en-US"/>
            <a:t>Physical Medium</a:t>
          </a:r>
        </a:p>
      </dgm:t>
    </dgm:pt>
    <dgm:pt modelId="{0B4A77F0-4CAE-4CE7-8561-7B356E891CC8}" type="parTrans" cxnId="{F0AB354B-9459-4CA4-9C08-17B78ABC8C9C}">
      <dgm:prSet/>
      <dgm:spPr/>
      <dgm:t>
        <a:bodyPr/>
        <a:lstStyle/>
        <a:p>
          <a:endParaRPr lang="en-US"/>
        </a:p>
      </dgm:t>
    </dgm:pt>
    <dgm:pt modelId="{F81D8491-E3EA-4271-A0B0-7041B434FB2B}" type="sibTrans" cxnId="{F0AB354B-9459-4CA4-9C08-17B78ABC8C9C}">
      <dgm:prSet/>
      <dgm:spPr/>
      <dgm:t>
        <a:bodyPr/>
        <a:lstStyle/>
        <a:p>
          <a:endParaRPr lang="en-US"/>
        </a:p>
      </dgm:t>
    </dgm:pt>
    <dgm:pt modelId="{1A3F7D5A-89B9-437C-9E22-661B284E4F30}">
      <dgm:prSet/>
      <dgm:spPr/>
      <dgm:t>
        <a:bodyPr/>
        <a:lstStyle/>
        <a:p>
          <a:r>
            <a:rPr lang="en-US"/>
            <a:t>Used to connect devices</a:t>
          </a:r>
        </a:p>
      </dgm:t>
    </dgm:pt>
    <dgm:pt modelId="{B2CADA0D-A1EF-4B39-9D72-07DB470B090E}" type="parTrans" cxnId="{7116F1D2-EE52-4855-804E-86AD116493AE}">
      <dgm:prSet/>
      <dgm:spPr/>
      <dgm:t>
        <a:bodyPr/>
        <a:lstStyle/>
        <a:p>
          <a:endParaRPr lang="en-US"/>
        </a:p>
      </dgm:t>
    </dgm:pt>
    <dgm:pt modelId="{1BADEF69-A2D1-4CC3-A3EF-9093E54CD92B}" type="sibTrans" cxnId="{7116F1D2-EE52-4855-804E-86AD116493AE}">
      <dgm:prSet/>
      <dgm:spPr/>
      <dgm:t>
        <a:bodyPr/>
        <a:lstStyle/>
        <a:p>
          <a:endParaRPr lang="en-US"/>
        </a:p>
      </dgm:t>
    </dgm:pt>
    <dgm:pt modelId="{85418E1E-2E36-433A-A13F-84A8CF4861A7}">
      <dgm:prSet/>
      <dgm:spPr/>
      <dgm:t>
        <a:bodyPr/>
        <a:lstStyle/>
        <a:p>
          <a:r>
            <a:rPr lang="en-US"/>
            <a:t>Messages</a:t>
          </a:r>
        </a:p>
      </dgm:t>
    </dgm:pt>
    <dgm:pt modelId="{A65C99EA-7EAE-4DDE-A594-AB1FCBE62B72}" type="parTrans" cxnId="{60F064AA-A50A-4D8E-B509-EF83636BCD21}">
      <dgm:prSet/>
      <dgm:spPr/>
      <dgm:t>
        <a:bodyPr/>
        <a:lstStyle/>
        <a:p>
          <a:endParaRPr lang="en-US"/>
        </a:p>
      </dgm:t>
    </dgm:pt>
    <dgm:pt modelId="{EC10F652-2D49-4B75-BC08-789F86A0DE1B}" type="sibTrans" cxnId="{60F064AA-A50A-4D8E-B509-EF83636BCD21}">
      <dgm:prSet/>
      <dgm:spPr/>
      <dgm:t>
        <a:bodyPr/>
        <a:lstStyle/>
        <a:p>
          <a:endParaRPr lang="en-US"/>
        </a:p>
      </dgm:t>
    </dgm:pt>
    <dgm:pt modelId="{2E92AB3F-FF27-4942-996C-4A6937CBE9D1}">
      <dgm:prSet/>
      <dgm:spPr/>
      <dgm:t>
        <a:bodyPr/>
        <a:lstStyle/>
        <a:p>
          <a:r>
            <a:rPr lang="en-US"/>
            <a:t>Information travelling over the medium</a:t>
          </a:r>
        </a:p>
      </dgm:t>
    </dgm:pt>
    <dgm:pt modelId="{7EA7FAD7-0100-49D8-996F-B06999FDF79A}" type="parTrans" cxnId="{BB3D790E-4A7C-46A1-9174-9080C2FFA660}">
      <dgm:prSet/>
      <dgm:spPr/>
      <dgm:t>
        <a:bodyPr/>
        <a:lstStyle/>
        <a:p>
          <a:endParaRPr lang="en-US"/>
        </a:p>
      </dgm:t>
    </dgm:pt>
    <dgm:pt modelId="{77D953BC-ABDD-4936-A505-B36B94D8D089}" type="sibTrans" cxnId="{BB3D790E-4A7C-46A1-9174-9080C2FFA660}">
      <dgm:prSet/>
      <dgm:spPr/>
      <dgm:t>
        <a:bodyPr/>
        <a:lstStyle/>
        <a:p>
          <a:endParaRPr lang="en-US"/>
        </a:p>
      </dgm:t>
    </dgm:pt>
    <dgm:pt modelId="{C5433788-9548-40A7-98D9-1C62AAB4F6FD}">
      <dgm:prSet/>
      <dgm:spPr/>
      <dgm:t>
        <a:bodyPr/>
        <a:lstStyle/>
        <a:p>
          <a:r>
            <a:rPr lang="en-US"/>
            <a:t>Rules</a:t>
          </a:r>
        </a:p>
      </dgm:t>
    </dgm:pt>
    <dgm:pt modelId="{3187B0BF-2F65-4E63-ABF1-A04F6DE65F67}" type="parTrans" cxnId="{CDEEB3C5-7E89-42CD-BEDE-CB22A63708AB}">
      <dgm:prSet/>
      <dgm:spPr/>
      <dgm:t>
        <a:bodyPr/>
        <a:lstStyle/>
        <a:p>
          <a:endParaRPr lang="en-US"/>
        </a:p>
      </dgm:t>
    </dgm:pt>
    <dgm:pt modelId="{1E9AAE72-0E9E-4E30-95EE-3FB21823208B}" type="sibTrans" cxnId="{CDEEB3C5-7E89-42CD-BEDE-CB22A63708AB}">
      <dgm:prSet/>
      <dgm:spPr/>
      <dgm:t>
        <a:bodyPr/>
        <a:lstStyle/>
        <a:p>
          <a:endParaRPr lang="en-US"/>
        </a:p>
      </dgm:t>
    </dgm:pt>
    <dgm:pt modelId="{7E94A436-AC1D-4597-8368-CBDF06534B62}">
      <dgm:prSet/>
      <dgm:spPr/>
      <dgm:t>
        <a:bodyPr/>
        <a:lstStyle/>
        <a:p>
          <a:r>
            <a:rPr lang="en-US"/>
            <a:t>Governs how messages flow through a network</a:t>
          </a:r>
        </a:p>
      </dgm:t>
    </dgm:pt>
    <dgm:pt modelId="{5CB7AF13-4169-46E9-9505-9D3318194085}" type="parTrans" cxnId="{61003660-E244-4FAE-80BD-24D7DE981C17}">
      <dgm:prSet/>
      <dgm:spPr/>
      <dgm:t>
        <a:bodyPr/>
        <a:lstStyle/>
        <a:p>
          <a:endParaRPr lang="en-US"/>
        </a:p>
      </dgm:t>
    </dgm:pt>
    <dgm:pt modelId="{2B1BB040-516F-48DF-8B8B-9BE98B5267BB}" type="sibTrans" cxnId="{61003660-E244-4FAE-80BD-24D7DE981C17}">
      <dgm:prSet/>
      <dgm:spPr/>
      <dgm:t>
        <a:bodyPr/>
        <a:lstStyle/>
        <a:p>
          <a:endParaRPr lang="en-US"/>
        </a:p>
      </dgm:t>
    </dgm:pt>
    <dgm:pt modelId="{2B27AE6F-1C0E-41E6-898A-0CC73F260588}" type="pres">
      <dgm:prSet presAssocID="{04A15ED5-790F-4A5E-994A-7E23900110C6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3B304DD-D6DB-414C-B25A-8ED7DFB458D4}" type="pres">
      <dgm:prSet presAssocID="{E7D45332-BC8D-4103-88DB-743A97D46AD7}" presName="root" presStyleCnt="0"/>
      <dgm:spPr/>
    </dgm:pt>
    <dgm:pt modelId="{E9102E15-2B35-475A-88D1-B023861670C8}" type="pres">
      <dgm:prSet presAssocID="{E7D45332-BC8D-4103-88DB-743A97D46AD7}" presName="rootComposite" presStyleCnt="0"/>
      <dgm:spPr/>
    </dgm:pt>
    <dgm:pt modelId="{93FDE280-FA76-4185-A8C2-5FA6D09F5AF0}" type="pres">
      <dgm:prSet presAssocID="{E7D45332-BC8D-4103-88DB-743A97D46AD7}" presName="rootText" presStyleLbl="node1" presStyleIdx="0" presStyleCnt="4" custLinFactNeighborX="15570" custLinFactNeighborY="10779"/>
      <dgm:spPr/>
    </dgm:pt>
    <dgm:pt modelId="{81045016-EB86-4A93-9D43-6952B1ED2CDA}" type="pres">
      <dgm:prSet presAssocID="{E7D45332-BC8D-4103-88DB-743A97D46AD7}" presName="rootConnector" presStyleLbl="node1" presStyleIdx="0" presStyleCnt="4"/>
      <dgm:spPr/>
    </dgm:pt>
    <dgm:pt modelId="{B27CACC6-8FB7-4522-807F-7E2EBD77021A}" type="pres">
      <dgm:prSet presAssocID="{E7D45332-BC8D-4103-88DB-743A97D46AD7}" presName="childShape" presStyleCnt="0"/>
      <dgm:spPr/>
    </dgm:pt>
    <dgm:pt modelId="{B39BD4A0-E11A-4BB3-8943-4FBE5CD11ACE}" type="pres">
      <dgm:prSet presAssocID="{31853C7C-0381-4E38-881C-04B714A6FCA7}" presName="Name13" presStyleLbl="parChTrans1D2" presStyleIdx="0" presStyleCnt="4"/>
      <dgm:spPr/>
    </dgm:pt>
    <dgm:pt modelId="{8D4A8FA2-8486-4B0E-8E06-72CB8F057637}" type="pres">
      <dgm:prSet presAssocID="{FF222B91-65DF-422C-802B-D09EA1484C5E}" presName="childText" presStyleLbl="bgAcc1" presStyleIdx="0" presStyleCnt="4">
        <dgm:presLayoutVars>
          <dgm:bulletEnabled val="1"/>
        </dgm:presLayoutVars>
      </dgm:prSet>
      <dgm:spPr/>
    </dgm:pt>
    <dgm:pt modelId="{374A9122-9BBB-4BD4-96E2-DE2D00A5FD86}" type="pres">
      <dgm:prSet presAssocID="{D10FF8D1-A1B8-4B88-9C63-3692E6CF12BF}" presName="root" presStyleCnt="0"/>
      <dgm:spPr/>
    </dgm:pt>
    <dgm:pt modelId="{346A8DB8-2527-48BA-B525-0975F1A552BA}" type="pres">
      <dgm:prSet presAssocID="{D10FF8D1-A1B8-4B88-9C63-3692E6CF12BF}" presName="rootComposite" presStyleCnt="0"/>
      <dgm:spPr/>
    </dgm:pt>
    <dgm:pt modelId="{13325541-B58C-4B70-85F1-78D773810BDC}" type="pres">
      <dgm:prSet presAssocID="{D10FF8D1-A1B8-4B88-9C63-3692E6CF12BF}" presName="rootText" presStyleLbl="node1" presStyleIdx="1" presStyleCnt="4"/>
      <dgm:spPr/>
    </dgm:pt>
    <dgm:pt modelId="{7AD72E7B-1175-4DC8-8808-1B6B7384E369}" type="pres">
      <dgm:prSet presAssocID="{D10FF8D1-A1B8-4B88-9C63-3692E6CF12BF}" presName="rootConnector" presStyleLbl="node1" presStyleIdx="1" presStyleCnt="4"/>
      <dgm:spPr/>
    </dgm:pt>
    <dgm:pt modelId="{C677A704-286D-4704-AD2E-BBFD82DEC094}" type="pres">
      <dgm:prSet presAssocID="{D10FF8D1-A1B8-4B88-9C63-3692E6CF12BF}" presName="childShape" presStyleCnt="0"/>
      <dgm:spPr/>
    </dgm:pt>
    <dgm:pt modelId="{6BCC0361-74F4-4B6C-8240-DEDB3AD8E872}" type="pres">
      <dgm:prSet presAssocID="{B2CADA0D-A1EF-4B39-9D72-07DB470B090E}" presName="Name13" presStyleLbl="parChTrans1D2" presStyleIdx="1" presStyleCnt="4"/>
      <dgm:spPr/>
    </dgm:pt>
    <dgm:pt modelId="{32C9AA44-EE9B-46F5-A0CF-49F0DD26AA7E}" type="pres">
      <dgm:prSet presAssocID="{1A3F7D5A-89B9-437C-9E22-661B284E4F30}" presName="childText" presStyleLbl="bgAcc1" presStyleIdx="1" presStyleCnt="4">
        <dgm:presLayoutVars>
          <dgm:bulletEnabled val="1"/>
        </dgm:presLayoutVars>
      </dgm:prSet>
      <dgm:spPr/>
    </dgm:pt>
    <dgm:pt modelId="{E8E272DF-93AD-410D-8064-B07AA7635ACD}" type="pres">
      <dgm:prSet presAssocID="{85418E1E-2E36-433A-A13F-84A8CF4861A7}" presName="root" presStyleCnt="0"/>
      <dgm:spPr/>
    </dgm:pt>
    <dgm:pt modelId="{0EFD679B-838B-4232-A3CE-712DDD0D9A70}" type="pres">
      <dgm:prSet presAssocID="{85418E1E-2E36-433A-A13F-84A8CF4861A7}" presName="rootComposite" presStyleCnt="0"/>
      <dgm:spPr/>
    </dgm:pt>
    <dgm:pt modelId="{B59ED598-8945-46F6-BD2D-746E395D5327}" type="pres">
      <dgm:prSet presAssocID="{85418E1E-2E36-433A-A13F-84A8CF4861A7}" presName="rootText" presStyleLbl="node1" presStyleIdx="2" presStyleCnt="4"/>
      <dgm:spPr/>
    </dgm:pt>
    <dgm:pt modelId="{59DE6494-4C0B-47F8-92B4-464F48ECB299}" type="pres">
      <dgm:prSet presAssocID="{85418E1E-2E36-433A-A13F-84A8CF4861A7}" presName="rootConnector" presStyleLbl="node1" presStyleIdx="2" presStyleCnt="4"/>
      <dgm:spPr/>
    </dgm:pt>
    <dgm:pt modelId="{8B5046FC-1960-44B2-B1EC-31D646C795D2}" type="pres">
      <dgm:prSet presAssocID="{85418E1E-2E36-433A-A13F-84A8CF4861A7}" presName="childShape" presStyleCnt="0"/>
      <dgm:spPr/>
    </dgm:pt>
    <dgm:pt modelId="{BAF5F656-9368-420B-9543-3ADD12A45D79}" type="pres">
      <dgm:prSet presAssocID="{7EA7FAD7-0100-49D8-996F-B06999FDF79A}" presName="Name13" presStyleLbl="parChTrans1D2" presStyleIdx="2" presStyleCnt="4"/>
      <dgm:spPr/>
    </dgm:pt>
    <dgm:pt modelId="{641522DB-FFAF-4FF6-8033-22AE411047E3}" type="pres">
      <dgm:prSet presAssocID="{2E92AB3F-FF27-4942-996C-4A6937CBE9D1}" presName="childText" presStyleLbl="bgAcc1" presStyleIdx="2" presStyleCnt="4">
        <dgm:presLayoutVars>
          <dgm:bulletEnabled val="1"/>
        </dgm:presLayoutVars>
      </dgm:prSet>
      <dgm:spPr/>
    </dgm:pt>
    <dgm:pt modelId="{79919084-119B-473E-9CFB-7E257CAE8210}" type="pres">
      <dgm:prSet presAssocID="{C5433788-9548-40A7-98D9-1C62AAB4F6FD}" presName="root" presStyleCnt="0"/>
      <dgm:spPr/>
    </dgm:pt>
    <dgm:pt modelId="{E1B6FC55-2B6A-428E-8BF7-3CDA3319905B}" type="pres">
      <dgm:prSet presAssocID="{C5433788-9548-40A7-98D9-1C62AAB4F6FD}" presName="rootComposite" presStyleCnt="0"/>
      <dgm:spPr/>
    </dgm:pt>
    <dgm:pt modelId="{E68FFABE-58EA-4AB5-8D37-81F0840C0C35}" type="pres">
      <dgm:prSet presAssocID="{C5433788-9548-40A7-98D9-1C62AAB4F6FD}" presName="rootText" presStyleLbl="node1" presStyleIdx="3" presStyleCnt="4"/>
      <dgm:spPr/>
    </dgm:pt>
    <dgm:pt modelId="{92CB9F41-0F93-41C0-8700-06F98389B8D7}" type="pres">
      <dgm:prSet presAssocID="{C5433788-9548-40A7-98D9-1C62AAB4F6FD}" presName="rootConnector" presStyleLbl="node1" presStyleIdx="3" presStyleCnt="4"/>
      <dgm:spPr/>
    </dgm:pt>
    <dgm:pt modelId="{113A67C0-C1A1-4956-A8A2-064F06C3CEF2}" type="pres">
      <dgm:prSet presAssocID="{C5433788-9548-40A7-98D9-1C62AAB4F6FD}" presName="childShape" presStyleCnt="0"/>
      <dgm:spPr/>
    </dgm:pt>
    <dgm:pt modelId="{7BE26D1A-D51D-4479-B0BC-F99232A91A2D}" type="pres">
      <dgm:prSet presAssocID="{5CB7AF13-4169-46E9-9505-9D3318194085}" presName="Name13" presStyleLbl="parChTrans1D2" presStyleIdx="3" presStyleCnt="4"/>
      <dgm:spPr/>
    </dgm:pt>
    <dgm:pt modelId="{F2C914D8-C069-4B12-9290-84248D89C474}" type="pres">
      <dgm:prSet presAssocID="{7E94A436-AC1D-4597-8368-CBDF06534B62}" presName="childText" presStyleLbl="bgAcc1" presStyleIdx="3" presStyleCnt="4">
        <dgm:presLayoutVars>
          <dgm:bulletEnabled val="1"/>
        </dgm:presLayoutVars>
      </dgm:prSet>
      <dgm:spPr/>
    </dgm:pt>
  </dgm:ptLst>
  <dgm:cxnLst>
    <dgm:cxn modelId="{23627F0B-EC42-4DE2-AD6A-B4049F24917B}" type="presOf" srcId="{1A3F7D5A-89B9-437C-9E22-661B284E4F30}" destId="{32C9AA44-EE9B-46F5-A0CF-49F0DD26AA7E}" srcOrd="0" destOrd="0" presId="urn:microsoft.com/office/officeart/2005/8/layout/hierarchy3"/>
    <dgm:cxn modelId="{BB3D790E-4A7C-46A1-9174-9080C2FFA660}" srcId="{85418E1E-2E36-433A-A13F-84A8CF4861A7}" destId="{2E92AB3F-FF27-4942-996C-4A6937CBE9D1}" srcOrd="0" destOrd="0" parTransId="{7EA7FAD7-0100-49D8-996F-B06999FDF79A}" sibTransId="{77D953BC-ABDD-4936-A505-B36B94D8D089}"/>
    <dgm:cxn modelId="{26EC441B-BE91-472E-BA57-CD0CE98A47E3}" type="presOf" srcId="{E7D45332-BC8D-4103-88DB-743A97D46AD7}" destId="{93FDE280-FA76-4185-A8C2-5FA6D09F5AF0}" srcOrd="0" destOrd="0" presId="urn:microsoft.com/office/officeart/2005/8/layout/hierarchy3"/>
    <dgm:cxn modelId="{26A6112E-FC1C-4DF7-B450-D4F6ECFB2210}" type="presOf" srcId="{C5433788-9548-40A7-98D9-1C62AAB4F6FD}" destId="{E68FFABE-58EA-4AB5-8D37-81F0840C0C35}" srcOrd="0" destOrd="0" presId="urn:microsoft.com/office/officeart/2005/8/layout/hierarchy3"/>
    <dgm:cxn modelId="{DA79AC35-EC2D-4F62-8EEC-C8DD3E99AEA3}" type="presOf" srcId="{D10FF8D1-A1B8-4B88-9C63-3692E6CF12BF}" destId="{7AD72E7B-1175-4DC8-8808-1B6B7384E369}" srcOrd="1" destOrd="0" presId="urn:microsoft.com/office/officeart/2005/8/layout/hierarchy3"/>
    <dgm:cxn modelId="{2283E936-41C6-4A06-AA64-DFA5272731B0}" type="presOf" srcId="{2E92AB3F-FF27-4942-996C-4A6937CBE9D1}" destId="{641522DB-FFAF-4FF6-8033-22AE411047E3}" srcOrd="0" destOrd="0" presId="urn:microsoft.com/office/officeart/2005/8/layout/hierarchy3"/>
    <dgm:cxn modelId="{6D8D9A38-E7B6-49E8-9C23-0D16D89F9F6B}" type="presOf" srcId="{B2CADA0D-A1EF-4B39-9D72-07DB470B090E}" destId="{6BCC0361-74F4-4B6C-8240-DEDB3AD8E872}" srcOrd="0" destOrd="0" presId="urn:microsoft.com/office/officeart/2005/8/layout/hierarchy3"/>
    <dgm:cxn modelId="{50AED139-79CF-4E5E-BD31-4026D2A2F991}" type="presOf" srcId="{E7D45332-BC8D-4103-88DB-743A97D46AD7}" destId="{81045016-EB86-4A93-9D43-6952B1ED2CDA}" srcOrd="1" destOrd="0" presId="urn:microsoft.com/office/officeart/2005/8/layout/hierarchy3"/>
    <dgm:cxn modelId="{61003660-E244-4FAE-80BD-24D7DE981C17}" srcId="{C5433788-9548-40A7-98D9-1C62AAB4F6FD}" destId="{7E94A436-AC1D-4597-8368-CBDF06534B62}" srcOrd="0" destOrd="0" parTransId="{5CB7AF13-4169-46E9-9505-9D3318194085}" sibTransId="{2B1BB040-516F-48DF-8B8B-9BE98B5267BB}"/>
    <dgm:cxn modelId="{F0AB354B-9459-4CA4-9C08-17B78ABC8C9C}" srcId="{04A15ED5-790F-4A5E-994A-7E23900110C6}" destId="{D10FF8D1-A1B8-4B88-9C63-3692E6CF12BF}" srcOrd="1" destOrd="0" parTransId="{0B4A77F0-4CAE-4CE7-8561-7B356E891CC8}" sibTransId="{F81D8491-E3EA-4271-A0B0-7041B434FB2B}"/>
    <dgm:cxn modelId="{59B36F53-8A29-4631-B4A7-F0E100C529AD}" type="presOf" srcId="{5CB7AF13-4169-46E9-9505-9D3318194085}" destId="{7BE26D1A-D51D-4479-B0BC-F99232A91A2D}" srcOrd="0" destOrd="0" presId="urn:microsoft.com/office/officeart/2005/8/layout/hierarchy3"/>
    <dgm:cxn modelId="{261AD275-F7BC-42DD-A9CC-35893F057E85}" type="presOf" srcId="{31853C7C-0381-4E38-881C-04B714A6FCA7}" destId="{B39BD4A0-E11A-4BB3-8943-4FBE5CD11ACE}" srcOrd="0" destOrd="0" presId="urn:microsoft.com/office/officeart/2005/8/layout/hierarchy3"/>
    <dgm:cxn modelId="{6785A35A-5444-4FD6-B204-79774F1CEDE4}" type="presOf" srcId="{FF222B91-65DF-422C-802B-D09EA1484C5E}" destId="{8D4A8FA2-8486-4B0E-8E06-72CB8F057637}" srcOrd="0" destOrd="0" presId="urn:microsoft.com/office/officeart/2005/8/layout/hierarchy3"/>
    <dgm:cxn modelId="{91311891-8643-4D65-8BC6-8A306BEA0CB8}" srcId="{E7D45332-BC8D-4103-88DB-743A97D46AD7}" destId="{FF222B91-65DF-422C-802B-D09EA1484C5E}" srcOrd="0" destOrd="0" parTransId="{31853C7C-0381-4E38-881C-04B714A6FCA7}" sibTransId="{3ED52681-71B1-4EF0-BE48-A02154E2797C}"/>
    <dgm:cxn modelId="{05AF109F-D636-4D6F-B6C3-DC507760A8EB}" type="presOf" srcId="{85418E1E-2E36-433A-A13F-84A8CF4861A7}" destId="{B59ED598-8945-46F6-BD2D-746E395D5327}" srcOrd="0" destOrd="0" presId="urn:microsoft.com/office/officeart/2005/8/layout/hierarchy3"/>
    <dgm:cxn modelId="{60F064AA-A50A-4D8E-B509-EF83636BCD21}" srcId="{04A15ED5-790F-4A5E-994A-7E23900110C6}" destId="{85418E1E-2E36-433A-A13F-84A8CF4861A7}" srcOrd="2" destOrd="0" parTransId="{A65C99EA-7EAE-4DDE-A594-AB1FCBE62B72}" sibTransId="{EC10F652-2D49-4B75-BC08-789F86A0DE1B}"/>
    <dgm:cxn modelId="{2878FFB1-A401-49DE-A4D9-0DD6648BA720}" type="presOf" srcId="{04A15ED5-790F-4A5E-994A-7E23900110C6}" destId="{2B27AE6F-1C0E-41E6-898A-0CC73F260588}" srcOrd="0" destOrd="0" presId="urn:microsoft.com/office/officeart/2005/8/layout/hierarchy3"/>
    <dgm:cxn modelId="{CDEEB3C5-7E89-42CD-BEDE-CB22A63708AB}" srcId="{04A15ED5-790F-4A5E-994A-7E23900110C6}" destId="{C5433788-9548-40A7-98D9-1C62AAB4F6FD}" srcOrd="3" destOrd="0" parTransId="{3187B0BF-2F65-4E63-ABF1-A04F6DE65F67}" sibTransId="{1E9AAE72-0E9E-4E30-95EE-3FB21823208B}"/>
    <dgm:cxn modelId="{7116F1D2-EE52-4855-804E-86AD116493AE}" srcId="{D10FF8D1-A1B8-4B88-9C63-3692E6CF12BF}" destId="{1A3F7D5A-89B9-437C-9E22-661B284E4F30}" srcOrd="0" destOrd="0" parTransId="{B2CADA0D-A1EF-4B39-9D72-07DB470B090E}" sibTransId="{1BADEF69-A2D1-4CC3-A3EF-9093E54CD92B}"/>
    <dgm:cxn modelId="{B2E2AED3-979E-49A7-9070-726B69619D1A}" type="presOf" srcId="{D10FF8D1-A1B8-4B88-9C63-3692E6CF12BF}" destId="{13325541-B58C-4B70-85F1-78D773810BDC}" srcOrd="0" destOrd="0" presId="urn:microsoft.com/office/officeart/2005/8/layout/hierarchy3"/>
    <dgm:cxn modelId="{84819AEB-0113-4184-8349-F864836A1333}" type="presOf" srcId="{C5433788-9548-40A7-98D9-1C62AAB4F6FD}" destId="{92CB9F41-0F93-41C0-8700-06F98389B8D7}" srcOrd="1" destOrd="0" presId="urn:microsoft.com/office/officeart/2005/8/layout/hierarchy3"/>
    <dgm:cxn modelId="{8D44C8EC-E803-4EBD-8552-487AC4C755E9}" type="presOf" srcId="{85418E1E-2E36-433A-A13F-84A8CF4861A7}" destId="{59DE6494-4C0B-47F8-92B4-464F48ECB299}" srcOrd="1" destOrd="0" presId="urn:microsoft.com/office/officeart/2005/8/layout/hierarchy3"/>
    <dgm:cxn modelId="{1E7F4BF5-CCB1-4968-BC35-8711BB1DF0F5}" type="presOf" srcId="{7EA7FAD7-0100-49D8-996F-B06999FDF79A}" destId="{BAF5F656-9368-420B-9543-3ADD12A45D79}" srcOrd="0" destOrd="0" presId="urn:microsoft.com/office/officeart/2005/8/layout/hierarchy3"/>
    <dgm:cxn modelId="{5A2171FB-BE3E-4C96-BB78-16395D85FEF5}" type="presOf" srcId="{7E94A436-AC1D-4597-8368-CBDF06534B62}" destId="{F2C914D8-C069-4B12-9290-84248D89C474}" srcOrd="0" destOrd="0" presId="urn:microsoft.com/office/officeart/2005/8/layout/hierarchy3"/>
    <dgm:cxn modelId="{0B8E6AFD-CE9A-4750-81B0-D2085DE5BE67}" srcId="{04A15ED5-790F-4A5E-994A-7E23900110C6}" destId="{E7D45332-BC8D-4103-88DB-743A97D46AD7}" srcOrd="0" destOrd="0" parTransId="{44BB9F97-F539-4B6A-BE90-5E8962E8874A}" sibTransId="{B367864A-BBC1-41B9-8A25-C48410870A5E}"/>
    <dgm:cxn modelId="{833F68B9-8CC8-472E-A668-BAB2CD589C47}" type="presParOf" srcId="{2B27AE6F-1C0E-41E6-898A-0CC73F260588}" destId="{73B304DD-D6DB-414C-B25A-8ED7DFB458D4}" srcOrd="0" destOrd="0" presId="urn:microsoft.com/office/officeart/2005/8/layout/hierarchy3"/>
    <dgm:cxn modelId="{A9165FB9-526A-4F14-96F7-147AEE91B999}" type="presParOf" srcId="{73B304DD-D6DB-414C-B25A-8ED7DFB458D4}" destId="{E9102E15-2B35-475A-88D1-B023861670C8}" srcOrd="0" destOrd="0" presId="urn:microsoft.com/office/officeart/2005/8/layout/hierarchy3"/>
    <dgm:cxn modelId="{40B38F31-F9E8-4927-9438-4960E64B73BE}" type="presParOf" srcId="{E9102E15-2B35-475A-88D1-B023861670C8}" destId="{93FDE280-FA76-4185-A8C2-5FA6D09F5AF0}" srcOrd="0" destOrd="0" presId="urn:microsoft.com/office/officeart/2005/8/layout/hierarchy3"/>
    <dgm:cxn modelId="{5D1D26FF-5ABA-4BF5-884D-E045A0AB4418}" type="presParOf" srcId="{E9102E15-2B35-475A-88D1-B023861670C8}" destId="{81045016-EB86-4A93-9D43-6952B1ED2CDA}" srcOrd="1" destOrd="0" presId="urn:microsoft.com/office/officeart/2005/8/layout/hierarchy3"/>
    <dgm:cxn modelId="{D34384BD-FD72-4FE3-983F-18C1417FF775}" type="presParOf" srcId="{73B304DD-D6DB-414C-B25A-8ED7DFB458D4}" destId="{B27CACC6-8FB7-4522-807F-7E2EBD77021A}" srcOrd="1" destOrd="0" presId="urn:microsoft.com/office/officeart/2005/8/layout/hierarchy3"/>
    <dgm:cxn modelId="{FBCAB764-463F-4023-9304-E5C6992E07E1}" type="presParOf" srcId="{B27CACC6-8FB7-4522-807F-7E2EBD77021A}" destId="{B39BD4A0-E11A-4BB3-8943-4FBE5CD11ACE}" srcOrd="0" destOrd="0" presId="urn:microsoft.com/office/officeart/2005/8/layout/hierarchy3"/>
    <dgm:cxn modelId="{CB5F7C42-0BE7-4F31-93FB-08901DB14DD5}" type="presParOf" srcId="{B27CACC6-8FB7-4522-807F-7E2EBD77021A}" destId="{8D4A8FA2-8486-4B0E-8E06-72CB8F057637}" srcOrd="1" destOrd="0" presId="urn:microsoft.com/office/officeart/2005/8/layout/hierarchy3"/>
    <dgm:cxn modelId="{03214848-FF26-4C98-A83E-BA64184EA88A}" type="presParOf" srcId="{2B27AE6F-1C0E-41E6-898A-0CC73F260588}" destId="{374A9122-9BBB-4BD4-96E2-DE2D00A5FD86}" srcOrd="1" destOrd="0" presId="urn:microsoft.com/office/officeart/2005/8/layout/hierarchy3"/>
    <dgm:cxn modelId="{2921E286-98F8-4E72-A2FC-173DCA9D506E}" type="presParOf" srcId="{374A9122-9BBB-4BD4-96E2-DE2D00A5FD86}" destId="{346A8DB8-2527-48BA-B525-0975F1A552BA}" srcOrd="0" destOrd="0" presId="urn:microsoft.com/office/officeart/2005/8/layout/hierarchy3"/>
    <dgm:cxn modelId="{2BBEC536-8FFF-4AF0-9EFA-BE1E1FC608F9}" type="presParOf" srcId="{346A8DB8-2527-48BA-B525-0975F1A552BA}" destId="{13325541-B58C-4B70-85F1-78D773810BDC}" srcOrd="0" destOrd="0" presId="urn:microsoft.com/office/officeart/2005/8/layout/hierarchy3"/>
    <dgm:cxn modelId="{AB776450-B72F-4FE0-A0FF-B58AE7E36F9B}" type="presParOf" srcId="{346A8DB8-2527-48BA-B525-0975F1A552BA}" destId="{7AD72E7B-1175-4DC8-8808-1B6B7384E369}" srcOrd="1" destOrd="0" presId="urn:microsoft.com/office/officeart/2005/8/layout/hierarchy3"/>
    <dgm:cxn modelId="{1E1A4269-27D4-4123-B71A-F28D08A6656E}" type="presParOf" srcId="{374A9122-9BBB-4BD4-96E2-DE2D00A5FD86}" destId="{C677A704-286D-4704-AD2E-BBFD82DEC094}" srcOrd="1" destOrd="0" presId="urn:microsoft.com/office/officeart/2005/8/layout/hierarchy3"/>
    <dgm:cxn modelId="{41C5618C-6351-41C0-ADBA-0E9BFDC3DBF9}" type="presParOf" srcId="{C677A704-286D-4704-AD2E-BBFD82DEC094}" destId="{6BCC0361-74F4-4B6C-8240-DEDB3AD8E872}" srcOrd="0" destOrd="0" presId="urn:microsoft.com/office/officeart/2005/8/layout/hierarchy3"/>
    <dgm:cxn modelId="{4853C72B-0DD2-4584-B011-491EBBAAD217}" type="presParOf" srcId="{C677A704-286D-4704-AD2E-BBFD82DEC094}" destId="{32C9AA44-EE9B-46F5-A0CF-49F0DD26AA7E}" srcOrd="1" destOrd="0" presId="urn:microsoft.com/office/officeart/2005/8/layout/hierarchy3"/>
    <dgm:cxn modelId="{B0522A99-7619-4746-88A2-5ED1CEFBADEC}" type="presParOf" srcId="{2B27AE6F-1C0E-41E6-898A-0CC73F260588}" destId="{E8E272DF-93AD-410D-8064-B07AA7635ACD}" srcOrd="2" destOrd="0" presId="urn:microsoft.com/office/officeart/2005/8/layout/hierarchy3"/>
    <dgm:cxn modelId="{BEF0FA0B-6F5B-48CA-9054-5246553C9F27}" type="presParOf" srcId="{E8E272DF-93AD-410D-8064-B07AA7635ACD}" destId="{0EFD679B-838B-4232-A3CE-712DDD0D9A70}" srcOrd="0" destOrd="0" presId="urn:microsoft.com/office/officeart/2005/8/layout/hierarchy3"/>
    <dgm:cxn modelId="{80C1D54E-439B-4354-8EC1-CED40CA758FA}" type="presParOf" srcId="{0EFD679B-838B-4232-A3CE-712DDD0D9A70}" destId="{B59ED598-8945-46F6-BD2D-746E395D5327}" srcOrd="0" destOrd="0" presId="urn:microsoft.com/office/officeart/2005/8/layout/hierarchy3"/>
    <dgm:cxn modelId="{EA1E0E45-E0A0-4AAD-82DA-BC1A37A799B6}" type="presParOf" srcId="{0EFD679B-838B-4232-A3CE-712DDD0D9A70}" destId="{59DE6494-4C0B-47F8-92B4-464F48ECB299}" srcOrd="1" destOrd="0" presId="urn:microsoft.com/office/officeart/2005/8/layout/hierarchy3"/>
    <dgm:cxn modelId="{6F44F9B5-CDA9-4DFF-ABB5-2621FB6990D3}" type="presParOf" srcId="{E8E272DF-93AD-410D-8064-B07AA7635ACD}" destId="{8B5046FC-1960-44B2-B1EC-31D646C795D2}" srcOrd="1" destOrd="0" presId="urn:microsoft.com/office/officeart/2005/8/layout/hierarchy3"/>
    <dgm:cxn modelId="{A67583B5-20F7-41B1-B97E-FAE41F2E1CFB}" type="presParOf" srcId="{8B5046FC-1960-44B2-B1EC-31D646C795D2}" destId="{BAF5F656-9368-420B-9543-3ADD12A45D79}" srcOrd="0" destOrd="0" presId="urn:microsoft.com/office/officeart/2005/8/layout/hierarchy3"/>
    <dgm:cxn modelId="{48984262-DCCF-4677-B9AF-0498C013A6BC}" type="presParOf" srcId="{8B5046FC-1960-44B2-B1EC-31D646C795D2}" destId="{641522DB-FFAF-4FF6-8033-22AE411047E3}" srcOrd="1" destOrd="0" presId="urn:microsoft.com/office/officeart/2005/8/layout/hierarchy3"/>
    <dgm:cxn modelId="{E70D9B3D-EA8C-4C70-A572-F26992A8E6EB}" type="presParOf" srcId="{2B27AE6F-1C0E-41E6-898A-0CC73F260588}" destId="{79919084-119B-473E-9CFB-7E257CAE8210}" srcOrd="3" destOrd="0" presId="urn:microsoft.com/office/officeart/2005/8/layout/hierarchy3"/>
    <dgm:cxn modelId="{5D1D74E3-DA48-4A68-B229-7F39CBF5CAAA}" type="presParOf" srcId="{79919084-119B-473E-9CFB-7E257CAE8210}" destId="{E1B6FC55-2B6A-428E-8BF7-3CDA3319905B}" srcOrd="0" destOrd="0" presId="urn:microsoft.com/office/officeart/2005/8/layout/hierarchy3"/>
    <dgm:cxn modelId="{7A89C11D-18C7-4AB7-8C43-A9923960009D}" type="presParOf" srcId="{E1B6FC55-2B6A-428E-8BF7-3CDA3319905B}" destId="{E68FFABE-58EA-4AB5-8D37-81F0840C0C35}" srcOrd="0" destOrd="0" presId="urn:microsoft.com/office/officeart/2005/8/layout/hierarchy3"/>
    <dgm:cxn modelId="{F0C60872-C8EF-4B9C-A1ED-43B0C8188E59}" type="presParOf" srcId="{E1B6FC55-2B6A-428E-8BF7-3CDA3319905B}" destId="{92CB9F41-0F93-41C0-8700-06F98389B8D7}" srcOrd="1" destOrd="0" presId="urn:microsoft.com/office/officeart/2005/8/layout/hierarchy3"/>
    <dgm:cxn modelId="{C0A4FA08-E0F2-4020-9204-4D1CC94B26BE}" type="presParOf" srcId="{79919084-119B-473E-9CFB-7E257CAE8210}" destId="{113A67C0-C1A1-4956-A8A2-064F06C3CEF2}" srcOrd="1" destOrd="0" presId="urn:microsoft.com/office/officeart/2005/8/layout/hierarchy3"/>
    <dgm:cxn modelId="{6A705B06-1C94-424B-A9D2-388A10AEF3AC}" type="presParOf" srcId="{113A67C0-C1A1-4956-A8A2-064F06C3CEF2}" destId="{7BE26D1A-D51D-4479-B0BC-F99232A91A2D}" srcOrd="0" destOrd="0" presId="urn:microsoft.com/office/officeart/2005/8/layout/hierarchy3"/>
    <dgm:cxn modelId="{CDAFFC88-B8F5-4138-84FB-0980D38953C6}" type="presParOf" srcId="{113A67C0-C1A1-4956-A8A2-064F06C3CEF2}" destId="{F2C914D8-C069-4B12-9290-84248D89C474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FDE280-FA76-4185-A8C2-5FA6D09F5AF0}">
      <dsp:nvSpPr>
        <dsp:cNvPr id="0" name=""/>
        <dsp:cNvSpPr/>
      </dsp:nvSpPr>
      <dsp:spPr>
        <a:xfrm>
          <a:off x="346489" y="1050126"/>
          <a:ext cx="2212999" cy="11064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43180" rIns="6477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Devices</a:t>
          </a:r>
        </a:p>
      </dsp:txBody>
      <dsp:txXfrm>
        <a:off x="378897" y="1082534"/>
        <a:ext cx="2148183" cy="1041683"/>
      </dsp:txXfrm>
    </dsp:sp>
    <dsp:sp modelId="{B39BD4A0-E11A-4BB3-8943-4FBE5CD11ACE}">
      <dsp:nvSpPr>
        <dsp:cNvPr id="0" name=""/>
        <dsp:cNvSpPr/>
      </dsp:nvSpPr>
      <dsp:spPr>
        <a:xfrm>
          <a:off x="444525" y="2156626"/>
          <a:ext cx="123264" cy="710605"/>
        </a:xfrm>
        <a:custGeom>
          <a:avLst/>
          <a:gdLst/>
          <a:ahLst/>
          <a:cxnLst/>
          <a:rect l="0" t="0" r="0" b="0"/>
          <a:pathLst>
            <a:path>
              <a:moveTo>
                <a:pt x="123264" y="0"/>
              </a:moveTo>
              <a:lnTo>
                <a:pt x="0" y="71060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4A8FA2-8486-4B0E-8E06-72CB8F057637}">
      <dsp:nvSpPr>
        <dsp:cNvPr id="0" name=""/>
        <dsp:cNvSpPr/>
      </dsp:nvSpPr>
      <dsp:spPr>
        <a:xfrm>
          <a:off x="444525" y="2313981"/>
          <a:ext cx="1770399" cy="1106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Communicate with one another</a:t>
          </a:r>
        </a:p>
      </dsp:txBody>
      <dsp:txXfrm>
        <a:off x="476933" y="2346389"/>
        <a:ext cx="1705583" cy="1041683"/>
      </dsp:txXfrm>
    </dsp:sp>
    <dsp:sp modelId="{13325541-B58C-4B70-85F1-78D773810BDC}">
      <dsp:nvSpPr>
        <dsp:cNvPr id="0" name=""/>
        <dsp:cNvSpPr/>
      </dsp:nvSpPr>
      <dsp:spPr>
        <a:xfrm>
          <a:off x="2768175" y="930856"/>
          <a:ext cx="2212999" cy="11064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43180" rIns="6477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Physical Medium</a:t>
          </a:r>
        </a:p>
      </dsp:txBody>
      <dsp:txXfrm>
        <a:off x="2800583" y="963264"/>
        <a:ext cx="2148183" cy="1041683"/>
      </dsp:txXfrm>
    </dsp:sp>
    <dsp:sp modelId="{6BCC0361-74F4-4B6C-8240-DEDB3AD8E872}">
      <dsp:nvSpPr>
        <dsp:cNvPr id="0" name=""/>
        <dsp:cNvSpPr/>
      </dsp:nvSpPr>
      <dsp:spPr>
        <a:xfrm>
          <a:off x="2989475" y="2037356"/>
          <a:ext cx="221299" cy="829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29874"/>
              </a:lnTo>
              <a:lnTo>
                <a:pt x="221299" y="82987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C9AA44-EE9B-46F5-A0CF-49F0DD26AA7E}">
      <dsp:nvSpPr>
        <dsp:cNvPr id="0" name=""/>
        <dsp:cNvSpPr/>
      </dsp:nvSpPr>
      <dsp:spPr>
        <a:xfrm>
          <a:off x="3210775" y="2313981"/>
          <a:ext cx="1770399" cy="1106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Used to connect devices</a:t>
          </a:r>
        </a:p>
      </dsp:txBody>
      <dsp:txXfrm>
        <a:off x="3243183" y="2346389"/>
        <a:ext cx="1705583" cy="1041683"/>
      </dsp:txXfrm>
    </dsp:sp>
    <dsp:sp modelId="{B59ED598-8945-46F6-BD2D-746E395D5327}">
      <dsp:nvSpPr>
        <dsp:cNvPr id="0" name=""/>
        <dsp:cNvSpPr/>
      </dsp:nvSpPr>
      <dsp:spPr>
        <a:xfrm>
          <a:off x="5534424" y="930856"/>
          <a:ext cx="2212999" cy="11064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43180" rIns="6477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Messages</a:t>
          </a:r>
        </a:p>
      </dsp:txBody>
      <dsp:txXfrm>
        <a:off x="5566832" y="963264"/>
        <a:ext cx="2148183" cy="1041683"/>
      </dsp:txXfrm>
    </dsp:sp>
    <dsp:sp modelId="{BAF5F656-9368-420B-9543-3ADD12A45D79}">
      <dsp:nvSpPr>
        <dsp:cNvPr id="0" name=""/>
        <dsp:cNvSpPr/>
      </dsp:nvSpPr>
      <dsp:spPr>
        <a:xfrm>
          <a:off x="5755724" y="2037356"/>
          <a:ext cx="221299" cy="829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29874"/>
              </a:lnTo>
              <a:lnTo>
                <a:pt x="221299" y="82987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1522DB-FFAF-4FF6-8033-22AE411047E3}">
      <dsp:nvSpPr>
        <dsp:cNvPr id="0" name=""/>
        <dsp:cNvSpPr/>
      </dsp:nvSpPr>
      <dsp:spPr>
        <a:xfrm>
          <a:off x="5977024" y="2313981"/>
          <a:ext cx="1770399" cy="1106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Information travelling over the medium</a:t>
          </a:r>
        </a:p>
      </dsp:txBody>
      <dsp:txXfrm>
        <a:off x="6009432" y="2346389"/>
        <a:ext cx="1705583" cy="1041683"/>
      </dsp:txXfrm>
    </dsp:sp>
    <dsp:sp modelId="{E68FFABE-58EA-4AB5-8D37-81F0840C0C35}">
      <dsp:nvSpPr>
        <dsp:cNvPr id="0" name=""/>
        <dsp:cNvSpPr/>
      </dsp:nvSpPr>
      <dsp:spPr>
        <a:xfrm>
          <a:off x="8300674" y="930856"/>
          <a:ext cx="2212999" cy="11064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43180" rIns="6477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Rules</a:t>
          </a:r>
        </a:p>
      </dsp:txBody>
      <dsp:txXfrm>
        <a:off x="8333082" y="963264"/>
        <a:ext cx="2148183" cy="1041683"/>
      </dsp:txXfrm>
    </dsp:sp>
    <dsp:sp modelId="{7BE26D1A-D51D-4479-B0BC-F99232A91A2D}">
      <dsp:nvSpPr>
        <dsp:cNvPr id="0" name=""/>
        <dsp:cNvSpPr/>
      </dsp:nvSpPr>
      <dsp:spPr>
        <a:xfrm>
          <a:off x="8521974" y="2037356"/>
          <a:ext cx="221299" cy="829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29874"/>
              </a:lnTo>
              <a:lnTo>
                <a:pt x="221299" y="82987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C914D8-C069-4B12-9290-84248D89C474}">
      <dsp:nvSpPr>
        <dsp:cNvPr id="0" name=""/>
        <dsp:cNvSpPr/>
      </dsp:nvSpPr>
      <dsp:spPr>
        <a:xfrm>
          <a:off x="8743274" y="2313981"/>
          <a:ext cx="1770399" cy="1106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Governs how messages flow through a network</a:t>
          </a:r>
        </a:p>
      </dsp:txBody>
      <dsp:txXfrm>
        <a:off x="8775682" y="2346389"/>
        <a:ext cx="1705583" cy="10416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E42408-4F80-458C-BF9E-D003E19AA17F}" type="datetimeFigureOut">
              <a:rPr lang="en-US"/>
              <a:t>9/21/2020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E90341-E123-41B7-9138-DC1D29E0C6A4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39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Going back a few decades, machines worked in isolation. Cars originally were very electromechanical. Could be thought of as information islands.</a:t>
            </a:r>
          </a:p>
          <a:p>
            <a:r>
              <a:rPr lang="en-US" dirty="0">
                <a:cs typeface="Calibri"/>
              </a:rPr>
              <a:t>Jump forward to today – everything is getting connected, not just computers, but pretty much anything you can think of. Example in modern cars – connect to roadside </a:t>
            </a:r>
            <a:r>
              <a:rPr lang="en-US" dirty="0" err="1">
                <a:cs typeface="Calibri"/>
              </a:rPr>
              <a:t>infrastrure</a:t>
            </a:r>
            <a:r>
              <a:rPr lang="en-US" dirty="0">
                <a:cs typeface="Calibri"/>
              </a:rPr>
              <a:t> and other cars. </a:t>
            </a:r>
            <a:r>
              <a:rPr lang="en-US" dirty="0" err="1">
                <a:cs typeface="Calibri"/>
              </a:rPr>
              <a:t>Autonamous</a:t>
            </a:r>
            <a:r>
              <a:rPr lang="en-US" dirty="0">
                <a:cs typeface="Calibri"/>
              </a:rPr>
              <a:t>. Also can react to events (sensors in cars can detect impact/orientation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E90341-E123-41B7-9138-DC1D29E0C6A4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5637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Set of </a:t>
            </a:r>
            <a:r>
              <a:rPr lang="en-IE" dirty="0" err="1"/>
              <a:t>rpotocols</a:t>
            </a:r>
            <a:r>
              <a:rPr lang="en-IE" dirty="0"/>
              <a:t> that have </a:t>
            </a:r>
            <a:r>
              <a:rPr lang="en-IE" dirty="0" err="1"/>
              <a:t>cnaged</a:t>
            </a:r>
            <a:r>
              <a:rPr lang="en-IE" dirty="0"/>
              <a:t> everything. </a:t>
            </a:r>
          </a:p>
          <a:p>
            <a:endParaRPr lang="en-IE" dirty="0"/>
          </a:p>
          <a:p>
            <a:endParaRPr lang="en-IE" dirty="0"/>
          </a:p>
          <a:p>
            <a:r>
              <a:rPr lang="en-IE" dirty="0"/>
              <a:t>Despite the number of devices, the physical nature if the internet has not changed that much: </a:t>
            </a:r>
            <a:br>
              <a:rPr lang="en-IE" dirty="0"/>
            </a:br>
            <a:r>
              <a:rPr lang="en-IE" dirty="0"/>
              <a:t>Lay fibre optic cables in pretty much the same way since the telegraph wires</a:t>
            </a:r>
          </a:p>
          <a:p>
            <a:endParaRPr lang="en-I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dirty="0"/>
              <a:t>More networks of the internet connect together.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90341-E123-41B7-9138-DC1D29E0C6A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1483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80s – isolates</a:t>
            </a:r>
          </a:p>
          <a:p>
            <a:r>
              <a:rPr lang="en-IE" dirty="0"/>
              <a:t>90s – fixed</a:t>
            </a:r>
          </a:p>
          <a:p>
            <a:r>
              <a:rPr lang="en-IE" dirty="0"/>
              <a:t>00s – laptops</a:t>
            </a:r>
          </a:p>
          <a:p>
            <a:r>
              <a:rPr lang="en-IE" dirty="0"/>
              <a:t>10s – IoT</a:t>
            </a:r>
          </a:p>
          <a:p>
            <a:r>
              <a:rPr lang="en-IE" dirty="0"/>
              <a:t>20s - IoE</a:t>
            </a:r>
          </a:p>
          <a:p>
            <a:r>
              <a:rPr lang="en-IE" dirty="0"/>
              <a:t>Despite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90341-E123-41B7-9138-DC1D29E0C6A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9033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Physical topology diagrams illustrate the physical location of intermediary devices and cable installation.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0000"/>
                </a:solidFill>
              </a:rPr>
              <a:t>Logical topology diagrams illustrate devices, ports, and the addressing scheme of the network.</a:t>
            </a:r>
            <a:endParaRPr lang="en-CA" altLang="en-US" sz="1200" dirty="0">
              <a:solidFill>
                <a:srgbClr val="000000"/>
              </a:solidFill>
            </a:endParaRP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90341-E123-41B7-9138-DC1D29E0C6A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50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dirty="0"/>
              <a:t>Encapsulation is the process where protocols add their information to the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At each stage of the process, a PDU has a different name to reflect its new functions.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There is no universal naming convention for PDUs, in this course, the PDUs are named according to the protocols of the TCP/IP suite.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PDUs passing down the stack are as follows:</a:t>
            </a:r>
          </a:p>
          <a:p>
            <a:pPr marL="485775" lvl="1" indent="-342900">
              <a:buFont typeface="+mj-lt"/>
              <a:buAutoNum type="arabicPeriod"/>
            </a:pPr>
            <a:r>
              <a:rPr lang="en-US" sz="1600" dirty="0"/>
              <a:t>Data (Data Stream)</a:t>
            </a:r>
          </a:p>
          <a:p>
            <a:pPr marL="485775" lvl="1" indent="-342900">
              <a:buFont typeface="+mj-lt"/>
              <a:buAutoNum type="arabicPeriod"/>
            </a:pPr>
            <a:r>
              <a:rPr lang="en-US" sz="1600" dirty="0"/>
              <a:t>Segment</a:t>
            </a:r>
          </a:p>
          <a:p>
            <a:pPr marL="485775" lvl="1" indent="-342900">
              <a:buFont typeface="+mj-lt"/>
              <a:buAutoNum type="arabicPeriod"/>
            </a:pPr>
            <a:r>
              <a:rPr lang="en-US" sz="1600" dirty="0"/>
              <a:t>Packet</a:t>
            </a:r>
          </a:p>
          <a:p>
            <a:pPr marL="485775" lvl="1" indent="-342900">
              <a:buFont typeface="+mj-lt"/>
              <a:buAutoNum type="arabicPeriod"/>
            </a:pPr>
            <a:r>
              <a:rPr lang="en-US" sz="1600" dirty="0"/>
              <a:t>Frame</a:t>
            </a:r>
          </a:p>
          <a:p>
            <a:pPr marL="485775" lvl="1" indent="-342900">
              <a:buFont typeface="+mj-lt"/>
              <a:buAutoNum type="arabicPeriod"/>
            </a:pPr>
            <a:r>
              <a:rPr lang="en-US" sz="1600" dirty="0"/>
              <a:t>Bits (Bit Stream)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90341-E123-41B7-9138-DC1D29E0C6A4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506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7650DC-A9E6-4029-8E34-5572DB096263}" type="slidenum">
              <a:rPr lang="en-IE" smtClean="0"/>
              <a:t>44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293829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Protocols and Models</a:t>
            </a:r>
          </a:p>
          <a:p>
            <a:pPr>
              <a:buFontTx/>
              <a:buNone/>
            </a:pPr>
            <a:r>
              <a:rPr lang="en-US" sz="1200" b="0" dirty="0"/>
              <a:t>3.7 – Data</a:t>
            </a:r>
            <a:r>
              <a:rPr lang="en-US" sz="1200" b="0" baseline="0" dirty="0"/>
              <a:t> Access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3.7.1 – Addresses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47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4006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Protocols and Models</a:t>
            </a:r>
          </a:p>
          <a:p>
            <a:pPr>
              <a:buFontTx/>
              <a:buNone/>
            </a:pPr>
            <a:r>
              <a:rPr lang="en-US" sz="1200" b="0" dirty="0"/>
              <a:t>3.7 – Data</a:t>
            </a:r>
            <a:r>
              <a:rPr lang="en-US" sz="1200" b="0" baseline="0" dirty="0"/>
              <a:t> Access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3.7.2 – </a:t>
            </a:r>
            <a:r>
              <a:rPr lang="en-US" altLang="en-US" dirty="0"/>
              <a:t>Layer 3 Logical Address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48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4006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Protocols and Models</a:t>
            </a:r>
          </a:p>
          <a:p>
            <a:pPr>
              <a:buFontTx/>
              <a:buNone/>
            </a:pPr>
            <a:r>
              <a:rPr lang="en-US" sz="1200" b="0" dirty="0"/>
              <a:t>3.7 – Data</a:t>
            </a:r>
            <a:r>
              <a:rPr lang="en-US" sz="1200" b="0" baseline="0" dirty="0"/>
              <a:t> Access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3.7.2 – </a:t>
            </a:r>
            <a:r>
              <a:rPr lang="en-US" altLang="en-US" dirty="0"/>
              <a:t>Layer 3 Logical Address (Cont.)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49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4006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Protocols and Models</a:t>
            </a:r>
          </a:p>
          <a:p>
            <a:pPr>
              <a:buFontTx/>
              <a:buNone/>
            </a:pPr>
            <a:r>
              <a:rPr lang="en-US" sz="1200" b="0" dirty="0"/>
              <a:t>3.7 – Data</a:t>
            </a:r>
            <a:r>
              <a:rPr lang="en-US" sz="1200" b="0" baseline="0" dirty="0"/>
              <a:t> Access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3.7.3 – </a:t>
            </a:r>
            <a:r>
              <a:rPr lang="en-US" altLang="en-US" dirty="0"/>
              <a:t>Devices on the Same Network-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50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4006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Protocols and Models</a:t>
            </a:r>
          </a:p>
          <a:p>
            <a:pPr>
              <a:buFontTx/>
              <a:buNone/>
            </a:pPr>
            <a:r>
              <a:rPr lang="en-US" sz="1200" b="0" dirty="0"/>
              <a:t>3.7 – Data</a:t>
            </a:r>
            <a:r>
              <a:rPr lang="en-US" sz="1200" b="0" baseline="0" dirty="0"/>
              <a:t> Access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3.7.4 – </a:t>
            </a:r>
            <a:r>
              <a:rPr lang="en-US" altLang="en-US" dirty="0"/>
              <a:t>Role of the Data Link Layer Addresses: Same IP Network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51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4006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Protocols and Models</a:t>
            </a:r>
          </a:p>
          <a:p>
            <a:pPr>
              <a:buFontTx/>
              <a:buNone/>
            </a:pPr>
            <a:r>
              <a:rPr lang="en-US" sz="1200" b="0" dirty="0"/>
              <a:t>3.7 – Data</a:t>
            </a:r>
            <a:r>
              <a:rPr lang="en-US" sz="1200" b="0" baseline="0" dirty="0"/>
              <a:t> Access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3.7.5 – </a:t>
            </a:r>
            <a:r>
              <a:rPr lang="en-US" altLang="en-US" dirty="0"/>
              <a:t>Devices on a Remote Network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52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23459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Protocols and Models</a:t>
            </a:r>
          </a:p>
          <a:p>
            <a:pPr>
              <a:buFontTx/>
              <a:buNone/>
            </a:pPr>
            <a:r>
              <a:rPr lang="en-US" sz="1200" b="0" dirty="0"/>
              <a:t>3.7 – Data</a:t>
            </a:r>
            <a:r>
              <a:rPr lang="en-US" sz="1200" b="0" baseline="0" dirty="0"/>
              <a:t> Access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3.7.6 – </a:t>
            </a:r>
            <a:r>
              <a:rPr lang="en-US" altLang="en-US" dirty="0"/>
              <a:t>Role of the Network Layer Addresses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53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78384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Protocols and Models</a:t>
            </a:r>
          </a:p>
          <a:p>
            <a:pPr>
              <a:buFontTx/>
              <a:buNone/>
            </a:pPr>
            <a:r>
              <a:rPr lang="en-US" sz="1200" b="0" dirty="0"/>
              <a:t>3.7 – Data</a:t>
            </a:r>
            <a:r>
              <a:rPr lang="en-US" sz="1200" b="0" baseline="0" dirty="0"/>
              <a:t> Access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3.7.7 – </a:t>
            </a:r>
            <a:r>
              <a:rPr lang="en-US" altLang="en-US" dirty="0"/>
              <a:t>Role of the Data Link Layer Addresses: Different IP Networks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54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09769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Protocols and Models</a:t>
            </a:r>
          </a:p>
          <a:p>
            <a:pPr>
              <a:buFontTx/>
              <a:buNone/>
            </a:pPr>
            <a:r>
              <a:rPr lang="en-US" sz="1200" b="0" dirty="0"/>
              <a:t>3.7 – Data</a:t>
            </a:r>
            <a:r>
              <a:rPr lang="en-US" sz="1200" b="0" baseline="0" dirty="0"/>
              <a:t> Access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3.7.7 – </a:t>
            </a:r>
            <a:r>
              <a:rPr lang="en-US" altLang="en-US" dirty="0"/>
              <a:t>Role of the Data Link Layer Addresses: Different IP Networks (Cont.)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55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09769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Protocols and Models</a:t>
            </a:r>
          </a:p>
          <a:p>
            <a:pPr>
              <a:buFontTx/>
              <a:buNone/>
            </a:pPr>
            <a:r>
              <a:rPr lang="en-US" sz="1200" b="0" dirty="0"/>
              <a:t>3.7 – Data</a:t>
            </a:r>
            <a:r>
              <a:rPr lang="en-US" sz="1200" b="0" baseline="0" dirty="0"/>
              <a:t> Access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3.7.8 – </a:t>
            </a:r>
            <a:r>
              <a:rPr lang="en-US" altLang="en-US" dirty="0"/>
              <a:t>Data Link Addresses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56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20968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Protocols and Models</a:t>
            </a:r>
          </a:p>
          <a:p>
            <a:pPr>
              <a:buFontTx/>
              <a:buNone/>
            </a:pPr>
            <a:r>
              <a:rPr lang="en-US" sz="1200" b="0" dirty="0"/>
              <a:t>3.7 – Data</a:t>
            </a:r>
            <a:r>
              <a:rPr lang="en-US" sz="1200" b="0" baseline="0" dirty="0"/>
              <a:t> Access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3.7.8 – </a:t>
            </a:r>
            <a:r>
              <a:rPr lang="en-US" altLang="en-US" dirty="0"/>
              <a:t>Data Link Addresses (Cont.)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57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20968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Protocols and Models</a:t>
            </a:r>
          </a:p>
          <a:p>
            <a:pPr>
              <a:buFontTx/>
              <a:buNone/>
            </a:pPr>
            <a:r>
              <a:rPr lang="en-US" sz="1200" b="0" dirty="0"/>
              <a:t>3.7 – Data</a:t>
            </a:r>
            <a:r>
              <a:rPr lang="en-US" sz="1200" b="0" baseline="0" dirty="0"/>
              <a:t> Access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3.7.8 – </a:t>
            </a:r>
            <a:r>
              <a:rPr lang="en-US" altLang="en-US" dirty="0"/>
              <a:t>Data Link Addresses (Cont.)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58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20968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Protocols and Models</a:t>
            </a:r>
          </a:p>
          <a:p>
            <a:pPr>
              <a:buFontTx/>
              <a:buNone/>
            </a:pPr>
            <a:r>
              <a:rPr lang="en-US" sz="1200" b="0" dirty="0"/>
              <a:t>3.7 – Data</a:t>
            </a:r>
            <a:r>
              <a:rPr lang="en-US" sz="1200" b="0" baseline="0" dirty="0"/>
              <a:t> Access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3.7.8 – </a:t>
            </a:r>
            <a:r>
              <a:rPr lang="en-US" altLang="en-US" dirty="0"/>
              <a:t>Data Link Addresses (Cont.)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59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2096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XE_FPEFpHt4" TargetMode="Externa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9.png"/><Relationship Id="rId4" Type="http://schemas.openxmlformats.org/officeDocument/2006/relationships/image" Target="../media/image5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versity.org/wiki/Web_Science/Part1:_Foundations_of_the_web/Internet_vs_World_Wide_Web/Summary_of_the_internet_architecture" TargetMode="Externa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hyperlink" Target="https://creativecommons.org/licenses/by-sa/3.0/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://networkengineering.stackexchange.com/questions/25592/osi-model-encapsulation" TargetMode="External"/><Relationship Id="rId2" Type="http://schemas.openxmlformats.org/officeDocument/2006/relationships/image" Target="../media/image55.gi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en.wikibooks.org/wiki/Communication_Networks/NAT_and_PAT_Protocols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://stackoverflow.com/questions/4756039/how-to-change-the-port-of-tomcat-from-8080-to-80" TargetMode="External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Computer Networks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Frank Walsh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E9E7C26D-B6FE-4C41-9472-F9B2A4BEB9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080" b="-2"/>
          <a:stretch/>
        </p:blipFill>
        <p:spPr>
          <a:xfrm>
            <a:off x="6090613" y="640082"/>
            <a:ext cx="5461724" cy="5577837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E69E85-8863-4976-A4BB-6C92FF81B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5127031" cy="1676603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Agenda (1</a:t>
            </a:r>
            <a:r>
              <a:rPr lang="en-US" baseline="30000" dirty="0">
                <a:cs typeface="Calibri Light"/>
              </a:rPr>
              <a:t>st</a:t>
            </a:r>
            <a:r>
              <a:rPr lang="en-US" dirty="0">
                <a:cs typeface="Calibri Light"/>
              </a:rPr>
              <a:t> Part)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66A4B-95AE-44FA-97A0-F1314D93D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5127029" cy="37854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Computer Network Components</a:t>
            </a:r>
            <a:endParaRPr lang="en-US" dirty="0"/>
          </a:p>
          <a:p>
            <a:r>
              <a:rPr lang="en-US" dirty="0">
                <a:cs typeface="Calibri"/>
              </a:rPr>
              <a:t>Device Types</a:t>
            </a:r>
          </a:p>
          <a:p>
            <a:r>
              <a:rPr lang="en-US" dirty="0">
                <a:cs typeface="Calibri"/>
              </a:rPr>
              <a:t>Protocols</a:t>
            </a:r>
            <a:endParaRPr lang="en-US" sz="2800" dirty="0">
              <a:cs typeface="Calibri"/>
            </a:endParaRPr>
          </a:p>
          <a:p>
            <a:r>
              <a:rPr lang="en-US" dirty="0">
                <a:cs typeface="Calibri"/>
              </a:rPr>
              <a:t>Topologies</a:t>
            </a:r>
          </a:p>
          <a:p>
            <a:r>
              <a:rPr lang="en-US" dirty="0">
                <a:cs typeface="Calibri"/>
              </a:rPr>
              <a:t>Internet of Things</a:t>
            </a:r>
          </a:p>
          <a:p>
            <a:pPr lvl="1"/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17814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3FE0E660-DA7A-4E39-8C53-4079A7C2B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523805"/>
            <a:ext cx="7800441" cy="5696020"/>
          </a:xfrm>
          <a:custGeom>
            <a:avLst/>
            <a:gdLst>
              <a:gd name="connsiteX0" fmla="*/ 0 w 7800441"/>
              <a:gd name="connsiteY0" fmla="*/ 0 h 5696020"/>
              <a:gd name="connsiteX1" fmla="*/ 7800441 w 7800441"/>
              <a:gd name="connsiteY1" fmla="*/ 0 h 5696020"/>
              <a:gd name="connsiteX2" fmla="*/ 5037161 w 7800441"/>
              <a:gd name="connsiteY2" fmla="*/ 5696020 h 5696020"/>
              <a:gd name="connsiteX3" fmla="*/ 0 w 7800441"/>
              <a:gd name="connsiteY3" fmla="*/ 5696020 h 569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00441" h="5696020">
                <a:moveTo>
                  <a:pt x="0" y="0"/>
                </a:moveTo>
                <a:lnTo>
                  <a:pt x="7800441" y="0"/>
                </a:lnTo>
                <a:lnTo>
                  <a:pt x="5037161" y="5696020"/>
                </a:lnTo>
                <a:lnTo>
                  <a:pt x="0" y="5696020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688590-75C6-405C-9DD2-33813196D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400"/>
            <a:ext cx="5111496" cy="109728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cs typeface="Calibri Light"/>
              </a:rPr>
              <a:t>Networks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E8124-1A86-443A-BF3E-08718B27A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331720"/>
            <a:ext cx="4379976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solidFill>
                  <a:srgbClr val="FFFFFF"/>
                </a:solidFill>
                <a:cs typeface="Calibri"/>
              </a:rPr>
              <a:t>Computers, Devices &amp; Machines are effective/beautiful in isolation...</a:t>
            </a:r>
          </a:p>
          <a:p>
            <a:r>
              <a:rPr lang="en-US" sz="2000" dirty="0">
                <a:solidFill>
                  <a:srgbClr val="FFFFFF"/>
                </a:solidFill>
                <a:cs typeface="Calibri"/>
              </a:rPr>
              <a:t>Connecting machine/ device to a computer network creates amazing possibilities...</a:t>
            </a:r>
          </a:p>
          <a:p>
            <a:r>
              <a:rPr lang="en-US" sz="2000" dirty="0">
                <a:solidFill>
                  <a:srgbClr val="FFFFFF"/>
                </a:solidFill>
                <a:cs typeface="Calibri"/>
              </a:rPr>
              <a:t>Key point: </a:t>
            </a:r>
          </a:p>
          <a:p>
            <a:pPr lvl="1"/>
            <a:r>
              <a:rPr lang="en-US" sz="2000" dirty="0">
                <a:solidFill>
                  <a:srgbClr val="FFFFFF"/>
                </a:solidFill>
                <a:cs typeface="Calibri"/>
              </a:rPr>
              <a:t>Computer networks are no longer only used to connect computers</a:t>
            </a:r>
          </a:p>
          <a:p>
            <a:pPr lvl="1"/>
            <a:r>
              <a:rPr lang="en-US" sz="2000" dirty="0">
                <a:solidFill>
                  <a:srgbClr val="FFFFFF"/>
                </a:solidFill>
                <a:cs typeface="Calibri"/>
              </a:rPr>
              <a:t>Part of many aspects of everyday life</a:t>
            </a:r>
          </a:p>
        </p:txBody>
      </p:sp>
      <p:pic>
        <p:nvPicPr>
          <p:cNvPr id="4" name="Picture 4" descr="A close up of a car&#10;&#10;Description generated with high confidence">
            <a:extLst>
              <a:ext uri="{FF2B5EF4-FFF2-40B4-BE49-F238E27FC236}">
                <a16:creationId xmlns:a16="http://schemas.microsoft.com/office/drawing/2014/main" id="{7F5BB218-E098-4EE2-9025-BF47D7F2A0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280" r="-1" b="1976"/>
          <a:stretch/>
        </p:blipFill>
        <p:spPr>
          <a:xfrm>
            <a:off x="6771119" y="523805"/>
            <a:ext cx="5420880" cy="2757819"/>
          </a:xfrm>
          <a:custGeom>
            <a:avLst/>
            <a:gdLst/>
            <a:ahLst/>
            <a:cxnLst/>
            <a:rect l="l" t="t" r="r" b="b"/>
            <a:pathLst>
              <a:path w="5420880" h="2757819">
                <a:moveTo>
                  <a:pt x="1277860" y="0"/>
                </a:moveTo>
                <a:lnTo>
                  <a:pt x="5420880" y="0"/>
                </a:lnTo>
                <a:lnTo>
                  <a:pt x="5420880" y="2757819"/>
                </a:lnTo>
                <a:lnTo>
                  <a:pt x="0" y="2757819"/>
                </a:lnTo>
                <a:close/>
              </a:path>
            </a:pathLst>
          </a:custGeom>
        </p:spPr>
      </p:pic>
      <p:pic>
        <p:nvPicPr>
          <p:cNvPr id="1026" name="Picture 2" descr="Amstrad CPC - Wikipedia">
            <a:extLst>
              <a:ext uri="{FF2B5EF4-FFF2-40B4-BE49-F238E27FC236}">
                <a16:creationId xmlns:a16="http://schemas.microsoft.com/office/drawing/2014/main" id="{507A23EC-AB5B-4C75-9FFC-FDFA02176F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33" r="-1" b="11097"/>
          <a:stretch/>
        </p:blipFill>
        <p:spPr bwMode="auto">
          <a:xfrm>
            <a:off x="4791075" y="3463056"/>
            <a:ext cx="5038428" cy="2756769"/>
          </a:xfrm>
          <a:custGeom>
            <a:avLst/>
            <a:gdLst/>
            <a:ahLst/>
            <a:cxnLst/>
            <a:rect l="l" t="t" r="r" b="b"/>
            <a:pathLst>
              <a:path w="4570758" h="2500884">
                <a:moveTo>
                  <a:pt x="1717230" y="0"/>
                </a:moveTo>
                <a:lnTo>
                  <a:pt x="4570758" y="0"/>
                </a:lnTo>
                <a:lnTo>
                  <a:pt x="3411951" y="2500884"/>
                </a:lnTo>
                <a:lnTo>
                  <a:pt x="3405728" y="2500884"/>
                </a:lnTo>
                <a:lnTo>
                  <a:pt x="2215937" y="2500884"/>
                </a:lnTo>
                <a:lnTo>
                  <a:pt x="565892" y="2500884"/>
                </a:lnTo>
                <a:lnTo>
                  <a:pt x="0" y="2500884"/>
                </a:lnTo>
                <a:lnTo>
                  <a:pt x="0" y="2500883"/>
                </a:lnTo>
                <a:lnTo>
                  <a:pt x="552186" y="2500883"/>
                </a:lnTo>
                <a:lnTo>
                  <a:pt x="558423" y="250088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A person taking a selfie in a car&#10;&#10;Description generated with high confidence">
            <a:extLst>
              <a:ext uri="{FF2B5EF4-FFF2-40B4-BE49-F238E27FC236}">
                <a16:creationId xmlns:a16="http://schemas.microsoft.com/office/drawing/2014/main" id="{DC9A5767-9FE9-4F40-834E-1F45F268F76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742"/>
          <a:stretch/>
        </p:blipFill>
        <p:spPr>
          <a:xfrm>
            <a:off x="8133963" y="3463056"/>
            <a:ext cx="4058036" cy="2756769"/>
          </a:xfrm>
          <a:custGeom>
            <a:avLst/>
            <a:gdLst/>
            <a:ahLst/>
            <a:cxnLst/>
            <a:rect l="l" t="t" r="r" b="b"/>
            <a:pathLst>
              <a:path w="4058036" h="2756769">
                <a:moveTo>
                  <a:pt x="1892933" y="0"/>
                </a:moveTo>
                <a:lnTo>
                  <a:pt x="4058036" y="0"/>
                </a:lnTo>
                <a:lnTo>
                  <a:pt x="4058036" y="2756769"/>
                </a:lnTo>
                <a:lnTo>
                  <a:pt x="0" y="2756769"/>
                </a:lnTo>
                <a:lnTo>
                  <a:pt x="0" y="2756768"/>
                </a:lnTo>
                <a:lnTo>
                  <a:pt x="608684" y="2756768"/>
                </a:lnTo>
                <a:lnTo>
                  <a:pt x="615560" y="275676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472451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9AF8A-E67D-4F10-8372-36F68C578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QI: Arpanet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6D6DA-CECB-4D66-BFC5-060102CBD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97807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cs typeface="Calibri"/>
              </a:rPr>
              <a:t>US government responds to launch of Sputnik by setting up ARPA, the Advanced Research Projects Agency</a:t>
            </a:r>
          </a:p>
          <a:p>
            <a:r>
              <a:rPr lang="en-US" sz="2000" dirty="0">
                <a:cs typeface="Calibri"/>
              </a:rPr>
              <a:t>ARPANET created in 1969 connecting computers in UCLA and Stanford</a:t>
            </a:r>
          </a:p>
          <a:p>
            <a:r>
              <a:rPr lang="en-US" sz="2000" dirty="0">
                <a:cs typeface="Calibri"/>
              </a:rPr>
              <a:t>In 1973, it was called the "internetwork" or "internet" for short</a:t>
            </a:r>
          </a:p>
        </p:txBody>
      </p:sp>
      <p:pic>
        <p:nvPicPr>
          <p:cNvPr id="6" name="Picture 6" descr="A close up of text on a white background&#10;&#10;Description generated with high confidence">
            <a:extLst>
              <a:ext uri="{FF2B5EF4-FFF2-40B4-BE49-F238E27FC236}">
                <a16:creationId xmlns:a16="http://schemas.microsoft.com/office/drawing/2014/main" id="{DF48ED79-061F-48FD-8A22-EC19F7EB11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819" r="1" b="4479"/>
          <a:stretch/>
        </p:blipFill>
        <p:spPr>
          <a:xfrm>
            <a:off x="5120640" y="1530470"/>
            <a:ext cx="6233160" cy="4272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731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6AF9-CB70-480B-8318-AB9C7B395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5127031" cy="1676603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QI: How heavy is the internet (data)?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5D8EB-A075-4D9A-B16C-6696A6DAF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294626"/>
            <a:ext cx="5127029" cy="37854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 dirty="0">
                <a:cs typeface="Calibri"/>
              </a:rPr>
              <a:t>It about the same as a grain of sand...</a:t>
            </a:r>
          </a:p>
          <a:p>
            <a:pPr lvl="1"/>
            <a:r>
              <a:rPr lang="en-US" sz="2200" dirty="0">
                <a:cs typeface="Calibri"/>
              </a:rPr>
              <a:t>"In terms of data,  if every bit of information stored in silicon comprises 40,000 electrons, the total weight of all the information flowing across the internet – books, music, photographs, emails, orders – is two millionths of an ounce"</a:t>
            </a:r>
          </a:p>
        </p:txBody>
      </p:sp>
      <p:pic>
        <p:nvPicPr>
          <p:cNvPr id="4" name="Picture 4" descr="A picture containing person, indoor, holding&#10;&#10;Description generated with very high confidence">
            <a:extLst>
              <a:ext uri="{FF2B5EF4-FFF2-40B4-BE49-F238E27FC236}">
                <a16:creationId xmlns:a16="http://schemas.microsoft.com/office/drawing/2014/main" id="{76415498-F15F-4496-BA39-298BC14321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967" r="7595" b="1"/>
          <a:stretch/>
        </p:blipFill>
        <p:spPr>
          <a:xfrm>
            <a:off x="6363783" y="1013893"/>
            <a:ext cx="4642214" cy="4801460"/>
          </a:xfrm>
          <a:prstGeom prst="rect">
            <a:avLst/>
          </a:prstGeom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71A5BC-8FAE-45FA-AFF3-0D9CB630CA79}"/>
              </a:ext>
            </a:extLst>
          </p:cNvPr>
          <p:cNvSpPr txBox="1"/>
          <p:nvPr/>
        </p:nvSpPr>
        <p:spPr>
          <a:xfrm>
            <a:off x="1360098" y="6356230"/>
            <a:ext cx="10205049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Source: http://discovermagazine.com/2007/jun/how-much-does-the-internet-weigh</a:t>
            </a:r>
          </a:p>
        </p:txBody>
      </p:sp>
    </p:spTree>
    <p:extLst>
      <p:ext uri="{BB962C8B-B14F-4D97-AF65-F5344CB8AC3E}">
        <p14:creationId xmlns:p14="http://schemas.microsoft.com/office/powerpoint/2010/main" val="169616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 descr="A picture containing table, cup, indoor, sitting&#10;&#10;Description generated with very high confidence">
            <a:extLst>
              <a:ext uri="{FF2B5EF4-FFF2-40B4-BE49-F238E27FC236}">
                <a16:creationId xmlns:a16="http://schemas.microsoft.com/office/drawing/2014/main" id="{8FA72A52-C413-4650-92E2-73E9CCADEA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7183" y="623210"/>
            <a:ext cx="1000503" cy="1969699"/>
          </a:xfrm>
          <a:prstGeom prst="rect">
            <a:avLst/>
          </a:prstGeom>
        </p:spPr>
      </p:pic>
      <p:pic>
        <p:nvPicPr>
          <p:cNvPr id="4" name="Picture 4" descr="A star filled sky&#10;&#10;Description generated with high confidence">
            <a:extLst>
              <a:ext uri="{FF2B5EF4-FFF2-40B4-BE49-F238E27FC236}">
                <a16:creationId xmlns:a16="http://schemas.microsoft.com/office/drawing/2014/main" id="{7B3EF875-B86E-44C7-84E0-C27563500C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6261" y="2843302"/>
            <a:ext cx="3676541" cy="33889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16D81C-2B83-423E-A139-D4096DABD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516" y="640263"/>
            <a:ext cx="6204984" cy="1344975"/>
          </a:xfrm>
        </p:spPr>
        <p:txBody>
          <a:bodyPr>
            <a:normAutofit/>
          </a:bodyPr>
          <a:lstStyle/>
          <a:p>
            <a:r>
              <a:rPr lang="en-US" sz="4000">
                <a:cs typeface="Calibri Light"/>
              </a:rPr>
              <a:t>Networks  - Under the bonnet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127D-1BAD-4823-B682-786CBCCE5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515" y="2121762"/>
            <a:ext cx="6204984" cy="36269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 dirty="0">
                <a:cs typeface="Calibri"/>
              </a:rPr>
              <a:t>Inherently Physical:</a:t>
            </a:r>
          </a:p>
          <a:p>
            <a:pPr lvl="1"/>
            <a:r>
              <a:rPr lang="en-US" sz="1700" dirty="0">
                <a:cs typeface="Calibri"/>
              </a:rPr>
              <a:t>Devices need some form of physical channel to communicate</a:t>
            </a:r>
          </a:p>
          <a:p>
            <a:pPr lvl="1"/>
            <a:r>
              <a:rPr lang="en-US" sz="1700" dirty="0">
                <a:cs typeface="Calibri"/>
              </a:rPr>
              <a:t>Devices need specific hardware to use that channel (</a:t>
            </a:r>
            <a:r>
              <a:rPr lang="en-US" sz="1700" dirty="0" err="1">
                <a:cs typeface="Calibri"/>
              </a:rPr>
              <a:t>eg.</a:t>
            </a:r>
            <a:r>
              <a:rPr lang="en-US" sz="1700" dirty="0">
                <a:cs typeface="Calibri"/>
              </a:rPr>
              <a:t> antenna and associated electronics)</a:t>
            </a:r>
          </a:p>
          <a:p>
            <a:pPr marL="0" indent="0">
              <a:buNone/>
            </a:pPr>
            <a:endParaRPr lang="en-US" sz="1700" dirty="0">
              <a:cs typeface="Calibri"/>
            </a:endParaRPr>
          </a:p>
        </p:txBody>
      </p:sp>
      <p:pic>
        <p:nvPicPr>
          <p:cNvPr id="10" name="Picture 10">
            <a:hlinkClick r:id="" action="ppaction://media"/>
            <a:extLst>
              <a:ext uri="{FF2B5EF4-FFF2-40B4-BE49-F238E27FC236}">
                <a16:creationId xmlns:a16="http://schemas.microsoft.com/office/drawing/2014/main" id="{8DD8791E-4FDF-4A92-98D9-B7AEDEEF2FB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6"/>
          <a:stretch>
            <a:fillRect/>
          </a:stretch>
        </p:blipFill>
        <p:spPr>
          <a:xfrm>
            <a:off x="1207696" y="3480219"/>
            <a:ext cx="4284453" cy="2542995"/>
          </a:xfrm>
          <a:prstGeom prst="rect">
            <a:avLst/>
          </a:prstGeom>
        </p:spPr>
      </p:pic>
      <p:pic>
        <p:nvPicPr>
          <p:cNvPr id="12" name="Picture 13" descr="A body of water&#10;&#10;Description generated with very high confidence">
            <a:extLst>
              <a:ext uri="{FF2B5EF4-FFF2-40B4-BE49-F238E27FC236}">
                <a16:creationId xmlns:a16="http://schemas.microsoft.com/office/drawing/2014/main" id="{ACF6864A-DD4F-4F1E-BA3F-85C2906856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1418" y="634310"/>
            <a:ext cx="2441276" cy="1951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998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35156-712F-4DA1-B824-9EF882F3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8267" y="802955"/>
            <a:ext cx="4333814" cy="1454051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000000"/>
                </a:solidFill>
                <a:cs typeface="Calibri Light"/>
              </a:rPr>
              <a:t>Networks – Under the bonnet</a:t>
            </a:r>
            <a:endParaRPr lang="en-US" sz="4000">
              <a:solidFill>
                <a:srgbClr val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A50FB-43F5-463D-9BC5-549D0D7C5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4684" y="2019116"/>
            <a:ext cx="5167354" cy="41712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>
                <a:solidFill>
                  <a:srgbClr val="000000"/>
                </a:solidFill>
                <a:cs typeface="Calibri"/>
              </a:rPr>
              <a:t>Once connected, it can get complicated!</a:t>
            </a:r>
          </a:p>
          <a:p>
            <a:r>
              <a:rPr lang="en-US" sz="2000" dirty="0">
                <a:solidFill>
                  <a:srgbClr val="000000"/>
                </a:solidFill>
                <a:cs typeface="Calibri"/>
              </a:rPr>
              <a:t>Sophisticated combination of protocols, software, hardware, algorithms, configurations, policies...</a:t>
            </a:r>
          </a:p>
          <a:p>
            <a:r>
              <a:rPr lang="en-US" sz="2000" dirty="0">
                <a:solidFill>
                  <a:srgbClr val="000000"/>
                </a:solidFill>
                <a:cs typeface="Calibri"/>
              </a:rPr>
              <a:t>Security, privacy, access, quality of service, wired/wireless...</a:t>
            </a:r>
          </a:p>
          <a:p>
            <a:pPr lvl="1"/>
            <a:endParaRPr lang="en-US" sz="2000" dirty="0">
              <a:solidFill>
                <a:srgbClr val="000000"/>
              </a:solidFill>
              <a:cs typeface="Calibri"/>
            </a:endParaRPr>
          </a:p>
        </p:txBody>
      </p:sp>
      <p:pic>
        <p:nvPicPr>
          <p:cNvPr id="4" name="Picture 4" descr="A black sign with white text&#10;&#10;Description generated with high confidence">
            <a:extLst>
              <a:ext uri="{FF2B5EF4-FFF2-40B4-BE49-F238E27FC236}">
                <a16:creationId xmlns:a16="http://schemas.microsoft.com/office/drawing/2014/main" id="{40C4BB3A-04D3-44C8-B466-09136A60DC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84" r="14509" b="-5"/>
          <a:stretch/>
        </p:blipFill>
        <p:spPr>
          <a:xfrm>
            <a:off x="587733" y="603138"/>
            <a:ext cx="2771022" cy="2289020"/>
          </a:xfrm>
          <a:prstGeom prst="rect">
            <a:avLst/>
          </a:prstGeom>
        </p:spPr>
      </p:pic>
      <p:pic>
        <p:nvPicPr>
          <p:cNvPr id="8" name="Picture 8" descr="A circuit board&#10;&#10;Description generated with high confidence">
            <a:extLst>
              <a:ext uri="{FF2B5EF4-FFF2-40B4-BE49-F238E27FC236}">
                <a16:creationId xmlns:a16="http://schemas.microsoft.com/office/drawing/2014/main" id="{F91F4E06-B50B-4204-B5DF-8579D494F1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648" r="16352"/>
          <a:stretch/>
        </p:blipFill>
        <p:spPr>
          <a:xfrm>
            <a:off x="1074883" y="3721608"/>
            <a:ext cx="1796722" cy="1796722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E0D3D91B-4CE3-4B04-806D-53FB7076F98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5931" r="4" b="976"/>
          <a:stretch/>
        </p:blipFill>
        <p:spPr>
          <a:xfrm>
            <a:off x="3784055" y="2293600"/>
            <a:ext cx="1785723" cy="1502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628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2DAEC-5203-4264-A212-789D75B65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Computer Networks Evolution</a:t>
            </a:r>
          </a:p>
        </p:txBody>
      </p:sp>
      <p:pic>
        <p:nvPicPr>
          <p:cNvPr id="4" name="Picture 4" descr="A close up of a map&#10;&#10;Description generated with high confidence">
            <a:extLst>
              <a:ext uri="{FF2B5EF4-FFF2-40B4-BE49-F238E27FC236}">
                <a16:creationId xmlns:a16="http://schemas.microsoft.com/office/drawing/2014/main" id="{512F1980-47A2-44FF-8D61-4C47C4FC40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53522" y="659888"/>
            <a:ext cx="6980693" cy="570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111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7BBC7-147D-4E49-9351-4C85B91CC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Components of a Computer Network</a:t>
            </a:r>
            <a:endParaRPr lang="en-US" dirty="0"/>
          </a:p>
        </p:txBody>
      </p:sp>
      <p:graphicFrame>
        <p:nvGraphicFramePr>
          <p:cNvPr id="5" name="Diagram 5">
            <a:extLst>
              <a:ext uri="{FF2B5EF4-FFF2-40B4-BE49-F238E27FC236}">
                <a16:creationId xmlns:a16="http://schemas.microsoft.com/office/drawing/2014/main" id="{1AA25A3B-2619-4071-849B-A42DE0BE79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024736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65208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83DC4-49D5-421D-8552-EAA1F7366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Device Types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03DD6-5ABC-4B98-89F8-36BB41575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End Devices</a:t>
            </a: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Infrastructure/intermediary Devices</a:t>
            </a:r>
          </a:p>
        </p:txBody>
      </p:sp>
      <p:pic>
        <p:nvPicPr>
          <p:cNvPr id="4" name="Picture 4" descr="A screen shot of an open computer&#10;&#10;Description generated with very high confidence">
            <a:extLst>
              <a:ext uri="{FF2B5EF4-FFF2-40B4-BE49-F238E27FC236}">
                <a16:creationId xmlns:a16="http://schemas.microsoft.com/office/drawing/2014/main" id="{BEDE229E-3B2D-40D9-8517-CCEBAE571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834" y="2419634"/>
            <a:ext cx="1765541" cy="1659298"/>
          </a:xfrm>
          <a:prstGeom prst="rect">
            <a:avLst/>
          </a:prstGeom>
        </p:spPr>
      </p:pic>
      <p:pic>
        <p:nvPicPr>
          <p:cNvPr id="6" name="Picture 6" descr="A screen shot of a computer&#10;&#10;Description generated with high confidence">
            <a:extLst>
              <a:ext uri="{FF2B5EF4-FFF2-40B4-BE49-F238E27FC236}">
                <a16:creationId xmlns:a16="http://schemas.microsoft.com/office/drawing/2014/main" id="{83810932-5EAD-4F5C-B555-C0C1C0B78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2578" y="2312041"/>
            <a:ext cx="1233579" cy="1766891"/>
          </a:xfrm>
          <a:prstGeom prst="rect">
            <a:avLst/>
          </a:prstGeom>
        </p:spPr>
      </p:pic>
      <p:pic>
        <p:nvPicPr>
          <p:cNvPr id="8" name="Picture 8" descr="A picture containing indoor, table&#10;&#10;Description generated with very high confidence">
            <a:extLst>
              <a:ext uri="{FF2B5EF4-FFF2-40B4-BE49-F238E27FC236}">
                <a16:creationId xmlns:a16="http://schemas.microsoft.com/office/drawing/2014/main" id="{6BD60278-E4DB-4719-A195-83E8EA1551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8571" y="2559915"/>
            <a:ext cx="3246407" cy="1405831"/>
          </a:xfrm>
          <a:prstGeom prst="rect">
            <a:avLst/>
          </a:prstGeom>
        </p:spPr>
      </p:pic>
      <p:pic>
        <p:nvPicPr>
          <p:cNvPr id="10" name="Picture 10" descr="A close up of a device&#10;&#10;Description generated with high confidence">
            <a:extLst>
              <a:ext uri="{FF2B5EF4-FFF2-40B4-BE49-F238E27FC236}">
                <a16:creationId xmlns:a16="http://schemas.microsoft.com/office/drawing/2014/main" id="{D1C77007-75F4-4D6E-93DE-4F49B0A512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434" y="5087576"/>
            <a:ext cx="2107905" cy="1402715"/>
          </a:xfrm>
          <a:prstGeom prst="rect">
            <a:avLst/>
          </a:prstGeom>
        </p:spPr>
      </p:pic>
      <p:pic>
        <p:nvPicPr>
          <p:cNvPr id="12" name="Picture 12" descr="A close up of a computer&#10;&#10;Description generated with high confidence">
            <a:extLst>
              <a:ext uri="{FF2B5EF4-FFF2-40B4-BE49-F238E27FC236}">
                <a16:creationId xmlns:a16="http://schemas.microsoft.com/office/drawing/2014/main" id="{64AAD0D6-D1CA-4030-9384-DAB66ADED9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2193" y="5087576"/>
            <a:ext cx="2343235" cy="1394503"/>
          </a:xfrm>
          <a:prstGeom prst="rect">
            <a:avLst/>
          </a:prstGeom>
        </p:spPr>
      </p:pic>
      <p:pic>
        <p:nvPicPr>
          <p:cNvPr id="14" name="Picture 14" descr="A close up of a computer&#10;&#10;Description generated with high confidence">
            <a:extLst>
              <a:ext uri="{FF2B5EF4-FFF2-40B4-BE49-F238E27FC236}">
                <a16:creationId xmlns:a16="http://schemas.microsoft.com/office/drawing/2014/main" id="{321B8F95-8049-4BF0-932E-FFB48F6423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6282" y="5094922"/>
            <a:ext cx="2325950" cy="9449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5D8E2C-3A5D-4537-9F21-C61295E3EB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0043" y="2520620"/>
            <a:ext cx="4048125" cy="1457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BCBC33-CDA2-4120-889B-6844901F58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37217" y="5094922"/>
            <a:ext cx="3533775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52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5C702-B2F2-4F3B-8E82-1716634D5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Physical Medium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6AFAA-E098-4443-BE95-A7C18DB7B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064" y="184202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Wired</a:t>
            </a: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Wireless</a:t>
            </a:r>
          </a:p>
        </p:txBody>
      </p:sp>
      <p:pic>
        <p:nvPicPr>
          <p:cNvPr id="4" name="Picture 4" descr="A picture containing blue, sky, cable, connector&#10;&#10;Description generated with high confidence">
            <a:extLst>
              <a:ext uri="{FF2B5EF4-FFF2-40B4-BE49-F238E27FC236}">
                <a16:creationId xmlns:a16="http://schemas.microsoft.com/office/drawing/2014/main" id="{FE097365-6D89-4FB6-B4B7-1F131D7CF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664" y="1825206"/>
            <a:ext cx="2743200" cy="20574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3D386EB5-4F41-434F-9A55-0BF8A0CB4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513" y="1829339"/>
            <a:ext cx="2466975" cy="1847850"/>
          </a:xfrm>
          <a:prstGeom prst="rect">
            <a:avLst/>
          </a:prstGeom>
        </p:spPr>
      </p:pic>
      <p:pic>
        <p:nvPicPr>
          <p:cNvPr id="8" name="Picture 8" descr="A picture containing connector, cable, indoor, yellow&#10;&#10;Description generated with very high confidence">
            <a:extLst>
              <a:ext uri="{FF2B5EF4-FFF2-40B4-BE49-F238E27FC236}">
                <a16:creationId xmlns:a16="http://schemas.microsoft.com/office/drawing/2014/main" id="{D768037F-697A-43EC-A880-0CA736BA42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3268" y="1824487"/>
            <a:ext cx="2743200" cy="1828800"/>
          </a:xfrm>
          <a:prstGeom prst="rect">
            <a:avLst/>
          </a:prstGeom>
        </p:spPr>
      </p:pic>
      <p:pic>
        <p:nvPicPr>
          <p:cNvPr id="10" name="Picture 10" descr="A picture containing object, indoor, small&#10;&#10;Description generated with high confidence">
            <a:extLst>
              <a:ext uri="{FF2B5EF4-FFF2-40B4-BE49-F238E27FC236}">
                <a16:creationId xmlns:a16="http://schemas.microsoft.com/office/drawing/2014/main" id="{240CF1DC-E0CE-46EA-BF40-F146A64FA0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0966" y="3883325"/>
            <a:ext cx="2743200" cy="27432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0C1F2FDF-C14D-42AA-8D5E-DB386E815C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2891" y="4138522"/>
            <a:ext cx="3519577" cy="204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246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7C051-CB84-4EB1-A98E-EBBB81C40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cs typeface="Calibri Light"/>
              </a:rPr>
              <a:t>Messages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22EE7-CF07-4831-B38B-BB75D339B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44788" cy="44376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dirty="0">
                <a:cs typeface="Calibri"/>
              </a:rPr>
              <a:t>Data is divided into smaller parts during transmission</a:t>
            </a:r>
          </a:p>
          <a:p>
            <a:pPr lvl="1"/>
            <a:r>
              <a:rPr lang="en-US" sz="1600" dirty="0">
                <a:cs typeface="Calibri"/>
              </a:rPr>
              <a:t>Segmentation</a:t>
            </a:r>
          </a:p>
          <a:p>
            <a:r>
              <a:rPr lang="en-US" sz="1600" dirty="0">
                <a:cs typeface="Calibri"/>
              </a:rPr>
              <a:t>The benefits of doing so:</a:t>
            </a:r>
          </a:p>
          <a:p>
            <a:pPr lvl="1"/>
            <a:r>
              <a:rPr lang="en-US" sz="1600" dirty="0">
                <a:cs typeface="Calibri"/>
              </a:rPr>
              <a:t>Many different conversations can be interleaved on the network(multiplexing)</a:t>
            </a:r>
          </a:p>
          <a:p>
            <a:pPr lvl="1"/>
            <a:r>
              <a:rPr lang="en-US" sz="1600" dirty="0">
                <a:cs typeface="Calibri"/>
              </a:rPr>
              <a:t>Increases reliability of network communications.</a:t>
            </a:r>
          </a:p>
          <a:p>
            <a:pPr lvl="1"/>
            <a:r>
              <a:rPr lang="en-US" sz="1600" dirty="0">
                <a:cs typeface="Calibri"/>
              </a:rPr>
              <a:t>The separate pieces of each message need not travel the same pathway across the network from source to destination</a:t>
            </a:r>
          </a:p>
          <a:p>
            <a:r>
              <a:rPr lang="en-US" sz="1600" dirty="0">
                <a:cs typeface="Calibri"/>
              </a:rPr>
              <a:t>Adds complexity however:</a:t>
            </a:r>
          </a:p>
          <a:p>
            <a:pPr lvl="1"/>
            <a:r>
              <a:rPr lang="en-US" sz="1600" dirty="0">
                <a:cs typeface="Calibri"/>
              </a:rPr>
              <a:t>Addressing, labeling, sending, receiving.</a:t>
            </a:r>
          </a:p>
          <a:p>
            <a:pPr lvl="1"/>
            <a:r>
              <a:rPr lang="en-US" sz="1600" dirty="0">
                <a:cs typeface="Calibri"/>
              </a:rPr>
              <a:t>Reassembling</a:t>
            </a:r>
          </a:p>
          <a:p>
            <a:r>
              <a:rPr lang="en-US" sz="1600" dirty="0">
                <a:cs typeface="Calibri"/>
              </a:rPr>
              <a:t>NEED RULES FOR THIS...</a:t>
            </a:r>
          </a:p>
          <a:p>
            <a:pPr lvl="1"/>
            <a:endParaRPr lang="en-US" sz="1400" dirty="0"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2AC8B6-CFB7-497C-A3D3-C11620F47B71}"/>
              </a:ext>
            </a:extLst>
          </p:cNvPr>
          <p:cNvSpPr/>
          <p:nvPr/>
        </p:nvSpPr>
        <p:spPr>
          <a:xfrm>
            <a:off x="5365629" y="2130725"/>
            <a:ext cx="6090249" cy="6268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cs typeface="Calibri"/>
              </a:rPr>
              <a:t>Application Data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0966C9-1608-4C02-B8F8-E1065129168E}"/>
              </a:ext>
            </a:extLst>
          </p:cNvPr>
          <p:cNvSpPr/>
          <p:nvPr/>
        </p:nvSpPr>
        <p:spPr>
          <a:xfrm>
            <a:off x="5365629" y="3381554"/>
            <a:ext cx="1805797" cy="6268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cs typeface="Calibri"/>
              </a:rPr>
              <a:t>Segment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AD75A5-7EC0-49E4-BAC7-C62C48EE05EF}"/>
              </a:ext>
            </a:extLst>
          </p:cNvPr>
          <p:cNvSpPr/>
          <p:nvPr/>
        </p:nvSpPr>
        <p:spPr>
          <a:xfrm>
            <a:off x="7507853" y="3381553"/>
            <a:ext cx="1805797" cy="6268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cs typeface="Calibri"/>
              </a:rPr>
              <a:t>Segment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BA1833-409D-4B20-A6D3-67A8F36B7286}"/>
              </a:ext>
            </a:extLst>
          </p:cNvPr>
          <p:cNvSpPr/>
          <p:nvPr/>
        </p:nvSpPr>
        <p:spPr>
          <a:xfrm>
            <a:off x="9650082" y="3381553"/>
            <a:ext cx="1805797" cy="6268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cs typeface="Calibri"/>
              </a:rPr>
              <a:t>Segment</a:t>
            </a:r>
            <a:endParaRPr lang="en-US" dirty="0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C70F548A-1F6D-483A-BD1A-3140066C2C29}"/>
              </a:ext>
            </a:extLst>
          </p:cNvPr>
          <p:cNvSpPr/>
          <p:nvPr/>
        </p:nvSpPr>
        <p:spPr>
          <a:xfrm flipH="1">
            <a:off x="6266432" y="2846342"/>
            <a:ext cx="147971" cy="4608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F9A8EA94-BB6E-4F66-BA1A-1FE8ABADE11F}"/>
              </a:ext>
            </a:extLst>
          </p:cNvPr>
          <p:cNvSpPr/>
          <p:nvPr/>
        </p:nvSpPr>
        <p:spPr>
          <a:xfrm flipH="1">
            <a:off x="10479000" y="2846341"/>
            <a:ext cx="147971" cy="4608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B0C30CBB-5A91-4950-ADB6-8A5B741EE2E6}"/>
              </a:ext>
            </a:extLst>
          </p:cNvPr>
          <p:cNvSpPr/>
          <p:nvPr/>
        </p:nvSpPr>
        <p:spPr>
          <a:xfrm flipH="1">
            <a:off x="8336770" y="2846341"/>
            <a:ext cx="147971" cy="4608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90FC2F-F43C-44C7-B941-65DAF18F3C07}"/>
              </a:ext>
            </a:extLst>
          </p:cNvPr>
          <p:cNvSpPr/>
          <p:nvPr/>
        </p:nvSpPr>
        <p:spPr>
          <a:xfrm>
            <a:off x="7507853" y="4589250"/>
            <a:ext cx="1805797" cy="6268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cs typeface="Calibri"/>
              </a:rPr>
              <a:t>Segment</a:t>
            </a:r>
            <a:endParaRPr lang="en-US" dirty="0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2843DE80-9D2D-4EB7-A949-24CB6C8AA5D9}"/>
              </a:ext>
            </a:extLst>
          </p:cNvPr>
          <p:cNvSpPr/>
          <p:nvPr/>
        </p:nvSpPr>
        <p:spPr>
          <a:xfrm flipH="1">
            <a:off x="8336766" y="4082794"/>
            <a:ext cx="147971" cy="4608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95F797-A5BF-4414-98A7-6180E29EBFFE}"/>
              </a:ext>
            </a:extLst>
          </p:cNvPr>
          <p:cNvSpPr/>
          <p:nvPr/>
        </p:nvSpPr>
        <p:spPr>
          <a:xfrm>
            <a:off x="6558944" y="4589249"/>
            <a:ext cx="943156" cy="62685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cs typeface="Calibri"/>
              </a:rPr>
              <a:t>Header</a:t>
            </a:r>
            <a:endParaRPr lang="en-US" dirty="0"/>
          </a:p>
        </p:txBody>
      </p:sp>
      <p:sp>
        <p:nvSpPr>
          <p:cNvPr id="16" name="Arrow: Bent-Up 15">
            <a:extLst>
              <a:ext uri="{FF2B5EF4-FFF2-40B4-BE49-F238E27FC236}">
                <a16:creationId xmlns:a16="http://schemas.microsoft.com/office/drawing/2014/main" id="{F799EE1E-FDBE-4983-A4DB-45FFAF8F35DB}"/>
              </a:ext>
            </a:extLst>
          </p:cNvPr>
          <p:cNvSpPr/>
          <p:nvPr/>
        </p:nvSpPr>
        <p:spPr>
          <a:xfrm rot="5400000">
            <a:off x="8194031" y="5737428"/>
            <a:ext cx="807260" cy="328955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948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A drawing of a face&#10;&#10;Description generated with high confidence">
            <a:extLst>
              <a:ext uri="{FF2B5EF4-FFF2-40B4-BE49-F238E27FC236}">
                <a16:creationId xmlns:a16="http://schemas.microsoft.com/office/drawing/2014/main" id="{0BAD747F-17B0-42C2-8FD0-416DEC4D6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8210" y="306909"/>
            <a:ext cx="3325090" cy="2286000"/>
          </a:xfrm>
          <a:prstGeom prst="rect">
            <a:avLst/>
          </a:prstGeom>
        </p:spPr>
      </p:pic>
      <p:pic>
        <p:nvPicPr>
          <p:cNvPr id="4" name="Picture 4" descr="A person standing in a room&#10;&#10;Description generated with very high confidence">
            <a:extLst>
              <a:ext uri="{FF2B5EF4-FFF2-40B4-BE49-F238E27FC236}">
                <a16:creationId xmlns:a16="http://schemas.microsoft.com/office/drawing/2014/main" id="{A445B1FF-A794-4EEB-95F7-6CE07F43E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9551" y="3108578"/>
            <a:ext cx="4042410" cy="28296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EF1F3B-C1FD-4FED-A60E-941E556BB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516" y="640263"/>
            <a:ext cx="6204984" cy="1344975"/>
          </a:xfrm>
        </p:spPr>
        <p:txBody>
          <a:bodyPr>
            <a:normAutofit/>
          </a:bodyPr>
          <a:lstStyle/>
          <a:p>
            <a:r>
              <a:rPr lang="en-US" sz="4000">
                <a:cs typeface="Calibri Light"/>
              </a:rPr>
              <a:t>Rules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CBCEE-8725-4A28-95A2-5C1C49A35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515" y="2121762"/>
            <a:ext cx="6204984" cy="36269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cs typeface="Calibri"/>
              </a:rPr>
              <a:t>Humans have generally accepted protocols for interaction:</a:t>
            </a:r>
          </a:p>
          <a:p>
            <a:pPr lvl="1"/>
            <a:r>
              <a:rPr lang="en-US" sz="2000" dirty="0">
                <a:cs typeface="Calibri"/>
              </a:rPr>
              <a:t>Identified sender and receiver</a:t>
            </a:r>
          </a:p>
          <a:p>
            <a:pPr lvl="1"/>
            <a:r>
              <a:rPr lang="en-US" sz="2000" dirty="0">
                <a:cs typeface="Calibri"/>
              </a:rPr>
              <a:t>Agreed upon method of communicating (face-to-face, telephone...)</a:t>
            </a:r>
          </a:p>
          <a:p>
            <a:pPr lvl="1"/>
            <a:r>
              <a:rPr lang="en-US" sz="2000" dirty="0">
                <a:cs typeface="Calibri"/>
              </a:rPr>
              <a:t>Common language and grammar</a:t>
            </a:r>
          </a:p>
          <a:p>
            <a:pPr lvl="1"/>
            <a:r>
              <a:rPr lang="en-US" sz="2000" dirty="0">
                <a:cs typeface="Calibri"/>
              </a:rPr>
              <a:t>Speed and timing of delivery</a:t>
            </a:r>
          </a:p>
          <a:p>
            <a:pPr lvl="1"/>
            <a:r>
              <a:rPr lang="en-US" sz="2000" dirty="0">
                <a:cs typeface="Calibri"/>
              </a:rPr>
              <a:t>Confirmation or acknowledgement requirements</a:t>
            </a:r>
          </a:p>
          <a:p>
            <a:r>
              <a:rPr lang="en-US" sz="2000" dirty="0">
                <a:cs typeface="Calibri"/>
              </a:rPr>
              <a:t>All communication activity on the Internet is governed by protocols</a:t>
            </a:r>
          </a:p>
        </p:txBody>
      </p:sp>
    </p:spTree>
    <p:extLst>
      <p:ext uri="{BB962C8B-B14F-4D97-AF65-F5344CB8AC3E}">
        <p14:creationId xmlns:p14="http://schemas.microsoft.com/office/powerpoint/2010/main" val="2511465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F9C8D-2691-41E3-8E26-B3E6A6044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6648" y="654640"/>
            <a:ext cx="4048381" cy="1344975"/>
          </a:xfrm>
        </p:spPr>
        <p:txBody>
          <a:bodyPr>
            <a:normAutofit/>
          </a:bodyPr>
          <a:lstStyle/>
          <a:p>
            <a:r>
              <a:rPr lang="en-US" sz="4000">
                <a:cs typeface="Calibri Light"/>
              </a:rPr>
              <a:t>Human Protocol</a:t>
            </a:r>
            <a:endParaRPr lang="en-US" sz="4000" dirty="0">
              <a:cs typeface="Calibri Light"/>
            </a:endParaRPr>
          </a:p>
        </p:txBody>
      </p:sp>
      <p:pic>
        <p:nvPicPr>
          <p:cNvPr id="4" name="Picture 4" descr="A close up of a map&#10;&#10;Description generated with high confidence">
            <a:extLst>
              <a:ext uri="{FF2B5EF4-FFF2-40B4-BE49-F238E27FC236}">
                <a16:creationId xmlns:a16="http://schemas.microsoft.com/office/drawing/2014/main" id="{87ECC3CC-6235-4353-98FC-2B8A34B2FB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5848" y="1506107"/>
            <a:ext cx="7634039" cy="440650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50DD6D3-C6E3-47DD-807D-A3DF28A16FA0}"/>
              </a:ext>
            </a:extLst>
          </p:cNvPr>
          <p:cNvSpPr txBox="1">
            <a:spLocks/>
          </p:cNvSpPr>
          <p:nvPr/>
        </p:nvSpPr>
        <p:spPr>
          <a:xfrm>
            <a:off x="6092256" y="634512"/>
            <a:ext cx="4048381" cy="1344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>
                <a:cs typeface="Calibri Light"/>
              </a:rPr>
              <a:t>Network Protocol</a:t>
            </a:r>
            <a:endParaRPr lang="en-US" sz="4000" dirty="0"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032403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CC9D-7C62-41B6-A106-68A0AF4D7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cs typeface="Calibri Light"/>
              </a:rPr>
              <a:t>Network Protocols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41E7D-6DDE-4C8F-8ABC-52B7CDF26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97807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cs typeface="Calibri"/>
              </a:rPr>
              <a:t>Machines rather than humans</a:t>
            </a:r>
          </a:p>
          <a:p>
            <a:r>
              <a:rPr lang="en-US" sz="2000" dirty="0">
                <a:cs typeface="Calibri"/>
              </a:rPr>
              <a:t>All communication activity in Internet governed by protocols</a:t>
            </a:r>
          </a:p>
          <a:p>
            <a:r>
              <a:rPr lang="en-US" sz="2000" dirty="0">
                <a:cs typeface="Calibri"/>
              </a:rPr>
              <a:t>Protocols define </a:t>
            </a:r>
          </a:p>
          <a:p>
            <a:pPr lvl="1"/>
            <a:r>
              <a:rPr lang="en-US" sz="2000" dirty="0">
                <a:cs typeface="Calibri"/>
              </a:rPr>
              <a:t>Format, order of </a:t>
            </a:r>
            <a:r>
              <a:rPr lang="en-US" sz="2000" dirty="0" err="1">
                <a:cs typeface="Calibri"/>
              </a:rPr>
              <a:t>msgs</a:t>
            </a:r>
            <a:r>
              <a:rPr lang="en-US" sz="2000" dirty="0">
                <a:cs typeface="Calibri"/>
              </a:rPr>
              <a:t> sent and received among network entities</a:t>
            </a:r>
          </a:p>
          <a:p>
            <a:pPr lvl="1"/>
            <a:r>
              <a:rPr lang="en-US" sz="2000" dirty="0">
                <a:cs typeface="Calibri"/>
              </a:rPr>
              <a:t>Actions taken on msg transmission, receipt</a:t>
            </a:r>
            <a:endParaRPr lang="en-US" sz="2000" dirty="0"/>
          </a:p>
        </p:txBody>
      </p:sp>
      <p:pic>
        <p:nvPicPr>
          <p:cNvPr id="4" name="Picture 4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2294366A-9CEE-4892-A414-58C1AE9A34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802" r="9726" b="-1"/>
          <a:stretch/>
        </p:blipFill>
        <p:spPr>
          <a:xfrm>
            <a:off x="5120640" y="1904281"/>
            <a:ext cx="6233160" cy="4272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260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A62D0-64D1-47F3-98DD-065BC3A29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Network Characteristics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8A71F-44A6-4C0A-B5C7-42FC70FE2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15484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>
                <a:cs typeface="Calibri"/>
              </a:rPr>
              <a:t>Network architecture refers to:</a:t>
            </a:r>
            <a:endParaRPr lang="en-US" sz="2000" dirty="0"/>
          </a:p>
          <a:p>
            <a:pPr lvl="1"/>
            <a:r>
              <a:rPr lang="en-US" sz="2000" dirty="0">
                <a:cs typeface="Calibri"/>
              </a:rPr>
              <a:t>the technologies that support the infrastructure </a:t>
            </a:r>
          </a:p>
          <a:p>
            <a:pPr lvl="1"/>
            <a:r>
              <a:rPr lang="en-US" sz="2000" dirty="0">
                <a:cs typeface="Calibri"/>
              </a:rPr>
              <a:t>The programmed services and protocols that move the messages across that infrastructure</a:t>
            </a:r>
          </a:p>
          <a:p>
            <a:r>
              <a:rPr lang="en-US" sz="2000" dirty="0">
                <a:cs typeface="Calibri"/>
              </a:rPr>
              <a:t>4 general characteristics to meet user expectations</a:t>
            </a:r>
          </a:p>
          <a:p>
            <a:pPr lvl="1"/>
            <a:r>
              <a:rPr lang="en-US" sz="2000" dirty="0">
                <a:cs typeface="Calibri"/>
              </a:rPr>
              <a:t>Fault tolerance</a:t>
            </a:r>
          </a:p>
          <a:p>
            <a:pPr lvl="1"/>
            <a:r>
              <a:rPr lang="en-US" sz="2000" dirty="0">
                <a:cs typeface="Calibri"/>
              </a:rPr>
              <a:t>Scalability</a:t>
            </a:r>
          </a:p>
          <a:p>
            <a:pPr lvl="1"/>
            <a:r>
              <a:rPr lang="en-US" sz="2000" dirty="0">
                <a:cs typeface="Calibri"/>
              </a:rPr>
              <a:t>Quality of service (QoS)</a:t>
            </a:r>
          </a:p>
          <a:p>
            <a:pPr lvl="1"/>
            <a:r>
              <a:rPr lang="en-US" sz="2000" dirty="0">
                <a:cs typeface="Calibri"/>
              </a:rPr>
              <a:t>Security</a:t>
            </a:r>
          </a:p>
        </p:txBody>
      </p:sp>
      <p:pic>
        <p:nvPicPr>
          <p:cNvPr id="4" name="Picture 4" descr="A close up of a device&#10;&#10;Description generated with high confidence">
            <a:extLst>
              <a:ext uri="{FF2B5EF4-FFF2-40B4-BE49-F238E27FC236}">
                <a16:creationId xmlns:a16="http://schemas.microsoft.com/office/drawing/2014/main" id="{1F4DF414-B919-4ECF-834C-06FECF310B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955" r="-1" b="-1"/>
          <a:stretch/>
        </p:blipFill>
        <p:spPr>
          <a:xfrm>
            <a:off x="6338316" y="1904281"/>
            <a:ext cx="5074070" cy="4272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509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1B29C-F396-4B52-82D5-5A951C00C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389" y="-109328"/>
            <a:ext cx="10515600" cy="1325563"/>
          </a:xfrm>
        </p:spPr>
        <p:txBody>
          <a:bodyPr/>
          <a:lstStyle/>
          <a:p>
            <a:r>
              <a:rPr lang="en-US" dirty="0">
                <a:cs typeface="Calibri Light"/>
              </a:rPr>
              <a:t>Network Topology and Representations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B5EE2-F815-435D-8646-9DD074065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273" y="1094184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en-US" sz="2800" dirty="0"/>
              <a:t>Network diagrams, often called </a:t>
            </a:r>
            <a:r>
              <a:rPr lang="en-US" altLang="en-US" sz="2800" b="1" dirty="0"/>
              <a:t>topology diagrams</a:t>
            </a:r>
            <a:r>
              <a:rPr lang="en-US" altLang="en-US" sz="2800" dirty="0"/>
              <a:t>, use symbols to represent devices within the network.</a:t>
            </a:r>
          </a:p>
          <a:p>
            <a:pPr marL="0" indent="0">
              <a:buNone/>
            </a:pPr>
            <a:endParaRPr lang="en-US" dirty="0">
              <a:cs typeface="Calibri"/>
            </a:endParaRPr>
          </a:p>
        </p:txBody>
      </p:sp>
      <p:pic>
        <p:nvPicPr>
          <p:cNvPr id="6" name="Picture 6" descr="A picture containing text, map&#10;&#10;Description generated with very high confidence">
            <a:extLst>
              <a:ext uri="{FF2B5EF4-FFF2-40B4-BE49-F238E27FC236}">
                <a16:creationId xmlns:a16="http://schemas.microsoft.com/office/drawing/2014/main" id="{C7EF9BF3-92AC-4AE0-ACA2-E7C4476B8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34" y="2057399"/>
            <a:ext cx="6826337" cy="4033045"/>
          </a:xfrm>
          <a:prstGeom prst="rect">
            <a:avLst/>
          </a:prstGeom>
        </p:spPr>
      </p:pic>
      <p:sp>
        <p:nvSpPr>
          <p:cNvPr id="4" name="Callout: Line with Accent Bar 3">
            <a:extLst>
              <a:ext uri="{FF2B5EF4-FFF2-40B4-BE49-F238E27FC236}">
                <a16:creationId xmlns:a16="http://schemas.microsoft.com/office/drawing/2014/main" id="{A73F4F52-E5FE-40D7-AF50-FDE6064C2FFE}"/>
              </a:ext>
            </a:extLst>
          </p:cNvPr>
          <p:cNvSpPr/>
          <p:nvPr/>
        </p:nvSpPr>
        <p:spPr>
          <a:xfrm>
            <a:off x="5150498" y="2076061"/>
            <a:ext cx="5738327" cy="676469"/>
          </a:xfrm>
          <a:prstGeom prst="accentCallout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Physical topology diagrams illustrate the physical location of intermediary devices and cable installation.</a:t>
            </a:r>
          </a:p>
        </p:txBody>
      </p:sp>
      <p:sp>
        <p:nvSpPr>
          <p:cNvPr id="5" name="Callout: Line with Accent Bar 4">
            <a:extLst>
              <a:ext uri="{FF2B5EF4-FFF2-40B4-BE49-F238E27FC236}">
                <a16:creationId xmlns:a16="http://schemas.microsoft.com/office/drawing/2014/main" id="{B7596D08-7A7F-4885-BEB2-667C30C70EB7}"/>
              </a:ext>
            </a:extLst>
          </p:cNvPr>
          <p:cNvSpPr/>
          <p:nvPr/>
        </p:nvSpPr>
        <p:spPr>
          <a:xfrm>
            <a:off x="7840825" y="3612356"/>
            <a:ext cx="4147458" cy="1530219"/>
          </a:xfrm>
          <a:prstGeom prst="accentCallout1">
            <a:avLst>
              <a:gd name="adj1" fmla="val 18750"/>
              <a:gd name="adj2" fmla="val -8333"/>
              <a:gd name="adj3" fmla="val 55418"/>
              <a:gd name="adj4" fmla="val -4272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Logical topology diagrams illustrate devices, ports, and the addressing scheme of the network.</a:t>
            </a:r>
          </a:p>
        </p:txBody>
      </p:sp>
    </p:spTree>
    <p:extLst>
      <p:ext uri="{BB962C8B-B14F-4D97-AF65-F5344CB8AC3E}">
        <p14:creationId xmlns:p14="http://schemas.microsoft.com/office/powerpoint/2010/main" val="904679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F0C94-3CAC-46E1-9755-59B2D9B1E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Network Topology</a:t>
            </a:r>
          </a:p>
        </p:txBody>
      </p:sp>
      <p:pic>
        <p:nvPicPr>
          <p:cNvPr id="5" name="Content Placeholder 4" descr="A picture containing brush&#10;&#10;Description generated with high confidence">
            <a:extLst>
              <a:ext uri="{FF2B5EF4-FFF2-40B4-BE49-F238E27FC236}">
                <a16:creationId xmlns:a16="http://schemas.microsoft.com/office/drawing/2014/main" id="{8EEC20A6-7BE9-4C43-B9DD-CC76C87594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859" y="1870563"/>
            <a:ext cx="8880281" cy="4351338"/>
          </a:xfrm>
        </p:spPr>
      </p:pic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7C1D2B9-033B-4B08-B920-F3209F082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615070" cy="365125"/>
          </a:xfrm>
        </p:spPr>
        <p:txBody>
          <a:bodyPr/>
          <a:lstStyle/>
          <a:p>
            <a:r>
              <a:rPr lang="fr-FR" dirty="0"/>
              <a:t>Source: </a:t>
            </a:r>
            <a:r>
              <a:rPr lang="fr-FR" dirty="0" err="1"/>
              <a:t>wikipedia</a:t>
            </a:r>
            <a:endParaRPr lang="en-US" dirty="0"/>
          </a:p>
        </p:txBody>
      </p:sp>
      <p:sp>
        <p:nvSpPr>
          <p:cNvPr id="6" name="Callout: Line 5">
            <a:extLst>
              <a:ext uri="{FF2B5EF4-FFF2-40B4-BE49-F238E27FC236}">
                <a16:creationId xmlns:a16="http://schemas.microsoft.com/office/drawing/2014/main" id="{E1C10822-2FF5-4EF1-BE24-0F28EC7CE8C2}"/>
              </a:ext>
            </a:extLst>
          </p:cNvPr>
          <p:cNvSpPr/>
          <p:nvPr/>
        </p:nvSpPr>
        <p:spPr>
          <a:xfrm>
            <a:off x="9998258" y="1711429"/>
            <a:ext cx="1846730" cy="591670"/>
          </a:xfrm>
          <a:prstGeom prst="borderCallout1">
            <a:avLst>
              <a:gd name="adj1" fmla="val 18750"/>
              <a:gd name="adj2" fmla="val -8333"/>
              <a:gd name="adj3" fmla="val 159536"/>
              <a:gd name="adj4" fmla="val -4048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Will not scale well</a:t>
            </a:r>
          </a:p>
        </p:txBody>
      </p:sp>
      <p:sp>
        <p:nvSpPr>
          <p:cNvPr id="9" name="Callout: Line 8">
            <a:extLst>
              <a:ext uri="{FF2B5EF4-FFF2-40B4-BE49-F238E27FC236}">
                <a16:creationId xmlns:a16="http://schemas.microsoft.com/office/drawing/2014/main" id="{92212B33-5865-4B12-9AE9-3CD946D6BA10}"/>
              </a:ext>
            </a:extLst>
          </p:cNvPr>
          <p:cNvSpPr/>
          <p:nvPr/>
        </p:nvSpPr>
        <p:spPr>
          <a:xfrm>
            <a:off x="10150658" y="5441924"/>
            <a:ext cx="1846730" cy="1200407"/>
          </a:xfrm>
          <a:prstGeom prst="borderCallout1">
            <a:avLst>
              <a:gd name="adj1" fmla="val 18750"/>
              <a:gd name="adj2" fmla="val -8333"/>
              <a:gd name="adj3" fmla="val -12939"/>
              <a:gd name="adj4" fmla="val -4407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2 devices communicate simultaneously???</a:t>
            </a:r>
          </a:p>
        </p:txBody>
      </p:sp>
      <p:sp>
        <p:nvSpPr>
          <p:cNvPr id="10" name="Callout: Line 9">
            <a:extLst>
              <a:ext uri="{FF2B5EF4-FFF2-40B4-BE49-F238E27FC236}">
                <a16:creationId xmlns:a16="http://schemas.microsoft.com/office/drawing/2014/main" id="{01EB9689-ED2B-4549-834E-59C73881FF4A}"/>
              </a:ext>
            </a:extLst>
          </p:cNvPr>
          <p:cNvSpPr/>
          <p:nvPr/>
        </p:nvSpPr>
        <p:spPr>
          <a:xfrm>
            <a:off x="4056529" y="5756146"/>
            <a:ext cx="1846730" cy="1200407"/>
          </a:xfrm>
          <a:prstGeom prst="borderCallout1">
            <a:avLst>
              <a:gd name="adj1" fmla="val 18750"/>
              <a:gd name="adj2" fmla="val -8333"/>
              <a:gd name="adj3" fmla="val -12939"/>
              <a:gd name="adj4" fmla="val -4407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What if one device goes down???</a:t>
            </a:r>
          </a:p>
        </p:txBody>
      </p:sp>
      <p:sp>
        <p:nvSpPr>
          <p:cNvPr id="11" name="Callout: Line 10">
            <a:extLst>
              <a:ext uri="{FF2B5EF4-FFF2-40B4-BE49-F238E27FC236}">
                <a16:creationId xmlns:a16="http://schemas.microsoft.com/office/drawing/2014/main" id="{036CB816-4AE8-43F7-88FE-C324B28F4FA0}"/>
              </a:ext>
            </a:extLst>
          </p:cNvPr>
          <p:cNvSpPr/>
          <p:nvPr/>
        </p:nvSpPr>
        <p:spPr>
          <a:xfrm>
            <a:off x="7304363" y="790382"/>
            <a:ext cx="1846730" cy="1200407"/>
          </a:xfrm>
          <a:prstGeom prst="borderCallout1">
            <a:avLst>
              <a:gd name="adj1" fmla="val 18750"/>
              <a:gd name="adj2" fmla="val -8333"/>
              <a:gd name="adj3" fmla="val 180256"/>
              <a:gd name="adj4" fmla="val -311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Centre is single point of failure</a:t>
            </a:r>
          </a:p>
        </p:txBody>
      </p:sp>
      <p:sp>
        <p:nvSpPr>
          <p:cNvPr id="12" name="Callout: Line 11">
            <a:extLst>
              <a:ext uri="{FF2B5EF4-FFF2-40B4-BE49-F238E27FC236}">
                <a16:creationId xmlns:a16="http://schemas.microsoft.com/office/drawing/2014/main" id="{19F37F81-D5F5-419C-B84B-EA1A1AA07A98}"/>
              </a:ext>
            </a:extLst>
          </p:cNvPr>
          <p:cNvSpPr/>
          <p:nvPr/>
        </p:nvSpPr>
        <p:spPr>
          <a:xfrm>
            <a:off x="5034051" y="624730"/>
            <a:ext cx="1846730" cy="1200407"/>
          </a:xfrm>
          <a:prstGeom prst="borderCallout1">
            <a:avLst>
              <a:gd name="adj1" fmla="val 18750"/>
              <a:gd name="adj2" fmla="val -8333"/>
              <a:gd name="adj3" fmla="val 180256"/>
              <a:gd name="adj4" fmla="val -311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What connection to use? Unorganised….</a:t>
            </a:r>
          </a:p>
        </p:txBody>
      </p:sp>
    </p:spTree>
    <p:extLst>
      <p:ext uri="{BB962C8B-B14F-4D97-AF65-F5344CB8AC3E}">
        <p14:creationId xmlns:p14="http://schemas.microsoft.com/office/powerpoint/2010/main" val="2860856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A69B6-7F1A-4348-BB94-21E59BBBC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917" y="-94951"/>
            <a:ext cx="10515600" cy="1325563"/>
          </a:xfrm>
        </p:spPr>
        <p:txBody>
          <a:bodyPr/>
          <a:lstStyle/>
          <a:p>
            <a:r>
              <a:rPr lang="en-US" dirty="0">
                <a:cs typeface="Calibri Light"/>
              </a:rPr>
              <a:t>Typical Home Network</a:t>
            </a:r>
            <a:endParaRPr lang="en-US" dirty="0"/>
          </a:p>
        </p:txBody>
      </p:sp>
      <p:pic>
        <p:nvPicPr>
          <p:cNvPr id="4" name="Picture 4" descr="A picture containing text, map&#10;&#10;Description generated with very high confidence">
            <a:extLst>
              <a:ext uri="{FF2B5EF4-FFF2-40B4-BE49-F238E27FC236}">
                <a16:creationId xmlns:a16="http://schemas.microsoft.com/office/drawing/2014/main" id="{10F2EEA5-6704-43CE-BEAB-59343B792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985" y="1241772"/>
            <a:ext cx="7430218" cy="50789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950075-D896-4EEE-BC5E-3FC67730689C}"/>
              </a:ext>
            </a:extLst>
          </p:cNvPr>
          <p:cNvSpPr txBox="1"/>
          <p:nvPr/>
        </p:nvSpPr>
        <p:spPr>
          <a:xfrm>
            <a:off x="3085381" y="6485626"/>
            <a:ext cx="5877463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cs typeface="Calibri"/>
              </a:rPr>
              <a:t>Source: https://techterms.com/definition/network</a:t>
            </a:r>
          </a:p>
        </p:txBody>
      </p:sp>
    </p:spTree>
    <p:extLst>
      <p:ext uri="{BB962C8B-B14F-4D97-AF65-F5344CB8AC3E}">
        <p14:creationId xmlns:p14="http://schemas.microsoft.com/office/powerpoint/2010/main" val="246256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4B859-8E7B-44BC-B75C-A8465D567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Some Networking Vocabulary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5052D-8223-4785-A759-54666F639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b="1" dirty="0">
                <a:cs typeface="Calibri"/>
              </a:rPr>
              <a:t>Network Interface Card/Adapter</a:t>
            </a:r>
            <a:r>
              <a:rPr lang="en-US" dirty="0">
                <a:cs typeface="Calibri"/>
              </a:rPr>
              <a:t>: any kind of interface to networking hardware. (e.g. </a:t>
            </a:r>
            <a:r>
              <a:rPr lang="en-US" dirty="0" err="1">
                <a:cs typeface="Calibri"/>
              </a:rPr>
              <a:t>wifi</a:t>
            </a:r>
            <a:r>
              <a:rPr lang="en-US" dirty="0">
                <a:cs typeface="Calibri"/>
              </a:rPr>
              <a:t> interface and wired interface). A network interface may be associated with a physical device, or it may be a representation of a virtual interface. (e.g. interfaces on your virtual machines)</a:t>
            </a:r>
          </a:p>
          <a:p>
            <a:r>
              <a:rPr lang="en-US" b="1" dirty="0">
                <a:cs typeface="Calibri"/>
              </a:rPr>
              <a:t>LAN</a:t>
            </a:r>
            <a:r>
              <a:rPr lang="en-US" dirty="0">
                <a:cs typeface="Calibri"/>
              </a:rPr>
              <a:t>: Local Area Network refers to a network or a portion of a network that is not publicly accessible to the greater internet.</a:t>
            </a:r>
          </a:p>
          <a:p>
            <a:r>
              <a:rPr lang="en-US" b="1" dirty="0">
                <a:cs typeface="Calibri"/>
              </a:rPr>
              <a:t>WAN</a:t>
            </a:r>
            <a:r>
              <a:rPr lang="en-US" dirty="0">
                <a:cs typeface="Calibri"/>
              </a:rPr>
              <a:t>: Wide Area Network. Much Larger and extensive than a LAN. Often used to refer to the Internet, as a whole.</a:t>
            </a:r>
          </a:p>
          <a:p>
            <a:r>
              <a:rPr lang="en-US" b="1" dirty="0">
                <a:cs typeface="Calibri"/>
              </a:rPr>
              <a:t>Node:</a:t>
            </a:r>
            <a:r>
              <a:rPr lang="en-US" dirty="0">
                <a:cs typeface="Calibri"/>
              </a:rPr>
              <a:t> General term usually for a device on a network. Every node has a unique network address.</a:t>
            </a:r>
          </a:p>
          <a:p>
            <a:r>
              <a:rPr lang="en-US" b="1" dirty="0"/>
              <a:t>Media Access Control</a:t>
            </a:r>
            <a:r>
              <a:rPr lang="en-US" b="1" dirty="0">
                <a:cs typeface="Calibri"/>
              </a:rPr>
              <a:t>(MAC) address:</a:t>
            </a:r>
            <a:r>
              <a:rPr lang="en-US" dirty="0">
                <a:cs typeface="Calibri"/>
              </a:rPr>
              <a:t> Used to distinguish specific devices. A unique address that each device is assigned during manufacturing. Used to differentiates it from every other device on the internet. Typically, each network interface has a MAC address.</a:t>
            </a:r>
          </a:p>
          <a:p>
            <a:r>
              <a:rPr lang="en-US" b="1" dirty="0"/>
              <a:t>IP</a:t>
            </a:r>
            <a:r>
              <a:rPr lang="en-US" b="1" dirty="0">
                <a:cs typeface="Calibri"/>
              </a:rPr>
              <a:t>: </a:t>
            </a:r>
            <a:r>
              <a:rPr lang="en-US" dirty="0">
                <a:cs typeface="Calibri"/>
              </a:rPr>
              <a:t>protocols that allow the internet to work. IP addresses are unique on each network and they allow machines to address each other across networks.</a:t>
            </a: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48330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85D66-CAA9-46D5-8B20-89998726D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Key Points so far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FD7B2-C723-43E7-88BE-086441DD4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dirty="0">
                <a:cs typeface="Calibri"/>
              </a:rPr>
              <a:t>Networks are everywhere</a:t>
            </a:r>
          </a:p>
          <a:p>
            <a:r>
              <a:rPr lang="en-US" dirty="0">
                <a:cs typeface="Calibri"/>
              </a:rPr>
              <a:t>4 Components of every network</a:t>
            </a:r>
          </a:p>
          <a:p>
            <a:pPr lvl="1"/>
            <a:r>
              <a:rPr lang="en-US" dirty="0">
                <a:cs typeface="Calibri"/>
              </a:rPr>
              <a:t>Devices</a:t>
            </a:r>
          </a:p>
          <a:p>
            <a:pPr lvl="1"/>
            <a:r>
              <a:rPr lang="en-US" dirty="0">
                <a:cs typeface="Calibri"/>
              </a:rPr>
              <a:t>Medium</a:t>
            </a:r>
          </a:p>
          <a:p>
            <a:pPr lvl="1"/>
            <a:r>
              <a:rPr lang="en-US" dirty="0">
                <a:cs typeface="Calibri"/>
              </a:rPr>
              <a:t>Protocols (Rules)</a:t>
            </a:r>
          </a:p>
          <a:p>
            <a:pPr lvl="1"/>
            <a:r>
              <a:rPr lang="en-US" dirty="0">
                <a:cs typeface="Calibri"/>
              </a:rPr>
              <a:t>Messages (Data)</a:t>
            </a:r>
          </a:p>
          <a:p>
            <a:r>
              <a:rPr lang="en-US" dirty="0">
                <a:cs typeface="Calibri"/>
              </a:rPr>
              <a:t>Networks are connecting everything (not just for PCs/Laptops)</a:t>
            </a:r>
          </a:p>
          <a:p>
            <a:r>
              <a:rPr lang="en-US" dirty="0">
                <a:cs typeface="Calibri"/>
              </a:rPr>
              <a:t>Networks have a Topology</a:t>
            </a:r>
          </a:p>
          <a:p>
            <a:r>
              <a:rPr lang="en-US" dirty="0">
                <a:cs typeface="Calibri"/>
              </a:rPr>
              <a:t>Some key characteristics of a network</a:t>
            </a:r>
          </a:p>
          <a:p>
            <a:pPr lvl="1"/>
            <a:r>
              <a:rPr lang="en-US" dirty="0">
                <a:cs typeface="Calibri"/>
              </a:rPr>
              <a:t>Fault tolerance</a:t>
            </a:r>
          </a:p>
          <a:p>
            <a:pPr lvl="1"/>
            <a:r>
              <a:rPr lang="en-US" dirty="0">
                <a:cs typeface="Calibri"/>
              </a:rPr>
              <a:t>Scalability</a:t>
            </a:r>
          </a:p>
          <a:p>
            <a:pPr lvl="1"/>
            <a:r>
              <a:rPr lang="en-US" dirty="0">
                <a:cs typeface="Calibri"/>
              </a:rPr>
              <a:t>Quality of service (QoS)</a:t>
            </a:r>
          </a:p>
          <a:p>
            <a:pPr lvl="1"/>
            <a:r>
              <a:rPr lang="en-US" dirty="0">
                <a:cs typeface="Calibri"/>
              </a:rPr>
              <a:t>Security</a:t>
            </a:r>
          </a:p>
          <a:p>
            <a:pPr lvl="1"/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22933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320" y="365125"/>
            <a:ext cx="5120114" cy="1692794"/>
          </a:xfrm>
        </p:spPr>
        <p:txBody>
          <a:bodyPr>
            <a:normAutofit/>
          </a:bodyPr>
          <a:lstStyle/>
          <a:p>
            <a:r>
              <a:rPr lang="en-US" dirty="0"/>
              <a:t>Internet of Things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321" y="2575034"/>
            <a:ext cx="5120113" cy="3462228"/>
          </a:xfrm>
        </p:spPr>
        <p:txBody>
          <a:bodyPr>
            <a:normAutofit/>
          </a:bodyPr>
          <a:lstStyle/>
          <a:p>
            <a:r>
              <a:rPr lang="en-US" altLang="en-US" sz="1800" dirty="0"/>
              <a:t>Internet </a:t>
            </a:r>
            <a:r>
              <a:rPr lang="en-US" altLang="en-US" sz="1800" dirty="0">
                <a:sym typeface="Wingdings" charset="2"/>
              </a:rPr>
              <a:t> The worldwide network of interconnected computer networks, based on standard communication protocols (TCP/IP).</a:t>
            </a:r>
          </a:p>
          <a:p>
            <a:pPr>
              <a:buFontTx/>
              <a:buNone/>
            </a:pPr>
            <a:endParaRPr lang="en-US" altLang="en-US" sz="1800" dirty="0">
              <a:sym typeface="Wingdings" charset="2"/>
            </a:endParaRPr>
          </a:p>
          <a:p>
            <a:r>
              <a:rPr lang="en-US" altLang="en-US" sz="1800" dirty="0"/>
              <a:t>Thing </a:t>
            </a:r>
            <a:r>
              <a:rPr lang="en-US" altLang="en-US" sz="1800" dirty="0">
                <a:sym typeface="Wingdings" charset="2"/>
              </a:rPr>
              <a:t> An object not precisely identifiable.</a:t>
            </a:r>
          </a:p>
          <a:p>
            <a:pPr>
              <a:buFontTx/>
              <a:buNone/>
            </a:pPr>
            <a:endParaRPr lang="en-US" altLang="en-US" sz="1800" dirty="0">
              <a:sym typeface="Wingdings" charset="2"/>
            </a:endParaRPr>
          </a:p>
          <a:p>
            <a:r>
              <a:rPr lang="en-US" altLang="en-US" sz="1800" dirty="0"/>
              <a:t>Internet of Things (IoT) </a:t>
            </a:r>
            <a:r>
              <a:rPr lang="en-US" altLang="en-US" sz="1800" dirty="0">
                <a:sym typeface="Wingdings" charset="2"/>
              </a:rPr>
              <a:t> A worldwide network of interconnected objects uniquely addressable, based on standard communication protocol.</a:t>
            </a:r>
            <a:endParaRPr lang="en-US" sz="1800" dirty="0"/>
          </a:p>
          <a:p>
            <a:pPr>
              <a:buClrTx/>
            </a:pP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41820" y="6356350"/>
            <a:ext cx="116586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3AA60A-E467-4DB9-BF1F-F60A1C08184A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pic>
        <p:nvPicPr>
          <p:cNvPr id="5" name="Picture 2" descr="http://blogs-images.forbes.com/oracle/files/2015/07/InternetofThings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45"/>
          <a:stretch/>
        </p:blipFill>
        <p:spPr bwMode="auto">
          <a:xfrm>
            <a:off x="5878849" y="10"/>
            <a:ext cx="6313150" cy="6857987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707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/>
          <a:lstStyle/>
          <a:p>
            <a:r>
              <a:rPr lang="en-US" dirty="0"/>
              <a:t>What’s the difference…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75046"/>
            <a:ext cx="11726779" cy="1045006"/>
          </a:xfrm>
        </p:spPr>
        <p:txBody>
          <a:bodyPr>
            <a:normAutofit/>
          </a:bodyPr>
          <a:lstStyle/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GB" altLang="en-US" sz="2400" dirty="0"/>
              <a:t>Extending the current Internet and providing connection, communication, and inter-networking between devices and physical objects, or "Things,“ (even biological things!)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AA60A-E467-4DB9-BF1F-F60A1C08184A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5" name="Picture 2" descr="https://www.capitatranslationinterpreting.com/wp-content/uploads/2014/10/Internet-of-Things-Blog-Post-Imag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2039" y="2559336"/>
            <a:ext cx="6089904" cy="3430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3068059" y="6103257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/>
              <a:t>https://www.capitatranslationinterpreting.com/the-internet-of-things/</a:t>
            </a:r>
          </a:p>
        </p:txBody>
      </p:sp>
    </p:spTree>
    <p:extLst>
      <p:ext uri="{BB962C8B-B14F-4D97-AF65-F5344CB8AC3E}">
        <p14:creationId xmlns:p14="http://schemas.microsoft.com/office/powerpoint/2010/main" val="34695918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/>
          <a:lstStyle/>
          <a:p>
            <a:r>
              <a:rPr lang="en-US" dirty="0"/>
              <a:t>IoT Evolution</a:t>
            </a:r>
          </a:p>
        </p:txBody>
      </p:sp>
      <p:sp>
        <p:nvSpPr>
          <p:cNvPr id="37" name="Content Placeholder 2"/>
          <p:cNvSpPr>
            <a:spLocks noGrp="1"/>
          </p:cNvSpPr>
          <p:nvPr>
            <p:ph idx="1"/>
          </p:nvPr>
        </p:nvSpPr>
        <p:spPr>
          <a:xfrm>
            <a:off x="838200" y="1583936"/>
            <a:ext cx="4722478" cy="5137539"/>
          </a:xfrm>
        </p:spPr>
        <p:txBody>
          <a:bodyPr>
            <a:normAutofit fontScale="77500" lnSpcReduction="20000"/>
          </a:bodyPr>
          <a:lstStyle/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US" dirty="0"/>
              <a:t>Started with </a:t>
            </a:r>
            <a:r>
              <a:rPr lang="en-US" dirty="0">
                <a:solidFill>
                  <a:srgbClr val="6A0032"/>
                </a:solidFill>
              </a:rPr>
              <a:t>connectivity</a:t>
            </a:r>
            <a:r>
              <a:rPr lang="en-US" dirty="0"/>
              <a:t> among people for sharing information.</a:t>
            </a:r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endParaRPr lang="en-US" dirty="0"/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US" dirty="0"/>
              <a:t>Led to a “flat-world” where </a:t>
            </a:r>
            <a:r>
              <a:rPr lang="en-US" dirty="0">
                <a:solidFill>
                  <a:srgbClr val="6A0032"/>
                </a:solidFill>
              </a:rPr>
              <a:t>everyone </a:t>
            </a:r>
            <a:r>
              <a:rPr lang="en-US" dirty="0"/>
              <a:t>across the world is connected.</a:t>
            </a:r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endParaRPr lang="en-US" dirty="0"/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US" dirty="0"/>
              <a:t>Advancement in </a:t>
            </a:r>
            <a:r>
              <a:rPr lang="en-US" dirty="0">
                <a:solidFill>
                  <a:srgbClr val="6A0032"/>
                </a:solidFill>
              </a:rPr>
              <a:t>cloud computing </a:t>
            </a:r>
            <a:r>
              <a:rPr lang="en-US" dirty="0"/>
              <a:t>and immersive experience led towards universal accessibility of data.</a:t>
            </a:r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endParaRPr lang="en-US" dirty="0"/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US" dirty="0"/>
              <a:t>Combination of immersive experiences, connectivity and advancement in electronics further leading to </a:t>
            </a:r>
            <a:r>
              <a:rPr lang="en-US" u="sng" dirty="0">
                <a:solidFill>
                  <a:srgbClr val="6A0032"/>
                </a:solidFill>
              </a:rPr>
              <a:t>Internet of Everything (IoE)</a:t>
            </a:r>
            <a:endParaRPr lang="en-US" dirty="0">
              <a:solidFill>
                <a:srgbClr val="6A0032"/>
              </a:solidFill>
            </a:endParaRPr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AA60A-E467-4DB9-BF1F-F60A1C08184A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422" y="2391277"/>
            <a:ext cx="6059634" cy="2749273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7671743" y="5140550"/>
            <a:ext cx="107416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Source: Cisco</a:t>
            </a:r>
          </a:p>
        </p:txBody>
      </p:sp>
    </p:spTree>
    <p:extLst>
      <p:ext uri="{BB962C8B-B14F-4D97-AF65-F5344CB8AC3E}">
        <p14:creationId xmlns:p14="http://schemas.microsoft.com/office/powerpoint/2010/main" val="434107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IoT Potential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3797807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Conservatively </a:t>
            </a:r>
            <a:r>
              <a:rPr lang="en-US" sz="1300" dirty="0">
                <a:sym typeface="Wingdings" panose="05000000000000000000" pitchFamily="2" charset="2"/>
              </a:rPr>
              <a:t> 20 billion newly connected devices will be deployed.</a:t>
            </a:r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First public website went live at CERN in 1990.</a:t>
            </a:r>
          </a:p>
          <a:p>
            <a:pPr marL="566420" lvl="1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It took 15 years to reach 1 billion people on earth over the internet.</a:t>
            </a:r>
            <a:endParaRPr lang="en-US" sz="1300" dirty="0">
              <a:cs typeface="Calibri"/>
            </a:endParaRPr>
          </a:p>
          <a:p>
            <a:pPr marL="566420" lvl="1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IoT is looking to add 6 billion connected devices per year.</a:t>
            </a:r>
            <a:endParaRPr lang="en-US" sz="1300" dirty="0">
              <a:cs typeface="Calibri"/>
            </a:endParaRPr>
          </a:p>
          <a:p>
            <a:pPr marL="566420" lvl="1" indent="-274320">
              <a:buClrTx/>
              <a:buFont typeface="Arial" panose="020B0604020202020204" pitchFamily="34" charset="0"/>
              <a:buChar char="•"/>
            </a:pPr>
            <a:endParaRPr lang="en-US" sz="1300" dirty="0">
              <a:cs typeface="Calibri"/>
            </a:endParaRPr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Economic impact</a:t>
            </a:r>
          </a:p>
          <a:p>
            <a:pPr marL="566420" lvl="1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New revenue streams</a:t>
            </a:r>
            <a:endParaRPr lang="en-US" sz="1300" dirty="0">
              <a:cs typeface="Calibri"/>
            </a:endParaRPr>
          </a:p>
          <a:p>
            <a:pPr marL="566420" lvl="1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Reducing costs</a:t>
            </a:r>
            <a:endParaRPr lang="en-US" sz="1300" dirty="0">
              <a:cs typeface="Calibri"/>
            </a:endParaRPr>
          </a:p>
          <a:p>
            <a:pPr marL="566420" lvl="1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Reducing time to market</a:t>
            </a:r>
            <a:endParaRPr lang="en-US" sz="1300" dirty="0">
              <a:cs typeface="Calibri"/>
            </a:endParaRPr>
          </a:p>
          <a:p>
            <a:pPr marL="566420" lvl="1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Improving supply chain</a:t>
            </a:r>
            <a:endParaRPr lang="en-US" sz="1300" dirty="0">
              <a:cs typeface="Calibri"/>
            </a:endParaRPr>
          </a:p>
          <a:p>
            <a:pPr marL="566420" lvl="1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Reducing production loss</a:t>
            </a:r>
            <a:endParaRPr lang="en-US" sz="1300" dirty="0">
              <a:cs typeface="Calibri"/>
            </a:endParaRPr>
          </a:p>
          <a:p>
            <a:pPr marL="566420" lvl="1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Increasing productivity</a:t>
            </a:r>
            <a:endParaRPr lang="en-US" sz="1300" dirty="0">
              <a:cs typeface="Calibri"/>
            </a:endParaRPr>
          </a:p>
          <a:p>
            <a:pPr marL="474980" lvl="2" indent="0">
              <a:buClrTx/>
              <a:buNone/>
            </a:pPr>
            <a:endParaRPr lang="en-US" sz="1300" dirty="0">
              <a:cs typeface="Calibri"/>
            </a:endParaRPr>
          </a:p>
          <a:p>
            <a:pPr marL="0" indent="0">
              <a:buClrTx/>
              <a:buNone/>
            </a:pPr>
            <a:endParaRPr lang="en-US" sz="1300" dirty="0"/>
          </a:p>
        </p:txBody>
      </p:sp>
      <p:pic>
        <p:nvPicPr>
          <p:cNvPr id="8" name="Picture 2" descr="http://mahdoton.fi/wp-content/uploads/2015/01/ibm-cisco-iot.png">
            <a:extLst>
              <a:ext uri="{FF2B5EF4-FFF2-40B4-BE49-F238E27FC236}">
                <a16:creationId xmlns:a16="http://schemas.microsoft.com/office/drawing/2014/main" id="{49B184FB-FD2A-48E7-96C2-54BD26AA83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25" b="3"/>
          <a:stretch/>
        </p:blipFill>
        <p:spPr bwMode="auto">
          <a:xfrm>
            <a:off x="5120640" y="1904281"/>
            <a:ext cx="6233160" cy="4272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3AA60A-E467-4DB9-BF1F-F60A1C08184A}" type="slidenum">
              <a:rPr lang="en-US" smtClean="0"/>
              <a:pPr>
                <a:spcAft>
                  <a:spcPts val="600"/>
                </a:spcAft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979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929" y="629266"/>
            <a:ext cx="5127031" cy="167660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Building Blocks of an IoT System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48930" y="2438400"/>
            <a:ext cx="5127029" cy="3785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28600">
              <a:buClrTx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Sensing</a:t>
            </a:r>
          </a:p>
          <a:p>
            <a:pPr marL="274320" indent="-228600">
              <a:buClrTx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Connectivity</a:t>
            </a:r>
          </a:p>
          <a:p>
            <a:pPr marL="274320" indent="-228600">
              <a:buClrTx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Gateways</a:t>
            </a:r>
          </a:p>
          <a:p>
            <a:pPr marL="274320" indent="-228600">
              <a:buClrTx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Processing</a:t>
            </a:r>
          </a:p>
          <a:p>
            <a:pPr marL="274320" indent="-228600">
              <a:buClrTx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Software</a:t>
            </a:r>
          </a:p>
          <a:p>
            <a:pPr marL="274320" indent="-228600">
              <a:buClrTx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Power</a:t>
            </a:r>
          </a:p>
          <a:p>
            <a:pPr marL="566928" lvl="1" indent="-228600">
              <a:buClrTx/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5" name="Picture 2" descr="http://blogs.intel.com/iot/files/2015/04/IoT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678"/>
          <a:stretch/>
        </p:blipFill>
        <p:spPr bwMode="auto">
          <a:xfrm>
            <a:off x="6090612" y="10"/>
            <a:ext cx="6101387" cy="685799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853928" y="6356350"/>
            <a:ext cx="685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  <a:defRPr/>
            </a:pPr>
            <a:fld id="{CC3AA60A-E467-4DB9-BF1F-F60A1C08184A}" type="slidenum">
              <a:rPr lang="en-US">
                <a:solidFill>
                  <a:srgbClr val="FFFFFF"/>
                </a:solidFill>
                <a:latin typeface="Calibri" panose="020F0502020204030204"/>
              </a:rPr>
              <a:pPr algn="l">
                <a:spcAft>
                  <a:spcPts val="600"/>
                </a:spcAft>
                <a:defRPr/>
              </a:pPr>
              <a:t>26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52176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http://psemi-website-files.s3.amazonaws.com/markets/featured_images/000/000/016/original/Markets_Internet-of-Things.jpg?141539048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9615" y="2145262"/>
            <a:ext cx="4065169" cy="2567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601" y="182895"/>
            <a:ext cx="10515600" cy="1325563"/>
          </a:xfr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/>
          <a:lstStyle/>
          <a:p>
            <a:r>
              <a:rPr lang="en-US" dirty="0"/>
              <a:t>Networking and IoT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607" y="1525866"/>
            <a:ext cx="7515224" cy="4566855"/>
          </a:xfrm>
        </p:spPr>
        <p:txBody>
          <a:bodyPr>
            <a:normAutofit/>
          </a:bodyPr>
          <a:lstStyle/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The Roles of Networks</a:t>
            </a:r>
          </a:p>
          <a:p>
            <a:pPr marL="566928" lvl="1" indent="-274320">
              <a:buClrTx/>
              <a:buFont typeface="Arial" panose="020B0604020202020204" pitchFamily="34" charset="0"/>
              <a:buChar char="•"/>
            </a:pPr>
            <a:r>
              <a:rPr lang="en-US" sz="2200" dirty="0"/>
              <a:t>Managing connected devices (discovery, join, leave, </a:t>
            </a:r>
            <a:r>
              <a:rPr lang="en-US" sz="2200" dirty="0" err="1"/>
              <a:t>etc</a:t>
            </a:r>
            <a:r>
              <a:rPr lang="en-US" sz="2200" dirty="0"/>
              <a:t>).</a:t>
            </a:r>
          </a:p>
          <a:p>
            <a:pPr marL="566928" lvl="1" indent="-274320">
              <a:buClrTx/>
              <a:buFont typeface="Arial" panose="020B0604020202020204" pitchFamily="34" charset="0"/>
              <a:buChar char="•"/>
            </a:pPr>
            <a:r>
              <a:rPr lang="en-US" sz="2200" dirty="0"/>
              <a:t>Relaying data packets from the source to the destination node in the network.</a:t>
            </a:r>
          </a:p>
          <a:p>
            <a:pPr marL="0" indent="0">
              <a:buClrTx/>
              <a:buNone/>
            </a:pPr>
            <a:endParaRPr lang="en-US" sz="2400" dirty="0"/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IoT is a distributed system. All nodes need to perform networking related tasks.</a:t>
            </a:r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Main concerns as before: Reliability, Performance, Security, QOS, Scalability</a:t>
            </a:r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AA60A-E467-4DB9-BF1F-F60A1C08184A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210613" y="6307341"/>
            <a:ext cx="345757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http://www.psemi.com/markets/industrial/internet-of-things</a:t>
            </a:r>
          </a:p>
        </p:txBody>
      </p:sp>
    </p:spTree>
    <p:extLst>
      <p:ext uri="{BB962C8B-B14F-4D97-AF65-F5344CB8AC3E}">
        <p14:creationId xmlns:p14="http://schemas.microsoft.com/office/powerpoint/2010/main" val="2658994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A circuit board&#10;&#10;Description generated with very high confidence">
            <a:extLst>
              <a:ext uri="{FF2B5EF4-FFF2-40B4-BE49-F238E27FC236}">
                <a16:creationId xmlns:a16="http://schemas.microsoft.com/office/drawing/2014/main" id="{5956D1A0-8AEB-4546-8C02-8F894BC643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450" b="1"/>
          <a:stretch/>
        </p:blipFill>
        <p:spPr>
          <a:xfrm>
            <a:off x="6338316" y="1904281"/>
            <a:ext cx="5074070" cy="42726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0247CD-819A-42F1-AA68-267A9A38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Learning about Networks/IoT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BCF44-63ED-4690-A855-32F0C4276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1548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cs typeface="Calibri"/>
              </a:rPr>
              <a:t>Can't create complex networks at home however you can simulate "virtual networks"</a:t>
            </a:r>
            <a:endParaRPr lang="en-US" dirty="0">
              <a:cs typeface="Calibri"/>
            </a:endParaRPr>
          </a:p>
          <a:p>
            <a:pPr lvl="1"/>
            <a:r>
              <a:rPr lang="en-US" sz="1600" dirty="0" err="1">
                <a:cs typeface="Calibri"/>
              </a:rPr>
              <a:t>Virtualbox</a:t>
            </a:r>
            <a:r>
              <a:rPr lang="en-US" sz="1600" dirty="0">
                <a:cs typeface="Calibri"/>
              </a:rPr>
              <a:t> hypervisor</a:t>
            </a:r>
          </a:p>
          <a:p>
            <a:pPr lvl="1"/>
            <a:r>
              <a:rPr lang="en-US" sz="1600" dirty="0">
                <a:cs typeface="Calibri"/>
              </a:rPr>
              <a:t>Packet Tracer</a:t>
            </a:r>
          </a:p>
          <a:p>
            <a:r>
              <a:rPr lang="en-US" sz="2000" dirty="0">
                <a:cs typeface="Calibri"/>
              </a:rPr>
              <a:t>Can use programmable, multi-channel,  prototyping device to investigate different mediums, protocols, IoT etc.</a:t>
            </a:r>
          </a:p>
          <a:p>
            <a:pPr lvl="1"/>
            <a:r>
              <a:rPr lang="en-US" sz="2000" dirty="0">
                <a:cs typeface="Calibri"/>
              </a:rPr>
              <a:t>Raspberry Pi has </a:t>
            </a:r>
            <a:r>
              <a:rPr lang="en-US" sz="2000" dirty="0" err="1">
                <a:cs typeface="Calibri"/>
              </a:rPr>
              <a:t>bluetooth</a:t>
            </a:r>
            <a:r>
              <a:rPr lang="en-US" sz="2000" dirty="0">
                <a:cs typeface="Calibri"/>
              </a:rPr>
              <a:t>, </a:t>
            </a:r>
            <a:r>
              <a:rPr lang="en-US" sz="2000" dirty="0" err="1">
                <a:cs typeface="Calibri"/>
              </a:rPr>
              <a:t>Wifi</a:t>
            </a:r>
            <a:r>
              <a:rPr lang="en-US" sz="2000" dirty="0">
                <a:cs typeface="Calibri"/>
              </a:rPr>
              <a:t>, Ethernet, SPI, I2C...</a:t>
            </a:r>
          </a:p>
        </p:txBody>
      </p:sp>
    </p:spTree>
    <p:extLst>
      <p:ext uri="{BB962C8B-B14F-4D97-AF65-F5344CB8AC3E}">
        <p14:creationId xmlns:p14="http://schemas.microsoft.com/office/powerpoint/2010/main" val="2833503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4BED4-A2D0-491A-A636-9618FE9C1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Break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E60B37-F6DF-43E1-A2D1-A6941E352C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325494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TCP/IP Model and Protocols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4848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E9E7C26D-B6FE-4C41-9472-F9B2A4BEB9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080" b="-2"/>
          <a:stretch/>
        </p:blipFill>
        <p:spPr>
          <a:xfrm>
            <a:off x="6090613" y="640082"/>
            <a:ext cx="5461724" cy="5577837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E69E85-8863-4976-A4BB-6C92FF81B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5127031" cy="1676603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Agenda (2</a:t>
            </a:r>
            <a:r>
              <a:rPr lang="en-US" baseline="30000" dirty="0">
                <a:cs typeface="Calibri Light"/>
              </a:rPr>
              <a:t>nd</a:t>
            </a:r>
            <a:r>
              <a:rPr lang="en-US" dirty="0">
                <a:cs typeface="Calibri Light"/>
              </a:rPr>
              <a:t> Part)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66A4B-95AE-44FA-97A0-F1314D93D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5127029" cy="37854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What’s a protocol suite/stack</a:t>
            </a:r>
            <a:endParaRPr lang="en-US" dirty="0"/>
          </a:p>
          <a:p>
            <a:r>
              <a:rPr lang="en-US" dirty="0">
                <a:cs typeface="Calibri"/>
              </a:rPr>
              <a:t>TCP/IP and the benefits of “Layered Model”</a:t>
            </a:r>
          </a:p>
          <a:p>
            <a:r>
              <a:rPr lang="en-US" dirty="0">
                <a:cs typeface="Calibri"/>
              </a:rPr>
              <a:t>Data Encapsulation</a:t>
            </a:r>
            <a:endParaRPr lang="en-US" sz="2800" dirty="0">
              <a:cs typeface="Calibri"/>
            </a:endParaRPr>
          </a:p>
          <a:p>
            <a:r>
              <a:rPr lang="en-US" dirty="0">
                <a:cs typeface="Calibri"/>
              </a:rPr>
              <a:t>Accessing resources/data on a network</a:t>
            </a:r>
          </a:p>
          <a:p>
            <a:r>
              <a:rPr lang="en-US" dirty="0">
                <a:cs typeface="Calibri"/>
              </a:rPr>
              <a:t>Logical addresses and Data Link (physical) addresses</a:t>
            </a: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74945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8EC89-37CC-40B2-B3A0-4F0A050C1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Computer Network Protocols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E17A5-38F1-48C5-8AEF-1E8815D49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An agreed convention for communication</a:t>
            </a:r>
          </a:p>
          <a:p>
            <a:r>
              <a:rPr lang="en-US">
                <a:cs typeface="Calibri"/>
              </a:rPr>
              <a:t>Formally Defined and unambiguous</a:t>
            </a:r>
          </a:p>
          <a:p>
            <a:r>
              <a:rPr lang="en-US">
                <a:cs typeface="Calibri"/>
              </a:rPr>
              <a:t>Network Protocols define:</a:t>
            </a:r>
          </a:p>
          <a:p>
            <a:pPr lvl="1"/>
            <a:r>
              <a:rPr lang="en-US">
                <a:cs typeface="Calibri"/>
              </a:rPr>
              <a:t>Format</a:t>
            </a:r>
          </a:p>
          <a:p>
            <a:pPr lvl="1"/>
            <a:r>
              <a:rPr lang="en-US">
                <a:cs typeface="Calibri"/>
              </a:rPr>
              <a:t>Message order</a:t>
            </a:r>
          </a:p>
          <a:p>
            <a:pPr lvl="1"/>
            <a:r>
              <a:rPr lang="en-US">
                <a:cs typeface="Calibri"/>
              </a:rPr>
              <a:t>Actions on transmission/receipt</a:t>
            </a:r>
          </a:p>
        </p:txBody>
      </p:sp>
      <p:pic>
        <p:nvPicPr>
          <p:cNvPr id="7" name="Picture 7" descr="A picture containing object&#10;&#10;Description generated with high confidence">
            <a:extLst>
              <a:ext uri="{FF2B5EF4-FFF2-40B4-BE49-F238E27FC236}">
                <a16:creationId xmlns:a16="http://schemas.microsoft.com/office/drawing/2014/main" id="{12C3D8FE-E257-4020-B65F-C0A39342C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1720" y="2133645"/>
            <a:ext cx="4152181" cy="280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539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134D5-E710-4044-94BA-FF8F1846E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Protocol Suites &amp; Standards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726B0-4FE6-4D35-89EF-677397CDC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A Protocol Suite is a group of protocols designed to work together</a:t>
            </a:r>
          </a:p>
          <a:p>
            <a:r>
              <a:rPr lang="en-US" dirty="0">
                <a:cs typeface="Calibri"/>
              </a:rPr>
              <a:t>Typically use open, widely used protocols.</a:t>
            </a:r>
          </a:p>
          <a:p>
            <a:pPr lvl="1"/>
            <a:r>
              <a:rPr lang="en-US" dirty="0">
                <a:cs typeface="Calibri"/>
              </a:rPr>
              <a:t>Example: </a:t>
            </a:r>
            <a:r>
              <a:rPr lang="en-US" dirty="0" err="1">
                <a:cs typeface="Calibri"/>
              </a:rPr>
              <a:t>Wifi</a:t>
            </a:r>
            <a:r>
              <a:rPr lang="en-US" dirty="0">
                <a:cs typeface="Calibri"/>
              </a:rPr>
              <a:t>, HTTP, FTP, TCP, IP...</a:t>
            </a:r>
          </a:p>
          <a:p>
            <a:r>
              <a:rPr lang="en-US" dirty="0">
                <a:cs typeface="Calibri"/>
              </a:rPr>
              <a:t>Protocol Standards established by Standards </a:t>
            </a:r>
            <a:r>
              <a:rPr lang="en-US" dirty="0" err="1">
                <a:cs typeface="Calibri"/>
              </a:rPr>
              <a:t>Organistations</a:t>
            </a:r>
            <a:r>
              <a:rPr lang="en-US" dirty="0">
                <a:cs typeface="Calibri"/>
              </a:rPr>
              <a:t>: Institute of Electrical and Electronics Engineers (IEEE) or the Internet Engineering Task Force (IETF) </a:t>
            </a:r>
          </a:p>
          <a:p>
            <a:r>
              <a:rPr lang="en-US" dirty="0">
                <a:cs typeface="Calibri"/>
              </a:rPr>
              <a:t>Protocol suites based on open standards ensures that products from different manufacturers can work together for efficient communications</a:t>
            </a:r>
          </a:p>
          <a:p>
            <a:pPr marL="0" indent="0">
              <a:buNone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5805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489C-ACEE-4A51-A3A4-5DAB619DF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00" y="978102"/>
            <a:ext cx="10588434" cy="1062644"/>
          </a:xfrm>
        </p:spPr>
        <p:txBody>
          <a:bodyPr anchor="b">
            <a:normAutofit/>
          </a:bodyPr>
          <a:lstStyle/>
          <a:p>
            <a:r>
              <a:rPr lang="en-US">
                <a:cs typeface="Calibri Light"/>
              </a:rPr>
              <a:t>TCP/IP Protocol Suite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8E86A-8B72-4707-B13A-8FB9C3F3B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283" y="2745186"/>
            <a:ext cx="6282169" cy="321574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400" dirty="0">
                <a:cs typeface="Calibri"/>
              </a:rPr>
              <a:t>Often referred to as TCP/IP, TCPIP, or just IP</a:t>
            </a:r>
          </a:p>
          <a:p>
            <a:r>
              <a:rPr lang="en-US" sz="2400" dirty="0">
                <a:cs typeface="Calibri"/>
              </a:rPr>
              <a:t>A whole suite of protocols, including TCP, IP, UDP, ARP, DNS, HTTP, ICMP and many more acronyms!</a:t>
            </a:r>
          </a:p>
          <a:p>
            <a:r>
              <a:rPr lang="en-US" sz="2400" dirty="0">
                <a:cs typeface="Calibri"/>
              </a:rPr>
              <a:t>TCP originally developed by the US Department of Defense for wartime comms.</a:t>
            </a:r>
          </a:p>
          <a:p>
            <a:pPr lvl="1"/>
            <a:r>
              <a:rPr lang="en-US" sz="2000" dirty="0">
                <a:cs typeface="Calibri"/>
              </a:rPr>
              <a:t>Remember ARPA</a:t>
            </a:r>
          </a:p>
          <a:p>
            <a:r>
              <a:rPr lang="en-US" sz="2400" dirty="0">
                <a:cs typeface="Calibri"/>
              </a:rPr>
              <a:t>TCP/IP is now the “standard” protocol suite for the internet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CF4933-F2E0-4AF3-8EF2-6576536CF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042" y="2479288"/>
            <a:ext cx="3926458" cy="3586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700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A close up of text on a white background&#10;&#10;Description generated with high confidence">
            <a:extLst>
              <a:ext uri="{FF2B5EF4-FFF2-40B4-BE49-F238E27FC236}">
                <a16:creationId xmlns:a16="http://schemas.microsoft.com/office/drawing/2014/main" id="{C45E7179-2919-44BF-8949-DAD14928A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966" y="820184"/>
            <a:ext cx="6755756" cy="454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8293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BA093-C837-4306-B2CF-B82847E40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Example: Layered Model Network Comms</a:t>
            </a:r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B855F37C-A427-4321-8B64-B7AF997861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7973" y="2105346"/>
            <a:ext cx="2528814" cy="22100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695EBF-CDC0-4540-B2BF-CC743E81F720}"/>
              </a:ext>
            </a:extLst>
          </p:cNvPr>
          <p:cNvSpPr txBox="1"/>
          <p:nvPr/>
        </p:nvSpPr>
        <p:spPr>
          <a:xfrm>
            <a:off x="676559" y="1523922"/>
            <a:ext cx="2743200" cy="646331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Web Server(Wired connection)</a:t>
            </a:r>
            <a:endParaRPr lang="en-US" dirty="0">
              <a:cs typeface="Calibri"/>
            </a:endParaRPr>
          </a:p>
        </p:txBody>
      </p:sp>
      <p:pic>
        <p:nvPicPr>
          <p:cNvPr id="7" name="Picture 7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D3F942EE-9D69-443E-890C-D132CEE58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515" y="1512991"/>
            <a:ext cx="5289629" cy="2867458"/>
          </a:xfrm>
          <a:prstGeom prst="rect">
            <a:avLst/>
          </a:prstGeom>
        </p:spPr>
      </p:pic>
      <p:sp>
        <p:nvSpPr>
          <p:cNvPr id="9" name="Left Brace 8">
            <a:extLst>
              <a:ext uri="{FF2B5EF4-FFF2-40B4-BE49-F238E27FC236}">
                <a16:creationId xmlns:a16="http://schemas.microsoft.com/office/drawing/2014/main" id="{EACD298C-FE89-47D0-A8E6-CF1AA6EDD8BE}"/>
              </a:ext>
            </a:extLst>
          </p:cNvPr>
          <p:cNvSpPr/>
          <p:nvPr/>
        </p:nvSpPr>
        <p:spPr>
          <a:xfrm>
            <a:off x="3597237" y="1905964"/>
            <a:ext cx="666662" cy="2419108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5707D4-6290-413D-8EE1-5564116E1ADD}"/>
              </a:ext>
            </a:extLst>
          </p:cNvPr>
          <p:cNvSpPr/>
          <p:nvPr/>
        </p:nvSpPr>
        <p:spPr>
          <a:xfrm>
            <a:off x="9834622" y="1848091"/>
            <a:ext cx="1329159" cy="6443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cs typeface="Calibri"/>
              </a:rPr>
              <a:t>Application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A29F07-5587-4BBB-8089-D21B07A10A6D}"/>
              </a:ext>
            </a:extLst>
          </p:cNvPr>
          <p:cNvSpPr/>
          <p:nvPr/>
        </p:nvSpPr>
        <p:spPr>
          <a:xfrm>
            <a:off x="9834621" y="2484698"/>
            <a:ext cx="1329159" cy="6443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cs typeface="Calibri"/>
              </a:rPr>
              <a:t>Transport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9DDD51-A37A-43F2-9441-86A052C38C64}"/>
              </a:ext>
            </a:extLst>
          </p:cNvPr>
          <p:cNvSpPr/>
          <p:nvPr/>
        </p:nvSpPr>
        <p:spPr>
          <a:xfrm>
            <a:off x="9834622" y="3121306"/>
            <a:ext cx="1329159" cy="6443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cs typeface="Calibri"/>
              </a:rPr>
              <a:t>Network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13B173-3E54-4173-AECE-B8D3DD55145A}"/>
              </a:ext>
            </a:extLst>
          </p:cNvPr>
          <p:cNvSpPr/>
          <p:nvPr/>
        </p:nvSpPr>
        <p:spPr>
          <a:xfrm>
            <a:off x="9834621" y="3757913"/>
            <a:ext cx="1329159" cy="6443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Calibri"/>
              </a:rPr>
              <a:t>Data Link/ Physical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05180C-DA66-4BF7-B153-C590609935D7}"/>
              </a:ext>
            </a:extLst>
          </p:cNvPr>
          <p:cNvSpPr txBox="1"/>
          <p:nvPr/>
        </p:nvSpPr>
        <p:spPr>
          <a:xfrm>
            <a:off x="9084197" y="1440083"/>
            <a:ext cx="2743200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Layers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D3E33D-BE95-4A09-9480-818693B740EC}"/>
              </a:ext>
            </a:extLst>
          </p:cNvPr>
          <p:cNvSpPr txBox="1"/>
          <p:nvPr/>
        </p:nvSpPr>
        <p:spPr>
          <a:xfrm>
            <a:off x="846881" y="4391627"/>
            <a:ext cx="2743200" cy="230832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 Benefits of Layered Model: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assists in protocol design</a:t>
            </a:r>
            <a:endParaRPr lang="en-US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/>
              <a:t>fosters competition</a:t>
            </a:r>
            <a:endParaRPr lang="en-US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/>
              <a:t>changes in one layer do not affect other layers</a:t>
            </a:r>
            <a:endParaRPr lang="en-US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/>
              <a:t>provides a common language </a:t>
            </a:r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83644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/>
      <p:bldP spid="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B6B11-C1F7-4667-A6F6-00AAF008D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5127031" cy="1676603"/>
          </a:xfrm>
        </p:spPr>
        <p:txBody>
          <a:bodyPr>
            <a:normAutofit/>
          </a:bodyPr>
          <a:lstStyle/>
          <a:p>
            <a:r>
              <a:rPr lang="en-US" b="1" dirty="0">
                <a:cs typeface="Calibri Light"/>
              </a:rPr>
              <a:t>OSI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E33DD-E471-4854-AC01-0653A0453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5127029" cy="378541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>
                <a:cs typeface="Calibri"/>
              </a:rPr>
              <a:t>Open Systems Interconnection(OSI) introduced by the International Organization for Standardization (ISO) in 1984 </a:t>
            </a:r>
          </a:p>
          <a:p>
            <a:r>
              <a:rPr lang="en-US" sz="2000" dirty="0">
                <a:cs typeface="Calibri"/>
              </a:rPr>
              <a:t>Provide a reference model to make sure products of different vendors would interoperate in networks. </a:t>
            </a:r>
          </a:p>
          <a:p>
            <a:r>
              <a:rPr lang="en-US" sz="2000" dirty="0">
                <a:cs typeface="Calibri"/>
              </a:rPr>
              <a:t>A layer in the OSI model communicates with three other layers: </a:t>
            </a:r>
          </a:p>
          <a:p>
            <a:pPr lvl="1"/>
            <a:r>
              <a:rPr lang="en-US" sz="2000" dirty="0">
                <a:cs typeface="Calibri"/>
              </a:rPr>
              <a:t>the layer above it, the layer below it, and the same layer at its communication partner.</a:t>
            </a:r>
          </a:p>
        </p:txBody>
      </p:sp>
      <p:pic>
        <p:nvPicPr>
          <p:cNvPr id="4" name="Picture 4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F7A28498-2E2A-42A9-8A44-B188A6F677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74"/>
          <a:stretch/>
        </p:blipFill>
        <p:spPr>
          <a:xfrm>
            <a:off x="6090612" y="10"/>
            <a:ext cx="6101387" cy="6857990"/>
          </a:xfrm>
          <a:prstGeom prst="rect">
            <a:avLst/>
          </a:prstGeom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07EB44-6FF9-4B80-8541-A8E83DC6C5D3}"/>
              </a:ext>
            </a:extLst>
          </p:cNvPr>
          <p:cNvSpPr txBox="1"/>
          <p:nvPr/>
        </p:nvSpPr>
        <p:spPr>
          <a:xfrm>
            <a:off x="-2662517" y="6252881"/>
            <a:ext cx="12075458" cy="215444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800"/>
              <a:t>Image Source: https://upload.wikimedia.org/wikipedia/commons/thumb/4/47/Osi-model-jb.svg/2000px-Osi-model-jb.svg.png</a:t>
            </a:r>
          </a:p>
        </p:txBody>
      </p:sp>
    </p:spTree>
    <p:extLst>
      <p:ext uri="{BB962C8B-B14F-4D97-AF65-F5344CB8AC3E}">
        <p14:creationId xmlns:p14="http://schemas.microsoft.com/office/powerpoint/2010/main" val="2562121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983D3-9304-4942-96DC-93F904F4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651467" cy="1676603"/>
          </a:xfrm>
        </p:spPr>
        <p:txBody>
          <a:bodyPr>
            <a:normAutofit/>
          </a:bodyPr>
          <a:lstStyle/>
          <a:p>
            <a:r>
              <a:rPr lang="en-US">
                <a:cs typeface="Calibri Light"/>
              </a:rPr>
              <a:t>OSI vs TCP/IP</a:t>
            </a:r>
            <a:endParaRPr lang="en-US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AE7E7699-E235-4EEB-981D-B8DA818F7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651466" cy="378541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 dirty="0">
                <a:cs typeface="Calibri"/>
              </a:rPr>
              <a:t>TCP/IP model combines the presentation and session layer into its application layer.</a:t>
            </a:r>
          </a:p>
          <a:p>
            <a:r>
              <a:rPr lang="en-US" sz="1800" dirty="0">
                <a:cs typeface="Calibri"/>
              </a:rPr>
              <a:t>TCP/IP combines the OSI data link and physical layers into the host-to-network/network access layer</a:t>
            </a:r>
          </a:p>
          <a:p>
            <a:r>
              <a:rPr lang="en-US" sz="1800" dirty="0">
                <a:cs typeface="Calibri"/>
              </a:rPr>
              <a:t>Internet developed on around TCP/IP protocols.</a:t>
            </a:r>
          </a:p>
          <a:p>
            <a:pPr lvl="1"/>
            <a:r>
              <a:rPr lang="en-US" sz="1800" dirty="0">
                <a:cs typeface="Calibri"/>
              </a:rPr>
              <a:t>Thus very popular.... Networks are not usually built on the OSI model, even though the OSI model is used as a guide.</a:t>
            </a:r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ED4EA54E-EA80-4FA7-A33C-45E844BC75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06" r="-1" b="-1"/>
          <a:stretch/>
        </p:blipFill>
        <p:spPr>
          <a:xfrm>
            <a:off x="4639056" y="10"/>
            <a:ext cx="7552944" cy="6857990"/>
          </a:xfrm>
          <a:prstGeom prst="rect">
            <a:avLst/>
          </a:prstGeom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119A25-8C57-4F1F-8BB6-98B69CD6B3EE}"/>
              </a:ext>
            </a:extLst>
          </p:cNvPr>
          <p:cNvSpPr txBox="1"/>
          <p:nvPr/>
        </p:nvSpPr>
        <p:spPr>
          <a:xfrm>
            <a:off x="9124245" y="5654840"/>
            <a:ext cx="2736451" cy="46166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E" sz="2400" b="1" dirty="0"/>
              <a:t>(Data Link/Physical)</a:t>
            </a:r>
          </a:p>
        </p:txBody>
      </p:sp>
    </p:spTree>
    <p:extLst>
      <p:ext uri="{BB962C8B-B14F-4D97-AF65-F5344CB8AC3E}">
        <p14:creationId xmlns:p14="http://schemas.microsoft.com/office/powerpoint/2010/main" val="1140887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53FD969-BE08-4C6B-BEAF-4BA340B2FB8C}"/>
              </a:ext>
            </a:extLst>
          </p:cNvPr>
          <p:cNvSpPr/>
          <p:nvPr/>
        </p:nvSpPr>
        <p:spPr>
          <a:xfrm>
            <a:off x="1202233" y="4679250"/>
            <a:ext cx="3637741" cy="579513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3ACEE6-0A24-4D4B-AB07-7DCD91048267}"/>
              </a:ext>
            </a:extLst>
          </p:cNvPr>
          <p:cNvSpPr/>
          <p:nvPr/>
        </p:nvSpPr>
        <p:spPr>
          <a:xfrm>
            <a:off x="2384611" y="4016187"/>
            <a:ext cx="2330823" cy="4482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4C2AF4-DEB0-41E2-A34F-9C0B8E82231E}"/>
              </a:ext>
            </a:extLst>
          </p:cNvPr>
          <p:cNvSpPr/>
          <p:nvPr/>
        </p:nvSpPr>
        <p:spPr>
          <a:xfrm>
            <a:off x="3621741" y="3433480"/>
            <a:ext cx="1030941" cy="34066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E7EB14-6A8D-4F1B-AA9A-D77081002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206" y="65983"/>
            <a:ext cx="10515600" cy="1325563"/>
          </a:xfrm>
        </p:spPr>
        <p:txBody>
          <a:bodyPr/>
          <a:lstStyle/>
          <a:p>
            <a:r>
              <a:rPr lang="en-US" dirty="0">
                <a:cs typeface="Calibri Light"/>
              </a:rPr>
              <a:t>Comms in TCP/IP: Data Encapsulation</a:t>
            </a:r>
            <a:endParaRPr lang="en-US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85B3A3A1-4890-4427-918E-0FB75F87D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99237"/>
            <a:ext cx="1720770" cy="1315653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39248399-F8BB-496D-A7EB-1CCFDAAA7C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04" y="1557349"/>
            <a:ext cx="515074" cy="65683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28F8F72-C237-4265-A8D2-55B400EAB527}"/>
              </a:ext>
            </a:extLst>
          </p:cNvPr>
          <p:cNvSpPr/>
          <p:nvPr/>
        </p:nvSpPr>
        <p:spPr>
          <a:xfrm>
            <a:off x="3121305" y="2600445"/>
            <a:ext cx="808299" cy="27779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rgbClr val="000000"/>
                </a:solidFill>
                <a:cs typeface="Calibri"/>
              </a:rPr>
              <a:t>Data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9C6F93-DA3D-4920-A04C-DBC52383C68B}"/>
              </a:ext>
            </a:extLst>
          </p:cNvPr>
          <p:cNvSpPr/>
          <p:nvPr/>
        </p:nvSpPr>
        <p:spPr>
          <a:xfrm>
            <a:off x="4066570" y="2600444"/>
            <a:ext cx="808299" cy="27779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rgbClr val="000000"/>
                </a:solidFill>
                <a:cs typeface="Calibri"/>
              </a:rPr>
              <a:t>Data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B0166B-3CEB-4F4D-8F84-B3F1A6B4A77A}"/>
              </a:ext>
            </a:extLst>
          </p:cNvPr>
          <p:cNvSpPr/>
          <p:nvPr/>
        </p:nvSpPr>
        <p:spPr>
          <a:xfrm>
            <a:off x="4963609" y="2600445"/>
            <a:ext cx="808299" cy="27779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rgbClr val="000000"/>
                </a:solidFill>
                <a:cs typeface="Calibri"/>
              </a:rPr>
              <a:t>Data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FA3CF2-20B3-44EC-8F20-8CD10A3C9C6C}"/>
              </a:ext>
            </a:extLst>
          </p:cNvPr>
          <p:cNvSpPr/>
          <p:nvPr/>
        </p:nvSpPr>
        <p:spPr>
          <a:xfrm>
            <a:off x="3712976" y="3461057"/>
            <a:ext cx="808299" cy="27779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rgbClr val="000000"/>
                </a:solidFill>
                <a:cs typeface="Calibri"/>
              </a:rPr>
              <a:t>Data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3F3F1D-D623-4A7A-8F86-3E07433E937F}"/>
              </a:ext>
            </a:extLst>
          </p:cNvPr>
          <p:cNvSpPr/>
          <p:nvPr/>
        </p:nvSpPr>
        <p:spPr>
          <a:xfrm>
            <a:off x="2456329" y="3433480"/>
            <a:ext cx="1165411" cy="34066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  <a:cs typeface="Calibri"/>
              </a:rPr>
              <a:t>Segment Header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A5FA9B-B76D-40A7-8388-77767813B008}"/>
              </a:ext>
            </a:extLst>
          </p:cNvPr>
          <p:cNvSpPr/>
          <p:nvPr/>
        </p:nvSpPr>
        <p:spPr>
          <a:xfrm>
            <a:off x="3603811" y="4069974"/>
            <a:ext cx="1030941" cy="34066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3B5123-1A9C-4710-BD76-9D8D11ACB3E2}"/>
              </a:ext>
            </a:extLst>
          </p:cNvPr>
          <p:cNvSpPr/>
          <p:nvPr/>
        </p:nvSpPr>
        <p:spPr>
          <a:xfrm>
            <a:off x="3695046" y="4097551"/>
            <a:ext cx="808299" cy="27779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rgbClr val="000000"/>
                </a:solidFill>
                <a:cs typeface="Calibri"/>
              </a:rPr>
              <a:t>Data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EC0D39-A25B-4DEC-8AF6-7FBD5FB01EC9}"/>
              </a:ext>
            </a:extLst>
          </p:cNvPr>
          <p:cNvSpPr/>
          <p:nvPr/>
        </p:nvSpPr>
        <p:spPr>
          <a:xfrm>
            <a:off x="2438399" y="4069974"/>
            <a:ext cx="1165411" cy="34066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chemeClr val="tx1"/>
                </a:solidFill>
                <a:cs typeface="Calibri"/>
              </a:rPr>
              <a:t>Segment Header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5D11F3-81B2-42A0-882C-5E997D948CCE}"/>
              </a:ext>
            </a:extLst>
          </p:cNvPr>
          <p:cNvSpPr/>
          <p:nvPr/>
        </p:nvSpPr>
        <p:spPr>
          <a:xfrm>
            <a:off x="1237128" y="4016187"/>
            <a:ext cx="1147482" cy="4482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000000"/>
                </a:solidFill>
                <a:cs typeface="Calibri"/>
              </a:rPr>
              <a:t>Network Header</a:t>
            </a:r>
            <a:endParaRPr lang="en-US" sz="1100" b="1">
              <a:solidFill>
                <a:srgbClr val="00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1F2AC5E-50DB-4F4F-B9F7-211BC35271A7}"/>
              </a:ext>
            </a:extLst>
          </p:cNvPr>
          <p:cNvSpPr/>
          <p:nvPr/>
        </p:nvSpPr>
        <p:spPr>
          <a:xfrm>
            <a:off x="2402541" y="4710832"/>
            <a:ext cx="2330823" cy="4482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0B614CC-C2B8-434F-BA12-C74927C54821}"/>
              </a:ext>
            </a:extLst>
          </p:cNvPr>
          <p:cNvSpPr/>
          <p:nvPr/>
        </p:nvSpPr>
        <p:spPr>
          <a:xfrm>
            <a:off x="3621741" y="4764619"/>
            <a:ext cx="1030941" cy="34066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8732ED-12A1-45C7-8FB7-151B36AF7003}"/>
              </a:ext>
            </a:extLst>
          </p:cNvPr>
          <p:cNvSpPr/>
          <p:nvPr/>
        </p:nvSpPr>
        <p:spPr>
          <a:xfrm>
            <a:off x="3712976" y="4792196"/>
            <a:ext cx="808299" cy="27779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rgbClr val="000000"/>
                </a:solidFill>
                <a:cs typeface="Calibri"/>
              </a:rPr>
              <a:t>Data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68FF6EB-1EBD-4D70-9499-4E6F88A77915}"/>
              </a:ext>
            </a:extLst>
          </p:cNvPr>
          <p:cNvSpPr/>
          <p:nvPr/>
        </p:nvSpPr>
        <p:spPr>
          <a:xfrm>
            <a:off x="2456329" y="4764619"/>
            <a:ext cx="1165411" cy="34066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chemeClr val="tx1"/>
                </a:solidFill>
                <a:cs typeface="Calibri"/>
              </a:rPr>
              <a:t>Segment Header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F1FBE3-F39A-44B2-AE22-1BB6BB0004CE}"/>
              </a:ext>
            </a:extLst>
          </p:cNvPr>
          <p:cNvSpPr/>
          <p:nvPr/>
        </p:nvSpPr>
        <p:spPr>
          <a:xfrm>
            <a:off x="1255058" y="4710832"/>
            <a:ext cx="1147482" cy="4482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000000"/>
                </a:solidFill>
                <a:cs typeface="Calibri"/>
              </a:rPr>
              <a:t>Network Header</a:t>
            </a:r>
            <a:endParaRPr lang="en-US" sz="1100" b="1">
              <a:solidFill>
                <a:srgbClr val="000000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41B2BEC-8302-40AA-BCF3-4D6758A3E378}"/>
              </a:ext>
            </a:extLst>
          </p:cNvPr>
          <p:cNvSpPr/>
          <p:nvPr/>
        </p:nvSpPr>
        <p:spPr>
          <a:xfrm>
            <a:off x="222200" y="4679249"/>
            <a:ext cx="980032" cy="579513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100" b="1" dirty="0">
                <a:solidFill>
                  <a:schemeClr val="tx1"/>
                </a:solidFill>
              </a:rPr>
              <a:t>Frame Header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2F2EB-69EC-4DAE-9FA7-1E8094DEED41}"/>
              </a:ext>
            </a:extLst>
          </p:cNvPr>
          <p:cNvSpPr/>
          <p:nvPr/>
        </p:nvSpPr>
        <p:spPr>
          <a:xfrm>
            <a:off x="4839974" y="4679249"/>
            <a:ext cx="980032" cy="579513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100" b="1" dirty="0">
                <a:solidFill>
                  <a:schemeClr val="tx1"/>
                </a:solidFill>
              </a:rPr>
              <a:t>Frame Trailer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3854EF-BC22-43CE-86D2-057504E73E09}"/>
              </a:ext>
            </a:extLst>
          </p:cNvPr>
          <p:cNvSpPr txBox="1"/>
          <p:nvPr/>
        </p:nvSpPr>
        <p:spPr>
          <a:xfrm>
            <a:off x="3791303" y="1767769"/>
            <a:ext cx="1083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b="1" dirty="0"/>
              <a:t>Large File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B9A904A8-E9F0-4A39-B6AD-A9F5588E0945}"/>
              </a:ext>
            </a:extLst>
          </p:cNvPr>
          <p:cNvSpPr/>
          <p:nvPr/>
        </p:nvSpPr>
        <p:spPr>
          <a:xfrm>
            <a:off x="4066570" y="2214183"/>
            <a:ext cx="515074" cy="27779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27" name="Picture 4">
            <a:extLst>
              <a:ext uri="{FF2B5EF4-FFF2-40B4-BE49-F238E27FC236}">
                <a16:creationId xmlns:a16="http://schemas.microsoft.com/office/drawing/2014/main" id="{8439E343-6213-4FF0-9978-30949CA1388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3570" t="1306" r="-2" b="-1"/>
          <a:stretch/>
        </p:blipFill>
        <p:spPr>
          <a:xfrm>
            <a:off x="8094185" y="935492"/>
            <a:ext cx="2592616" cy="4890102"/>
          </a:xfrm>
          <a:prstGeom prst="rect">
            <a:avLst/>
          </a:prstGeom>
          <a:effectLst/>
        </p:spPr>
      </p:pic>
      <p:sp>
        <p:nvSpPr>
          <p:cNvPr id="28" name="Arrow: Down 27">
            <a:extLst>
              <a:ext uri="{FF2B5EF4-FFF2-40B4-BE49-F238E27FC236}">
                <a16:creationId xmlns:a16="http://schemas.microsoft.com/office/drawing/2014/main" id="{53BC3490-EE42-4DC7-88E4-170B836AF666}"/>
              </a:ext>
            </a:extLst>
          </p:cNvPr>
          <p:cNvSpPr/>
          <p:nvPr/>
        </p:nvSpPr>
        <p:spPr>
          <a:xfrm>
            <a:off x="3791303" y="3835846"/>
            <a:ext cx="259612" cy="10226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6203A307-8E82-4427-9A04-B4042F835EF1}"/>
              </a:ext>
            </a:extLst>
          </p:cNvPr>
          <p:cNvSpPr/>
          <p:nvPr/>
        </p:nvSpPr>
        <p:spPr>
          <a:xfrm>
            <a:off x="3776150" y="4523194"/>
            <a:ext cx="259612" cy="10226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AC308A82-0B02-4D4D-9B42-3FA3233B117A}"/>
              </a:ext>
            </a:extLst>
          </p:cNvPr>
          <p:cNvSpPr/>
          <p:nvPr/>
        </p:nvSpPr>
        <p:spPr>
          <a:xfrm rot="19400197">
            <a:off x="3698328" y="2964710"/>
            <a:ext cx="274830" cy="43745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B0FE71-C691-4C10-976C-CB5D98070002}"/>
              </a:ext>
            </a:extLst>
          </p:cNvPr>
          <p:cNvSpPr txBox="1"/>
          <p:nvPr/>
        </p:nvSpPr>
        <p:spPr>
          <a:xfrm>
            <a:off x="6325094" y="3477457"/>
            <a:ext cx="26881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000" b="1" dirty="0"/>
              <a:t>TCP Segment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9CFD57B-C932-4233-9D54-95BF8D6989FE}"/>
              </a:ext>
            </a:extLst>
          </p:cNvPr>
          <p:cNvSpPr txBox="1"/>
          <p:nvPr/>
        </p:nvSpPr>
        <p:spPr>
          <a:xfrm>
            <a:off x="6325094" y="2539285"/>
            <a:ext cx="25926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000" b="1" dirty="0"/>
              <a:t>User Data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890EE5-C031-4424-B590-EAD7CE8FB5C0}"/>
              </a:ext>
            </a:extLst>
          </p:cNvPr>
          <p:cNvSpPr txBox="1"/>
          <p:nvPr/>
        </p:nvSpPr>
        <p:spPr>
          <a:xfrm>
            <a:off x="6338026" y="4108494"/>
            <a:ext cx="26881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000" b="1" dirty="0"/>
              <a:t>IP Packet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EB22F3-2888-4101-BF5B-2B85E5F205CC}"/>
              </a:ext>
            </a:extLst>
          </p:cNvPr>
          <p:cNvSpPr txBox="1"/>
          <p:nvPr/>
        </p:nvSpPr>
        <p:spPr>
          <a:xfrm>
            <a:off x="6331381" y="4779483"/>
            <a:ext cx="26881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000" b="1" dirty="0"/>
              <a:t>Ethernet Frame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174E0C-B9D2-4C16-B0DC-1F45FE528134}"/>
              </a:ext>
            </a:extLst>
          </p:cNvPr>
          <p:cNvSpPr txBox="1"/>
          <p:nvPr/>
        </p:nvSpPr>
        <p:spPr>
          <a:xfrm>
            <a:off x="222200" y="5891134"/>
            <a:ext cx="6823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010001010101010011111010100111011011100101010101110….</a:t>
            </a:r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E76DADD9-5DAD-4966-9A60-AA46FA9961D7}"/>
              </a:ext>
            </a:extLst>
          </p:cNvPr>
          <p:cNvSpPr/>
          <p:nvPr/>
        </p:nvSpPr>
        <p:spPr>
          <a:xfrm>
            <a:off x="3435434" y="5454509"/>
            <a:ext cx="277542" cy="4161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F2EFFEC-7D6B-4F61-9538-616BBDD46740}"/>
              </a:ext>
            </a:extLst>
          </p:cNvPr>
          <p:cNvSpPr txBox="1"/>
          <p:nvPr/>
        </p:nvSpPr>
        <p:spPr>
          <a:xfrm>
            <a:off x="8379934" y="4964167"/>
            <a:ext cx="2133830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E" b="1" dirty="0"/>
              <a:t>(Data Link/Physical)</a:t>
            </a:r>
          </a:p>
        </p:txBody>
      </p:sp>
    </p:spTree>
    <p:extLst>
      <p:ext uri="{BB962C8B-B14F-4D97-AF65-F5344CB8AC3E}">
        <p14:creationId xmlns:p14="http://schemas.microsoft.com/office/powerpoint/2010/main" val="3774912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8" grpId="0" animBg="1"/>
      <p:bldP spid="14" grpId="0" animBg="1"/>
      <p:bldP spid="7" grpId="0" animBg="1"/>
      <p:bldP spid="6" grpId="0" animBg="1"/>
      <p:bldP spid="8" grpId="0" animBg="1"/>
      <p:bldP spid="10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9" grpId="0"/>
      <p:bldP spid="11" grpId="0" animBg="1"/>
      <p:bldP spid="28" grpId="0" animBg="1"/>
      <p:bldP spid="29" grpId="0" animBg="1"/>
      <p:bldP spid="30" grpId="0" animBg="1"/>
      <p:bldP spid="12" grpId="0"/>
      <p:bldP spid="31" grpId="0"/>
      <p:bldP spid="32" grpId="0"/>
      <p:bldP spid="33" grpId="0"/>
      <p:bldP spid="34" grpId="0"/>
      <p:bldP spid="3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0CE81-14A8-46F3-88A5-AFC20F745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anchor="ctr">
            <a:normAutofit/>
          </a:bodyPr>
          <a:lstStyle/>
          <a:p>
            <a:pPr algn="ctr"/>
            <a:r>
              <a:rPr lang="en-IE" sz="2200">
                <a:solidFill>
                  <a:srgbClr val="FFFFFF"/>
                </a:solidFill>
              </a:rPr>
              <a:t>Data Encapsulation: Protocol Data Units (PDUs)</a:t>
            </a:r>
          </a:p>
        </p:txBody>
      </p:sp>
      <p:pic>
        <p:nvPicPr>
          <p:cNvPr id="3" name="Picture 3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52B21C24-C2FD-49E6-8127-CBC9C12B8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261" y="688580"/>
            <a:ext cx="8194614" cy="54918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FC7863-AFDE-4552-A9A6-90BD7A75DD63}"/>
              </a:ext>
            </a:extLst>
          </p:cNvPr>
          <p:cNvSpPr txBox="1"/>
          <p:nvPr/>
        </p:nvSpPr>
        <p:spPr>
          <a:xfrm>
            <a:off x="4724400" y="6298720"/>
            <a:ext cx="2743200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Image: </a:t>
            </a:r>
            <a:r>
              <a:rPr lang="en-US" dirty="0">
                <a:cs typeface="Calibri"/>
              </a:rPr>
              <a:t>cisco.com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3842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1E56B-5CB7-4396-B39E-4936467D6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>
                <a:cs typeface="Calibri Light"/>
              </a:rPr>
              <a:t>Layered Model: From A to B across the internet</a:t>
            </a:r>
            <a:endParaRPr lang="en-US"/>
          </a:p>
        </p:txBody>
      </p:sp>
      <p:pic>
        <p:nvPicPr>
          <p:cNvPr id="8" name="Content Placeholder 7" descr="A screenshot of a video game&#10;&#10;Description automatically generated">
            <a:extLst>
              <a:ext uri="{FF2B5EF4-FFF2-40B4-BE49-F238E27FC236}">
                <a16:creationId xmlns:a16="http://schemas.microsoft.com/office/drawing/2014/main" id="{5A188954-622A-40D1-B1CF-E51FE85C01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249367" y="3429000"/>
            <a:ext cx="9358730" cy="3161905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0E27357-1469-4FCE-B2AB-F4E96A4DF99C}"/>
              </a:ext>
            </a:extLst>
          </p:cNvPr>
          <p:cNvSpPr txBox="1"/>
          <p:nvPr/>
        </p:nvSpPr>
        <p:spPr>
          <a:xfrm>
            <a:off x="390723" y="6590905"/>
            <a:ext cx="93587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900" dirty="0">
                <a:hlinkClick r:id="rId3" tooltip="https://en.wikiversity.org/wiki/Web_Science/Part1:_Foundations_of_the_web/Internet_vs_World_Wide_Web/Summary_of_the_internet_architecture"/>
              </a:rPr>
              <a:t>This Photo</a:t>
            </a:r>
            <a:r>
              <a:rPr lang="en-IE" sz="900" dirty="0"/>
              <a:t> by Unknown Author is licensed under </a:t>
            </a:r>
            <a:r>
              <a:rPr lang="en-IE" sz="900" dirty="0">
                <a:hlinkClick r:id="rId4" tooltip="https://creativecommons.org/licenses/by-sa/3.0/"/>
              </a:rPr>
              <a:t>CC BY-SA</a:t>
            </a:r>
            <a:endParaRPr lang="en-IE" sz="9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F61E93-7EAB-49DB-8F3E-3F8A38EFDC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7007" y="1883371"/>
            <a:ext cx="474345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2752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9A9A4-6FB2-49A5-BAF3-4B027CB03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4725" y="23828"/>
            <a:ext cx="7374616" cy="1781175"/>
          </a:xfrm>
        </p:spPr>
        <p:txBody>
          <a:bodyPr>
            <a:normAutofit/>
          </a:bodyPr>
          <a:lstStyle/>
          <a:p>
            <a:r>
              <a:rPr lang="en-IE" sz="3000" dirty="0"/>
              <a:t>Data Link (Layer 2)  Communication</a:t>
            </a:r>
            <a:endParaRPr lang="en-IE" sz="3000" b="1" dirty="0"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4274F-3D0C-4782-93FE-40EEFF706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069" y="2080308"/>
            <a:ext cx="3189644" cy="3824439"/>
          </a:xfrm>
        </p:spPr>
        <p:txBody>
          <a:bodyPr>
            <a:normAutofit fontScale="85000" lnSpcReduction="20000"/>
          </a:bodyPr>
          <a:lstStyle/>
          <a:p>
            <a:endParaRPr lang="en-IE" sz="1600" dirty="0"/>
          </a:p>
          <a:p>
            <a:r>
              <a:rPr lang="en-GB" sz="3200" dirty="0"/>
              <a:t>moving of </a:t>
            </a:r>
            <a:r>
              <a:rPr lang="en-GB" sz="3200" b="1" dirty="0"/>
              <a:t>data</a:t>
            </a:r>
            <a:r>
              <a:rPr lang="en-GB" sz="3200" dirty="0"/>
              <a:t> into and out of a physical </a:t>
            </a:r>
            <a:r>
              <a:rPr lang="en-GB" sz="3200" b="1" dirty="0"/>
              <a:t>link</a:t>
            </a:r>
            <a:r>
              <a:rPr lang="en-GB" sz="3200" dirty="0"/>
              <a:t> in a network.</a:t>
            </a:r>
          </a:p>
          <a:p>
            <a:r>
              <a:rPr lang="en-GB" sz="3200" dirty="0"/>
              <a:t>Ethernet/</a:t>
            </a:r>
            <a:r>
              <a:rPr lang="en-GB" sz="3200" dirty="0" err="1"/>
              <a:t>Wifi</a:t>
            </a:r>
            <a:endParaRPr lang="en-GB" sz="3200" dirty="0"/>
          </a:p>
          <a:p>
            <a:r>
              <a:rPr lang="en-IE" sz="3200" dirty="0"/>
              <a:t>Supported by many physical layer implementations</a:t>
            </a:r>
          </a:p>
          <a:p>
            <a:r>
              <a:rPr lang="en-IE" sz="3200" dirty="0"/>
              <a:t>PDU is the </a:t>
            </a:r>
            <a:r>
              <a:rPr lang="en-IE" sz="3200" b="1" dirty="0"/>
              <a:t>frame</a:t>
            </a:r>
            <a:br>
              <a:rPr lang="en-IE" sz="3200" b="1" dirty="0"/>
            </a:br>
            <a:br>
              <a:rPr lang="en-IE" sz="1600" b="1" dirty="0"/>
            </a:br>
            <a:endParaRPr lang="en-IE" sz="1600" b="1" dirty="0"/>
          </a:p>
          <a:p>
            <a:endParaRPr lang="en-IE" sz="1600" b="1" dirty="0"/>
          </a:p>
          <a:p>
            <a:endParaRPr lang="en-IE" sz="1600" dirty="0"/>
          </a:p>
          <a:p>
            <a:endParaRPr lang="en-IE" sz="1600" dirty="0"/>
          </a:p>
        </p:txBody>
      </p:sp>
      <p:pic>
        <p:nvPicPr>
          <p:cNvPr id="5" name="Picture 4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315A6C2-EBD7-4EA5-914B-C5AEFCE551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680208" y="1349462"/>
            <a:ext cx="6903723" cy="20056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CF63CE-7545-44A3-8217-49183FC6DF84}"/>
              </a:ext>
            </a:extLst>
          </p:cNvPr>
          <p:cNvSpPr txBox="1"/>
          <p:nvPr/>
        </p:nvSpPr>
        <p:spPr>
          <a:xfrm>
            <a:off x="7417456" y="1074830"/>
            <a:ext cx="1347403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E" sz="2000" dirty="0"/>
              <a:t>Ethernet Frame</a:t>
            </a:r>
          </a:p>
        </p:txBody>
      </p:sp>
      <p:sp>
        <p:nvSpPr>
          <p:cNvPr id="7" name="Callout: Line 6">
            <a:extLst>
              <a:ext uri="{FF2B5EF4-FFF2-40B4-BE49-F238E27FC236}">
                <a16:creationId xmlns:a16="http://schemas.microsoft.com/office/drawing/2014/main" id="{D02168E2-06B0-48D2-BDB4-5A0ED32C5B40}"/>
              </a:ext>
            </a:extLst>
          </p:cNvPr>
          <p:cNvSpPr/>
          <p:nvPr/>
        </p:nvSpPr>
        <p:spPr>
          <a:xfrm>
            <a:off x="4059932" y="3992529"/>
            <a:ext cx="2063537" cy="1516009"/>
          </a:xfrm>
          <a:prstGeom prst="borderCallout1">
            <a:avLst>
              <a:gd name="adj1" fmla="val -6600"/>
              <a:gd name="adj2" fmla="val 57039"/>
              <a:gd name="adj3" fmla="val -122647"/>
              <a:gd name="adj4" fmla="val 799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Sequence of alternating 1s and 0s for synchronisation</a:t>
            </a:r>
          </a:p>
        </p:txBody>
      </p:sp>
      <p:sp>
        <p:nvSpPr>
          <p:cNvPr id="10" name="Callout: Line 9">
            <a:extLst>
              <a:ext uri="{FF2B5EF4-FFF2-40B4-BE49-F238E27FC236}">
                <a16:creationId xmlns:a16="http://schemas.microsoft.com/office/drawing/2014/main" id="{773588E6-2525-48FD-A9E0-A260203BCBB8}"/>
              </a:ext>
            </a:extLst>
          </p:cNvPr>
          <p:cNvSpPr/>
          <p:nvPr/>
        </p:nvSpPr>
        <p:spPr>
          <a:xfrm>
            <a:off x="6385688" y="3992529"/>
            <a:ext cx="2063537" cy="1516009"/>
          </a:xfrm>
          <a:prstGeom prst="borderCallout1">
            <a:avLst>
              <a:gd name="adj1" fmla="val -6600"/>
              <a:gd name="adj2" fmla="val 57039"/>
              <a:gd name="adj3" fmla="val -121773"/>
              <a:gd name="adj4" fmla="val 1059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Unique 6 octet (48 bit)  address. “hardware” or “physical” address</a:t>
            </a:r>
          </a:p>
        </p:txBody>
      </p:sp>
      <p:sp>
        <p:nvSpPr>
          <p:cNvPr id="12" name="Callout: Line 11">
            <a:extLst>
              <a:ext uri="{FF2B5EF4-FFF2-40B4-BE49-F238E27FC236}">
                <a16:creationId xmlns:a16="http://schemas.microsoft.com/office/drawing/2014/main" id="{6B879CBB-6094-44E6-8E77-A01518D154BB}"/>
              </a:ext>
            </a:extLst>
          </p:cNvPr>
          <p:cNvSpPr/>
          <p:nvPr/>
        </p:nvSpPr>
        <p:spPr>
          <a:xfrm>
            <a:off x="9872745" y="3992528"/>
            <a:ext cx="2063537" cy="2249246"/>
          </a:xfrm>
          <a:prstGeom prst="borderCallout1">
            <a:avLst>
              <a:gd name="adj1" fmla="val -6600"/>
              <a:gd name="adj2" fmla="val 57039"/>
              <a:gd name="adj3" fmla="val -84655"/>
              <a:gd name="adj4" fmla="val 4270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Value used to check accidental changes to raw data. Calculated at both ends using data. Received value should match calculated value…</a:t>
            </a:r>
          </a:p>
        </p:txBody>
      </p:sp>
    </p:spTree>
    <p:extLst>
      <p:ext uri="{BB962C8B-B14F-4D97-AF65-F5344CB8AC3E}">
        <p14:creationId xmlns:p14="http://schemas.microsoft.com/office/powerpoint/2010/main" val="3961925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  <p:bldP spid="10" grpId="0" animBg="1"/>
      <p:bldP spid="1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0573F-595E-45B8-BC77-A54AC8F17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Network Layer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65537-01DD-47F5-AFEF-280003499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6574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E" dirty="0"/>
              <a:t>Network layer protocols primary function is to move data from one network to another network</a:t>
            </a:r>
          </a:p>
          <a:p>
            <a:r>
              <a:rPr lang="en-IE" dirty="0"/>
              <a:t>Network addresses(IP Addresses) must have a mechanism to locate hosts on different networks</a:t>
            </a:r>
            <a:endParaRPr lang="en-IE" dirty="0">
              <a:cs typeface="Calibri"/>
            </a:endParaRPr>
          </a:p>
          <a:p>
            <a:r>
              <a:rPr lang="en-IE" dirty="0"/>
              <a:t>Intermediary network devices such as routers, decapsulate frames to read destination host address contained in the packet header.</a:t>
            </a:r>
          </a:p>
          <a:p>
            <a:r>
              <a:rPr lang="en-IE" dirty="0"/>
              <a:t>Routers use the network portion of this address to determine which path to use to reach its destination.</a:t>
            </a:r>
            <a:endParaRPr lang="en-IE" dirty="0"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93BBE1-DC0D-457C-8E71-0BF411911497}"/>
              </a:ext>
            </a:extLst>
          </p:cNvPr>
          <p:cNvSpPr/>
          <p:nvPr/>
        </p:nvSpPr>
        <p:spPr>
          <a:xfrm>
            <a:off x="1961322" y="5424004"/>
            <a:ext cx="2438400" cy="887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Destination IP Address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1581AC-E6E5-46A4-B0F7-5E6F8D63C177}"/>
              </a:ext>
            </a:extLst>
          </p:cNvPr>
          <p:cNvSpPr/>
          <p:nvPr/>
        </p:nvSpPr>
        <p:spPr>
          <a:xfrm>
            <a:off x="4399722" y="5424004"/>
            <a:ext cx="2438400" cy="88789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Source IP Address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72C207-5531-43C5-B9B5-3DCE11E71E9F}"/>
              </a:ext>
            </a:extLst>
          </p:cNvPr>
          <p:cNvSpPr/>
          <p:nvPr/>
        </p:nvSpPr>
        <p:spPr>
          <a:xfrm>
            <a:off x="6838122" y="5424004"/>
            <a:ext cx="1881808" cy="8878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Data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1897BE-DA02-40C1-B345-6E73584D267D}"/>
              </a:ext>
            </a:extLst>
          </p:cNvPr>
          <p:cNvSpPr/>
          <p:nvPr/>
        </p:nvSpPr>
        <p:spPr>
          <a:xfrm>
            <a:off x="1961322" y="6311900"/>
            <a:ext cx="1159566" cy="3159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Network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4089B7-F340-49EF-A8A8-815B97A672C8}"/>
              </a:ext>
            </a:extLst>
          </p:cNvPr>
          <p:cNvSpPr/>
          <p:nvPr/>
        </p:nvSpPr>
        <p:spPr>
          <a:xfrm>
            <a:off x="3120889" y="6311900"/>
            <a:ext cx="1278834" cy="3159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Device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3C7563-C86E-431A-9B7D-3357941B4A6A}"/>
              </a:ext>
            </a:extLst>
          </p:cNvPr>
          <p:cNvSpPr/>
          <p:nvPr/>
        </p:nvSpPr>
        <p:spPr>
          <a:xfrm>
            <a:off x="4399721" y="6311900"/>
            <a:ext cx="1159566" cy="3159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Network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EF611F-3F3C-4996-BA08-04FB0223905C}"/>
              </a:ext>
            </a:extLst>
          </p:cNvPr>
          <p:cNvSpPr/>
          <p:nvPr/>
        </p:nvSpPr>
        <p:spPr>
          <a:xfrm>
            <a:off x="5559288" y="6311900"/>
            <a:ext cx="1278834" cy="3159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Device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1B319C-D60F-4DFC-9CEA-3AC8014D54D8}"/>
              </a:ext>
            </a:extLst>
          </p:cNvPr>
          <p:cNvSpPr txBox="1"/>
          <p:nvPr/>
        </p:nvSpPr>
        <p:spPr>
          <a:xfrm>
            <a:off x="1868557" y="4923426"/>
            <a:ext cx="1910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IP/Network Packet</a:t>
            </a:r>
          </a:p>
        </p:txBody>
      </p:sp>
    </p:spTree>
    <p:extLst>
      <p:ext uri="{BB962C8B-B14F-4D97-AF65-F5344CB8AC3E}">
        <p14:creationId xmlns:p14="http://schemas.microsoft.com/office/powerpoint/2010/main" val="825817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86362-415D-4DDA-87FA-57EC58A1B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E"/>
              <a:t>Network Layer Communication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656A0-7AE3-4353-887D-708CC53A0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1635" y="1469004"/>
            <a:ext cx="9614647" cy="2298139"/>
          </a:xfrm>
        </p:spPr>
        <p:txBody>
          <a:bodyPr>
            <a:normAutofit fontScale="77500" lnSpcReduction="20000"/>
          </a:bodyPr>
          <a:lstStyle/>
          <a:p>
            <a:r>
              <a:rPr lang="en-IE" dirty="0"/>
              <a:t>IP addresses are “logical”</a:t>
            </a:r>
          </a:p>
          <a:p>
            <a:pPr lvl="1"/>
            <a:r>
              <a:rPr lang="en-IE" dirty="0"/>
              <a:t>Can be assigned to a device</a:t>
            </a:r>
          </a:p>
          <a:p>
            <a:r>
              <a:rPr lang="en-IE" dirty="0"/>
              <a:t>Includes network identification and Host identification</a:t>
            </a:r>
          </a:p>
          <a:p>
            <a:r>
              <a:rPr lang="en-IE" dirty="0"/>
              <a:t>Each device on a network must have a unique IP address</a:t>
            </a:r>
          </a:p>
          <a:p>
            <a:r>
              <a:rPr lang="en-IE" dirty="0"/>
              <a:t>Public IP addresses for the internet assigned by a central authority (IANA)</a:t>
            </a:r>
          </a:p>
          <a:p>
            <a:r>
              <a:rPr lang="en-IE" dirty="0"/>
              <a:t>Private IP addresses are reserve for internal use behind routers/Network address translation(NAT) devices.</a:t>
            </a:r>
          </a:p>
        </p:txBody>
      </p:sp>
      <p:pic>
        <p:nvPicPr>
          <p:cNvPr id="7" name="Picture 6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6E1A4666-BA2E-4C54-AEF0-92B0C5DD27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156852" y="3901058"/>
            <a:ext cx="6336366" cy="24963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148494-513F-4B3B-98B1-B14B4553762D}"/>
              </a:ext>
            </a:extLst>
          </p:cNvPr>
          <p:cNvSpPr txBox="1"/>
          <p:nvPr/>
        </p:nvSpPr>
        <p:spPr>
          <a:xfrm>
            <a:off x="4021511" y="6531358"/>
            <a:ext cx="75914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900">
                <a:hlinkClick r:id="rId4" tooltip="https://en.wikibooks.org/wiki/Communication_Networks/NAT_and_PAT_Protocols"/>
              </a:rPr>
              <a:t>This Photo</a:t>
            </a:r>
            <a:r>
              <a:rPr lang="en-IE" sz="900"/>
              <a:t> by Unknown Author is licensed under </a:t>
            </a:r>
            <a:r>
              <a:rPr lang="en-IE" sz="900">
                <a:hlinkClick r:id="rId5" tooltip="https://creativecommons.org/licenses/by-sa/3.0/"/>
              </a:rPr>
              <a:t>CC BY-SA</a:t>
            </a:r>
            <a:endParaRPr lang="en-IE" sz="900"/>
          </a:p>
        </p:txBody>
      </p:sp>
    </p:spTree>
    <p:extLst>
      <p:ext uri="{BB962C8B-B14F-4D97-AF65-F5344CB8AC3E}">
        <p14:creationId xmlns:p14="http://schemas.microsoft.com/office/powerpoint/2010/main" val="3805687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2CA93-B41C-4CAD-8376-C509A5E4A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IE">
                <a:solidFill>
                  <a:srgbClr val="000000"/>
                </a:solidFill>
              </a:rPr>
              <a:t>Transport Layer Communication </a:t>
            </a:r>
          </a:p>
        </p:txBody>
      </p:sp>
      <p:pic>
        <p:nvPicPr>
          <p:cNvPr id="5" name="Picture 4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62D4EB8E-E9D5-4537-A146-D943ED1709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29349" y="2321107"/>
            <a:ext cx="3661831" cy="223598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3A937-C31D-4F3D-AB9A-F24B069552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 lnSpcReduction="10000"/>
          </a:bodyPr>
          <a:lstStyle/>
          <a:p>
            <a:r>
              <a:rPr lang="en-IE" sz="2000" dirty="0">
                <a:solidFill>
                  <a:srgbClr val="000000"/>
                </a:solidFill>
              </a:rPr>
              <a:t>How does a computer with one network interface differentiate between different services?</a:t>
            </a:r>
          </a:p>
          <a:p>
            <a:r>
              <a:rPr lang="en-IE" sz="2000" dirty="0">
                <a:solidFill>
                  <a:srgbClr val="000000"/>
                </a:solidFill>
              </a:rPr>
              <a:t>Port Numbers are used in the transport layer to represent applications or services</a:t>
            </a:r>
          </a:p>
          <a:p>
            <a:r>
              <a:rPr lang="en-IE" sz="2000" dirty="0">
                <a:solidFill>
                  <a:srgbClr val="000000"/>
                </a:solidFill>
              </a:rPr>
              <a:t>When a device receives data, the port number is used to determine which app or process is the correct destination</a:t>
            </a:r>
          </a:p>
          <a:p>
            <a:r>
              <a:rPr lang="en-IE" sz="2000" dirty="0">
                <a:solidFill>
                  <a:srgbClr val="000000"/>
                </a:solidFill>
              </a:rPr>
              <a:t>There are generally accepted port numbers:</a:t>
            </a:r>
          </a:p>
          <a:p>
            <a:pPr lvl="1"/>
            <a:r>
              <a:rPr lang="en-IE" sz="2000" dirty="0">
                <a:solidFill>
                  <a:srgbClr val="000000"/>
                </a:solidFill>
              </a:rPr>
              <a:t>What’s the port for SSH service?</a:t>
            </a:r>
          </a:p>
          <a:p>
            <a:pPr lvl="1"/>
            <a:r>
              <a:rPr lang="en-IE" sz="2000" dirty="0">
                <a:solidFill>
                  <a:srgbClr val="000000"/>
                </a:solidFill>
              </a:rPr>
              <a:t>HTTP service?</a:t>
            </a:r>
          </a:p>
          <a:p>
            <a:pPr lvl="1"/>
            <a:r>
              <a:rPr lang="en-IE" sz="2000" dirty="0">
                <a:solidFill>
                  <a:srgbClr val="000000"/>
                </a:solidFill>
                <a:cs typeface="Calibri"/>
              </a:rPr>
              <a:t>FTP service?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9CDE34-311D-426A-8B73-77E6C0EE38C8}"/>
              </a:ext>
            </a:extLst>
          </p:cNvPr>
          <p:cNvSpPr txBox="1"/>
          <p:nvPr/>
        </p:nvSpPr>
        <p:spPr>
          <a:xfrm>
            <a:off x="1784138" y="4357036"/>
            <a:ext cx="230704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3" tooltip="http://stackoverflow.com/questions/4756039/how-to-change-the-port-of-tomcat-from-8080-to-8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0821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58237-DCD4-4449-A771-6A872D5FA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Accessing Resources on a network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12A091-77A3-4D53-B53B-13FE1D7270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TCP/IP Protocol Suite</a:t>
            </a:r>
          </a:p>
        </p:txBody>
      </p:sp>
    </p:spTree>
    <p:extLst>
      <p:ext uri="{BB962C8B-B14F-4D97-AF65-F5344CB8AC3E}">
        <p14:creationId xmlns:p14="http://schemas.microsoft.com/office/powerpoint/2010/main" val="31690513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465739" y="-45395"/>
            <a:ext cx="12192000" cy="1010068"/>
          </a:xfrm>
        </p:spPr>
        <p:txBody>
          <a:bodyPr>
            <a:normAutofit fontScale="90000"/>
          </a:bodyPr>
          <a:lstStyle/>
          <a:p>
            <a:br>
              <a:rPr lang="en-US" altLang="en-US" dirty="0"/>
            </a:br>
            <a:r>
              <a:rPr lang="en-US" altLang="en-US" dirty="0"/>
              <a:t>Addressing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68375" y="1110871"/>
            <a:ext cx="11260519" cy="2989391"/>
          </a:xfrm>
        </p:spPr>
        <p:txBody>
          <a:bodyPr/>
          <a:lstStyle/>
          <a:p>
            <a:r>
              <a:rPr lang="en-US" sz="2133" b="1" dirty="0"/>
              <a:t>Network layer source and destination addresses</a:t>
            </a:r>
          </a:p>
          <a:p>
            <a:pPr lvl="1"/>
            <a:r>
              <a:rPr lang="en-US" sz="1733" dirty="0"/>
              <a:t>Used to deliver an IP packet from original source to the final destination. </a:t>
            </a:r>
          </a:p>
          <a:p>
            <a:r>
              <a:rPr lang="en-US" sz="2133" b="1" dirty="0"/>
              <a:t>Data link layer source and destination </a:t>
            </a:r>
          </a:p>
          <a:p>
            <a:pPr lvl="1"/>
            <a:r>
              <a:rPr lang="en-US" sz="1733" dirty="0"/>
              <a:t>Used to deliver the data link frame from one network interface card (NIC) to another NIC </a:t>
            </a:r>
            <a:r>
              <a:rPr lang="en-US" sz="1733" b="1" dirty="0"/>
              <a:t>on the same network.</a:t>
            </a:r>
          </a:p>
          <a:p>
            <a:pPr marL="0" indent="0">
              <a:buNone/>
            </a:pPr>
            <a:endParaRPr lang="en-CA" altLang="en-US" dirty="0"/>
          </a:p>
          <a:p>
            <a:endParaRPr lang="en-CA" altLang="en-US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047" y="4246461"/>
            <a:ext cx="9105900" cy="222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7437588"/>
      </p:ext>
    </p:extLst>
  </p:cSld>
  <p:clrMapOvr>
    <a:masterClrMapping/>
  </p:clrMapOvr>
  <p:transition spd="slow">
    <p:wip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55191"/>
            <a:ext cx="12192000" cy="1010068"/>
          </a:xfrm>
        </p:spPr>
        <p:txBody>
          <a:bodyPr>
            <a:normAutofit/>
          </a:bodyPr>
          <a:lstStyle/>
          <a:p>
            <a:r>
              <a:rPr lang="en-US" altLang="en-US" dirty="0"/>
              <a:t> Network Layer: Logical Address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32669" y="1383993"/>
            <a:ext cx="5069936" cy="4610100"/>
          </a:xfrm>
        </p:spPr>
        <p:txBody>
          <a:bodyPr/>
          <a:lstStyle/>
          <a:p>
            <a:pPr marL="0" indent="0">
              <a:buNone/>
            </a:pPr>
            <a:r>
              <a:rPr lang="en-US" sz="2133" dirty="0"/>
              <a:t>The IP packet contains two IP addresses:</a:t>
            </a:r>
          </a:p>
          <a:p>
            <a:pPr lvl="1"/>
            <a:r>
              <a:rPr lang="en-US" sz="2133" b="1" dirty="0"/>
              <a:t>Source IP address</a:t>
            </a:r>
            <a:r>
              <a:rPr lang="en-US" sz="2133" dirty="0"/>
              <a:t> - The IP address of the sending device,  original source of the packet.</a:t>
            </a:r>
          </a:p>
          <a:p>
            <a:pPr lvl="1"/>
            <a:r>
              <a:rPr lang="en-US" sz="2133" b="1" dirty="0"/>
              <a:t>Destination IP address</a:t>
            </a:r>
            <a:r>
              <a:rPr lang="en-US" sz="2133" dirty="0"/>
              <a:t> - The IP address of the receiving device, final destination of the packet.</a:t>
            </a:r>
          </a:p>
          <a:p>
            <a:pPr marL="0" indent="0">
              <a:buNone/>
            </a:pPr>
            <a:r>
              <a:rPr lang="en-US" sz="2133" dirty="0"/>
              <a:t>These addresses may be on the same link/network or remote.</a:t>
            </a:r>
          </a:p>
          <a:p>
            <a:endParaRPr lang="en-CA" altLang="en-US" dirty="0"/>
          </a:p>
          <a:p>
            <a:pPr marL="0" indent="0">
              <a:buNone/>
            </a:pPr>
            <a:endParaRPr lang="en-CA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7632" y="1643816"/>
            <a:ext cx="6507619" cy="3559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33A471A-CAC6-4470-86FA-2275A5AC35F1}"/>
              </a:ext>
            </a:extLst>
          </p:cNvPr>
          <p:cNvSpPr/>
          <p:nvPr/>
        </p:nvSpPr>
        <p:spPr>
          <a:xfrm>
            <a:off x="8385717" y="4137102"/>
            <a:ext cx="1204332" cy="2787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IP Packet</a:t>
            </a:r>
          </a:p>
        </p:txBody>
      </p:sp>
    </p:spTree>
    <p:extLst>
      <p:ext uri="{BB962C8B-B14F-4D97-AF65-F5344CB8AC3E}">
        <p14:creationId xmlns:p14="http://schemas.microsoft.com/office/powerpoint/2010/main" val="3560497487"/>
      </p:ext>
    </p:extLst>
  </p:cSld>
  <p:clrMapOvr>
    <a:masterClrMapping/>
  </p:clrMapOvr>
  <p:transition spd="slow">
    <p:wip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0" y="55191"/>
            <a:ext cx="12192000" cy="1010068"/>
          </a:xfrm>
        </p:spPr>
        <p:txBody>
          <a:bodyPr>
            <a:normAutofit/>
          </a:bodyPr>
          <a:lstStyle/>
          <a:p>
            <a:r>
              <a:rPr lang="en-US" altLang="en-US" dirty="0"/>
              <a:t>Network Layer Logical Address (Cont.)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33351" y="1181099"/>
            <a:ext cx="5737381" cy="5429021"/>
          </a:xfrm>
        </p:spPr>
        <p:txBody>
          <a:bodyPr/>
          <a:lstStyle/>
          <a:p>
            <a:pPr marL="0" indent="0">
              <a:buNone/>
            </a:pPr>
            <a:r>
              <a:rPr lang="en-US" sz="2133" dirty="0"/>
              <a:t>An IP address contains two parts: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33" b="1" dirty="0"/>
              <a:t>Network portion </a:t>
            </a:r>
          </a:p>
          <a:p>
            <a:pPr lvl="1"/>
            <a:r>
              <a:rPr lang="en-US" sz="1600" dirty="0"/>
              <a:t>The left-most part of the address indicates the network group which the IP address is a member.</a:t>
            </a:r>
          </a:p>
          <a:p>
            <a:pPr lvl="1"/>
            <a:r>
              <a:rPr lang="en-US" sz="2000" dirty="0"/>
              <a:t>Each LAN or WAN will have the same network portion.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33" b="1" dirty="0"/>
              <a:t>Host portion</a:t>
            </a:r>
            <a:endParaRPr lang="en-US" sz="2133" dirty="0"/>
          </a:p>
          <a:p>
            <a:pPr lvl="1"/>
            <a:r>
              <a:rPr lang="en-US" sz="2000" dirty="0"/>
              <a:t>identifies a specific device within the group. The remaining part of the address  </a:t>
            </a:r>
          </a:p>
          <a:p>
            <a:pPr lvl="1"/>
            <a:r>
              <a:rPr lang="en-US" sz="2000" dirty="0"/>
              <a:t>This portion is unique for each device on the network.</a:t>
            </a:r>
          </a:p>
          <a:p>
            <a:endParaRPr lang="en-CA" altLang="en-US" dirty="0"/>
          </a:p>
          <a:p>
            <a:pPr marL="0" indent="0">
              <a:buNone/>
            </a:pPr>
            <a:endParaRPr lang="en-CA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4083" y="1649476"/>
            <a:ext cx="6187917" cy="3559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6D9F280-1E2A-4459-AE10-6FA5FEDD8242}"/>
              </a:ext>
            </a:extLst>
          </p:cNvPr>
          <p:cNvSpPr/>
          <p:nvPr/>
        </p:nvSpPr>
        <p:spPr>
          <a:xfrm>
            <a:off x="8776010" y="4137102"/>
            <a:ext cx="1204332" cy="2787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IP Packet</a:t>
            </a:r>
          </a:p>
        </p:txBody>
      </p:sp>
    </p:spTree>
    <p:extLst>
      <p:ext uri="{BB962C8B-B14F-4D97-AF65-F5344CB8AC3E}">
        <p14:creationId xmlns:p14="http://schemas.microsoft.com/office/powerpoint/2010/main" val="2898420988"/>
      </p:ext>
    </p:extLst>
  </p:cSld>
  <p:clrMapOvr>
    <a:masterClrMapping/>
  </p:clrMapOvr>
  <p:transition spd="slow">
    <p:wip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0" y="55191"/>
            <a:ext cx="12192000" cy="1093324"/>
          </a:xfrm>
        </p:spPr>
        <p:txBody>
          <a:bodyPr>
            <a:normAutofit/>
          </a:bodyPr>
          <a:lstStyle/>
          <a:p>
            <a:r>
              <a:rPr lang="en-US" altLang="en-US" dirty="0"/>
              <a:t>Devices on the Same Network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236208" y="1580083"/>
            <a:ext cx="5051889" cy="4580413"/>
          </a:xfrm>
        </p:spPr>
        <p:txBody>
          <a:bodyPr/>
          <a:lstStyle/>
          <a:p>
            <a:pPr marL="0" indent="0">
              <a:buNone/>
            </a:pPr>
            <a:r>
              <a:rPr lang="en-US" sz="2133" dirty="0"/>
              <a:t>When devices are on the same network the source and destination will have the same number in network portion of the address.</a:t>
            </a:r>
          </a:p>
          <a:p>
            <a:pPr lvl="1"/>
            <a:r>
              <a:rPr lang="en-US" sz="2133" dirty="0"/>
              <a:t>PC1 – </a:t>
            </a:r>
            <a:r>
              <a:rPr lang="en-US" sz="2133" u="sng" dirty="0">
                <a:solidFill>
                  <a:schemeClr val="accent6"/>
                </a:solidFill>
              </a:rPr>
              <a:t>192.168.1</a:t>
            </a:r>
            <a:r>
              <a:rPr lang="en-US" sz="2133" dirty="0"/>
              <a:t>.110</a:t>
            </a:r>
          </a:p>
          <a:p>
            <a:pPr lvl="1"/>
            <a:r>
              <a:rPr lang="en-US" sz="2133" dirty="0"/>
              <a:t>FTP Server – </a:t>
            </a:r>
            <a:r>
              <a:rPr lang="en-US" sz="2133" u="sng" dirty="0">
                <a:solidFill>
                  <a:schemeClr val="accent6"/>
                </a:solidFill>
              </a:rPr>
              <a:t>192.168.1</a:t>
            </a:r>
            <a:r>
              <a:rPr lang="en-US" sz="2133" dirty="0"/>
              <a:t>.9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8305" y="1303325"/>
            <a:ext cx="6191011" cy="3974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5629971"/>
      </p:ext>
    </p:extLst>
  </p:cSld>
  <p:clrMapOvr>
    <a:masterClrMapping/>
  </p:clrMapOvr>
  <p:transition spd="slow">
    <p:wip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0" y="55191"/>
            <a:ext cx="12192000" cy="1093324"/>
          </a:xfrm>
        </p:spPr>
        <p:txBody>
          <a:bodyPr>
            <a:normAutofit/>
          </a:bodyPr>
          <a:lstStyle/>
          <a:p>
            <a:r>
              <a:rPr lang="en-US" altLang="en-US" dirty="0"/>
              <a:t> Data Link Layer Addresses: Same IP Network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52401" y="1148516"/>
            <a:ext cx="5372100" cy="4580413"/>
          </a:xfrm>
        </p:spPr>
        <p:txBody>
          <a:bodyPr/>
          <a:lstStyle/>
          <a:p>
            <a:pPr marL="0" indent="0">
              <a:buNone/>
            </a:pPr>
            <a:r>
              <a:rPr lang="en-US" sz="2133" dirty="0"/>
              <a:t>When devices are on the same Ethernet network the data link frame will use the actual MAC address of the destination NIC.</a:t>
            </a:r>
          </a:p>
          <a:p>
            <a:pPr marL="0" indent="0">
              <a:buNone/>
            </a:pPr>
            <a:r>
              <a:rPr lang="en-CA" altLang="en-US" sz="2133" dirty="0"/>
              <a:t>MAC addresses are physically embedded into the Ethernet NIC and are local addressing.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altLang="en-US" sz="2133" dirty="0"/>
              <a:t>The Source MAC address will be that of the originator on the link.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altLang="en-US" sz="2133" dirty="0"/>
              <a:t>The Destination MAC address will always be on the same link as the source, even if the ultimate destination is remote.</a:t>
            </a:r>
          </a:p>
          <a:p>
            <a:pPr marL="0" indent="0">
              <a:buNone/>
            </a:pPr>
            <a:endParaRPr lang="en-CA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921" y="1148515"/>
            <a:ext cx="5963924" cy="391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889927"/>
      </p:ext>
    </p:extLst>
  </p:cSld>
  <p:clrMapOvr>
    <a:masterClrMapping/>
  </p:clrMapOvr>
  <p:transition spd="slow">
    <p:wip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55191"/>
            <a:ext cx="12191999" cy="1093324"/>
          </a:xfrm>
        </p:spPr>
        <p:txBody>
          <a:bodyPr>
            <a:normAutofit/>
          </a:bodyPr>
          <a:lstStyle/>
          <a:p>
            <a:r>
              <a:rPr lang="en-US" altLang="en-US" dirty="0"/>
              <a:t>Devices on a Remote Network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52401" y="1148516"/>
            <a:ext cx="5246915" cy="479016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133" dirty="0"/>
              <a:t>What happens when the actual (ultimate) destination is not on the same LAN and is remote?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33" dirty="0"/>
              <a:t>What happens when PC1 tries to reach the Web Server?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133" dirty="0"/>
              <a:t>Does this impact the network and data link layers?</a:t>
            </a:r>
            <a:endParaRPr lang="en-CA" altLang="en-US" sz="2133" dirty="0"/>
          </a:p>
          <a:p>
            <a:pPr marL="190495" lvl="1" indent="0">
              <a:buNone/>
            </a:pPr>
            <a:endParaRPr lang="en-CA" altLang="en-US" dirty="0"/>
          </a:p>
          <a:p>
            <a:pPr marL="0" indent="0">
              <a:buNone/>
            </a:pPr>
            <a:endParaRPr lang="en-CA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1" y="1383134"/>
            <a:ext cx="6512711" cy="4320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1060"/>
      </p:ext>
    </p:extLst>
  </p:cSld>
  <p:clrMapOvr>
    <a:masterClrMapping/>
  </p:clrMapOvr>
  <p:transition spd="slow">
    <p:wip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55191"/>
            <a:ext cx="12192000" cy="1093324"/>
          </a:xfrm>
        </p:spPr>
        <p:txBody>
          <a:bodyPr>
            <a:normAutofit/>
          </a:bodyPr>
          <a:lstStyle/>
          <a:p>
            <a:r>
              <a:rPr lang="en-US" altLang="en-US" dirty="0"/>
              <a:t>Role of the Network Layer Addresses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52401" y="1148516"/>
            <a:ext cx="5150384" cy="4790168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133" dirty="0"/>
              <a:t>When the source and destination have a different network portion, this means they are on different networks.</a:t>
            </a:r>
          </a:p>
          <a:p>
            <a:pPr lvl="1"/>
            <a:r>
              <a:rPr lang="en-US" altLang="en-US" sz="2133" dirty="0"/>
              <a:t>PC1 – 192.168.1</a:t>
            </a:r>
          </a:p>
          <a:p>
            <a:pPr lvl="1"/>
            <a:r>
              <a:rPr lang="en-US" altLang="en-US" sz="2133" dirty="0"/>
              <a:t>Web Server – 172.16.1</a:t>
            </a:r>
          </a:p>
          <a:p>
            <a:pPr marL="0" indent="0">
              <a:buNone/>
            </a:pPr>
            <a:endParaRPr lang="en-CA" altLang="en-US" dirty="0"/>
          </a:p>
          <a:p>
            <a:pPr marL="0" indent="0">
              <a:buNone/>
            </a:pPr>
            <a:endParaRPr lang="en-CA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1" y="1383134"/>
            <a:ext cx="6512711" cy="4320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864595"/>
      </p:ext>
    </p:extLst>
  </p:cSld>
  <p:clrMapOvr>
    <a:masterClrMapping/>
  </p:clrMapOvr>
  <p:transition spd="slow">
    <p:wip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55192"/>
            <a:ext cx="12192000" cy="99172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Role of the Data Link Layer Addresses: Different IP Networks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52400" y="1276886"/>
            <a:ext cx="5382031" cy="520148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When the final destination is remote, Layer 3 will provide Layer 2 with the local default gateway IP address, also known as the router address.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default gateway (DGW) is the router interface IP address that is part of this LAN and will be the “door” or “gateway” to all other remote locations.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 devices on the LAN must be told about this address or their traffic will be confined to the LAN only.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/>
              <a:t>Once Layer 2 on PC1 forwards to the default gateway (Router), the router then can start the routing process of getting the information to actual destination. </a:t>
            </a:r>
            <a:endParaRPr lang="en-CA" altLang="en-US" dirty="0"/>
          </a:p>
          <a:p>
            <a:pPr marL="0" indent="0">
              <a:buNone/>
            </a:pPr>
            <a:endParaRPr lang="en-CA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4433" y="1584960"/>
            <a:ext cx="6505167" cy="4413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3931806"/>
      </p:ext>
    </p:extLst>
  </p:cSld>
  <p:clrMapOvr>
    <a:masterClrMapping/>
  </p:clrMapOvr>
  <p:transition spd="slow">
    <p:wip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55191"/>
            <a:ext cx="12192000" cy="1327943"/>
          </a:xfrm>
        </p:spPr>
        <p:txBody>
          <a:bodyPr>
            <a:normAutofit fontScale="90000"/>
          </a:bodyPr>
          <a:lstStyle/>
          <a:p>
            <a:br>
              <a:rPr lang="en-US" altLang="en-US" dirty="0"/>
            </a:br>
            <a:r>
              <a:rPr lang="en-US" altLang="en-US" dirty="0"/>
              <a:t>Role of the Data Link Layer Addresses: Different IP Networks (Cont.)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52401" y="1487424"/>
            <a:ext cx="5246915" cy="4843603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2133" dirty="0"/>
              <a:t>The data link addressing is local addressing so it will have a source and destination for each link.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133" dirty="0"/>
              <a:t>The MAC addressing for the first segment is :</a:t>
            </a:r>
          </a:p>
          <a:p>
            <a:pPr lvl="1"/>
            <a:r>
              <a:rPr lang="en-US" altLang="en-US" sz="2133" dirty="0"/>
              <a:t>Source –  AA-AA-AA-AA-AA-AA (PC1) Sends the frame.</a:t>
            </a:r>
          </a:p>
          <a:p>
            <a:pPr lvl="1"/>
            <a:r>
              <a:rPr lang="en-US" altLang="en-US" sz="2133" dirty="0"/>
              <a:t>Destination – 11-11-11-11-11-11 (R1- Default Gateway MAC) Receives the frame.</a:t>
            </a:r>
          </a:p>
          <a:p>
            <a:pPr marL="0" indent="0">
              <a:buNone/>
            </a:pPr>
            <a:r>
              <a:rPr lang="en-US" altLang="en-US" b="1" dirty="0"/>
              <a:t>Note: </a:t>
            </a:r>
            <a:r>
              <a:rPr lang="en-US" altLang="en-US" dirty="0"/>
              <a:t>While the L2 local addressing will change from link to link or hop to hop, the L3 addressing remains the same.</a:t>
            </a:r>
          </a:p>
          <a:p>
            <a:endParaRPr lang="en-CA" altLang="en-US" dirty="0"/>
          </a:p>
          <a:p>
            <a:pPr marL="0" indent="0">
              <a:buNone/>
            </a:pPr>
            <a:endParaRPr lang="en-CA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6079" y="1166036"/>
            <a:ext cx="5621117" cy="3596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6869489"/>
      </p:ext>
    </p:extLst>
  </p:cSld>
  <p:clrMapOvr>
    <a:masterClrMapping/>
  </p:clrMapOvr>
  <p:transition spd="slow">
    <p:wip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1"/>
            <a:ext cx="4998720" cy="1148515"/>
          </a:xfrm>
        </p:spPr>
        <p:txBody>
          <a:bodyPr>
            <a:normAutofit fontScale="90000"/>
          </a:bodyPr>
          <a:lstStyle/>
          <a:p>
            <a:br>
              <a:rPr lang="en-US" altLang="en-US" dirty="0"/>
            </a:br>
            <a:r>
              <a:rPr lang="en-US" altLang="en-US" dirty="0"/>
              <a:t>Data Link Addresses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215901" y="1148517"/>
            <a:ext cx="11341100" cy="2235339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2133" dirty="0"/>
              <a:t>Since data link addressing is local addressing,  it will have a source and destination for each segment or hop of the journey to the destination.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133" dirty="0"/>
              <a:t>The MAC addressing for the first segment is:</a:t>
            </a:r>
          </a:p>
          <a:p>
            <a:pPr lvl="1"/>
            <a:r>
              <a:rPr lang="en-US" altLang="en-US" sz="2133" dirty="0"/>
              <a:t>Source –  (PC1 NIC) sends frame</a:t>
            </a:r>
          </a:p>
          <a:p>
            <a:pPr lvl="1"/>
            <a:r>
              <a:rPr lang="en-US" altLang="en-US" sz="2133" dirty="0"/>
              <a:t>Destination – (First Router- DGW interface) receives frame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7789" y="3429001"/>
            <a:ext cx="5961049" cy="288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585817"/>
      </p:ext>
    </p:extLst>
  </p:cSld>
  <p:clrMapOvr>
    <a:masterClrMapping/>
  </p:clrMapOvr>
  <p:transition spd="slow">
    <p:wip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1"/>
            <a:ext cx="5956299" cy="114851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Data Link Addresses (Cont.)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661190" y="1371261"/>
            <a:ext cx="10998200" cy="1531184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133" dirty="0"/>
              <a:t>The MAC addressing for the second hop is:</a:t>
            </a:r>
          </a:p>
          <a:p>
            <a:pPr lvl="1"/>
            <a:r>
              <a:rPr lang="en-US" altLang="en-US" sz="2133" dirty="0"/>
              <a:t>Source –  (First Router- exit interface) sends frame</a:t>
            </a:r>
          </a:p>
          <a:p>
            <a:pPr lvl="1"/>
            <a:r>
              <a:rPr lang="en-US" altLang="en-US" sz="2133" dirty="0"/>
              <a:t>Destination – (Second Router) receives frame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3390" y="2773339"/>
            <a:ext cx="6965221" cy="3130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5996512"/>
      </p:ext>
    </p:extLst>
  </p:cSld>
  <p:clrMapOvr>
    <a:masterClrMapping/>
  </p:clrMapOvr>
  <p:transition spd="slow">
    <p:wip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1"/>
            <a:ext cx="5689599" cy="1148515"/>
          </a:xfrm>
        </p:spPr>
        <p:txBody>
          <a:bodyPr>
            <a:normAutofit fontScale="90000"/>
          </a:bodyPr>
          <a:lstStyle/>
          <a:p>
            <a:br>
              <a:rPr lang="en-US" altLang="en-US" dirty="0"/>
            </a:br>
            <a:r>
              <a:rPr lang="en-US" altLang="en-US" dirty="0"/>
              <a:t>Data Link Addresses (Cont.)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821699" y="1511874"/>
            <a:ext cx="10388599" cy="1607384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133" dirty="0"/>
              <a:t>The MAC addressing for the last segment is:</a:t>
            </a:r>
          </a:p>
          <a:p>
            <a:pPr lvl="1"/>
            <a:r>
              <a:rPr lang="en-US" altLang="en-US" sz="2133" dirty="0"/>
              <a:t>Source –  (Second Router- exit interface) sends frame</a:t>
            </a:r>
          </a:p>
          <a:p>
            <a:pPr lvl="1"/>
            <a:r>
              <a:rPr lang="en-US" altLang="en-US" sz="2133" dirty="0"/>
              <a:t>Destination – (Web Server NIC) receives frame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4828" y="2849543"/>
            <a:ext cx="6902344" cy="3039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6523163"/>
      </p:ext>
    </p:extLst>
  </p:cSld>
  <p:clrMapOvr>
    <a:masterClrMapping/>
  </p:clrMapOvr>
  <p:transition spd="slow">
    <p:wip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1"/>
            <a:ext cx="6108699" cy="1148515"/>
          </a:xfrm>
        </p:spPr>
        <p:txBody>
          <a:bodyPr>
            <a:normAutofit fontScale="90000"/>
          </a:bodyPr>
          <a:lstStyle/>
          <a:p>
            <a:r>
              <a:rPr lang="en-US" altLang="en-US" sz="2133" dirty="0"/>
              <a:t>Data Access</a:t>
            </a:r>
            <a:br>
              <a:rPr lang="en-US" altLang="en-US" dirty="0"/>
            </a:br>
            <a:r>
              <a:rPr lang="en-US" altLang="en-US" dirty="0"/>
              <a:t>Data Link Addresses (Cont.)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266701" y="1110417"/>
            <a:ext cx="11493500" cy="160738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2133" dirty="0"/>
              <a:t>Notice that the packet is not modified, but the frame is changed, therefore the L3 IP addressing does not change from segment to segment like the L2 MAC addressing.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133" dirty="0"/>
              <a:t>The L3 addressing remains the same since it is global and the ultimate destination is still the Web Server.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548" y="2909504"/>
            <a:ext cx="6962305" cy="3039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4697813"/>
      </p:ext>
    </p:extLst>
  </p:cSld>
  <p:clrMapOvr>
    <a:masterClrMapping/>
  </p:clrMapOvr>
  <p:transition spd="slow">
    <p:wip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784C-D4B8-490D-8B0B-61F651FDC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3C37B-D706-4431-AA95-570559AB4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Networking Layered Model:</a:t>
            </a:r>
          </a:p>
          <a:p>
            <a:pPr lvl="1"/>
            <a:r>
              <a:rPr lang="en-IE" dirty="0"/>
              <a:t>TCP/IP (4 layer) and OSI (7 layer) models. We’ll concentrate on TCP/IP</a:t>
            </a:r>
          </a:p>
          <a:p>
            <a:pPr lvl="1"/>
            <a:r>
              <a:rPr lang="en-IE" dirty="0"/>
              <a:t>TCP/IP protocol suite encapsulation</a:t>
            </a:r>
          </a:p>
          <a:p>
            <a:pPr lvl="2"/>
            <a:r>
              <a:rPr lang="en-IE" dirty="0"/>
              <a:t>Data referred to a protocol data units (PDU)</a:t>
            </a:r>
          </a:p>
          <a:p>
            <a:pPr lvl="2"/>
            <a:r>
              <a:rPr lang="en-IE" dirty="0"/>
              <a:t>5 different PDUs: data, segment, packet, frame, bits</a:t>
            </a:r>
          </a:p>
          <a:p>
            <a:r>
              <a:rPr lang="en-IE" dirty="0"/>
              <a:t>Accessing Data</a:t>
            </a:r>
          </a:p>
          <a:p>
            <a:pPr lvl="1"/>
            <a:r>
              <a:rPr lang="en-IE" dirty="0"/>
              <a:t>Addressing provided at Network and Data Link Layers</a:t>
            </a:r>
          </a:p>
          <a:p>
            <a:pPr lvl="1"/>
            <a:r>
              <a:rPr lang="en-IE" dirty="0"/>
              <a:t>Network Layer: IP addressing (Logical)</a:t>
            </a:r>
          </a:p>
          <a:p>
            <a:pPr lvl="1"/>
            <a:r>
              <a:rPr lang="en-IE" dirty="0"/>
              <a:t>Data Link: MAC addressing (Physical)</a:t>
            </a:r>
          </a:p>
          <a:p>
            <a:pPr lvl="1"/>
            <a:r>
              <a:rPr lang="en-IE" dirty="0"/>
              <a:t>Provides addressing solution for accessing resources on the same network or different network/ </a:t>
            </a:r>
          </a:p>
        </p:txBody>
      </p:sp>
    </p:spTree>
    <p:extLst>
      <p:ext uri="{BB962C8B-B14F-4D97-AF65-F5344CB8AC3E}">
        <p14:creationId xmlns:p14="http://schemas.microsoft.com/office/powerpoint/2010/main" val="3532167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3489</Words>
  <Application>Microsoft Office PowerPoint</Application>
  <PresentationFormat>Widescreen</PresentationFormat>
  <Paragraphs>464</Paragraphs>
  <Slides>60</Slides>
  <Notes>19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4" baseType="lpstr">
      <vt:lpstr>Arial</vt:lpstr>
      <vt:lpstr>Calibri</vt:lpstr>
      <vt:lpstr>Calibri Light</vt:lpstr>
      <vt:lpstr>office theme</vt:lpstr>
      <vt:lpstr>Computer Networks</vt:lpstr>
      <vt:lpstr>Agenda (1st Part)</vt:lpstr>
      <vt:lpstr>Networks</vt:lpstr>
      <vt:lpstr>QI: Arpanet</vt:lpstr>
      <vt:lpstr>QI: How heavy is the internet (data)?</vt:lpstr>
      <vt:lpstr>Networks  - Under the bonnet</vt:lpstr>
      <vt:lpstr>Networks – Under the bonnet</vt:lpstr>
      <vt:lpstr>Computer Networks Evolution</vt:lpstr>
      <vt:lpstr>Components of a Computer Network</vt:lpstr>
      <vt:lpstr>Device Types</vt:lpstr>
      <vt:lpstr>Physical Medium</vt:lpstr>
      <vt:lpstr>Messages</vt:lpstr>
      <vt:lpstr>Rules</vt:lpstr>
      <vt:lpstr>Human Protocol</vt:lpstr>
      <vt:lpstr>Network Protocols</vt:lpstr>
      <vt:lpstr>Network Characteristics</vt:lpstr>
      <vt:lpstr>Network Topology and Representations</vt:lpstr>
      <vt:lpstr>Network Topology</vt:lpstr>
      <vt:lpstr>Typical Home Network</vt:lpstr>
      <vt:lpstr>Some Networking Vocabulary</vt:lpstr>
      <vt:lpstr>Key Points so far</vt:lpstr>
      <vt:lpstr>Internet of Things</vt:lpstr>
      <vt:lpstr>What’s the difference…</vt:lpstr>
      <vt:lpstr>IoT Evolution</vt:lpstr>
      <vt:lpstr>IoT Potential</vt:lpstr>
      <vt:lpstr>Building Blocks of an IoT System</vt:lpstr>
      <vt:lpstr>Networking and IoT</vt:lpstr>
      <vt:lpstr>Learning about Networks/IoT</vt:lpstr>
      <vt:lpstr>Break</vt:lpstr>
      <vt:lpstr>TCP/IP Model and Protocols</vt:lpstr>
      <vt:lpstr>Agenda (2nd Part)</vt:lpstr>
      <vt:lpstr>Computer Network Protocols</vt:lpstr>
      <vt:lpstr>Protocol Suites &amp; Standards</vt:lpstr>
      <vt:lpstr>TCP/IP Protocol Suite</vt:lpstr>
      <vt:lpstr>PowerPoint Presentation</vt:lpstr>
      <vt:lpstr>Example: Layered Model Network Comms</vt:lpstr>
      <vt:lpstr>OSI Model</vt:lpstr>
      <vt:lpstr>OSI vs TCP/IP</vt:lpstr>
      <vt:lpstr>Comms in TCP/IP: Data Encapsulation</vt:lpstr>
      <vt:lpstr>Data Encapsulation: Protocol Data Units (PDUs)</vt:lpstr>
      <vt:lpstr>Layered Model: From A to B across the internet</vt:lpstr>
      <vt:lpstr>Data Link (Layer 2)  Communication</vt:lpstr>
      <vt:lpstr>Network Layer Communication</vt:lpstr>
      <vt:lpstr>Network Layer Communication</vt:lpstr>
      <vt:lpstr>Transport Layer Communication </vt:lpstr>
      <vt:lpstr>Accessing Resources on a network</vt:lpstr>
      <vt:lpstr> Addressing</vt:lpstr>
      <vt:lpstr> Network Layer: Logical Address</vt:lpstr>
      <vt:lpstr>Network Layer Logical Address (Cont.)</vt:lpstr>
      <vt:lpstr>Devices on the Same Network</vt:lpstr>
      <vt:lpstr> Data Link Layer Addresses: Same IP Network</vt:lpstr>
      <vt:lpstr>Devices on a Remote Network</vt:lpstr>
      <vt:lpstr>Role of the Network Layer Addresses</vt:lpstr>
      <vt:lpstr>Role of the Data Link Layer Addresses: Different IP Networks</vt:lpstr>
      <vt:lpstr> Role of the Data Link Layer Addresses: Different IP Networks (Cont.)</vt:lpstr>
      <vt:lpstr> Data Link Addresses</vt:lpstr>
      <vt:lpstr>Data Link Addresses (Cont.)</vt:lpstr>
      <vt:lpstr> Data Link Addresses (Cont.)</vt:lpstr>
      <vt:lpstr>Data Access Data Link Addresses (Cont.)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</dc:title>
  <dc:creator>Frank X Walsh</dc:creator>
  <cp:lastModifiedBy>Frank X Walsh</cp:lastModifiedBy>
  <cp:revision>7</cp:revision>
  <dcterms:created xsi:type="dcterms:W3CDTF">2020-09-21T08:29:09Z</dcterms:created>
  <dcterms:modified xsi:type="dcterms:W3CDTF">2020-09-21T10:23:05Z</dcterms:modified>
</cp:coreProperties>
</file>