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350" r:id="rId2"/>
    <p:sldId id="351" r:id="rId3"/>
    <p:sldId id="352" r:id="rId4"/>
    <p:sldId id="353" r:id="rId5"/>
    <p:sldId id="354" r:id="rId6"/>
    <p:sldId id="355" r:id="rId7"/>
    <p:sldId id="356" r:id="rId8"/>
    <p:sldId id="357" r:id="rId9"/>
    <p:sldId id="358" r:id="rId10"/>
    <p:sldId id="359" r:id="rId11"/>
    <p:sldId id="360" r:id="rId12"/>
    <p:sldId id="361" r:id="rId13"/>
    <p:sldId id="362" r:id="rId14"/>
    <p:sldId id="363" r:id="rId15"/>
    <p:sldId id="364" r:id="rId16"/>
    <p:sldId id="366" r:id="rId17"/>
    <p:sldId id="335" r:id="rId18"/>
    <p:sldId id="367" r:id="rId19"/>
    <p:sldId id="33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6135" autoAdjust="0"/>
  </p:normalViewPr>
  <p:slideViewPr>
    <p:cSldViewPr snapToGrid="0">
      <p:cViewPr varScale="1">
        <p:scale>
          <a:sx n="37" d="100"/>
          <a:sy n="37" d="100"/>
        </p:scale>
        <p:origin x="123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3239FC-1C51-4FF6-8544-EE9713BF9B14}"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635BB8DF-405C-4B84-8319-FA55A4EB7125}">
      <dgm:prSet/>
      <dgm:spPr/>
      <dgm:t>
        <a:bodyPr/>
        <a:lstStyle/>
        <a:p>
          <a:pPr>
            <a:lnSpc>
              <a:spcPct val="100000"/>
            </a:lnSpc>
            <a:defRPr cap="all"/>
          </a:pPr>
          <a:r>
            <a:rPr lang="en-IE" dirty="0"/>
            <a:t>Responsible for communication between end device Network Interface Cards(NIC)</a:t>
          </a:r>
          <a:endParaRPr lang="en-US" dirty="0"/>
        </a:p>
      </dgm:t>
    </dgm:pt>
    <dgm:pt modelId="{9B161A77-AA3E-4481-9E13-B893B47E3FBF}" type="parTrans" cxnId="{9425593E-3945-419B-966D-16BD830F6286}">
      <dgm:prSet/>
      <dgm:spPr/>
      <dgm:t>
        <a:bodyPr/>
        <a:lstStyle/>
        <a:p>
          <a:endParaRPr lang="en-US"/>
        </a:p>
      </dgm:t>
    </dgm:pt>
    <dgm:pt modelId="{762A3F9C-7737-4143-8FD8-63A34564583B}" type="sibTrans" cxnId="{9425593E-3945-419B-966D-16BD830F6286}">
      <dgm:prSet/>
      <dgm:spPr/>
      <dgm:t>
        <a:bodyPr/>
        <a:lstStyle/>
        <a:p>
          <a:endParaRPr lang="en-US"/>
        </a:p>
      </dgm:t>
    </dgm:pt>
    <dgm:pt modelId="{A150DE2C-3EF7-4701-8992-2CF0FC99C233}">
      <dgm:prSet/>
      <dgm:spPr/>
      <dgm:t>
        <a:bodyPr/>
        <a:lstStyle/>
        <a:p>
          <a:pPr>
            <a:lnSpc>
              <a:spcPct val="100000"/>
            </a:lnSpc>
            <a:defRPr cap="all"/>
          </a:pPr>
          <a:r>
            <a:rPr lang="en-IE" dirty="0"/>
            <a:t>Provides access to Physical Media for upper layer protocols (i.e. Network Layer in TCP/IP)</a:t>
          </a:r>
          <a:endParaRPr lang="en-US" dirty="0"/>
        </a:p>
      </dgm:t>
    </dgm:pt>
    <dgm:pt modelId="{181E221C-0C9C-4FA2-AD4B-F4910A768743}" type="parTrans" cxnId="{2A264571-5509-4B6D-9AA6-5B463CFC2C92}">
      <dgm:prSet/>
      <dgm:spPr/>
      <dgm:t>
        <a:bodyPr/>
        <a:lstStyle/>
        <a:p>
          <a:endParaRPr lang="en-US"/>
        </a:p>
      </dgm:t>
    </dgm:pt>
    <dgm:pt modelId="{327555B8-F59F-4576-B1C1-680000587C1D}" type="sibTrans" cxnId="{2A264571-5509-4B6D-9AA6-5B463CFC2C92}">
      <dgm:prSet/>
      <dgm:spPr/>
      <dgm:t>
        <a:bodyPr/>
        <a:lstStyle/>
        <a:p>
          <a:endParaRPr lang="en-US"/>
        </a:p>
      </dgm:t>
    </dgm:pt>
    <dgm:pt modelId="{9FEA930B-99DC-4057-8ACE-F117B8B444A3}">
      <dgm:prSet/>
      <dgm:spPr/>
      <dgm:t>
        <a:bodyPr/>
        <a:lstStyle/>
        <a:p>
          <a:pPr>
            <a:lnSpc>
              <a:spcPct val="100000"/>
            </a:lnSpc>
            <a:defRPr cap="all"/>
          </a:pPr>
          <a:r>
            <a:rPr lang="en-IE" dirty="0"/>
            <a:t>Error Detection and Frame rejection using </a:t>
          </a:r>
          <a:endParaRPr lang="en-US" dirty="0"/>
        </a:p>
      </dgm:t>
    </dgm:pt>
    <dgm:pt modelId="{2777E450-C92F-4325-A6EC-B2990C382222}" type="parTrans" cxnId="{2BF3D39C-8511-4DFA-8E14-A51C56B79971}">
      <dgm:prSet/>
      <dgm:spPr/>
      <dgm:t>
        <a:bodyPr/>
        <a:lstStyle/>
        <a:p>
          <a:endParaRPr lang="en-US"/>
        </a:p>
      </dgm:t>
    </dgm:pt>
    <dgm:pt modelId="{F4AFF266-3A5F-4B8A-9074-66D5DB23FFEF}" type="sibTrans" cxnId="{2BF3D39C-8511-4DFA-8E14-A51C56B79971}">
      <dgm:prSet/>
      <dgm:spPr/>
      <dgm:t>
        <a:bodyPr/>
        <a:lstStyle/>
        <a:p>
          <a:endParaRPr lang="en-US"/>
        </a:p>
      </dgm:t>
    </dgm:pt>
    <dgm:pt modelId="{2FD15821-7D0D-4E53-BDA7-D31E450374F1}" type="pres">
      <dgm:prSet presAssocID="{133239FC-1C51-4FF6-8544-EE9713BF9B14}" presName="diagram" presStyleCnt="0">
        <dgm:presLayoutVars>
          <dgm:dir/>
          <dgm:resizeHandles val="exact"/>
        </dgm:presLayoutVars>
      </dgm:prSet>
      <dgm:spPr/>
    </dgm:pt>
    <dgm:pt modelId="{5F21E4F5-28B7-46C9-A680-9E65A28C24E8}" type="pres">
      <dgm:prSet presAssocID="{635BB8DF-405C-4B84-8319-FA55A4EB7125}" presName="node" presStyleLbl="node1" presStyleIdx="0" presStyleCnt="3">
        <dgm:presLayoutVars>
          <dgm:bulletEnabled val="1"/>
        </dgm:presLayoutVars>
      </dgm:prSet>
      <dgm:spPr/>
    </dgm:pt>
    <dgm:pt modelId="{9A74652F-7799-4175-84F6-6908FD5DAC2E}" type="pres">
      <dgm:prSet presAssocID="{762A3F9C-7737-4143-8FD8-63A34564583B}" presName="sibTrans" presStyleCnt="0"/>
      <dgm:spPr/>
    </dgm:pt>
    <dgm:pt modelId="{3006753E-DEAB-43B2-BCB2-A970AECBEBE1}" type="pres">
      <dgm:prSet presAssocID="{A150DE2C-3EF7-4701-8992-2CF0FC99C233}" presName="node" presStyleLbl="node1" presStyleIdx="1" presStyleCnt="3">
        <dgm:presLayoutVars>
          <dgm:bulletEnabled val="1"/>
        </dgm:presLayoutVars>
      </dgm:prSet>
      <dgm:spPr/>
    </dgm:pt>
    <dgm:pt modelId="{CBFA2172-4984-4036-91E9-9A069FA2FB5B}" type="pres">
      <dgm:prSet presAssocID="{327555B8-F59F-4576-B1C1-680000587C1D}" presName="sibTrans" presStyleCnt="0"/>
      <dgm:spPr/>
    </dgm:pt>
    <dgm:pt modelId="{928D6615-3D6A-4561-A46D-47B9862231B4}" type="pres">
      <dgm:prSet presAssocID="{9FEA930B-99DC-4057-8ACE-F117B8B444A3}" presName="node" presStyleLbl="node1" presStyleIdx="2" presStyleCnt="3">
        <dgm:presLayoutVars>
          <dgm:bulletEnabled val="1"/>
        </dgm:presLayoutVars>
      </dgm:prSet>
      <dgm:spPr/>
    </dgm:pt>
  </dgm:ptLst>
  <dgm:cxnLst>
    <dgm:cxn modelId="{9425593E-3945-419B-966D-16BD830F6286}" srcId="{133239FC-1C51-4FF6-8544-EE9713BF9B14}" destId="{635BB8DF-405C-4B84-8319-FA55A4EB7125}" srcOrd="0" destOrd="0" parTransId="{9B161A77-AA3E-4481-9E13-B893B47E3FBF}" sibTransId="{762A3F9C-7737-4143-8FD8-63A34564583B}"/>
    <dgm:cxn modelId="{02F7676A-FB84-49D9-9AAB-EB61708C4D73}" type="presOf" srcId="{635BB8DF-405C-4B84-8319-FA55A4EB7125}" destId="{5F21E4F5-28B7-46C9-A680-9E65A28C24E8}" srcOrd="0" destOrd="0" presId="urn:microsoft.com/office/officeart/2005/8/layout/default"/>
    <dgm:cxn modelId="{2A264571-5509-4B6D-9AA6-5B463CFC2C92}" srcId="{133239FC-1C51-4FF6-8544-EE9713BF9B14}" destId="{A150DE2C-3EF7-4701-8992-2CF0FC99C233}" srcOrd="1" destOrd="0" parTransId="{181E221C-0C9C-4FA2-AD4B-F4910A768743}" sibTransId="{327555B8-F59F-4576-B1C1-680000587C1D}"/>
    <dgm:cxn modelId="{A6E70B97-EBDC-4AA7-91BE-AAC321302166}" type="presOf" srcId="{133239FC-1C51-4FF6-8544-EE9713BF9B14}" destId="{2FD15821-7D0D-4E53-BDA7-D31E450374F1}" srcOrd="0" destOrd="0" presId="urn:microsoft.com/office/officeart/2005/8/layout/default"/>
    <dgm:cxn modelId="{2BF3D39C-8511-4DFA-8E14-A51C56B79971}" srcId="{133239FC-1C51-4FF6-8544-EE9713BF9B14}" destId="{9FEA930B-99DC-4057-8ACE-F117B8B444A3}" srcOrd="2" destOrd="0" parTransId="{2777E450-C92F-4325-A6EC-B2990C382222}" sibTransId="{F4AFF266-3A5F-4B8A-9074-66D5DB23FFEF}"/>
    <dgm:cxn modelId="{D911F3BB-7D8E-4E47-B969-C493135E6139}" type="presOf" srcId="{A150DE2C-3EF7-4701-8992-2CF0FC99C233}" destId="{3006753E-DEAB-43B2-BCB2-A970AECBEBE1}" srcOrd="0" destOrd="0" presId="urn:microsoft.com/office/officeart/2005/8/layout/default"/>
    <dgm:cxn modelId="{808A3FEE-8E70-438B-8A10-359D93440678}" type="presOf" srcId="{9FEA930B-99DC-4057-8ACE-F117B8B444A3}" destId="{928D6615-3D6A-4561-A46D-47B9862231B4}" srcOrd="0" destOrd="0" presId="urn:microsoft.com/office/officeart/2005/8/layout/default"/>
    <dgm:cxn modelId="{932F57E1-B9B5-4925-80E9-AFC6F098A9C7}" type="presParOf" srcId="{2FD15821-7D0D-4E53-BDA7-D31E450374F1}" destId="{5F21E4F5-28B7-46C9-A680-9E65A28C24E8}" srcOrd="0" destOrd="0" presId="urn:microsoft.com/office/officeart/2005/8/layout/default"/>
    <dgm:cxn modelId="{E68B394F-AB43-47C3-BCC2-AF8F8D9C3260}" type="presParOf" srcId="{2FD15821-7D0D-4E53-BDA7-D31E450374F1}" destId="{9A74652F-7799-4175-84F6-6908FD5DAC2E}" srcOrd="1" destOrd="0" presId="urn:microsoft.com/office/officeart/2005/8/layout/default"/>
    <dgm:cxn modelId="{0362C4D4-4FD2-49E4-9C5B-4D8A70B29C6A}" type="presParOf" srcId="{2FD15821-7D0D-4E53-BDA7-D31E450374F1}" destId="{3006753E-DEAB-43B2-BCB2-A970AECBEBE1}" srcOrd="2" destOrd="0" presId="urn:microsoft.com/office/officeart/2005/8/layout/default"/>
    <dgm:cxn modelId="{5A865009-DA31-4CC8-9BE9-E848B220F675}" type="presParOf" srcId="{2FD15821-7D0D-4E53-BDA7-D31E450374F1}" destId="{CBFA2172-4984-4036-91E9-9A069FA2FB5B}" srcOrd="3" destOrd="0" presId="urn:microsoft.com/office/officeart/2005/8/layout/default"/>
    <dgm:cxn modelId="{F1DC4B98-77ED-4518-882D-EB5DE25493B0}" type="presParOf" srcId="{2FD15821-7D0D-4E53-BDA7-D31E450374F1}" destId="{928D6615-3D6A-4561-A46D-47B9862231B4}"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21E4F5-28B7-46C9-A680-9E65A28C24E8}">
      <dsp:nvSpPr>
        <dsp:cNvPr id="0" name=""/>
        <dsp:cNvSpPr/>
      </dsp:nvSpPr>
      <dsp:spPr>
        <a:xfrm>
          <a:off x="1552626" y="1624"/>
          <a:ext cx="3524382" cy="211462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defRPr cap="all"/>
          </a:pPr>
          <a:r>
            <a:rPr lang="en-IE" sz="2400" kern="1200" dirty="0"/>
            <a:t>Responsible for communication between end device Network Interface Cards(NIC)</a:t>
          </a:r>
          <a:endParaRPr lang="en-US" sz="2400" kern="1200" dirty="0"/>
        </a:p>
      </dsp:txBody>
      <dsp:txXfrm>
        <a:off x="1552626" y="1624"/>
        <a:ext cx="3524382" cy="2114629"/>
      </dsp:txXfrm>
    </dsp:sp>
    <dsp:sp modelId="{3006753E-DEAB-43B2-BCB2-A970AECBEBE1}">
      <dsp:nvSpPr>
        <dsp:cNvPr id="0" name=""/>
        <dsp:cNvSpPr/>
      </dsp:nvSpPr>
      <dsp:spPr>
        <a:xfrm>
          <a:off x="5429447" y="1624"/>
          <a:ext cx="3524382" cy="2114629"/>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defRPr cap="all"/>
          </a:pPr>
          <a:r>
            <a:rPr lang="en-IE" sz="2400" kern="1200" dirty="0"/>
            <a:t>Provides access to Physical Media for upper layer protocols (i.e. Network Layer in TCP/IP)</a:t>
          </a:r>
          <a:endParaRPr lang="en-US" sz="2400" kern="1200" dirty="0"/>
        </a:p>
      </dsp:txBody>
      <dsp:txXfrm>
        <a:off x="5429447" y="1624"/>
        <a:ext cx="3524382" cy="2114629"/>
      </dsp:txXfrm>
    </dsp:sp>
    <dsp:sp modelId="{928D6615-3D6A-4561-A46D-47B9862231B4}">
      <dsp:nvSpPr>
        <dsp:cNvPr id="0" name=""/>
        <dsp:cNvSpPr/>
      </dsp:nvSpPr>
      <dsp:spPr>
        <a:xfrm>
          <a:off x="3491036" y="2468692"/>
          <a:ext cx="3524382" cy="2114629"/>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defRPr cap="all"/>
          </a:pPr>
          <a:r>
            <a:rPr lang="en-IE" sz="2400" kern="1200" dirty="0"/>
            <a:t>Error Detection and Frame rejection using </a:t>
          </a:r>
          <a:endParaRPr lang="en-US" sz="2400" kern="1200" dirty="0"/>
        </a:p>
      </dsp:txBody>
      <dsp:txXfrm>
        <a:off x="3491036" y="2468692"/>
        <a:ext cx="3524382" cy="211462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4T09:45:41.870"/>
    </inkml:context>
    <inkml:brush xml:id="br0">
      <inkml:brushProperty name="width" value="0.05" units="cm"/>
      <inkml:brushProperty name="height" value="0.05" units="cm"/>
      <inkml:brushProperty name="color" value="#E71224"/>
    </inkml:brush>
  </inkml:definitions>
  <inkml:trace contextRef="#ctx0" brushRef="#br0">6412 446 7888 0 0,'0'0'174'0'0,"0"0"29"0"0,0 0 13 0 0,-2 0 39 0 0,-18 0 947 0 0,9 0-403 0 0,8 0-562 0 0,3 0-11 0 0,0 0-5 0 0,-7-5 846 0 0,-3 0-679 0 0,1 1 1 0 0,-21-5 0 0 0,2 1 258 0 0,3-2 71 0 0,-1 2 1 0 0,-1 1-1 0 0,-50-6 0 0 0,-41-9 915 0 0,79 12-1307 0 0,12 3-180 0 0,-5 0 35 0 0,1-2 0 0 0,0-1 0 0 0,-31-15 0 0 0,46 20-103 0 0,-1 0 0 0 0,0 1 0 0 0,-25-3 0 0 0,-23-4 269 0 0,-207-42 568 0 0,185 43-573 0 0,44 6-254 0 0,-120-18-256 0 0,31 5 139 0 0,-30-6 466 0 0,14 1-263 0 0,32 7-124 0 0,-155-35-50 0 0,183 36 22 0 0,0 4-1 0 0,-139 2 0 0 0,174 5-21 0 0,36 1 0 0 0,0 1 0 0 0,1 1 0 0 0,-19 2 0 0 0,-185 36 0 0 0,156-28 0 0 0,45-8 0 0 0,0 1 0 0 0,-26 7 0 0 0,-21 7 0 0 0,0-2 0 0 0,-99 8 0 0 0,104-14 0 0 0,-65 18 0 0 0,11 14-54 0 0,63-20 36 0 0,-318 122-208 0 0,308-119 220 0 0,-85 29-9 0 0,69-28-14 0 0,-87 44 0 0 0,113-44 13 0 0,-50 26 17 0 0,46-20-15 0 0,25-15-3 0 0,1 1 1 0 0,-32 24-1 0 0,-153 117 71 0 0,100-73-132 0 0,-131 123 1 0 0,161-135 66 0 0,15-12 14 0 0,-19 20-19 0 0,48-35-48 0 0,-49 74 0 0 0,-23 57 53 0 0,6-9 257 0 0,74-114-340 0 0,3 1 1 0 0,2 1 0 0 0,-23 65-1 0 0,11 10 94 0 0,17-49 0 0 0,-1 19 0 0 0,-2 8 0 0 0,16-65 0 0 0,1 0 0 0 0,-6 76 0 0 0,9-58 0 0 0,-10 104 0 0 0,-9 71 0 0 0,13-150 0 0 0,4 0 0 0 0,3 0 0 0 0,8 87 0 0 0,1-101 8 0 0,20 163 59 0 0,65 217 193 0 0,-84-424-227 0 0,3 11 58 0 0,15 48 0 0 0,10 14 33 0 0,47 123 157 0 0,-63-187-249 0 0,-5-9 11 0 0,19 32-1 0 0,62 105 105 0 0,-61-109-83 0 0,-23-37-34 0 0,2-1 0 0 0,0 0 0 0 0,22 26 0 0 0,51 67 144 0 0,1 1-5 0 0,47 28 37 0 0,-115-124-162 0 0,1 0 0 0 0,0-1 0 0 0,26 17-1 0 0,-4-3 38 0 0,150 97 232 0 0,-125-87-144 0 0,39 16-169 0 0,-68-34-5 0 0,1-3 1 0 0,66 26 0 0 0,-55-26 43 0 0,54 31 0 0 0,-48-22 54 0 0,96 35-1 0 0,-93-41-42 0 0,142 39 126 0 0,-39-14-62 0 0,-87-26-29 0 0,1-3 0 0 0,121 13 0 0 0,-123-21-54 0 0,222 20 98 0 0,-149-19-60 0 0,2-4 3 0 0,229-20 1 0 0,-156 1-78 0 0,-9-6 5 0 0,-81 5 0 0 0,-33 5-3 0 0,210-10-358 0 0,88-3 683 0 0,-77 1-285 0 0,-193 17-13 0 0,102-3 5 0 0,-13 2-29 0 0,-69 9 27 0 0,-61-1 0 0 0,-8-1-9 0 0,186-3 38 0 0,-24-18 76 0 0,36-2-25 0 0,75-9 22 0 0,-100 6-71 0 0,21-2 65 0 0,-4-23-42 0 0,-10-11-70 0 0,-151 36 42 0 0,-17 4-34 0 0,228-57 100 0 0,-122 7-40 0 0,-37 12-22 0 0,-32 15-8 0 0,-1-5 0 0 0,147-78 0 0 0,223-169 68 0 0,-291 149-65 0 0,-198 141-50 0 0,221-188 11 0 0,-83 67-16 0 0,-99 88 19 0 0,-1-3 0 0 0,-3-1 0 0 0,67-86 0 0 0,-75 83-16 0 0,-9 14 0 0 0,-2 0 0 0 0,19-38 0 0 0,79-200 60 0 0,-112 248-51 0 0,6-13 16 0 0,-1-1 0 0 0,12-65 0 0 0,7-49-25 0 0,-26 119 22 0 0,-2 0-1 0 0,-1-58 0 0 0,-4 26-6 0 0,2 30 1 0 0,-2 0 1 0 0,-6-41-1 0 0,-93-291 112 0 0,68 262-65 0 0,-5 2 0 0 0,-69-127 0 0 0,68 153-51 0 0,-51-86-13 0 0,-189-238 65 0 0,239 351-47 0 0,-69-64-1 0 0,28 29 11 0 0,-144-140 159 0 0,157 161-83 0 0,-113-76-1 0 0,-182-108 124 0 0,166 134-163 0 0,124 72-43 0 0,-139-69 39 0 0,-308-109-1 0 0,199 108 28 0 0,-877-278 179 0 0,1136 369-233 0 0,-267-66 179 0 0,127 29-53 0 0,24 5-86 0 0,3 9 32 0 0,-261-25-1 0 0,416 64-100 0 0,-258-18 43 0 0,1 22-19 0 0,140 8-27 0 0,2 6 0 0 0,0 5 0 0 0,-147 46 0 0 0,-467 211-412 0 0,29 71-128 0 0,468-218 160 0 0,-219 120-1557 0 0,288-147 950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4T09:49:59.708"/>
    </inkml:context>
    <inkml:brush xml:id="br0">
      <inkml:brushProperty name="width" value="0.05" units="cm"/>
      <inkml:brushProperty name="height" value="0.05" units="cm"/>
      <inkml:brushProperty name="color" value="#E71224"/>
    </inkml:brush>
  </inkml:definitions>
  <inkml:trace contextRef="#ctx0" brushRef="#br0">3656 471 4288 0 0,'0'0'197'0'0,"-5"0"22"0"0,-2 0 258 0 0,1 0 0 0 0,0-1 1 0 0,0 1-1 0 0,0-1 0 0 0,0-1 1 0 0,-11-3-1 0 0,15 5-114 0 0,-18-9 589 0 0,11 4-686 0 0,0 1 1 0 0,-1 0-1 0 0,1 1 1 0 0,-1 1-1 0 0,0-1 0 0 0,0 1 1 0 0,0 1-1 0 0,-17-1 1 0 0,-22-4-59 0 0,-22 1 346 0 0,37 2-107 0 0,1 0 0 0 0,-60 4 0 0 0,29 1-119 0 0,11-4-180 0 0,-38 3-24 0 0,-39 2-57 0 0,-31 3 5 0 0,-47 23-54 0 0,-130 14 38 0 0,247-33-6 0 0,-161 39-1 0 0,-83 56 34 0 0,223-58-83 0 0,-151 88 0 0 0,131-64 0 0 0,-58 45 0 0 0,-10 4 0 0 0,156-96 0 0 0,1 1 0 0 0,-78 62 0 0 0,95-66-8 0 0,2 1 0 0 0,0 1 0 0 0,1 1 0 0 0,2 1 0 0 0,0 1 0 0 0,2 1 0 0 0,1 1 0 0 0,-15 29 0 0 0,-10 28-13 0 0,20-41-12 0 0,2 0 1 0 0,-23 73 0 0 0,38-95 30 0 0,1 0 0 0 0,1 0 0 0 0,1 0 0 0 0,-1 32 0 0 0,3-18-18 0 0,1 26-24 0 0,4-30 45 0 0,-1 7-7 0 0,11 44 0 0 0,-8-54-6 0 0,29 101-29 0 0,-31-117 39 0 0,1 4-7 0 0,1 0 0 0 0,0 0 0 0 0,1-1 0 0 0,1 0 0 0 0,0 0 1 0 0,19 25-1 0 0,19 17-13 0 0,-31-37 3 0 0,0-1 0 0 0,2-1-1 0 0,0-1 1 0 0,33 28 0 0 0,66 32 9 0 0,-89-60 10 0 0,56 27 0 0 0,1 1 0 0 0,90 65 0 0 0,-156-101 0 0 0,1 0 0 0 0,0-1 0 0 0,38 12 0 0 0,63 11 0 0 0,-37-12 0 0 0,62 13 32 0 0,149 14 0 0 0,397 16 30 0 0,-624-58-60 0 0,540 6 51 0 0,-392-13-42 0 0,-81 3-11 0 0,113-1 0 0 0,-114 1 0 0 0,34-3 0 0 0,-5-11 0 0 0,-1-8 0 0 0,220-57 0 0 0,-262 40 103 0 0,206-96 1 0 0,-162 61-18 0 0,186-99 604 0 0,-348 171-688 0 0,41-22 124 0 0,-2-1 0 0 0,0-2 1 0 0,-2-2-1 0 0,0-2 0 0 0,-3-1 0 0 0,0-2 1 0 0,-2-2-1 0 0,-2 0 0 0 0,37-54 0 0 0,-18 19 66 0 0,-31 46-94 0 0,0-2 0 0 0,-2 0 0 0 0,14-31 0 0 0,-25 44-57 0 0,50-120 402 0 0,-50 115-357 0 0,0 0 0 0 0,-2 0 0 0 0,0-1 0 0 0,-1 0 0 0 0,0-29 0 0 0,0-7 115 0 0,-1 39-142 0 0,-1 0 0 0 0,-1 0 0 0 0,0 0 0 0 0,-4-19 0 0 0,-31-145 372 0 0,32 165-390 0 0,-2 0 0 0 0,0 1 0 0 0,-1 0 1 0 0,-14-26-1 0 0,-38-49 135 0 0,30 49-118 0 0,-22-28 15 0 0,-2 3 1 0 0,-64-60-1 0 0,6 6-22 0 0,-38-42-152 0 0,110 123 37 0 0,-2 2-1 0 0,-50-35 1 0 0,-9 10-77 0 0,-179-83 0 0 0,166 90 99 0 0,-328-120 113 0 0,405 162-58 0 0,-366-106 181 0 0,290 93-44 0 0,-213-20 1 0 0,-118 26 141 0 0,255 23-264 0 0,1 9 1 0 0,-211 41-1 0 0,-21 44-8 0 0,11 36 35 0 0,28 36 60 0 0,340-151-113 0 0,-10 6-687 0 0,-89 61 0 0 0,85-42-6168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4T09:50:03.825"/>
    </inkml:context>
    <inkml:brush xml:id="br0">
      <inkml:brushProperty name="width" value="0.05" units="cm"/>
      <inkml:brushProperty name="height" value="0.05" units="cm"/>
      <inkml:brushProperty name="color" value="#E71224"/>
    </inkml:brush>
  </inkml:definitions>
  <inkml:trace contextRef="#ctx0" brushRef="#br0">125 4885 920 0 0,'0'0'264'0'0,"-21"-6"4936"0"0,16 4-4911 0 0,-1-1 0 0 0,1 0 0 0 0,1 0 0 0 0,-1 0 0 0 0,0-1 1 0 0,1 1-1 0 0,-1-1 0 0 0,1 0 0 0 0,0-1 0 0 0,1 1 0 0 0,-1-1 0 0 0,1 1 0 0 0,0-1 1 0 0,0 0-1 0 0,0-1 0 0 0,1 1 0 0 0,-1 0 0 0 0,1-1 0 0 0,-2-10 0 0 0,-3-6-66 0 0,1-1 1 0 0,1 0-1 0 0,1-1 0 0 0,2 1 0 0 0,0-1 0 0 0,1 1 0 0 0,3-32 1 0 0,11-57 360 0 0,26-187 455 0 0,21 2-350 0 0,134-450 614 0 0,-70 364-867 0 0,-100 315-410 0 0,120-275 93 0 0,25 13 48 0 0,-131 259-133 0 0,273-467 211 0 0,-169 330-197 0 0,-97 144-43 0 0,216-250 123 0 0,-205 251-109 0 0,7-4-6 0 0,2 3 1 0 0,4 3-1 0 0,112-78 0 0 0,-122 97-8 0 0,0-1 19 0 0,97-53 1 0 0,79-20-4 0 0,-102 66 409 0 0,-80 32-1657 0 0,-1-2-3404 0 0,-24 7-1167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4T09:50:04.444"/>
    </inkml:context>
    <inkml:brush xml:id="br0">
      <inkml:brushProperty name="width" value="0.05" units="cm"/>
      <inkml:brushProperty name="height" value="0.05" units="cm"/>
      <inkml:brushProperty name="color" value="#E71224"/>
    </inkml:brush>
  </inkml:definitions>
  <inkml:trace contextRef="#ctx0" brushRef="#br0">0 345 9584 0 0,'0'0'438'0'0,"0"0"-8"0"0,3-1-276 0 0,35-12-2 0 0,-21 8 48 0 0,0-1 0 0 0,-1 0 0 0 0,25-14 0 0 0,-3-3-59 0 0,2 2 0 0 0,45-17 1 0 0,87-23-34 0 0,-54 20-30 0 0,-70 25-58 0 0,-32 12 1 0 0,-1-1 0 0 0,29-13-1 0 0,-13 0 16 0 0,-10 6-5 0 0,27-12 0 0 0,-42 22-22 0 0,1 0 1 0 0,-1 0-1 0 0,0 0 1 0 0,1 0-1 0 0,-1 1 0 0 0,1 0 1 0 0,-1 1-1 0 0,1-1 1 0 0,8 2-1 0 0,-13-1-4 0 0,1 0 1 0 0,-1 0-1 0 0,0 1 0 0 0,0-1 0 0 0,0 1 0 0 0,1 0 0 0 0,-1 0 0 0 0,0-1 1 0 0,0 1-1 0 0,0 0 0 0 0,0 1 0 0 0,0-1 0 0 0,-1 0 0 0 0,1 1 0 0 0,0-1 1 0 0,0 1-1 0 0,-1-1 0 0 0,3 4 0 0 0,-2-2 5 0 0,-1 0 0 0 0,1 0 0 0 0,-1 0 0 0 0,0 0 0 0 0,0 0 0 0 0,0 0 0 0 0,-1 0 0 0 0,1 0 0 0 0,-1 1 0 0 0,0-1 0 0 0,0 6 0 0 0,-1 4 85 0 0,-1 0 1 0 0,0 0-1 0 0,-1 0 0 0 0,-9 24 0 0 0,1-9 41 0 0,-1-1 0 0 0,-2 1 0 0 0,-1-2 0 0 0,0 0 1 0 0,-2-1-1 0 0,-25 28 0 0 0,-132 126 580 0 0,78-85-157 0 0,-14 19 255 0 0,-81 82 34 0 0,145-149-716 0 0,4-3-1114 0 0,14-17-2818 0 0,6-6-1512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4T09:52:32.899"/>
    </inkml:context>
    <inkml:brush xml:id="br0">
      <inkml:brushProperty name="width" value="0.05" units="cm"/>
      <inkml:brushProperty name="height" value="0.05" units="cm"/>
      <inkml:brushProperty name="color" value="#E71224"/>
    </inkml:brush>
  </inkml:definitions>
  <inkml:trace contextRef="#ctx0" brushRef="#br0">12 1415 1376 0 0,'7'6'517'0'0,"1"-1"535"0"0,5-5 992 0 0,-11-1-2114 0 0,-2 1 250 0 0,0 0-24 0 0,0 0-11 0 0,0 0-1 0 0,-17-1 353 0 0,16 1-425 0 0,-1-1 0 0 0,0 1 0 0 0,1 0 0 0 0,-1-1 0 0 0,0 1 0 0 0,1 0 0 0 0,-1 0-1 0 0,0 1 1 0 0,1-1 0 0 0,-1 0 0 0 0,0 0 0 0 0,1 1 0 0 0,-3 0 0 0 0,9-4 85 0 0,3 2-108 0 0,12 1 235 0 0,-17 0-230 0 0,-3 0 10 0 0,-2 0-26 0 0,0-1-1 0 0,0 1 1 0 0,0-1 0 0 0,-1 1-1 0 0,1-1 1 0 0,0 0 0 0 0,0 0 0 0 0,0 0-1 0 0,0 0 1 0 0,1-1 0 0 0,-1 1 0 0 0,-2-2-1 0 0,4 3-36 0 0,0 0 0 0 0,0 0 0 0 0,0 0-1 0 0,0 0 1 0 0,0 0 0 0 0,0 0 0 0 0,0 0-1 0 0,0 0 1 0 0,0 0 0 0 0,0 0 0 0 0,0 0-1 0 0,0 0 1 0 0,0 0 0 0 0,0-1-1 0 0,1 1 1 0 0,-1 0 0 0 0,0 0 0 0 0,0 0-1 0 0,0 0 1 0 0,0 0 0 0 0,0 0 0 0 0,0 0-1 0 0,0 0 1 0 0,0 0 0 0 0,0 0 0 0 0,0 0-1 0 0,0 0 1 0 0,0 0 0 0 0,0 0-1 0 0,0 0 1 0 0,0 0 0 0 0,0 0 0 0 0,0 0-1 0 0,0 0 1 0 0,0 0 0 0 0,0 0 0 0 0,0-1-1 0 0,0 1 1 0 0,0 0 0 0 0,0 0 0 0 0,0 0-1 0 0,0 0 1 0 0,0 0 0 0 0,0 0 0 0 0,0 0-1 0 0,0 0 1 0 0,0 0 0 0 0,0 0-1 0 0,0 0 1 0 0,0 0 0 0 0,0 0 0 0 0,0 0-1 0 0,0 0 1 0 0,0 0 0 0 0,0 0 0 0 0,0 0-1 0 0,0-1 1 0 0,10-1 22 0 0,-8 1 35 0 0,-2 1 8 0 0,-8 4 51 0 0,13-4-96 0 0,-10 0 33 0 0,-3-1-223 0 0,9-1 1230 0 0,0 1 693 0 0,-8 5 160 0 0,8-4-1836 0 0,-1 0 0 0 0,0 0 0 0 0,0 0 0 0 0,1 0 0 0 0,-1 0 0 0 0,0 0 0 0 0,1 0 1 0 0,-1 0-1 0 0,0 0 0 0 0,0 0 0 0 0,1 0 0 0 0,-1 0 0 0 0,0 0 0 0 0,0 0 0 0 0,1 0 1 0 0,-1 0-1 0 0,0 0 0 0 0,0 0 0 0 0,1 1 0 0 0,-1-1 0 0 0,0 0 0 0 0,0 0 0 0 0,0 0 1 0 0,1 0-1 0 0,-1 1 0 0 0,0-1 0 0 0,0 0 0 0 0,0 0 0 0 0,0 0 0 0 0,1 1 0 0 0,-1-1 0 0 0,0 0 1 0 0,0 0-1 0 0,0 1 0 0 0,0-1 0 0 0,0 0 0 0 0,0 0 0 0 0,0 1 0 0 0,0-1 0 0 0,0 0 1 0 0,1 0-1 0 0,-1 1 0 0 0,0-1 0 0 0,0 0 0 0 0,-1 0 0 0 0,1 1 0 0 0,0-1 0 0 0,0 0 1 0 0,0 0-1 0 0,0 1 0 0 0,0-1 0 0 0,0 0 0 0 0,0 1 0 0 0,37-13 390 0 0,-34 11-396 0 0,-3 1 9 0 0,15-17 93 0 0,-9 10-137 0 0,-5 7-30 0 0,0-1 1 0 0,0 0-1 0 0,-1 0 0 0 0,1 0 1 0 0,0 0-1 0 0,0 0 1 0 0,-1 0-1 0 0,1 0 0 0 0,-1 0 1 0 0,1 0-1 0 0,-1 0 1 0 0,1-2-1 0 0,5-6 18 0 0,50-26 153 0 0,-49 30-154 0 0,1 1 1 0 0,-1 0-1 0 0,1 0 1 0 0,0 1 0 0 0,10-4-1 0 0,24-10 42 0 0,-9 0-4 0 0,-21 11-38 0 0,0 0-1 0 0,-1-1 0 0 0,1-1 0 0 0,19-16 1 0 0,-23 17-22 0 0,1 1 1 0 0,-1 0-1 0 0,1 1 1 0 0,12-6-1 0 0,15-9 63 0 0,0 1-31 0 0,-26 13-25 0 0,1 0 0 0 0,-1 0-1 0 0,0-1 1 0 0,9-8-1 0 0,-2 2 8 0 0,1 1 0 0 0,-1 0 0 0 0,2 2 0 0 0,29-14-1 0 0,18-10 30 0 0,2-2-39 0 0,132-49 0 0 0,-166 70 13 0 0,-1-1-1 0 0,34-22 0 0 0,-28 15-9 0 0,35-22 10 0 0,-40 23 4 0 0,69-32-1 0 0,22 9-22 0 0,-21 9 0 0 0,196-61 66 0 0,-110 40-68 0 0,269-62 2 0 0,-192 56 0 0 0,-198 45 38 0 0,170-37-12 0 0,150-20 120 0 0,-79 14-44 0 0,-107 35-102 0 0,-182 24 5 0 0,0 1 0 0 0,1 1 0 0 0,-1 1 0 0 0,0 1-1 0 0,25 5 1 0 0,36 2 20 0 0,-63-8-3 0 0,0 1 1 0 0,0 1-1 0 0,0 0 1 0 0,-1 2-1 0 0,31 11 0 0 0,-41-13 12 0 0,-1 0 0 0 0,1-1 0 0 0,0 0-1 0 0,-1 0 1 0 0,1 0 0 0 0,9 0-1 0 0,-16-2-36 0 0,0 0-1 0 0,-1-1 0 0 0,1 1 0 0 0,0 0 0 0 0,-1-1 0 0 0,1 1 0 0 0,-1 0 1 0 0,1-1-1 0 0,0 1 0 0 0,-1-1 0 0 0,1 1 0 0 0,-1-1 0 0 0,1 1 1 0 0,-1-1-1 0 0,1 0 0 0 0,-1 1 0 0 0,0-1 0 0 0,1 1 0 0 0,-1-1 1 0 0,0 0-1 0 0,1 1 0 0 0,-1-1 0 0 0,0 0 0 0 0,0 1 0 0 0,0-1 0 0 0,1 0 1 0 0,-1 0-1 0 0,0-1 0 0 0,0 2-5 0 0,1-23-1672 0 0,-1 10-126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4T09:52:33.585"/>
    </inkml:context>
    <inkml:brush xml:id="br0">
      <inkml:brushProperty name="width" value="0.05" units="cm"/>
      <inkml:brushProperty name="height" value="0.05" units="cm"/>
      <inkml:brushProperty name="color" value="#E71224"/>
    </inkml:brush>
  </inkml:definitions>
  <inkml:trace contextRef="#ctx0" brushRef="#br0">1 0 3224 0 0,'0'0'425'0'0,"0"0"578"0"0,0 0 254 0 0,0 0 50 0 0,0 0-107 0 0,0 0-472 0 0,0 1-634 0 0,0-1 0 0 0,0 1 0 0 0,0-1 0 0 0,0 1 0 0 0,0-1 0 0 0,1 1 1 0 0,-1-1-1 0 0,0 0 0 0 0,0 1 0 0 0,1-1 0 0 0,-1 1 0 0 0,0-1 0 0 0,1 0 0 0 0,-1 1 0 0 0,0-1 1 0 0,1 0-1 0 0,-1 1 0 0 0,0-1 0 0 0,1 0 0 0 0,-1 0 0 0 0,1 1 0 0 0,5 1 43 0 0,0 0-1 0 0,0-1 1 0 0,0 0-1 0 0,8 1 1 0 0,-10-1-110 0 0,1-1 1 0 0,-1 1-1 0 0,0 0 0 0 0,0 0 1 0 0,7 2-1 0 0,15 4 29 0 0,6 0 11 0 0,-1 0-1 0 0,48 19 1 0 0,23 2 104 0 0,-67-19-171 0 0,-25-6 0 0 0,1-1 0 0 0,-1 1 0 0 0,14 7 0 0 0,-6-1 0 0 0,-3-2 0 0 0,0 1 0 0 0,0 0 0 0 0,25 20 0 0 0,-38-26 21 0 0,1 1 1 0 0,-1 0-1 0 0,0 1 0 0 0,0-1 1 0 0,-1 0-1 0 0,1 1 1 0 0,-1-1-1 0 0,1 1 1 0 0,-1-1-1 0 0,0 1 1 0 0,-1-1-1 0 0,1 1 1 0 0,0 0-1 0 0,-1 0 0 0 0,0 5 1 0 0,0 5 171 0 0,0 0 0 0 0,-5 26 0 0 0,1-24 82 0 0,0 0 0 0 0,-1 0-1 0 0,-1 0 1 0 0,0-1 0 0 0,-1 0 0 0 0,-1-1-1 0 0,-10 16 1 0 0,-76 93 1219 0 0,36-51-605 0 0,35-45-676 0 0,-1-1-1 0 0,-1-2 0 0 0,-1 0 0 0 0,-53 37 1 0 0,75-59-268 0 0,0 1-1 0 0,0-1 1 0 0,0 0 0 0 0,0 0 0 0 0,0 0 0 0 0,-1-1-1 0 0,1 0 1 0 0,0 1 0 0 0,-1-2 0 0 0,1 1 0 0 0,-1 0 0 0 0,1-1-1 0 0,-1 0 1 0 0,1 0 0 0 0,-1 0 0 0 0,1 0 0 0 0,-1-1-1 0 0,1 0 1 0 0,0 0 0 0 0,-1 0 0 0 0,1 0 0 0 0,0-1 0 0 0,0 0-1 0 0,-1 0 1 0 0,1 0 0 0 0,1 0 0 0 0,-1-1 0 0 0,0 1-1 0 0,1-1 1 0 0,-7-6 0 0 0,-7-16-616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4T09:55:48.067"/>
    </inkml:context>
    <inkml:brush xml:id="br0">
      <inkml:brushProperty name="width" value="0.05" units="cm"/>
      <inkml:brushProperty name="height" value="0.05" units="cm"/>
      <inkml:brushProperty name="color" value="#E71224"/>
    </inkml:brush>
  </inkml:definitions>
  <inkml:trace contextRef="#ctx0" brushRef="#br0">1311 100 6848 0 0,'12'-1'112'0'0,"-7"0"36"0"0,-5-1 377 0 0,-2 2-240 0 0,-13-7 2462 0 0,-7-14-2471 0 0,2 4-153 0 0,16 13-121 0 0,0 1 1 0 0,0 0-1 0 0,0 0 1 0 0,0 0-1 0 0,0 0 0 0 0,-1 1 1 0 0,1-1-1 0 0,-1 1 1 0 0,-8-2-1 0 0,-44-9 41 0 0,47 11-36 0 0,-4 0 83 0 0,0 0 0 0 0,0 1-1 0 0,-1 0 1 0 0,1 2 0 0 0,0-1-1 0 0,0 2 1 0 0,0 0 0 0 0,0 0-1 0 0,0 2 1 0 0,0-1 0 0 0,-24 12-1 0 0,7-6 76 0 0,26-8-139 0 0,0 0-1 0 0,0 1 1 0 0,1-1 0 0 0,-1 1 0 0 0,1 0-1 0 0,-1 0 1 0 0,1 0 0 0 0,0 1 0 0 0,-1 0 0 0 0,-5 4-1 0 0,-2 3 52 0 0,-1 0 0 0 0,-24 13 0 0 0,3-2 14 0 0,-6 3-51 0 0,25-15-22 0 0,-1 1 0 0 0,1 1 0 0 0,-18 16 0 0 0,27-22-18 0 0,0 0 0 0 0,-1 0 0 0 0,0-1 0 0 0,-14 7 0 0 0,16-8 0 0 0,-1 0 0 0 0,0 0 0 0 0,1 0 0 0 0,0 1 0 0 0,-1 0 0 0 0,1 0 0 0 0,1 0 0 0 0,-1 1 0 0 0,1-1 0 0 0,-5 7 0 0 0,-2 3 0 0 0,-1 0 0 0 0,-14 12 0 0 0,13-13 0 0 0,0 1 0 0 0,-13 17 0 0 0,12-12 0 0 0,-1 0 0 0 0,-1-2 0 0 0,-20 19 0 0 0,29-28 0 0 0,-1 0 0 0 0,1 1 0 0 0,1-1 0 0 0,-1 2 0 0 0,1-1 0 0 0,1 1 0 0 0,-5 12 0 0 0,8-20 0 0 0,-3 7 4 0 0,0 0 1 0 0,-1-1-1 0 0,-9 9 1 0 0,9-9 4 0 0,0-1 0 0 0,0 1-1 0 0,-6 13 1 0 0,9-16-6 0 0,-3 9-1 0 0,-1-1 0 0 0,-1 0 0 0 0,-15 22 0 0 0,10-17 11 0 0,0 0 1 0 0,-15 32 0 0 0,-6 10 9 0 0,26-45-23 0 0,0 0 0 0 0,1 0 0 0 0,-5 18 0 0 0,-3 6 0 0 0,9-23 0 0 0,1 1 0 0 0,1-1 0 0 0,-4 34 0 0 0,-1 5 0 0 0,2-17 0 0 0,-2 40 0 0 0,4-26 0 0 0,0 48 0 0 0,1-1 0 0 0,3-89 12 0 0,1 1 1 0 0,1-1 0 0 0,1 17-1 0 0,1 24 55 0 0,-3-38-44 0 0,1 0 0 0 0,3 20 0 0 0,0 11 36 0 0,-3-3 5 0 0,8 51 0 0 0,-7-69-41 0 0,-1 35 0 0 0,-1-33-9 0 0,3 28 1 0 0,10 112 62 0 0,-5-45-16 0 0,-7-111-47 0 0,1-1-1 0 0,0 1 0 0 0,5 15 1 0 0,-4-16-1 0 0,0 0 0 0 0,-1 0 1 0 0,2 17-1 0 0,-3-19-12 0 0,0 11 40 0 0,1 0-1 0 0,1 0 0 0 0,6 22 1 0 0,-4-19 26 0 0,-1 1 1 0 0,0 0 0 0 0,-2 0 0 0 0,0 29-1 0 0,2 16 116 0 0,1 16 72 0 0,-4-48-55 0 0,9 58 0 0 0,-6-35-25 0 0,-3-43-119 0 0,-1 0 0 0 0,5 18 1 0 0,-1-10 1 0 0,2 4 56 0 0,4 40 0 0 0,-8-52-87 0 0,1-1 0 0 0,0 0 0 0 0,1 1 1 0 0,0-2-1 0 0,10 20 0 0 0,7 25 28 0 0,-12-27-45 0 0,-5-11 5 0 0,2-1 1 0 0,0 1-1 0 0,12 22 1 0 0,-7-22-17 0 0,-5-9 12 0 0,-1 0 0 0 0,0 0-1 0 0,0 1 1 0 0,4 15 0 0 0,-5-14-4 0 0,-1 1 0 0 0,2-1 0 0 0,0 0 0 0 0,0 0 0 0 0,1 0 1 0 0,1-1-1 0 0,0 0 0 0 0,12 15 0 0 0,-12-15 4 0 0,0 0 1 0 0,0 0-1 0 0,-2 1 1 0 0,6 12-1 0 0,-6-11-6 0 0,1-1-1 0 0,0 1 0 0 0,10 13 1 0 0,8 6-9 0 0,-7-9 43 0 0,24 39 0 0 0,-34-51-17 0 0,0-1 0 0 0,16 18 0 0 0,-13-17-1 0 0,-1 0 0 0 0,11 17 1 0 0,-15-19-7 0 0,1-1 0 0 0,1-1 0 0 0,-1 1 0 0 0,1-1 0 0 0,9 7 0 0 0,18 21 106 0 0,-25-26-76 0 0,1-1 0 0 0,0 0-1 0 0,0 0 1 0 0,1-1-1 0 0,-1 0 1 0 0,2-1 0 0 0,-1 0-1 0 0,18 6 1 0 0,-8-3 57 0 0,-7-3-46 0 0,1-1 0 0 0,0 0 0 0 0,0-1 0 0 0,0-1-1 0 0,1 0 1 0 0,-1-1 0 0 0,1 0 0 0 0,0-2-1 0 0,-1 0 1 0 0,23-3 0 0 0,-24 1-63 0 0,0-2 1 0 0,0 0-1 0 0,0-1 1 0 0,0 0 0 0 0,19-11-1 0 0,-9 2 70 0 0,-1 0-1 0 0,31-26 1 0 0,-12 8-28 0 0,-24 17 14 0 0,0-1 0 0 0,-1-1 0 0 0,21-25 0 0 0,-6 5 13 0 0,-9 10 8 0 0,-1 0-1 0 0,28-49 0 0 0,29-66 57 0 0,-69 119-103 0 0,0-1-1 0 0,7-26 1 0 0,-10 26-1 0 0,2-1-1 0 0,11-22 1 0 0,7 2-2 0 0,-18 32-5 0 0,0-1 0 0 0,-2 1 0 0 0,7-17 0 0 0,-1-13 5 0 0,-10 30 4 0 0,1-1-1 0 0,12-24 1 0 0,90-218 397 0 0,-85 203-240 0 0,13-62 34 0 0,-23 72-139 0 0,19-46 1 0 0,-15 49-98 0 0,-2 0 0 0 0,10-54-1 0 0,-13 57 54 0 0,14-34-1 0 0,-11 35 14 0 0,10-47 1 0 0,0-23 19 0 0,33-195 64 0 0,-40 220-76 0 0,-10 59-46 0 0,-1-1-1 0 0,2-32 0 0 0,-3-5 35 0 0,-1 24-18 0 0,-1-1 0 0 0,-2 0 0 0 0,-8-65-1 0 0,-6 35-1 0 0,-7-52 30 0 0,17 90-29 0 0,-2 1-1 0 0,0-1 0 0 0,-20-52 1 0 0,6 29 27 0 0,13 31-26 0 0,-1-1 0 0 0,-1 1-1 0 0,-1 1 1 0 0,-18-29-1 0 0,-12-11 60 0 0,-27-35 28 0 0,-15 2 52 0 0,-43-54 175 0 0,115 135-288 0 0,0 1-1 0 0,0 0 1 0 0,-1 0-1 0 0,0 1 1 0 0,-1 0 0 0 0,-1 1-1 0 0,-25-14 1 0 0,18 12-1 0 0,-1 2 1 0 0,0 1-1 0 0,0 0 1 0 0,-38-7-1 0 0,-4 6-6 0 0,-1 2-1 0 0,-109 2 1 0 0,160 5-46 0 0,-14 1-136 0 0,0 0 0 0 0,0 2 0 0 0,1 1 0 0 0,-1 1 0 0 0,1 1 0 0 0,0 2 0 0 0,-41 17 0 0 0,37-8-707 0 0,0 10-37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4T09:55:50.009"/>
    </inkml:context>
    <inkml:brush xml:id="br0">
      <inkml:brushProperty name="width" value="0.05" units="cm"/>
      <inkml:brushProperty name="height" value="0.05" units="cm"/>
      <inkml:brushProperty name="color" value="#E71224"/>
    </inkml:brush>
  </inkml:definitions>
  <inkml:trace contextRef="#ctx0" brushRef="#br0">16 889 1376 0 0,'0'0'283'0'0,"0"0"650"0"0,0 0 290 0 0,0 0 59 0 0,-11 6 2282 0 0,10-6-3545 0 0,1 1 0 0 0,0-1 0 0 0,-1 1 0 0 0,1-1-1 0 0,0 1 1 0 0,-1-1 0 0 0,1 1 0 0 0,0-1 0 0 0,0 1 0 0 0,-1-1 0 0 0,1 1 0 0 0,0 0-1 0 0,0-1 1 0 0,0 1 0 0 0,0-1 0 0 0,0 1 0 0 0,0 0 0 0 0,0-1 0 0 0,0 1 0 0 0,0-1-1 0 0,0 1 1 0 0,0 0 0 0 0,0-1 0 0 0,1 1 0 0 0,-1-1 0 0 0,0 1 0 0 0,0-1-1 0 0,0 1 1 0 0,1-1 0 0 0,-1 1 0 0 0,0-1 0 0 0,1 1 0 0 0,-1-1 0 0 0,1 1 0 0 0,-1-1-1 0 0,0 1 1 0 0,1-1 0 0 0,-1 0 0 0 0,1 1 0 0 0,-1-1 0 0 0,1 0 0 0 0,-1 1 0 0 0,1-1-1 0 0,-1 0 1 0 0,1 0 0 0 0,0 1 0 0 0,-1-1 0 0 0,1 0 0 0 0,-1 0 0 0 0,1 0 0 0 0,0 0-1 0 0,0 0 1 0 0,18 3 1304 0 0,-20-3-917 0 0,1 0 29 0 0,0 0 12 0 0,0 0 1 0 0,17-6 381 0 0,-14 6-722 0 0,-1-2-1 0 0,1 1 1 0 0,-1 0 0 0 0,1 0 0 0 0,-1-1-1 0 0,1 1 1 0 0,-1-1 0 0 0,0 0 0 0 0,0 0-1 0 0,3-3 1 0 0,9-8 112 0 0,-7 8-99 0 0,-1-1 0 0 0,1 0 0 0 0,-1 0 0 0 0,0-1 0 0 0,-1 0-1 0 0,6-8 1 0 0,20-24 298 0 0,-21 28-218 0 0,-1 0-1 0 0,0-1 0 0 0,0 0 0 0 0,9-18 0 0 0,-14 23-66 0 0,0 1 0 0 0,1 0 0 0 0,0 0 0 0 0,1 0 0 0 0,-1 1-1 0 0,1-1 1 0 0,0 1 0 0 0,0 1 0 0 0,8-5 0 0 0,15-13 324 0 0,42-32-742 0 0,102-60 1 0 0,90-30-393 0 0,-187 111 677 0 0,-48 22 0 0 0,30-16 0 0 0,-13 5 0 0 0,1 3 0 0 0,62-18 0 0 0,-93 32 0 0 0,127-37 0 0 0,26-8 0 0 0,-103 32 0 0 0,124-18 0 0 0,-147 29 0 0 0,90-5 119 0 0,-103 10-94 0 0,-9 1-16 0 0,37 4-1 0 0,-21 0-23 0 0,-3 1 1 0 0,0 2-1 0 0,0 1 1 0 0,-1 2 0 0 0,32 13 0 0 0,-35-12 11 0 0,33 18 3 0 0,-26-10 0 0 0,-15-8 20 0 0,-1 2 0 0 0,28 20 0 0 0,21 13 38 0 0,-55-37-43 0 0,0 1 0 0 0,0 0 0 0 0,-1 1 0 0 0,13 12-1 0 0,-13-11-108 0 0,26 17-1 0 0,-29-22 35 0 0,-7-4-1273 0 0,10 6-4572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4T09:55:51.151"/>
    </inkml:context>
    <inkml:brush xml:id="br0">
      <inkml:brushProperty name="width" value="0.05" units="cm"/>
      <inkml:brushProperty name="height" value="0.05" units="cm"/>
      <inkml:brushProperty name="color" value="#E71224"/>
    </inkml:brush>
  </inkml:definitions>
  <inkml:trace contextRef="#ctx0" brushRef="#br0">1 553 4112 0 0,'0'0'191'0'0,"0"0"46"0"0,0 0 91 0 0,0 0 37 0 0,0 0 10 0 0,0 0-22 0 0,0 0-94 0 0,0 0-41 0 0,0 0-8 0 0,2 0 11 0 0,8 0 58 0 0,-7 0 29 0 0,-3 0 4 0 0,0 0 17 0 0,0 0 72 0 0,0 0 30 0 0,0 0 8 0 0,0 0 5 0 0,0 0 17 0 0,14 1 1040 0 0,-11 2-1466 0 0,1 0-1 0 0,0 0 1 0 0,-1 0-1 0 0,0 0 0 0 0,0 1 1 0 0,0-1-1 0 0,0 1 1 0 0,0-1-1 0 0,-1 1 0 0 0,4 6 1 0 0,16 48 59 0 0,-2-5-24 0 0,102 165 314 0 0,-111-203-289 0 0,-1 0 0 0 0,2 0 1 0 0,0-1-1 0 0,0-1 0 0 0,1 0 0 0 0,1 0 0 0 0,0-2 1 0 0,1 1-1 0 0,29 16 0 0 0,-35-24-37 0 0,0-1-1 0 0,1 0 1 0 0,-1 0-1 0 0,0 0 1 0 0,1-1 0 0 0,-1-1-1 0 0,1 0 1 0 0,15 0 0 0 0,-21 0-30 0 0,0-2 1 0 0,0 1 0 0 0,-1 0-1 0 0,1-1 1 0 0,0 0-1 0 0,0 0 1 0 0,0 0 0 0 0,-1 0-1 0 0,1 0 1 0 0,-1-1 0 0 0,1 0-1 0 0,-1 0 1 0 0,1 0 0 0 0,-1 0-1 0 0,0 0 1 0 0,0-1-1 0 0,0 1 1 0 0,0-1 0 0 0,-1 0-1 0 0,1 0 1 0 0,-1 0 0 0 0,0 0-1 0 0,1 0 1 0 0,1-5 0 0 0,0 0 35 0 0,0 1 41 0 0,-1-1 0 0 0,1 0 0 0 0,-2 0 0 0 0,1 1 0 0 0,-1-2 0 0 0,0 1 0 0 0,1-16 0 0 0,4-93 758 0 0,-6 1 0 0 0,-15-125 0 0 0,4 67-353 0 0,0 13-316 0 0,3 115-157 0 0,4 33-24 0 0,1 0-1 0 0,-2-23 0 0 0,4 34-11 0 0,-2-16 7 0 0,-4-2-91 0 0,5 18-307 0 0,-1 3-142 0 0,-7 2-32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1057AB-2EF4-4F91-A474-48A0D60D0BF4}" type="datetimeFigureOut">
              <a:rPr lang="en-IE" smtClean="0"/>
              <a:t>19/09/2024</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7650DC-A9E6-4029-8E34-5572DB096263}" type="slidenum">
              <a:rPr lang="en-IE" smtClean="0"/>
              <a:t>‹#›</a:t>
            </a:fld>
            <a:endParaRPr lang="en-IE"/>
          </a:p>
        </p:txBody>
      </p:sp>
    </p:spTree>
    <p:extLst>
      <p:ext uri="{BB962C8B-B14F-4D97-AF65-F5344CB8AC3E}">
        <p14:creationId xmlns:p14="http://schemas.microsoft.com/office/powerpoint/2010/main" val="1982728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74151"/>
                </a:solidFill>
                <a:effectLst/>
                <a:latin typeface="Söhne"/>
              </a:rPr>
              <a:t>Manchester encoding (also known as Phase Encoding) is a line code in which each bit of data is represented by at least one voltage level transition, making it a self-clocking signal. It was popularized by its use in early Ethernet standards (10BASE5 and 10BASE2, specifically).</a:t>
            </a:r>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4</a:t>
            </a:fld>
            <a:endParaRPr lang="en-IE"/>
          </a:p>
        </p:txBody>
      </p:sp>
    </p:spTree>
    <p:extLst>
      <p:ext uri="{BB962C8B-B14F-4D97-AF65-F5344CB8AC3E}">
        <p14:creationId xmlns:p14="http://schemas.microsoft.com/office/powerpoint/2010/main" val="3752944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What Physical media properties, current technologies, and the laws of physics play a role in determining available bandwidth.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What traffic overhead might there be?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Example: Checkout in Supermarket.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333333"/>
                </a:solidFill>
                <a:effectLst/>
                <a:latin typeface="guardian-text-oreilly"/>
              </a:rPr>
              <a:t>Trucks have great throughput because you can carry so much on them, but they are slow to start and stop. Motorcycles have low throughput because you can’t carry much on them, but they start and stop more quickly and can weave through traffic so they have better latency.</a:t>
            </a:r>
            <a:endParaRPr lang="en-US" sz="1200" dirty="0">
              <a:solidFill>
                <a:srgbClr val="000000"/>
              </a:solidFill>
            </a:endParaRPr>
          </a:p>
          <a:p>
            <a:endParaRPr lang="en-IE" dirty="0"/>
          </a:p>
          <a:p>
            <a:endParaRPr lang="en-IE" dirty="0"/>
          </a:p>
          <a:p>
            <a:r>
              <a:rPr lang="en-GB" b="0" i="0" dirty="0">
                <a:solidFill>
                  <a:srgbClr val="222222"/>
                </a:solidFill>
                <a:effectLst/>
                <a:latin typeface="arial" panose="020B0604020202020204" pitchFamily="34" charset="0"/>
              </a:rPr>
              <a:t> </a:t>
            </a:r>
            <a:r>
              <a:rPr lang="en-GB" b="1" i="0" dirty="0">
                <a:solidFill>
                  <a:srgbClr val="222222"/>
                </a:solidFill>
                <a:effectLst/>
                <a:latin typeface="arial" panose="020B0604020202020204" pitchFamily="34" charset="0"/>
              </a:rPr>
              <a:t>throughput</a:t>
            </a:r>
            <a:r>
              <a:rPr lang="en-GB" b="0" i="0" dirty="0">
                <a:solidFill>
                  <a:srgbClr val="222222"/>
                </a:solidFill>
                <a:effectLst/>
                <a:latin typeface="arial" panose="020B0604020202020204" pitchFamily="34" charset="0"/>
              </a:rPr>
              <a:t> is an actual measure of how much data is successfully transferred from source to destination, and </a:t>
            </a:r>
            <a:r>
              <a:rPr lang="en-GB" b="1" i="0" dirty="0">
                <a:solidFill>
                  <a:srgbClr val="222222"/>
                </a:solidFill>
                <a:effectLst/>
                <a:latin typeface="arial" panose="020B0604020202020204" pitchFamily="34" charset="0"/>
              </a:rPr>
              <a:t>bandwidth</a:t>
            </a:r>
            <a:r>
              <a:rPr lang="en-GB" b="0" i="0" dirty="0">
                <a:solidFill>
                  <a:srgbClr val="222222"/>
                </a:solidFill>
                <a:effectLst/>
                <a:latin typeface="arial" panose="020B0604020202020204" pitchFamily="34" charset="0"/>
              </a:rPr>
              <a:t> is a theoretical measure of how much data could be transferred from source to destination.</a:t>
            </a:r>
            <a:endParaRPr lang="en-IE" dirty="0"/>
          </a:p>
          <a:p>
            <a:endParaRPr lang="en-IE" dirty="0"/>
          </a:p>
          <a:p>
            <a:r>
              <a:rPr lang="en-GB" b="0" i="0" dirty="0">
                <a:solidFill>
                  <a:srgbClr val="444444"/>
                </a:solidFill>
                <a:effectLst/>
                <a:latin typeface="Arial" panose="020B0604020202020204" pitchFamily="34" charset="0"/>
              </a:rPr>
              <a:t> </a:t>
            </a:r>
            <a:r>
              <a:rPr lang="en-GB" b="1" i="0" dirty="0">
                <a:solidFill>
                  <a:srgbClr val="444444"/>
                </a:solidFill>
                <a:effectLst/>
                <a:latin typeface="Arial" panose="020B0604020202020204" pitchFamily="34" charset="0"/>
              </a:rPr>
              <a:t>bandwidth refers to how big the pipe is</a:t>
            </a:r>
            <a:r>
              <a:rPr lang="en-GB" b="0" i="0" dirty="0">
                <a:solidFill>
                  <a:srgbClr val="444444"/>
                </a:solidFill>
                <a:effectLst/>
                <a:latin typeface="Arial" panose="020B0604020202020204" pitchFamily="34" charset="0"/>
              </a:rPr>
              <a:t>, and latency is used to measure how fast the contents of the pipe travels to its destination.</a:t>
            </a:r>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5</a:t>
            </a:fld>
            <a:endParaRPr lang="en-IE"/>
          </a:p>
        </p:txBody>
      </p:sp>
    </p:spTree>
    <p:extLst>
      <p:ext uri="{BB962C8B-B14F-4D97-AF65-F5344CB8AC3E}">
        <p14:creationId xmlns:p14="http://schemas.microsoft.com/office/powerpoint/2010/main" val="27197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9/19/2024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customXml" Target="../ink/ink6.xml"/><Relationship Id="rId18" Type="http://schemas.openxmlformats.org/officeDocument/2006/relationships/image" Target="../media/image100.png"/><Relationship Id="rId3" Type="http://schemas.openxmlformats.org/officeDocument/2006/relationships/hyperlink" Target="https://cs.wikipedia.org/wiki/Ethernet" TargetMode="External"/><Relationship Id="rId21" Type="http://schemas.openxmlformats.org/officeDocument/2006/relationships/customXml" Target="../ink/ink9.xml"/><Relationship Id="rId7" Type="http://schemas.openxmlformats.org/officeDocument/2006/relationships/customXml" Target="../ink/ink3.xml"/><Relationship Id="rId12" Type="http://schemas.openxmlformats.org/officeDocument/2006/relationships/image" Target="../media/image70.PNG"/><Relationship Id="rId17" Type="http://schemas.openxmlformats.org/officeDocument/2006/relationships/customXml" Target="../ink/ink7.xml"/><Relationship Id="rId2" Type="http://schemas.openxmlformats.org/officeDocument/2006/relationships/image" Target="../media/image3.jpeg"/><Relationship Id="rId16" Type="http://schemas.openxmlformats.org/officeDocument/2006/relationships/hyperlink" Target="https://en.wikipedia.org/wiki/IEEE_802.11" TargetMode="External"/><Relationship Id="rId20"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4.jpeg"/><Relationship Id="rId10" Type="http://schemas.openxmlformats.org/officeDocument/2006/relationships/image" Target="../media/image60.png"/><Relationship Id="rId19" Type="http://schemas.openxmlformats.org/officeDocument/2006/relationships/customXml" Target="../ink/ink8.xml"/><Relationship Id="rId4" Type="http://schemas.openxmlformats.org/officeDocument/2006/relationships/hyperlink" Target="https://creativecommons.org/licenses/by-sa/3.0/" TargetMode="External"/><Relationship Id="rId9" Type="http://schemas.openxmlformats.org/officeDocument/2006/relationships/customXml" Target="../ink/ink4.xml"/><Relationship Id="rId14" Type="http://schemas.openxmlformats.org/officeDocument/2006/relationships/image" Target="../media/image80.png"/><Relationship Id="rId22" Type="http://schemas.openxmlformats.org/officeDocument/2006/relationships/image" Target="../media/image120.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Twisted_pair" TargetMode="External"/><Relationship Id="rId7" Type="http://schemas.openxmlformats.org/officeDocument/2006/relationships/hyperlink" Target="https://en.wikipedia.org/wiki/Unbalanced_line" TargetMode="External"/><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hyperlink" Target="http://networkengineering.stackexchange.com/questions/28126/cat7-ethernet-cable-order-of-wires-in-the-clamp" TargetMode="Externa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linuxinator.com/index.php/Networking_OSI-2:TCP-IP_network_access_layer_-_data-link"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uperuser.com/questions/1024548/plug-an-ethernet-cable-into-this-computer-with-no-connections-are-available" TargetMode="External"/><Relationship Id="rId2" Type="http://schemas.openxmlformats.org/officeDocument/2006/relationships/image" Target="../media/image17.jpeg"/><Relationship Id="rId1" Type="http://schemas.openxmlformats.org/officeDocument/2006/relationships/slideLayout" Target="../slideLayouts/slideLayout3.xml"/><Relationship Id="rId4" Type="http://schemas.openxmlformats.org/officeDocument/2006/relationships/hyperlink" Target="https://creativecommons.org/licenses/by-sa/3.0/"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commons.wikimedia.org/wiki/file:semiduplex.png" TargetMode="External"/><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E6813-7EF4-4BA5-9A26-63A026817536}"/>
              </a:ext>
            </a:extLst>
          </p:cNvPr>
          <p:cNvSpPr>
            <a:spLocks noGrp="1"/>
          </p:cNvSpPr>
          <p:nvPr>
            <p:ph type="title"/>
          </p:nvPr>
        </p:nvSpPr>
        <p:spPr/>
        <p:txBody>
          <a:bodyPr/>
          <a:lstStyle/>
          <a:p>
            <a:r>
              <a:rPr lang="en-IE" dirty="0"/>
              <a:t>Physical/Data Link </a:t>
            </a:r>
            <a:br>
              <a:rPr lang="en-IE" dirty="0"/>
            </a:br>
            <a:r>
              <a:rPr lang="en-IE" dirty="0"/>
              <a:t>Layer</a:t>
            </a:r>
          </a:p>
        </p:txBody>
      </p:sp>
      <p:sp>
        <p:nvSpPr>
          <p:cNvPr id="3" name="Text Placeholder 2">
            <a:extLst>
              <a:ext uri="{FF2B5EF4-FFF2-40B4-BE49-F238E27FC236}">
                <a16:creationId xmlns:a16="http://schemas.microsoft.com/office/drawing/2014/main" id="{E47D762A-D5EE-40C5-85E9-C756972E608D}"/>
              </a:ext>
            </a:extLst>
          </p:cNvPr>
          <p:cNvSpPr>
            <a:spLocks noGrp="1"/>
          </p:cNvSpPr>
          <p:nvPr>
            <p:ph type="body" idx="1"/>
          </p:nvPr>
        </p:nvSpPr>
        <p:spPr/>
        <p:txBody>
          <a:bodyPr/>
          <a:lstStyle/>
          <a:p>
            <a:endParaRPr lang="en-IE"/>
          </a:p>
        </p:txBody>
      </p:sp>
      <p:pic>
        <p:nvPicPr>
          <p:cNvPr id="4" name="Picture 3">
            <a:extLst>
              <a:ext uri="{FF2B5EF4-FFF2-40B4-BE49-F238E27FC236}">
                <a16:creationId xmlns:a16="http://schemas.microsoft.com/office/drawing/2014/main" id="{9EED989A-7718-4E5B-B674-8903CF140EBB}"/>
              </a:ext>
            </a:extLst>
          </p:cNvPr>
          <p:cNvPicPr>
            <a:picLocks noChangeAspect="1"/>
          </p:cNvPicPr>
          <p:nvPr/>
        </p:nvPicPr>
        <p:blipFill>
          <a:blip r:embed="rId2"/>
          <a:stretch>
            <a:fillRect/>
          </a:stretch>
        </p:blipFill>
        <p:spPr>
          <a:xfrm>
            <a:off x="7506672" y="368948"/>
            <a:ext cx="3128433" cy="6120104"/>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DF4CB942-2688-4204-BA22-C81170028E64}"/>
                  </a:ext>
                </a:extLst>
              </p14:cNvPr>
              <p14:cNvContentPartPr/>
              <p14:nvPr/>
            </p14:nvContentPartPr>
            <p14:xfrm>
              <a:off x="7008409" y="4493201"/>
              <a:ext cx="4092480" cy="2381040"/>
            </p14:xfrm>
          </p:contentPart>
        </mc:Choice>
        <mc:Fallback xmlns="">
          <p:pic>
            <p:nvPicPr>
              <p:cNvPr id="5" name="Ink 4">
                <a:extLst>
                  <a:ext uri="{FF2B5EF4-FFF2-40B4-BE49-F238E27FC236}">
                    <a16:creationId xmlns:a16="http://schemas.microsoft.com/office/drawing/2014/main" id="{DF4CB942-2688-4204-BA22-C81170028E64}"/>
                  </a:ext>
                </a:extLst>
              </p:cNvPr>
              <p:cNvPicPr/>
              <p:nvPr/>
            </p:nvPicPr>
            <p:blipFill>
              <a:blip r:embed="rId4"/>
              <a:stretch>
                <a:fillRect/>
              </a:stretch>
            </p:blipFill>
            <p:spPr>
              <a:xfrm>
                <a:off x="6999409" y="4484561"/>
                <a:ext cx="4110120" cy="2398680"/>
              </a:xfrm>
              <a:prstGeom prst="rect">
                <a:avLst/>
              </a:prstGeom>
            </p:spPr>
          </p:pic>
        </mc:Fallback>
      </mc:AlternateContent>
    </p:spTree>
    <p:extLst>
      <p:ext uri="{BB962C8B-B14F-4D97-AF65-F5344CB8AC3E}">
        <p14:creationId xmlns:p14="http://schemas.microsoft.com/office/powerpoint/2010/main" val="3109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E9E7C26D-B6FE-4C41-9472-F9B2A4BEB931}"/>
              </a:ext>
            </a:extLst>
          </p:cNvPr>
          <p:cNvPicPr>
            <a:picLocks noChangeAspect="1"/>
          </p:cNvPicPr>
          <p:nvPr/>
        </p:nvPicPr>
        <p:blipFill rotWithShape="1">
          <a:blip r:embed="rId2"/>
          <a:srcRect r="2080" b="-2"/>
          <a:stretch/>
        </p:blipFill>
        <p:spPr>
          <a:xfrm>
            <a:off x="6090613" y="640082"/>
            <a:ext cx="5461724" cy="5577837"/>
          </a:xfrm>
          <a:prstGeom prst="rect">
            <a:avLst/>
          </a:prstGeom>
          <a:effectLst/>
        </p:spPr>
      </p:pic>
      <p:sp>
        <p:nvSpPr>
          <p:cNvPr id="2" name="Title 1">
            <a:extLst>
              <a:ext uri="{FF2B5EF4-FFF2-40B4-BE49-F238E27FC236}">
                <a16:creationId xmlns:a16="http://schemas.microsoft.com/office/drawing/2014/main" id="{83E69E85-8863-4976-A4BB-6C92FF81BA88}"/>
              </a:ext>
            </a:extLst>
          </p:cNvPr>
          <p:cNvSpPr>
            <a:spLocks noGrp="1"/>
          </p:cNvSpPr>
          <p:nvPr>
            <p:ph type="title"/>
          </p:nvPr>
        </p:nvSpPr>
        <p:spPr>
          <a:xfrm>
            <a:off x="648929" y="629266"/>
            <a:ext cx="5127031" cy="1676603"/>
          </a:xfrm>
        </p:spPr>
        <p:txBody>
          <a:bodyPr>
            <a:normAutofit/>
          </a:bodyPr>
          <a:lstStyle/>
          <a:p>
            <a:r>
              <a:rPr lang="en-US" dirty="0">
                <a:cs typeface="Calibri Light"/>
              </a:rPr>
              <a:t>Agenda (1</a:t>
            </a:r>
            <a:r>
              <a:rPr lang="en-US" baseline="30000" dirty="0">
                <a:cs typeface="Calibri Light"/>
              </a:rPr>
              <a:t>st</a:t>
            </a:r>
            <a:r>
              <a:rPr lang="en-US" dirty="0">
                <a:cs typeface="Calibri Light"/>
              </a:rPr>
              <a:t> Part)</a:t>
            </a:r>
            <a:endParaRPr lang="en-US" dirty="0"/>
          </a:p>
        </p:txBody>
      </p:sp>
      <p:sp>
        <p:nvSpPr>
          <p:cNvPr id="3" name="Content Placeholder 2">
            <a:extLst>
              <a:ext uri="{FF2B5EF4-FFF2-40B4-BE49-F238E27FC236}">
                <a16:creationId xmlns:a16="http://schemas.microsoft.com/office/drawing/2014/main" id="{CF466A4B-95AE-44FA-97A0-F1314D93D5EA}"/>
              </a:ext>
            </a:extLst>
          </p:cNvPr>
          <p:cNvSpPr>
            <a:spLocks noGrp="1"/>
          </p:cNvSpPr>
          <p:nvPr>
            <p:ph idx="1"/>
          </p:nvPr>
        </p:nvSpPr>
        <p:spPr>
          <a:xfrm>
            <a:off x="648930" y="2438400"/>
            <a:ext cx="5127029" cy="3785419"/>
          </a:xfrm>
        </p:spPr>
        <p:txBody>
          <a:bodyPr vert="horz" lIns="91440" tIns="45720" rIns="91440" bIns="45720" rtlCol="0" anchor="t">
            <a:normAutofit/>
          </a:bodyPr>
          <a:lstStyle/>
          <a:p>
            <a:pPr lvl="1"/>
            <a:r>
              <a:rPr lang="en-US" dirty="0">
                <a:cs typeface="Calibri"/>
              </a:rPr>
              <a:t>Physical Media</a:t>
            </a:r>
          </a:p>
          <a:p>
            <a:pPr lvl="1"/>
            <a:r>
              <a:rPr lang="en-US" dirty="0">
                <a:cs typeface="Calibri"/>
              </a:rPr>
              <a:t>Purpose of Data Link Layer</a:t>
            </a:r>
          </a:p>
          <a:p>
            <a:pPr lvl="1"/>
            <a:r>
              <a:rPr lang="en-US" dirty="0">
                <a:cs typeface="Calibri"/>
              </a:rPr>
              <a:t>More about topologies</a:t>
            </a:r>
          </a:p>
          <a:p>
            <a:pPr lvl="1"/>
            <a:r>
              <a:rPr lang="en-US" dirty="0">
                <a:cs typeface="Calibri"/>
              </a:rPr>
              <a:t>Data Link Frame</a:t>
            </a:r>
          </a:p>
          <a:p>
            <a:pPr lvl="1"/>
            <a:r>
              <a:rPr lang="en-US">
                <a:cs typeface="Calibri"/>
              </a:rPr>
              <a:t>Ethernet </a:t>
            </a:r>
            <a:endParaRPr lang="en-US" dirty="0">
              <a:cs typeface="Calibri"/>
            </a:endParaRPr>
          </a:p>
          <a:p>
            <a:endParaRPr lang="en-US" dirty="0">
              <a:cs typeface="Calibri"/>
            </a:endParaRPr>
          </a:p>
        </p:txBody>
      </p:sp>
    </p:spTree>
    <p:extLst>
      <p:ext uri="{BB962C8B-B14F-4D97-AF65-F5344CB8AC3E}">
        <p14:creationId xmlns:p14="http://schemas.microsoft.com/office/powerpoint/2010/main" val="362406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991ED-08BA-4EB6-B3CC-FB467EEB3DEA}"/>
              </a:ext>
            </a:extLst>
          </p:cNvPr>
          <p:cNvSpPr>
            <a:spLocks noGrp="1"/>
          </p:cNvSpPr>
          <p:nvPr>
            <p:ph type="title"/>
          </p:nvPr>
        </p:nvSpPr>
        <p:spPr/>
        <p:txBody>
          <a:bodyPr/>
          <a:lstStyle/>
          <a:p>
            <a:r>
              <a:rPr lang="en-IE" dirty="0"/>
              <a:t>1. Physical Media</a:t>
            </a:r>
          </a:p>
        </p:txBody>
      </p:sp>
      <p:sp>
        <p:nvSpPr>
          <p:cNvPr id="3" name="Content Placeholder 2">
            <a:extLst>
              <a:ext uri="{FF2B5EF4-FFF2-40B4-BE49-F238E27FC236}">
                <a16:creationId xmlns:a16="http://schemas.microsoft.com/office/drawing/2014/main" id="{2BC04D44-6929-42D7-B118-81351D7522B9}"/>
              </a:ext>
            </a:extLst>
          </p:cNvPr>
          <p:cNvSpPr>
            <a:spLocks noGrp="1"/>
          </p:cNvSpPr>
          <p:nvPr>
            <p:ph idx="1"/>
          </p:nvPr>
        </p:nvSpPr>
        <p:spPr>
          <a:xfrm>
            <a:off x="838200" y="1825625"/>
            <a:ext cx="5725072" cy="4351338"/>
          </a:xfrm>
        </p:spPr>
        <p:txBody>
          <a:bodyPr/>
          <a:lstStyle/>
          <a:p>
            <a:r>
              <a:rPr lang="en-IE" dirty="0"/>
              <a:t>Networks inherently physical</a:t>
            </a:r>
          </a:p>
          <a:p>
            <a:pPr lvl="1"/>
            <a:r>
              <a:rPr lang="en-IE" dirty="0"/>
              <a:t>Must have a Physical Connection</a:t>
            </a:r>
          </a:p>
          <a:p>
            <a:r>
              <a:rPr lang="en-US" sz="2800" dirty="0">
                <a:solidFill>
                  <a:srgbClr val="000000"/>
                </a:solidFill>
              </a:rPr>
              <a:t>A Network Interface Card (NIC)/Network Adapter connects a device to the network.</a:t>
            </a:r>
          </a:p>
          <a:p>
            <a:r>
              <a:rPr lang="en-US" dirty="0">
                <a:solidFill>
                  <a:srgbClr val="000000"/>
                </a:solidFill>
              </a:rPr>
              <a:t>Some devices may contain more than 1 NIC (How many does your </a:t>
            </a:r>
            <a:r>
              <a:rPr lang="en-US" dirty="0" err="1">
                <a:solidFill>
                  <a:srgbClr val="000000"/>
                </a:solidFill>
              </a:rPr>
              <a:t>Rpi</a:t>
            </a:r>
            <a:r>
              <a:rPr lang="en-US" dirty="0">
                <a:solidFill>
                  <a:srgbClr val="000000"/>
                </a:solidFill>
              </a:rPr>
              <a:t>/Arduino have?)</a:t>
            </a:r>
          </a:p>
          <a:p>
            <a:r>
              <a:rPr lang="en-US" dirty="0">
                <a:solidFill>
                  <a:srgbClr val="000000"/>
                </a:solidFill>
              </a:rPr>
              <a:t>Can have different performance levels.</a:t>
            </a:r>
            <a:endParaRPr lang="en-IE" dirty="0"/>
          </a:p>
        </p:txBody>
      </p:sp>
      <p:pic>
        <p:nvPicPr>
          <p:cNvPr id="5" name="Picture 4" descr="A close up of a cable&#10;&#10;Description automatically generated">
            <a:extLst>
              <a:ext uri="{FF2B5EF4-FFF2-40B4-BE49-F238E27FC236}">
                <a16:creationId xmlns:a16="http://schemas.microsoft.com/office/drawing/2014/main" id="{A34EDD36-310D-4C07-8F1E-028BD4FF4194}"/>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948447" y="2034860"/>
            <a:ext cx="2753837" cy="1925391"/>
          </a:xfrm>
          <a:prstGeom prst="rect">
            <a:avLst/>
          </a:prstGeom>
        </p:spPr>
      </p:pic>
      <p:sp>
        <p:nvSpPr>
          <p:cNvPr id="6" name="TextBox 5">
            <a:extLst>
              <a:ext uri="{FF2B5EF4-FFF2-40B4-BE49-F238E27FC236}">
                <a16:creationId xmlns:a16="http://schemas.microsoft.com/office/drawing/2014/main" id="{6ECEFA88-E842-4D00-93ED-197A0FDA5AE7}"/>
              </a:ext>
            </a:extLst>
          </p:cNvPr>
          <p:cNvSpPr txBox="1"/>
          <p:nvPr/>
        </p:nvSpPr>
        <p:spPr>
          <a:xfrm>
            <a:off x="6948447" y="4176442"/>
            <a:ext cx="2635708" cy="369332"/>
          </a:xfrm>
          <a:prstGeom prst="rect">
            <a:avLst/>
          </a:prstGeom>
          <a:noFill/>
        </p:spPr>
        <p:txBody>
          <a:bodyPr wrap="square" rtlCol="0">
            <a:spAutoFit/>
          </a:bodyPr>
          <a:lstStyle/>
          <a:p>
            <a:r>
              <a:rPr lang="en-IE" sz="900">
                <a:hlinkClick r:id="rId3" tooltip="https://cs.wikipedia.org/wiki/Ethernet"/>
              </a:rPr>
              <a:t>This Photo</a:t>
            </a:r>
            <a:r>
              <a:rPr lang="en-IE" sz="900"/>
              <a:t> by Unknown Author is licensed under </a:t>
            </a:r>
            <a:r>
              <a:rPr lang="en-IE" sz="900">
                <a:hlinkClick r:id="rId4" tooltip="https://creativecommons.org/licenses/by-sa/3.0/"/>
              </a:rPr>
              <a:t>CC BY-SA</a:t>
            </a:r>
            <a:endParaRPr lang="en-IE" sz="900"/>
          </a:p>
        </p:txBody>
      </p:sp>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34671637-7511-4EC4-8D3A-9D7B74C46BD3}"/>
                  </a:ext>
                </a:extLst>
              </p14:cNvPr>
              <p14:cNvContentPartPr/>
              <p14:nvPr/>
            </p14:nvContentPartPr>
            <p14:xfrm>
              <a:off x="6767209" y="2313401"/>
              <a:ext cx="2190600" cy="1177920"/>
            </p14:xfrm>
          </p:contentPart>
        </mc:Choice>
        <mc:Fallback xmlns="">
          <p:pic>
            <p:nvPicPr>
              <p:cNvPr id="7" name="Ink 6">
                <a:extLst>
                  <a:ext uri="{FF2B5EF4-FFF2-40B4-BE49-F238E27FC236}">
                    <a16:creationId xmlns:a16="http://schemas.microsoft.com/office/drawing/2014/main" id="{34671637-7511-4EC4-8D3A-9D7B74C46BD3}"/>
                  </a:ext>
                </a:extLst>
              </p:cNvPr>
              <p:cNvPicPr/>
              <p:nvPr/>
            </p:nvPicPr>
            <p:blipFill>
              <a:blip r:embed="rId6"/>
              <a:stretch>
                <a:fillRect/>
              </a:stretch>
            </p:blipFill>
            <p:spPr>
              <a:xfrm>
                <a:off x="6758209" y="2304761"/>
                <a:ext cx="2208240" cy="1195560"/>
              </a:xfrm>
              <a:prstGeom prst="rect">
                <a:avLst/>
              </a:prstGeom>
            </p:spPr>
          </p:pic>
        </mc:Fallback>
      </mc:AlternateContent>
      <p:grpSp>
        <p:nvGrpSpPr>
          <p:cNvPr id="28" name="Group 27">
            <a:extLst>
              <a:ext uri="{FF2B5EF4-FFF2-40B4-BE49-F238E27FC236}">
                <a16:creationId xmlns:a16="http://schemas.microsoft.com/office/drawing/2014/main" id="{DF34A531-E9E2-4EDA-81B4-241D89348656}"/>
              </a:ext>
            </a:extLst>
          </p:cNvPr>
          <p:cNvGrpSpPr/>
          <p:nvPr/>
        </p:nvGrpSpPr>
        <p:grpSpPr>
          <a:xfrm>
            <a:off x="6981769" y="652721"/>
            <a:ext cx="1222560" cy="1983600"/>
            <a:chOff x="6981769" y="652721"/>
            <a:chExt cx="1222560" cy="198360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5A06B0B4-7B4F-4384-BCF9-07979C58497E}"/>
                    </a:ext>
                  </a:extLst>
                </p14:cNvPr>
                <p14:cNvContentPartPr/>
                <p14:nvPr/>
              </p14:nvContentPartPr>
              <p14:xfrm>
                <a:off x="6981769" y="877721"/>
                <a:ext cx="999360" cy="1758600"/>
              </p14:xfrm>
            </p:contentPart>
          </mc:Choice>
          <mc:Fallback xmlns="">
            <p:pic>
              <p:nvPicPr>
                <p:cNvPr id="8" name="Ink 7">
                  <a:extLst>
                    <a:ext uri="{FF2B5EF4-FFF2-40B4-BE49-F238E27FC236}">
                      <a16:creationId xmlns:a16="http://schemas.microsoft.com/office/drawing/2014/main" id="{5A06B0B4-7B4F-4384-BCF9-07979C58497E}"/>
                    </a:ext>
                  </a:extLst>
                </p:cNvPr>
                <p:cNvPicPr/>
                <p:nvPr/>
              </p:nvPicPr>
              <p:blipFill>
                <a:blip r:embed="rId8"/>
                <a:stretch>
                  <a:fillRect/>
                </a:stretch>
              </p:blipFill>
              <p:spPr>
                <a:xfrm>
                  <a:off x="6972769" y="869081"/>
                  <a:ext cx="1017000" cy="1776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E73DB7FA-7D11-4C1B-AB8C-85EADBA11161}"/>
                    </a:ext>
                  </a:extLst>
                </p14:cNvPr>
                <p14:cNvContentPartPr/>
                <p14:nvPr/>
              </p14:nvContentPartPr>
              <p14:xfrm>
                <a:off x="7868809" y="652721"/>
                <a:ext cx="335520" cy="390240"/>
              </p14:xfrm>
            </p:contentPart>
          </mc:Choice>
          <mc:Fallback xmlns="">
            <p:pic>
              <p:nvPicPr>
                <p:cNvPr id="9" name="Ink 8">
                  <a:extLst>
                    <a:ext uri="{FF2B5EF4-FFF2-40B4-BE49-F238E27FC236}">
                      <a16:creationId xmlns:a16="http://schemas.microsoft.com/office/drawing/2014/main" id="{E73DB7FA-7D11-4C1B-AB8C-85EADBA11161}"/>
                    </a:ext>
                  </a:extLst>
                </p:cNvPr>
                <p:cNvPicPr/>
                <p:nvPr/>
              </p:nvPicPr>
              <p:blipFill>
                <a:blip r:embed="rId10"/>
                <a:stretch>
                  <a:fillRect/>
                </a:stretch>
              </p:blipFill>
              <p:spPr>
                <a:xfrm>
                  <a:off x="7859809" y="643721"/>
                  <a:ext cx="353160" cy="407880"/>
                </a:xfrm>
                <a:prstGeom prst="rect">
                  <a:avLst/>
                </a:prstGeom>
              </p:spPr>
            </p:pic>
          </mc:Fallback>
        </mc:AlternateContent>
      </p:grpSp>
      <p:grpSp>
        <p:nvGrpSpPr>
          <p:cNvPr id="47" name="Group 46">
            <a:extLst>
              <a:ext uri="{FF2B5EF4-FFF2-40B4-BE49-F238E27FC236}">
                <a16:creationId xmlns:a16="http://schemas.microsoft.com/office/drawing/2014/main" id="{A26995EF-BFDB-4AF6-A164-6D85D6C02F67}"/>
              </a:ext>
            </a:extLst>
          </p:cNvPr>
          <p:cNvGrpSpPr/>
          <p:nvPr/>
        </p:nvGrpSpPr>
        <p:grpSpPr>
          <a:xfrm>
            <a:off x="8888689" y="1951241"/>
            <a:ext cx="1734840" cy="597600"/>
            <a:chOff x="8888689" y="1951241"/>
            <a:chExt cx="1734840" cy="597600"/>
          </a:xfrm>
        </p:grpSpPr>
        <mc:AlternateContent xmlns:mc="http://schemas.openxmlformats.org/markup-compatibility/2006" xmlns:p14="http://schemas.microsoft.com/office/powerpoint/2010/main">
          <mc:Choice Requires="p14">
            <p:contentPart p14:bwMode="auto" r:id="rId11">
              <p14:nvContentPartPr>
                <p14:cNvPr id="39" name="Ink 38">
                  <a:extLst>
                    <a:ext uri="{FF2B5EF4-FFF2-40B4-BE49-F238E27FC236}">
                      <a16:creationId xmlns:a16="http://schemas.microsoft.com/office/drawing/2014/main" id="{6ED7A67A-0FB3-4EF5-BFAB-99116196CBBF}"/>
                    </a:ext>
                  </a:extLst>
                </p14:cNvPr>
                <p14:cNvContentPartPr/>
                <p14:nvPr/>
              </p14:nvContentPartPr>
              <p14:xfrm>
                <a:off x="8888689" y="2035121"/>
                <a:ext cx="1613520" cy="513720"/>
              </p14:xfrm>
            </p:contentPart>
          </mc:Choice>
          <mc:Fallback xmlns="">
            <p:pic>
              <p:nvPicPr>
                <p:cNvPr id="39" name="Ink 38">
                  <a:extLst>
                    <a:ext uri="{FF2B5EF4-FFF2-40B4-BE49-F238E27FC236}">
                      <a16:creationId xmlns:a16="http://schemas.microsoft.com/office/drawing/2014/main" id="{6ED7A67A-0FB3-4EF5-BFAB-99116196CBBF}"/>
                    </a:ext>
                  </a:extLst>
                </p:cNvPr>
                <p:cNvPicPr/>
                <p:nvPr/>
              </p:nvPicPr>
              <p:blipFill>
                <a:blip r:embed="rId12"/>
                <a:stretch>
                  <a:fillRect/>
                </a:stretch>
              </p:blipFill>
              <p:spPr>
                <a:xfrm>
                  <a:off x="8879689" y="2026121"/>
                  <a:ext cx="1631160" cy="531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0" name="Ink 39">
                  <a:extLst>
                    <a:ext uri="{FF2B5EF4-FFF2-40B4-BE49-F238E27FC236}">
                      <a16:creationId xmlns:a16="http://schemas.microsoft.com/office/drawing/2014/main" id="{1FA79AC5-06F5-46E0-BE91-BB7A1F5776D9}"/>
                    </a:ext>
                  </a:extLst>
                </p14:cNvPr>
                <p14:cNvContentPartPr/>
                <p14:nvPr/>
              </p14:nvContentPartPr>
              <p14:xfrm>
                <a:off x="10421209" y="1951241"/>
                <a:ext cx="202320" cy="298440"/>
              </p14:xfrm>
            </p:contentPart>
          </mc:Choice>
          <mc:Fallback xmlns="">
            <p:pic>
              <p:nvPicPr>
                <p:cNvPr id="40" name="Ink 39">
                  <a:extLst>
                    <a:ext uri="{FF2B5EF4-FFF2-40B4-BE49-F238E27FC236}">
                      <a16:creationId xmlns:a16="http://schemas.microsoft.com/office/drawing/2014/main" id="{1FA79AC5-06F5-46E0-BE91-BB7A1F5776D9}"/>
                    </a:ext>
                  </a:extLst>
                </p:cNvPr>
                <p:cNvPicPr/>
                <p:nvPr/>
              </p:nvPicPr>
              <p:blipFill>
                <a:blip r:embed="rId14"/>
                <a:stretch>
                  <a:fillRect/>
                </a:stretch>
              </p:blipFill>
              <p:spPr>
                <a:xfrm>
                  <a:off x="10412569" y="1942241"/>
                  <a:ext cx="219960" cy="316080"/>
                </a:xfrm>
                <a:prstGeom prst="rect">
                  <a:avLst/>
                </a:prstGeom>
              </p:spPr>
            </p:pic>
          </mc:Fallback>
        </mc:AlternateContent>
      </p:grpSp>
      <p:sp>
        <p:nvSpPr>
          <p:cNvPr id="86" name="TextBox 85">
            <a:extLst>
              <a:ext uri="{FF2B5EF4-FFF2-40B4-BE49-F238E27FC236}">
                <a16:creationId xmlns:a16="http://schemas.microsoft.com/office/drawing/2014/main" id="{612687C4-6632-4850-884C-E4E818DB217E}"/>
              </a:ext>
            </a:extLst>
          </p:cNvPr>
          <p:cNvSpPr txBox="1"/>
          <p:nvPr/>
        </p:nvSpPr>
        <p:spPr>
          <a:xfrm>
            <a:off x="8141204" y="418931"/>
            <a:ext cx="3467552" cy="692497"/>
          </a:xfrm>
          <a:prstGeom prst="rect">
            <a:avLst/>
          </a:prstGeom>
          <a:noFill/>
        </p:spPr>
        <p:txBody>
          <a:bodyPr wrap="none" rtlCol="0" anchor="ctr" anchorCtr="1">
            <a:spAutoFit/>
          </a:bodyPr>
          <a:lstStyle/>
          <a:p>
            <a:pPr algn="ctr"/>
            <a:r>
              <a:rPr lang="en-IE" sz="3900" dirty="0">
                <a:solidFill>
                  <a:srgbClr val="E71224"/>
                </a:solidFill>
              </a:rPr>
              <a:t>RJ 45 Connector</a:t>
            </a:r>
          </a:p>
        </p:txBody>
      </p:sp>
      <p:sp>
        <p:nvSpPr>
          <p:cNvPr id="66" name="TextBox 65">
            <a:extLst>
              <a:ext uri="{FF2B5EF4-FFF2-40B4-BE49-F238E27FC236}">
                <a16:creationId xmlns:a16="http://schemas.microsoft.com/office/drawing/2014/main" id="{212796CF-ECE4-4F62-989D-AA98A6678AF3}"/>
              </a:ext>
            </a:extLst>
          </p:cNvPr>
          <p:cNvSpPr txBox="1"/>
          <p:nvPr/>
        </p:nvSpPr>
        <p:spPr>
          <a:xfrm>
            <a:off x="10087459" y="2308613"/>
            <a:ext cx="1978042" cy="584775"/>
          </a:xfrm>
          <a:prstGeom prst="rect">
            <a:avLst/>
          </a:prstGeom>
          <a:noFill/>
        </p:spPr>
        <p:txBody>
          <a:bodyPr wrap="none" rtlCol="0" anchor="ctr" anchorCtr="1">
            <a:spAutoFit/>
          </a:bodyPr>
          <a:lstStyle/>
          <a:p>
            <a:pPr algn="ctr"/>
            <a:r>
              <a:rPr lang="en-IE" sz="3200" dirty="0">
                <a:solidFill>
                  <a:srgbClr val="E71224"/>
                </a:solidFill>
              </a:rPr>
              <a:t>Device NIC</a:t>
            </a:r>
          </a:p>
        </p:txBody>
      </p:sp>
      <p:pic>
        <p:nvPicPr>
          <p:cNvPr id="53" name="Picture 52" descr="A picture containing router, table, electronics, blue&#10;&#10;Description automatically generated">
            <a:extLst>
              <a:ext uri="{FF2B5EF4-FFF2-40B4-BE49-F238E27FC236}">
                <a16:creationId xmlns:a16="http://schemas.microsoft.com/office/drawing/2014/main" id="{9F843FC4-6EF0-439C-BF04-661A90E31702}"/>
              </a:ext>
            </a:extLst>
          </p:cNvPr>
          <p:cNvPicPr>
            <a:picLocks noChangeAspect="1"/>
          </p:cNvPicPr>
          <p:nvPr/>
        </p:nvPicPr>
        <p:blipFill>
          <a:blip r:embed="rId15" cstate="print">
            <a:extLst>
              <a:ext uri="{28A0092B-C50C-407E-A947-70E740481C1C}">
                <a14:useLocalDpi xmlns:a14="http://schemas.microsoft.com/office/drawing/2010/main" val="0"/>
              </a:ext>
              <a:ext uri="{837473B0-CC2E-450A-ABE3-18F120FF3D39}">
                <a1611:picAttrSrcUrl xmlns:a1611="http://schemas.microsoft.com/office/drawing/2016/11/main" r:id="rId16"/>
              </a:ext>
            </a:extLst>
          </a:blip>
          <a:stretch>
            <a:fillRect/>
          </a:stretch>
        </p:blipFill>
        <p:spPr>
          <a:xfrm>
            <a:off x="6948447" y="4594631"/>
            <a:ext cx="2357998" cy="2021983"/>
          </a:xfrm>
          <a:prstGeom prst="rect">
            <a:avLst/>
          </a:prstGeom>
        </p:spPr>
      </p:pic>
      <p:sp>
        <p:nvSpPr>
          <p:cNvPr id="54" name="TextBox 53">
            <a:extLst>
              <a:ext uri="{FF2B5EF4-FFF2-40B4-BE49-F238E27FC236}">
                <a16:creationId xmlns:a16="http://schemas.microsoft.com/office/drawing/2014/main" id="{D4C9D427-77EB-4FE3-BEE3-C40A8522535A}"/>
              </a:ext>
            </a:extLst>
          </p:cNvPr>
          <p:cNvSpPr txBox="1"/>
          <p:nvPr/>
        </p:nvSpPr>
        <p:spPr>
          <a:xfrm>
            <a:off x="6948447" y="6779389"/>
            <a:ext cx="1805133" cy="369332"/>
          </a:xfrm>
          <a:prstGeom prst="rect">
            <a:avLst/>
          </a:prstGeom>
          <a:noFill/>
        </p:spPr>
        <p:txBody>
          <a:bodyPr wrap="square" rtlCol="0">
            <a:spAutoFit/>
          </a:bodyPr>
          <a:lstStyle/>
          <a:p>
            <a:r>
              <a:rPr lang="en-IE" sz="900">
                <a:hlinkClick r:id="rId16" tooltip="https://en.wikipedia.org/wiki/IEEE_802.11"/>
              </a:rPr>
              <a:t>This Photo</a:t>
            </a:r>
            <a:r>
              <a:rPr lang="en-IE" sz="900"/>
              <a:t> by Unknown Author is licensed under </a:t>
            </a:r>
            <a:r>
              <a:rPr lang="en-IE" sz="900">
                <a:hlinkClick r:id="rId4" tooltip="https://creativecommons.org/licenses/by-sa/3.0/"/>
              </a:rPr>
              <a:t>CC BY-SA</a:t>
            </a:r>
            <a:endParaRPr lang="en-IE" sz="900"/>
          </a:p>
        </p:txBody>
      </p:sp>
      <mc:AlternateContent xmlns:mc="http://schemas.openxmlformats.org/markup-compatibility/2006" xmlns:p14="http://schemas.microsoft.com/office/powerpoint/2010/main">
        <mc:Choice Requires="p14">
          <p:contentPart p14:bwMode="auto" r:id="rId17">
            <p14:nvContentPartPr>
              <p14:cNvPr id="55" name="Ink 54">
                <a:extLst>
                  <a:ext uri="{FF2B5EF4-FFF2-40B4-BE49-F238E27FC236}">
                    <a16:creationId xmlns:a16="http://schemas.microsoft.com/office/drawing/2014/main" id="{0A9A95A0-DB52-4EA7-8C33-6EC799D28298}"/>
                  </a:ext>
                </a:extLst>
              </p14:cNvPr>
              <p14:cNvContentPartPr/>
              <p14:nvPr/>
            </p14:nvContentPartPr>
            <p14:xfrm>
              <a:off x="8727409" y="4617761"/>
              <a:ext cx="774360" cy="1506960"/>
            </p14:xfrm>
          </p:contentPart>
        </mc:Choice>
        <mc:Fallback xmlns="">
          <p:pic>
            <p:nvPicPr>
              <p:cNvPr id="55" name="Ink 54">
                <a:extLst>
                  <a:ext uri="{FF2B5EF4-FFF2-40B4-BE49-F238E27FC236}">
                    <a16:creationId xmlns:a16="http://schemas.microsoft.com/office/drawing/2014/main" id="{0A9A95A0-DB52-4EA7-8C33-6EC799D28298}"/>
                  </a:ext>
                </a:extLst>
              </p:cNvPr>
              <p:cNvPicPr/>
              <p:nvPr/>
            </p:nvPicPr>
            <p:blipFill>
              <a:blip r:embed="rId18"/>
              <a:stretch>
                <a:fillRect/>
              </a:stretch>
            </p:blipFill>
            <p:spPr>
              <a:xfrm>
                <a:off x="8718409" y="4608761"/>
                <a:ext cx="792000" cy="1524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6" name="Ink 55">
                <a:extLst>
                  <a:ext uri="{FF2B5EF4-FFF2-40B4-BE49-F238E27FC236}">
                    <a16:creationId xmlns:a16="http://schemas.microsoft.com/office/drawing/2014/main" id="{F4614250-2AF8-4831-8BF1-F8CDEB1980B1}"/>
                  </a:ext>
                </a:extLst>
              </p14:cNvPr>
              <p14:cNvContentPartPr/>
              <p14:nvPr/>
            </p14:nvContentPartPr>
            <p14:xfrm>
              <a:off x="9330769" y="4524881"/>
              <a:ext cx="978840" cy="331920"/>
            </p14:xfrm>
          </p:contentPart>
        </mc:Choice>
        <mc:Fallback xmlns="">
          <p:pic>
            <p:nvPicPr>
              <p:cNvPr id="56" name="Ink 55">
                <a:extLst>
                  <a:ext uri="{FF2B5EF4-FFF2-40B4-BE49-F238E27FC236}">
                    <a16:creationId xmlns:a16="http://schemas.microsoft.com/office/drawing/2014/main" id="{F4614250-2AF8-4831-8BF1-F8CDEB1980B1}"/>
                  </a:ext>
                </a:extLst>
              </p:cNvPr>
              <p:cNvPicPr/>
              <p:nvPr/>
            </p:nvPicPr>
            <p:blipFill>
              <a:blip r:embed="rId20"/>
              <a:stretch>
                <a:fillRect/>
              </a:stretch>
            </p:blipFill>
            <p:spPr>
              <a:xfrm>
                <a:off x="9322129" y="4515881"/>
                <a:ext cx="99648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7" name="Ink 56">
                <a:extLst>
                  <a:ext uri="{FF2B5EF4-FFF2-40B4-BE49-F238E27FC236}">
                    <a16:creationId xmlns:a16="http://schemas.microsoft.com/office/drawing/2014/main" id="{70AAC3BD-E203-4730-8B6A-65210DC60C57}"/>
                  </a:ext>
                </a:extLst>
              </p14:cNvPr>
              <p14:cNvContentPartPr/>
              <p14:nvPr/>
            </p14:nvContentPartPr>
            <p14:xfrm>
              <a:off x="10169569" y="4523081"/>
              <a:ext cx="218160" cy="394920"/>
            </p14:xfrm>
          </p:contentPart>
        </mc:Choice>
        <mc:Fallback xmlns="">
          <p:pic>
            <p:nvPicPr>
              <p:cNvPr id="57" name="Ink 56">
                <a:extLst>
                  <a:ext uri="{FF2B5EF4-FFF2-40B4-BE49-F238E27FC236}">
                    <a16:creationId xmlns:a16="http://schemas.microsoft.com/office/drawing/2014/main" id="{70AAC3BD-E203-4730-8B6A-65210DC60C57}"/>
                  </a:ext>
                </a:extLst>
              </p:cNvPr>
              <p:cNvPicPr/>
              <p:nvPr/>
            </p:nvPicPr>
            <p:blipFill>
              <a:blip r:embed="rId22"/>
              <a:stretch>
                <a:fillRect/>
              </a:stretch>
            </p:blipFill>
            <p:spPr>
              <a:xfrm>
                <a:off x="10160929" y="4514441"/>
                <a:ext cx="235800" cy="412560"/>
              </a:xfrm>
              <a:prstGeom prst="rect">
                <a:avLst/>
              </a:prstGeom>
            </p:spPr>
          </p:pic>
        </mc:Fallback>
      </mc:AlternateContent>
      <p:sp>
        <p:nvSpPr>
          <p:cNvPr id="138" name="TextBox 137">
            <a:extLst>
              <a:ext uri="{FF2B5EF4-FFF2-40B4-BE49-F238E27FC236}">
                <a16:creationId xmlns:a16="http://schemas.microsoft.com/office/drawing/2014/main" id="{936BE42C-D8E8-4E04-98EF-C2A5E3192FAC}"/>
              </a:ext>
            </a:extLst>
          </p:cNvPr>
          <p:cNvSpPr txBox="1"/>
          <p:nvPr/>
        </p:nvSpPr>
        <p:spPr>
          <a:xfrm>
            <a:off x="9874876" y="5670830"/>
            <a:ext cx="2020168" cy="523220"/>
          </a:xfrm>
          <a:prstGeom prst="rect">
            <a:avLst/>
          </a:prstGeom>
          <a:noFill/>
        </p:spPr>
        <p:txBody>
          <a:bodyPr wrap="none" rtlCol="0" anchor="ctr" anchorCtr="1">
            <a:spAutoFit/>
          </a:bodyPr>
          <a:lstStyle/>
          <a:p>
            <a:pPr algn="ctr"/>
            <a:r>
              <a:rPr lang="en-IE" sz="2800" dirty="0">
                <a:solidFill>
                  <a:srgbClr val="E71224"/>
                </a:solidFill>
              </a:rPr>
              <a:t>Wireless NIC</a:t>
            </a:r>
          </a:p>
        </p:txBody>
      </p:sp>
      <p:sp>
        <p:nvSpPr>
          <p:cNvPr id="104" name="TextBox 103">
            <a:extLst>
              <a:ext uri="{FF2B5EF4-FFF2-40B4-BE49-F238E27FC236}">
                <a16:creationId xmlns:a16="http://schemas.microsoft.com/office/drawing/2014/main" id="{FC08444D-0142-4084-9B0D-6B884D38CF71}"/>
              </a:ext>
            </a:extLst>
          </p:cNvPr>
          <p:cNvSpPr txBox="1"/>
          <p:nvPr/>
        </p:nvSpPr>
        <p:spPr>
          <a:xfrm>
            <a:off x="9808902" y="5059370"/>
            <a:ext cx="1449756" cy="523220"/>
          </a:xfrm>
          <a:prstGeom prst="rect">
            <a:avLst/>
          </a:prstGeom>
          <a:noFill/>
        </p:spPr>
        <p:txBody>
          <a:bodyPr wrap="none" rtlCol="0" anchor="ctr" anchorCtr="1">
            <a:spAutoFit/>
          </a:bodyPr>
          <a:lstStyle/>
          <a:p>
            <a:pPr algn="ctr"/>
            <a:r>
              <a:rPr lang="en-IE" sz="2800">
                <a:solidFill>
                  <a:srgbClr val="E71224"/>
                </a:solidFill>
              </a:rPr>
              <a:t>Contains</a:t>
            </a:r>
          </a:p>
        </p:txBody>
      </p:sp>
    </p:spTree>
    <p:extLst>
      <p:ext uri="{BB962C8B-B14F-4D97-AF65-F5344CB8AC3E}">
        <p14:creationId xmlns:p14="http://schemas.microsoft.com/office/powerpoint/2010/main" val="123791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6"/>
                                        </p:tgtEl>
                                        <p:attrNameLst>
                                          <p:attrName>style.visibility</p:attrName>
                                        </p:attrNameLst>
                                      </p:cBhvr>
                                      <p:to>
                                        <p:strVal val="visible"/>
                                      </p:to>
                                    </p:set>
                                    <p:animEffect transition="in" filter="fade">
                                      <p:cBhvr>
                                        <p:cTn id="13" dur="500"/>
                                        <p:tgtEl>
                                          <p:spTgt spid="8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6"/>
                                        </p:tgtEl>
                                        <p:attrNameLst>
                                          <p:attrName>style.visibility</p:attrName>
                                        </p:attrNameLst>
                                      </p:cBhvr>
                                      <p:to>
                                        <p:strVal val="visible"/>
                                      </p:to>
                                    </p:set>
                                    <p:animEffect transition="in" filter="fade">
                                      <p:cBhvr>
                                        <p:cTn id="21" dur="500"/>
                                        <p:tgtEl>
                                          <p:spTgt spid="6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fade">
                                      <p:cBhvr>
                                        <p:cTn id="26" dur="500"/>
                                        <p:tgtEl>
                                          <p:spTgt spid="55"/>
                                        </p:tgtEl>
                                      </p:cBhvr>
                                    </p:animEffect>
                                  </p:childTnLst>
                                </p:cTn>
                              </p:par>
                              <p:par>
                                <p:cTn id="27" presetID="10" presetClass="entr" presetSubtype="0" fill="hold" nodeType="with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fade">
                                      <p:cBhvr>
                                        <p:cTn id="29" dur="500"/>
                                        <p:tgtEl>
                                          <p:spTgt spid="57"/>
                                        </p:tgtEl>
                                      </p:cBhvr>
                                    </p:animEffect>
                                  </p:childTnLst>
                                </p:cTn>
                              </p:par>
                              <p:par>
                                <p:cTn id="30" presetID="10" presetClass="entr" presetSubtype="0" fill="hold" nodeType="with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500"/>
                                        <p:tgtEl>
                                          <p:spTgt spid="5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4"/>
                                        </p:tgtEl>
                                        <p:attrNameLst>
                                          <p:attrName>style.visibility</p:attrName>
                                        </p:attrNameLst>
                                      </p:cBhvr>
                                      <p:to>
                                        <p:strVal val="visible"/>
                                      </p:to>
                                    </p:set>
                                    <p:animEffect transition="in" filter="fade">
                                      <p:cBhvr>
                                        <p:cTn id="35" dur="500"/>
                                        <p:tgtEl>
                                          <p:spTgt spid="10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8"/>
                                        </p:tgtEl>
                                        <p:attrNameLst>
                                          <p:attrName>style.visibility</p:attrName>
                                        </p:attrNameLst>
                                      </p:cBhvr>
                                      <p:to>
                                        <p:strVal val="visible"/>
                                      </p:to>
                                    </p:set>
                                    <p:animEffect transition="in" filter="fade">
                                      <p:cBhvr>
                                        <p:cTn id="38"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66" grpId="0"/>
      <p:bldP spid="138" grpId="0"/>
      <p:bldP spid="10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B6572-76CF-4A3F-B6AB-3D41E95F04D0}"/>
              </a:ext>
            </a:extLst>
          </p:cNvPr>
          <p:cNvSpPr>
            <a:spLocks noGrp="1"/>
          </p:cNvSpPr>
          <p:nvPr>
            <p:ph type="title"/>
          </p:nvPr>
        </p:nvSpPr>
        <p:spPr/>
        <p:txBody>
          <a:bodyPr/>
          <a:lstStyle/>
          <a:p>
            <a:r>
              <a:rPr lang="en-IE" dirty="0"/>
              <a:t>1. Physical Media Characteristics</a:t>
            </a:r>
          </a:p>
        </p:txBody>
      </p:sp>
      <p:sp>
        <p:nvSpPr>
          <p:cNvPr id="3" name="Content Placeholder 2">
            <a:extLst>
              <a:ext uri="{FF2B5EF4-FFF2-40B4-BE49-F238E27FC236}">
                <a16:creationId xmlns:a16="http://schemas.microsoft.com/office/drawing/2014/main" id="{36318E25-E3CC-4926-9EBE-D6AC291BCFEC}"/>
              </a:ext>
            </a:extLst>
          </p:cNvPr>
          <p:cNvSpPr>
            <a:spLocks noGrp="1"/>
          </p:cNvSpPr>
          <p:nvPr>
            <p:ph idx="1"/>
          </p:nvPr>
        </p:nvSpPr>
        <p:spPr>
          <a:xfrm>
            <a:off x="838200" y="1825625"/>
            <a:ext cx="6362700" cy="4351338"/>
          </a:xfrm>
        </p:spPr>
        <p:txBody>
          <a:bodyPr>
            <a:normAutofit lnSpcReduction="10000"/>
          </a:bodyPr>
          <a:lstStyle/>
          <a:p>
            <a:r>
              <a:rPr lang="en-IE" dirty="0"/>
              <a:t>NICs/cables </a:t>
            </a:r>
            <a:r>
              <a:rPr lang="en-US" dirty="0">
                <a:solidFill>
                  <a:srgbClr val="000000"/>
                </a:solidFill>
              </a:rPr>
              <a:t>are specified in standards associated with the physical layer.</a:t>
            </a:r>
            <a:endParaRPr lang="en-IE" dirty="0"/>
          </a:p>
          <a:p>
            <a:pPr fontAlgn="base"/>
            <a:r>
              <a:rPr lang="en-GB" b="1" dirty="0" err="1"/>
              <a:t>Signaling</a:t>
            </a:r>
            <a:r>
              <a:rPr lang="en-GB" b="1" dirty="0"/>
              <a:t>:</a:t>
            </a:r>
          </a:p>
          <a:p>
            <a:pPr lvl="1" fontAlgn="base"/>
            <a:r>
              <a:rPr lang="en-GB" dirty="0"/>
              <a:t> the method (voltage, current, RF, light) used to represent binary values on the wire.</a:t>
            </a:r>
          </a:p>
          <a:p>
            <a:pPr fontAlgn="base"/>
            <a:r>
              <a:rPr lang="en-GB" b="1" dirty="0"/>
              <a:t>Encoding: </a:t>
            </a:r>
            <a:r>
              <a:rPr lang="en-GB" dirty="0"/>
              <a:t>is how the 1s and 0s will be represented. </a:t>
            </a:r>
          </a:p>
          <a:p>
            <a:pPr lvl="1" fontAlgn="base"/>
            <a:r>
              <a:rPr lang="en-GB" b="1" dirty="0"/>
              <a:t>Example:</a:t>
            </a:r>
            <a:r>
              <a:rPr lang="en-GB" dirty="0"/>
              <a:t> Manchester encoding: A “0” is represented by a high to low voltage transition and a “1” is represented as a low to high voltage transition.</a:t>
            </a:r>
            <a:endParaRPr lang="en-IE" dirty="0"/>
          </a:p>
        </p:txBody>
      </p:sp>
      <p:pic>
        <p:nvPicPr>
          <p:cNvPr id="4" name="Picture 3">
            <a:extLst>
              <a:ext uri="{FF2B5EF4-FFF2-40B4-BE49-F238E27FC236}">
                <a16:creationId xmlns:a16="http://schemas.microsoft.com/office/drawing/2014/main" id="{0FA7A397-7313-4362-9020-D9BC1F8AB356}"/>
              </a:ext>
            </a:extLst>
          </p:cNvPr>
          <p:cNvPicPr>
            <a:picLocks noChangeAspect="1"/>
          </p:cNvPicPr>
          <p:nvPr/>
        </p:nvPicPr>
        <p:blipFill>
          <a:blip r:embed="rId3"/>
          <a:stretch>
            <a:fillRect/>
          </a:stretch>
        </p:blipFill>
        <p:spPr>
          <a:xfrm>
            <a:off x="7062546" y="2335697"/>
            <a:ext cx="4291254" cy="3084449"/>
          </a:xfrm>
          <a:prstGeom prst="rect">
            <a:avLst/>
          </a:prstGeom>
        </p:spPr>
      </p:pic>
    </p:spTree>
    <p:extLst>
      <p:ext uri="{BB962C8B-B14F-4D97-AF65-F5344CB8AC3E}">
        <p14:creationId xmlns:p14="http://schemas.microsoft.com/office/powerpoint/2010/main" val="419794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9FFE-61C0-41EE-94ED-9592763074AB}"/>
              </a:ext>
            </a:extLst>
          </p:cNvPr>
          <p:cNvSpPr>
            <a:spLocks noGrp="1"/>
          </p:cNvSpPr>
          <p:nvPr>
            <p:ph type="title"/>
          </p:nvPr>
        </p:nvSpPr>
        <p:spPr>
          <a:xfrm>
            <a:off x="904877" y="795527"/>
            <a:ext cx="10488547" cy="1190912"/>
          </a:xfrm>
        </p:spPr>
        <p:txBody>
          <a:bodyPr>
            <a:normAutofit/>
          </a:bodyPr>
          <a:lstStyle/>
          <a:p>
            <a:pPr algn="ctr"/>
            <a:r>
              <a:rPr lang="en-IE" sz="4000" dirty="0"/>
              <a:t>1. Physical Media: Bandwidth, Throughput, Latency</a:t>
            </a:r>
          </a:p>
        </p:txBody>
      </p:sp>
      <p:pic>
        <p:nvPicPr>
          <p:cNvPr id="4" name="Picture 3">
            <a:extLst>
              <a:ext uri="{FF2B5EF4-FFF2-40B4-BE49-F238E27FC236}">
                <a16:creationId xmlns:a16="http://schemas.microsoft.com/office/drawing/2014/main" id="{C5C306CE-59C2-46AF-8E35-962284213580}"/>
              </a:ext>
            </a:extLst>
          </p:cNvPr>
          <p:cNvPicPr>
            <a:picLocks noChangeAspect="1"/>
          </p:cNvPicPr>
          <p:nvPr/>
        </p:nvPicPr>
        <p:blipFill rotWithShape="1">
          <a:blip r:embed="rId3"/>
          <a:srcRect l="7327" r="5351" b="-1"/>
          <a:stretch/>
        </p:blipFill>
        <p:spPr>
          <a:xfrm>
            <a:off x="1103257" y="3367455"/>
            <a:ext cx="4626864" cy="1443888"/>
          </a:xfrm>
          <a:prstGeom prst="rect">
            <a:avLst/>
          </a:prstGeom>
          <a:ln w="12700">
            <a:noFill/>
          </a:ln>
        </p:spPr>
      </p:pic>
      <p:sp>
        <p:nvSpPr>
          <p:cNvPr id="3" name="Content Placeholder 2">
            <a:extLst>
              <a:ext uri="{FF2B5EF4-FFF2-40B4-BE49-F238E27FC236}">
                <a16:creationId xmlns:a16="http://schemas.microsoft.com/office/drawing/2014/main" id="{2067B4B5-7F44-422E-9588-0C1F431F5DAF}"/>
              </a:ext>
            </a:extLst>
          </p:cNvPr>
          <p:cNvSpPr>
            <a:spLocks noGrp="1"/>
          </p:cNvSpPr>
          <p:nvPr>
            <p:ph idx="1"/>
          </p:nvPr>
        </p:nvSpPr>
        <p:spPr>
          <a:xfrm>
            <a:off x="6380703" y="2228850"/>
            <a:ext cx="5028928" cy="3699669"/>
          </a:xfrm>
        </p:spPr>
        <p:txBody>
          <a:bodyPr anchor="ctr">
            <a:normAutofit fontScale="92500" lnSpcReduction="20000"/>
          </a:bodyPr>
          <a:lstStyle/>
          <a:p>
            <a:pPr marL="0" indent="0">
              <a:buClr>
                <a:srgbClr val="05739B"/>
              </a:buClr>
              <a:buNone/>
            </a:pPr>
            <a:r>
              <a:rPr lang="en-US" sz="1800" i="1" dirty="0"/>
              <a:t>“Never underestimate the bandwidth of a station wagon full of tapes hurtling down the highway” – </a:t>
            </a:r>
            <a:r>
              <a:rPr lang="en-US" sz="1800" dirty="0"/>
              <a:t>Andrew Tanenbaum, 1981.</a:t>
            </a:r>
          </a:p>
          <a:p>
            <a:pPr>
              <a:buClr>
                <a:srgbClr val="05739B"/>
              </a:buClr>
            </a:pPr>
            <a:r>
              <a:rPr lang="en-US" sz="1800" dirty="0"/>
              <a:t>Bandwidth is the max data carrying capacity</a:t>
            </a:r>
          </a:p>
          <a:p>
            <a:pPr lvl="1">
              <a:buClr>
                <a:srgbClr val="05739B"/>
              </a:buClr>
            </a:pPr>
            <a:r>
              <a:rPr lang="en-IE" sz="1400" dirty="0"/>
              <a:t>Remember last lab: </a:t>
            </a:r>
            <a:r>
              <a:rPr lang="en-US" sz="1400" dirty="0"/>
              <a:t>how many bits can be transmitted in a second.</a:t>
            </a:r>
          </a:p>
          <a:p>
            <a:pPr>
              <a:buClr>
                <a:srgbClr val="05739B"/>
              </a:buClr>
            </a:pPr>
            <a:r>
              <a:rPr lang="en-US" sz="1800" dirty="0"/>
              <a:t>Terminology:</a:t>
            </a:r>
          </a:p>
          <a:p>
            <a:pPr lvl="1">
              <a:buClr>
                <a:srgbClr val="05739B"/>
              </a:buClr>
            </a:pPr>
            <a:r>
              <a:rPr lang="en-US" sz="1800" dirty="0"/>
              <a:t>Latency: The time, including delays, for data to travel from one point to another.</a:t>
            </a:r>
          </a:p>
          <a:p>
            <a:pPr lvl="1">
              <a:buClr>
                <a:srgbClr val="05739B"/>
              </a:buClr>
            </a:pPr>
            <a:r>
              <a:rPr lang="en-US" sz="1800" dirty="0"/>
              <a:t>Throughput: actual measure of transfer of bits across media in given time. </a:t>
            </a:r>
            <a:endParaRPr lang="en-IE" sz="1800" dirty="0"/>
          </a:p>
          <a:p>
            <a:pPr lvl="1">
              <a:buClr>
                <a:srgbClr val="05739B"/>
              </a:buClr>
            </a:pPr>
            <a:r>
              <a:rPr lang="en-IE" sz="1800" dirty="0"/>
              <a:t>Throughput is lower than Bandwidth</a:t>
            </a:r>
          </a:p>
          <a:p>
            <a:pPr>
              <a:buClr>
                <a:srgbClr val="05739B"/>
              </a:buClr>
            </a:pPr>
            <a:r>
              <a:rPr lang="en-IE" sz="2200" dirty="0"/>
              <a:t>Sending data via FedEx, theoretically, has better bandwidth than the internet</a:t>
            </a:r>
          </a:p>
          <a:p>
            <a:pPr lvl="1">
              <a:buClr>
                <a:srgbClr val="05739B"/>
              </a:buClr>
            </a:pPr>
            <a:r>
              <a:rPr lang="en-IE" sz="1400" b="0" i="0" dirty="0">
                <a:solidFill>
                  <a:srgbClr val="000000"/>
                </a:solidFill>
                <a:effectLst/>
                <a:latin typeface="Georgia" panose="02040502050405020303" pitchFamily="18" charset="0"/>
              </a:rPr>
              <a:t>However, 80,000,000-millisecond ping times (</a:t>
            </a:r>
            <a:r>
              <a:rPr lang="en-IE" sz="1400" b="1" i="0" dirty="0">
                <a:solidFill>
                  <a:srgbClr val="000000"/>
                </a:solidFill>
                <a:effectLst/>
                <a:latin typeface="Georgia" panose="02040502050405020303" pitchFamily="18" charset="0"/>
              </a:rPr>
              <a:t>https://what-if.xkcd.com/31/)</a:t>
            </a:r>
            <a:endParaRPr lang="en-US" sz="1800" b="1" dirty="0"/>
          </a:p>
        </p:txBody>
      </p:sp>
    </p:spTree>
    <p:extLst>
      <p:ext uri="{BB962C8B-B14F-4D97-AF65-F5344CB8AC3E}">
        <p14:creationId xmlns:p14="http://schemas.microsoft.com/office/powerpoint/2010/main" val="59275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C1FA4-3A58-40A0-A98A-1FF7D0E1A588}"/>
              </a:ext>
            </a:extLst>
          </p:cNvPr>
          <p:cNvSpPr>
            <a:spLocks noGrp="1"/>
          </p:cNvSpPr>
          <p:nvPr>
            <p:ph type="title"/>
          </p:nvPr>
        </p:nvSpPr>
        <p:spPr/>
        <p:txBody>
          <a:bodyPr/>
          <a:lstStyle/>
          <a:p>
            <a:r>
              <a:rPr lang="en-IE" dirty="0"/>
              <a:t>1. Physical Media: Copper Cabling</a:t>
            </a:r>
          </a:p>
        </p:txBody>
      </p:sp>
      <p:pic>
        <p:nvPicPr>
          <p:cNvPr id="5" name="Content Placeholder 4" descr="A close up of a device&#10;&#10;Description automatically generated">
            <a:extLst>
              <a:ext uri="{FF2B5EF4-FFF2-40B4-BE49-F238E27FC236}">
                <a16:creationId xmlns:a16="http://schemas.microsoft.com/office/drawing/2014/main" id="{AF215BBD-FE65-4559-B559-2A29B97E3FFB}"/>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87023" y="2501012"/>
            <a:ext cx="2085975" cy="1704975"/>
          </a:xfrm>
        </p:spPr>
      </p:pic>
      <p:sp>
        <p:nvSpPr>
          <p:cNvPr id="6" name="TextBox 5">
            <a:extLst>
              <a:ext uri="{FF2B5EF4-FFF2-40B4-BE49-F238E27FC236}">
                <a16:creationId xmlns:a16="http://schemas.microsoft.com/office/drawing/2014/main" id="{99C06398-8959-4B66-99B8-A057EF0E1BC7}"/>
              </a:ext>
            </a:extLst>
          </p:cNvPr>
          <p:cNvSpPr txBox="1"/>
          <p:nvPr/>
        </p:nvSpPr>
        <p:spPr>
          <a:xfrm>
            <a:off x="1177299" y="4647433"/>
            <a:ext cx="2085975" cy="230832"/>
          </a:xfrm>
          <a:prstGeom prst="rect">
            <a:avLst/>
          </a:prstGeom>
          <a:noFill/>
        </p:spPr>
        <p:txBody>
          <a:bodyPr wrap="square" rtlCol="0">
            <a:spAutoFit/>
          </a:bodyPr>
          <a:lstStyle/>
          <a:p>
            <a:r>
              <a:rPr lang="en-IE" sz="900" dirty="0"/>
              <a:t>Unshielded  Twisted-Pair (UTP) </a:t>
            </a:r>
          </a:p>
        </p:txBody>
      </p:sp>
      <p:pic>
        <p:nvPicPr>
          <p:cNvPr id="8" name="Picture 7" descr="A close up of a knife&#10;&#10;Description automatically generated">
            <a:extLst>
              <a:ext uri="{FF2B5EF4-FFF2-40B4-BE49-F238E27FC236}">
                <a16:creationId xmlns:a16="http://schemas.microsoft.com/office/drawing/2014/main" id="{F81AF448-4449-4F31-A33A-1590FC532029}"/>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362844" y="2210817"/>
            <a:ext cx="3875146" cy="1925448"/>
          </a:xfrm>
          <a:prstGeom prst="rect">
            <a:avLst/>
          </a:prstGeom>
        </p:spPr>
      </p:pic>
      <p:sp>
        <p:nvSpPr>
          <p:cNvPr id="9" name="TextBox 8">
            <a:extLst>
              <a:ext uri="{FF2B5EF4-FFF2-40B4-BE49-F238E27FC236}">
                <a16:creationId xmlns:a16="http://schemas.microsoft.com/office/drawing/2014/main" id="{79669475-9591-414D-9319-4C691362E508}"/>
              </a:ext>
            </a:extLst>
          </p:cNvPr>
          <p:cNvSpPr txBox="1"/>
          <p:nvPr/>
        </p:nvSpPr>
        <p:spPr>
          <a:xfrm>
            <a:off x="5906419" y="3993024"/>
            <a:ext cx="3875146" cy="230832"/>
          </a:xfrm>
          <a:prstGeom prst="rect">
            <a:avLst/>
          </a:prstGeom>
          <a:noFill/>
        </p:spPr>
        <p:txBody>
          <a:bodyPr wrap="square" rtlCol="0">
            <a:spAutoFit/>
          </a:bodyPr>
          <a:lstStyle/>
          <a:p>
            <a:r>
              <a:rPr lang="en-IE" sz="900" dirty="0"/>
              <a:t>Shielded Twisted Pair (STP) </a:t>
            </a:r>
          </a:p>
        </p:txBody>
      </p:sp>
      <p:pic>
        <p:nvPicPr>
          <p:cNvPr id="12" name="Picture 11" descr="A close up of a tool&#10;&#10;Description automatically generated">
            <a:extLst>
              <a:ext uri="{FF2B5EF4-FFF2-40B4-BE49-F238E27FC236}">
                <a16:creationId xmlns:a16="http://schemas.microsoft.com/office/drawing/2014/main" id="{3943C578-FF48-4C8F-82E7-9DE2D59C2484}"/>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928728" y="2652852"/>
            <a:ext cx="2794000" cy="2336800"/>
          </a:xfrm>
          <a:prstGeom prst="rect">
            <a:avLst/>
          </a:prstGeom>
        </p:spPr>
      </p:pic>
      <p:sp>
        <p:nvSpPr>
          <p:cNvPr id="13" name="TextBox 12">
            <a:extLst>
              <a:ext uri="{FF2B5EF4-FFF2-40B4-BE49-F238E27FC236}">
                <a16:creationId xmlns:a16="http://schemas.microsoft.com/office/drawing/2014/main" id="{41DF394E-642F-43F4-A000-88A0A6253345}"/>
              </a:ext>
            </a:extLst>
          </p:cNvPr>
          <p:cNvSpPr txBox="1"/>
          <p:nvPr/>
        </p:nvSpPr>
        <p:spPr>
          <a:xfrm>
            <a:off x="9059885" y="5141718"/>
            <a:ext cx="2794000" cy="230832"/>
          </a:xfrm>
          <a:prstGeom prst="rect">
            <a:avLst/>
          </a:prstGeom>
          <a:noFill/>
        </p:spPr>
        <p:txBody>
          <a:bodyPr wrap="square" rtlCol="0">
            <a:spAutoFit/>
          </a:bodyPr>
          <a:lstStyle/>
          <a:p>
            <a:r>
              <a:rPr lang="en-IE" sz="900" dirty="0"/>
              <a:t>Coaxial Cable</a:t>
            </a:r>
          </a:p>
        </p:txBody>
      </p:sp>
    </p:spTree>
    <p:extLst>
      <p:ext uri="{BB962C8B-B14F-4D97-AF65-F5344CB8AC3E}">
        <p14:creationId xmlns:p14="http://schemas.microsoft.com/office/powerpoint/2010/main" val="2404247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7CBC6-A834-4EED-8933-2063D97AFB74}"/>
              </a:ext>
            </a:extLst>
          </p:cNvPr>
          <p:cNvSpPr>
            <a:spLocks noGrp="1"/>
          </p:cNvSpPr>
          <p:nvPr>
            <p:ph type="title"/>
          </p:nvPr>
        </p:nvSpPr>
        <p:spPr>
          <a:xfrm>
            <a:off x="841248" y="251312"/>
            <a:ext cx="10506456" cy="1010264"/>
          </a:xfrm>
        </p:spPr>
        <p:txBody>
          <a:bodyPr vert="horz" lIns="91440" tIns="45720" rIns="91440" bIns="45720" rtlCol="0" anchor="ctr">
            <a:normAutofit/>
          </a:bodyPr>
          <a:lstStyle/>
          <a:p>
            <a:r>
              <a:rPr lang="en-US" kern="1200" dirty="0">
                <a:solidFill>
                  <a:schemeClr val="tx1"/>
                </a:solidFill>
                <a:latin typeface="+mj-lt"/>
                <a:ea typeface="+mj-ea"/>
                <a:cs typeface="+mj-cs"/>
              </a:rPr>
              <a:t>2. Data Link Layer: Main Purpose</a:t>
            </a:r>
          </a:p>
        </p:txBody>
      </p:sp>
      <p:graphicFrame>
        <p:nvGraphicFramePr>
          <p:cNvPr id="5" name="Content Placeholder 2">
            <a:extLst>
              <a:ext uri="{FF2B5EF4-FFF2-40B4-BE49-F238E27FC236}">
                <a16:creationId xmlns:a16="http://schemas.microsoft.com/office/drawing/2014/main" id="{E94D2BE2-9D43-4BB6-8A94-E2CE0B4C981B}"/>
              </a:ext>
            </a:extLst>
          </p:cNvPr>
          <p:cNvGraphicFramePr>
            <a:graphicFrameLocks noGrp="1"/>
          </p:cNvGraphicFramePr>
          <p:nvPr>
            <p:ph sz="half" idx="1"/>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060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463BE-0C89-40D8-B77A-82C6690F45AF}"/>
              </a:ext>
            </a:extLst>
          </p:cNvPr>
          <p:cNvSpPr>
            <a:spLocks noGrp="1"/>
          </p:cNvSpPr>
          <p:nvPr>
            <p:ph type="title"/>
          </p:nvPr>
        </p:nvSpPr>
        <p:spPr>
          <a:xfrm>
            <a:off x="648929" y="629266"/>
            <a:ext cx="3505495" cy="1622321"/>
          </a:xfrm>
        </p:spPr>
        <p:txBody>
          <a:bodyPr vert="horz" lIns="91440" tIns="45720" rIns="91440" bIns="45720" rtlCol="0" anchor="ctr">
            <a:normAutofit fontScale="90000"/>
          </a:bodyPr>
          <a:lstStyle/>
          <a:p>
            <a:r>
              <a:rPr lang="en-US" sz="4100" kern="1200" dirty="0">
                <a:solidFill>
                  <a:schemeClr val="tx1"/>
                </a:solidFill>
                <a:latin typeface="+mj-lt"/>
                <a:ea typeface="+mj-ea"/>
                <a:cs typeface="+mj-cs"/>
              </a:rPr>
              <a:t>2. Data Link Layer: Standards</a:t>
            </a:r>
          </a:p>
        </p:txBody>
      </p:sp>
      <p:sp>
        <p:nvSpPr>
          <p:cNvPr id="3" name="Content Placeholder 2">
            <a:extLst>
              <a:ext uri="{FF2B5EF4-FFF2-40B4-BE49-F238E27FC236}">
                <a16:creationId xmlns:a16="http://schemas.microsoft.com/office/drawing/2014/main" id="{07968829-68BC-4106-9ACA-E94FF1CBD581}"/>
              </a:ext>
            </a:extLst>
          </p:cNvPr>
          <p:cNvSpPr>
            <a:spLocks noGrp="1"/>
          </p:cNvSpPr>
          <p:nvPr>
            <p:ph sz="half" idx="1"/>
          </p:nvPr>
        </p:nvSpPr>
        <p:spPr>
          <a:xfrm>
            <a:off x="648931" y="2438400"/>
            <a:ext cx="3505494" cy="3785419"/>
          </a:xfrm>
        </p:spPr>
        <p:txBody>
          <a:bodyPr vert="horz" lIns="91440" tIns="45720" rIns="91440" bIns="45720" rtlCol="0">
            <a:normAutofit/>
          </a:bodyPr>
          <a:lstStyle/>
          <a:p>
            <a:r>
              <a:rPr lang="en-US" sz="1700" dirty="0"/>
              <a:t>The Data Link Layer has two sublayers. </a:t>
            </a:r>
            <a:r>
              <a:rPr lang="en-US" sz="1700" b="1" dirty="0"/>
              <a:t>Logical Link Control (LLC)</a:t>
            </a:r>
            <a:r>
              <a:rPr lang="en-US" sz="1700" dirty="0"/>
              <a:t> and </a:t>
            </a:r>
            <a:r>
              <a:rPr lang="en-US" sz="1700" b="1" dirty="0"/>
              <a:t>Media Access Control (MAC).</a:t>
            </a:r>
          </a:p>
          <a:p>
            <a:pPr marL="489010" lvl="2"/>
            <a:r>
              <a:rPr lang="en-US" sz="1700" dirty="0"/>
              <a:t>The LLC sublayer communicates between the networking software at the upper layers and the device hardware at the lower layers.</a:t>
            </a:r>
          </a:p>
          <a:p>
            <a:pPr marL="489010" lvl="2"/>
            <a:r>
              <a:rPr lang="en-US" sz="1700" dirty="0"/>
              <a:t>The MAC sublayer is responsible for data encapsulation and media access control.</a:t>
            </a:r>
          </a:p>
          <a:p>
            <a:pPr lvl="1"/>
            <a:endParaRPr lang="en-US" sz="1700" b="1" dirty="0"/>
          </a:p>
          <a:p>
            <a:endParaRPr lang="en-US" sz="1700" dirty="0"/>
          </a:p>
        </p:txBody>
      </p:sp>
      <p:pic>
        <p:nvPicPr>
          <p:cNvPr id="5" name="Content Placeholder 4">
            <a:extLst>
              <a:ext uri="{FF2B5EF4-FFF2-40B4-BE49-F238E27FC236}">
                <a16:creationId xmlns:a16="http://schemas.microsoft.com/office/drawing/2014/main" id="{76DA15A2-C3F2-4828-A919-BEE0D23038FC}"/>
              </a:ext>
            </a:extLst>
          </p:cNvPr>
          <p:cNvPicPr>
            <a:picLocks noGrp="1" noChangeAspect="1"/>
          </p:cNvPicPr>
          <p:nvPr>
            <p:ph sz="half" idx="2"/>
          </p:nvPr>
        </p:nvPicPr>
        <p:blipFill>
          <a:blip r:embed="rId2"/>
          <a:stretch>
            <a:fillRect/>
          </a:stretch>
        </p:blipFill>
        <p:spPr>
          <a:xfrm>
            <a:off x="5405862" y="1019645"/>
            <a:ext cx="6019331" cy="4815463"/>
          </a:xfrm>
          <a:prstGeom prst="rect">
            <a:avLst/>
          </a:prstGeom>
          <a:effectLst/>
        </p:spPr>
      </p:pic>
    </p:spTree>
    <p:extLst>
      <p:ext uri="{BB962C8B-B14F-4D97-AF65-F5344CB8AC3E}">
        <p14:creationId xmlns:p14="http://schemas.microsoft.com/office/powerpoint/2010/main" val="110612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5651-6796-490B-B885-2F825F334A6C}"/>
              </a:ext>
            </a:extLst>
          </p:cNvPr>
          <p:cNvSpPr>
            <a:spLocks noGrp="1"/>
          </p:cNvSpPr>
          <p:nvPr>
            <p:ph type="title"/>
          </p:nvPr>
        </p:nvSpPr>
        <p:spPr/>
        <p:txBody>
          <a:bodyPr/>
          <a:lstStyle/>
          <a:p>
            <a:r>
              <a:rPr lang="en-IE" dirty="0"/>
              <a:t>2. Data Link Layer: Access to Physical Media</a:t>
            </a:r>
          </a:p>
        </p:txBody>
      </p:sp>
      <p:sp>
        <p:nvSpPr>
          <p:cNvPr id="3" name="Content Placeholder 2">
            <a:extLst>
              <a:ext uri="{FF2B5EF4-FFF2-40B4-BE49-F238E27FC236}">
                <a16:creationId xmlns:a16="http://schemas.microsoft.com/office/drawing/2014/main" id="{83B785CE-3BC6-4801-982A-89B10A174D75}"/>
              </a:ext>
            </a:extLst>
          </p:cNvPr>
          <p:cNvSpPr>
            <a:spLocks noGrp="1"/>
          </p:cNvSpPr>
          <p:nvPr>
            <p:ph idx="1"/>
          </p:nvPr>
        </p:nvSpPr>
        <p:spPr>
          <a:xfrm>
            <a:off x="838201" y="1825625"/>
            <a:ext cx="7775712" cy="4351338"/>
          </a:xfrm>
        </p:spPr>
        <p:txBody>
          <a:bodyPr>
            <a:normAutofit lnSpcReduction="10000"/>
          </a:bodyPr>
          <a:lstStyle/>
          <a:p>
            <a:r>
              <a:rPr lang="en-IE" dirty="0"/>
              <a:t>Communication between nodes might experience many Data Link Layers and Media Types</a:t>
            </a:r>
          </a:p>
          <a:p>
            <a:pPr lvl="1"/>
            <a:r>
              <a:rPr lang="en-IE" dirty="0"/>
              <a:t>For example, </a:t>
            </a:r>
            <a:r>
              <a:rPr lang="en-IE" dirty="0" err="1"/>
              <a:t>Wifi</a:t>
            </a:r>
            <a:r>
              <a:rPr lang="en-IE" dirty="0"/>
              <a:t> to Ethernet</a:t>
            </a:r>
          </a:p>
          <a:p>
            <a:r>
              <a:rPr lang="en-IE" dirty="0"/>
              <a:t>Each “hop”, a router will carry out the following functions:</a:t>
            </a:r>
          </a:p>
          <a:p>
            <a:pPr marL="914400" lvl="1" indent="-457200">
              <a:buFont typeface="+mj-lt"/>
              <a:buAutoNum type="arabicPeriod"/>
            </a:pPr>
            <a:r>
              <a:rPr lang="en-US" sz="2400" dirty="0">
                <a:solidFill>
                  <a:srgbClr val="000000"/>
                </a:solidFill>
              </a:rPr>
              <a:t>Accepts a frame from the network medium</a:t>
            </a:r>
          </a:p>
          <a:p>
            <a:pPr marL="914400" lvl="1" indent="-457200">
              <a:buFont typeface="+mj-lt"/>
              <a:buAutoNum type="arabicPeriod"/>
            </a:pPr>
            <a:r>
              <a:rPr lang="en-US" sz="2400" dirty="0">
                <a:solidFill>
                  <a:srgbClr val="000000"/>
                </a:solidFill>
              </a:rPr>
              <a:t>De-encapsulates the frame to expose the encapsulated packet</a:t>
            </a:r>
            <a:endParaRPr lang="en-US" dirty="0">
              <a:solidFill>
                <a:srgbClr val="000000"/>
              </a:solidFill>
            </a:endParaRPr>
          </a:p>
          <a:p>
            <a:pPr marL="914400" lvl="1" indent="-457200">
              <a:buFont typeface="+mj-lt"/>
              <a:buAutoNum type="arabicPeriod"/>
            </a:pPr>
            <a:r>
              <a:rPr lang="en-US" sz="2400" dirty="0">
                <a:solidFill>
                  <a:srgbClr val="000000"/>
                </a:solidFill>
              </a:rPr>
              <a:t>Re-encapsulates the packet into a new frame</a:t>
            </a:r>
          </a:p>
          <a:p>
            <a:pPr marL="914400" lvl="1" indent="-457200">
              <a:buFont typeface="+mj-lt"/>
              <a:buAutoNum type="arabicPeriod"/>
            </a:pPr>
            <a:r>
              <a:rPr lang="en-US" sz="2400" dirty="0">
                <a:solidFill>
                  <a:srgbClr val="000000"/>
                </a:solidFill>
              </a:rPr>
              <a:t>Forwards the new frame on the medium of the next network segment</a:t>
            </a:r>
            <a:endParaRPr lang="en-IE" dirty="0"/>
          </a:p>
        </p:txBody>
      </p:sp>
    </p:spTree>
    <p:extLst>
      <p:ext uri="{BB962C8B-B14F-4D97-AF65-F5344CB8AC3E}">
        <p14:creationId xmlns:p14="http://schemas.microsoft.com/office/powerpoint/2010/main" val="301688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Shape 1032">
            <a:extLst>
              <a:ext uri="{FF2B5EF4-FFF2-40B4-BE49-F238E27FC236}">
                <a16:creationId xmlns:a16="http://schemas.microsoft.com/office/drawing/2014/main" id="{627FF48C-AF46-4D52-998F-ED0BDDEEF2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9000"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B257E75-95DA-4581-99F3-221253EF1E1F}"/>
              </a:ext>
            </a:extLst>
          </p:cNvPr>
          <p:cNvSpPr>
            <a:spLocks noGrp="1"/>
          </p:cNvSpPr>
          <p:nvPr>
            <p:ph type="title"/>
          </p:nvPr>
        </p:nvSpPr>
        <p:spPr>
          <a:xfrm>
            <a:off x="1137034" y="609599"/>
            <a:ext cx="5338194" cy="1322888"/>
          </a:xfrm>
        </p:spPr>
        <p:txBody>
          <a:bodyPr>
            <a:normAutofit/>
          </a:bodyPr>
          <a:lstStyle/>
          <a:p>
            <a:r>
              <a:rPr lang="en-IE"/>
              <a:t>2. Data Link Layer: Topologies</a:t>
            </a:r>
            <a:endParaRPr lang="en-IE" dirty="0"/>
          </a:p>
        </p:txBody>
      </p:sp>
      <p:sp>
        <p:nvSpPr>
          <p:cNvPr id="3" name="Content Placeholder 2">
            <a:extLst>
              <a:ext uri="{FF2B5EF4-FFF2-40B4-BE49-F238E27FC236}">
                <a16:creationId xmlns:a16="http://schemas.microsoft.com/office/drawing/2014/main" id="{0B12C865-4E1A-49E5-B0D5-7E6C3AAB0327}"/>
              </a:ext>
            </a:extLst>
          </p:cNvPr>
          <p:cNvSpPr>
            <a:spLocks noGrp="1"/>
          </p:cNvSpPr>
          <p:nvPr>
            <p:ph idx="1"/>
          </p:nvPr>
        </p:nvSpPr>
        <p:spPr>
          <a:xfrm>
            <a:off x="1137034" y="2194101"/>
            <a:ext cx="4742771" cy="3983415"/>
          </a:xfrm>
        </p:spPr>
        <p:txBody>
          <a:bodyPr>
            <a:normAutofit/>
          </a:bodyPr>
          <a:lstStyle/>
          <a:p>
            <a:r>
              <a:rPr lang="en-IE" sz="2000"/>
              <a:t>Recap: Network Topology is the arrangement and relationship of nodes and the interconnection between them:</a:t>
            </a:r>
          </a:p>
          <a:p>
            <a:r>
              <a:rPr lang="en-IE" sz="2000" b="1"/>
              <a:t>Physical Topology: </a:t>
            </a:r>
            <a:r>
              <a:rPr lang="en-IE" sz="2000"/>
              <a:t>illustrates physical connections</a:t>
            </a:r>
          </a:p>
          <a:p>
            <a:r>
              <a:rPr lang="en-IE" sz="2000" b="1"/>
              <a:t>Logical topology: </a:t>
            </a:r>
            <a:r>
              <a:rPr lang="en-IE" sz="2000"/>
              <a:t>virtual connections and specifies interfaces and addressing schemes</a:t>
            </a:r>
          </a:p>
        </p:txBody>
      </p:sp>
      <p:pic>
        <p:nvPicPr>
          <p:cNvPr id="1026" name="Picture 2" descr="PPT - Chapter 3: Planning a Network Upgrade PowerPoint Presentation ...">
            <a:extLst>
              <a:ext uri="{FF2B5EF4-FFF2-40B4-BE49-F238E27FC236}">
                <a16:creationId xmlns:a16="http://schemas.microsoft.com/office/drawing/2014/main" id="{8BF68A2A-449D-601E-EB1A-22301D48129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877" t="22547" r="5691" b="9931"/>
          <a:stretch/>
        </p:blipFill>
        <p:spPr bwMode="auto">
          <a:xfrm>
            <a:off x="7612913" y="1161842"/>
            <a:ext cx="3740887" cy="211830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6883A846-3FAC-42CF-DC2D-6AB264465FCB}"/>
              </a:ext>
            </a:extLst>
          </p:cNvPr>
          <p:cNvPicPr>
            <a:picLocks noChangeAspect="1"/>
          </p:cNvPicPr>
          <p:nvPr/>
        </p:nvPicPr>
        <p:blipFill>
          <a:blip r:embed="rId3"/>
          <a:stretch>
            <a:fillRect/>
          </a:stretch>
        </p:blipFill>
        <p:spPr>
          <a:xfrm>
            <a:off x="7724011" y="3601878"/>
            <a:ext cx="3518689" cy="2445489"/>
          </a:xfrm>
          <a:prstGeom prst="rect">
            <a:avLst/>
          </a:prstGeom>
        </p:spPr>
      </p:pic>
    </p:spTree>
    <p:extLst>
      <p:ext uri="{BB962C8B-B14F-4D97-AF65-F5344CB8AC3E}">
        <p14:creationId xmlns:p14="http://schemas.microsoft.com/office/powerpoint/2010/main" val="788998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E8C16-45C2-4885-AC07-032A2AE41506}"/>
              </a:ext>
            </a:extLst>
          </p:cNvPr>
          <p:cNvSpPr>
            <a:spLocks noGrp="1"/>
          </p:cNvSpPr>
          <p:nvPr>
            <p:ph type="title"/>
          </p:nvPr>
        </p:nvSpPr>
        <p:spPr/>
        <p:txBody>
          <a:bodyPr/>
          <a:lstStyle/>
          <a:p>
            <a:r>
              <a:rPr lang="en-IE" dirty="0"/>
              <a:t>2. Data Link Layer: WAN Topologies</a:t>
            </a:r>
          </a:p>
        </p:txBody>
      </p:sp>
      <p:sp>
        <p:nvSpPr>
          <p:cNvPr id="3" name="Content Placeholder 2">
            <a:extLst>
              <a:ext uri="{FF2B5EF4-FFF2-40B4-BE49-F238E27FC236}">
                <a16:creationId xmlns:a16="http://schemas.microsoft.com/office/drawing/2014/main" id="{FE16B255-E939-44D1-8318-8790A70A061B}"/>
              </a:ext>
            </a:extLst>
          </p:cNvPr>
          <p:cNvSpPr>
            <a:spLocks noGrp="1"/>
          </p:cNvSpPr>
          <p:nvPr>
            <p:ph idx="1"/>
          </p:nvPr>
        </p:nvSpPr>
        <p:spPr/>
        <p:txBody>
          <a:bodyPr/>
          <a:lstStyle/>
          <a:p>
            <a:r>
              <a:rPr lang="en-IE" dirty="0"/>
              <a:t>Common WAN topologies are: Point to Point, Hub and Spoke and Mesh</a:t>
            </a:r>
          </a:p>
          <a:p>
            <a:r>
              <a:rPr lang="en-IE" dirty="0"/>
              <a:t>Point to point:</a:t>
            </a:r>
          </a:p>
          <a:p>
            <a:pPr lvl="1"/>
            <a:r>
              <a:rPr lang="en-US" dirty="0">
                <a:solidFill>
                  <a:srgbClr val="000000"/>
                </a:solidFill>
              </a:rPr>
              <a:t>directly connect two nodes</a:t>
            </a:r>
            <a:endParaRPr lang="en-IE" dirty="0">
              <a:solidFill>
                <a:srgbClr val="000000"/>
              </a:solidFill>
            </a:endParaRPr>
          </a:p>
          <a:p>
            <a:pPr lvl="1"/>
            <a:r>
              <a:rPr lang="en-US" dirty="0">
                <a:solidFill>
                  <a:srgbClr val="000000"/>
                </a:solidFill>
              </a:rPr>
              <a:t>nodes may not share the media with other hosts (means P2P protocols are simple)</a:t>
            </a:r>
          </a:p>
          <a:p>
            <a:pPr lvl="1"/>
            <a:endParaRPr lang="en-IE" dirty="0"/>
          </a:p>
        </p:txBody>
      </p:sp>
      <p:pic>
        <p:nvPicPr>
          <p:cNvPr id="5" name="Picture 4" descr="A screenshot of a cell phone&#10;&#10;Description automatically generated">
            <a:extLst>
              <a:ext uri="{FF2B5EF4-FFF2-40B4-BE49-F238E27FC236}">
                <a16:creationId xmlns:a16="http://schemas.microsoft.com/office/drawing/2014/main" id="{74C11F07-6384-480D-9A45-402F99196D5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721129" y="4311872"/>
            <a:ext cx="5934553" cy="1965339"/>
          </a:xfrm>
          <a:prstGeom prst="rect">
            <a:avLst/>
          </a:prstGeom>
        </p:spPr>
      </p:pic>
      <p:sp>
        <p:nvSpPr>
          <p:cNvPr id="6" name="TextBox 5">
            <a:extLst>
              <a:ext uri="{FF2B5EF4-FFF2-40B4-BE49-F238E27FC236}">
                <a16:creationId xmlns:a16="http://schemas.microsoft.com/office/drawing/2014/main" id="{46A86A3A-FFA3-42E5-A695-0FB003C9C689}"/>
              </a:ext>
            </a:extLst>
          </p:cNvPr>
          <p:cNvSpPr txBox="1"/>
          <p:nvPr/>
        </p:nvSpPr>
        <p:spPr>
          <a:xfrm>
            <a:off x="3769344" y="6377459"/>
            <a:ext cx="4400550" cy="230832"/>
          </a:xfrm>
          <a:prstGeom prst="rect">
            <a:avLst/>
          </a:prstGeom>
          <a:noFill/>
        </p:spPr>
        <p:txBody>
          <a:bodyPr wrap="square" rtlCol="0">
            <a:spAutoFit/>
          </a:bodyPr>
          <a:lstStyle/>
          <a:p>
            <a:r>
              <a:rPr lang="en-IE" sz="900" dirty="0">
                <a:hlinkClick r:id="rId3" tooltip="https://docs.linuxinator.com/index.php/Networking_OSI-2:TCP-IP_network_access_layer_-_data-link"/>
              </a:rPr>
              <a:t>This Photo</a:t>
            </a:r>
            <a:r>
              <a:rPr lang="en-IE" sz="900" dirty="0"/>
              <a:t> by Unknown Author is licensed under </a:t>
            </a:r>
            <a:r>
              <a:rPr lang="en-IE" sz="900" dirty="0">
                <a:hlinkClick r:id="rId4" tooltip="https://creativecommons.org/licenses/by-sa/3.0/"/>
              </a:rPr>
              <a:t>CC BY-SA</a:t>
            </a:r>
            <a:endParaRPr lang="en-IE" sz="900" dirty="0"/>
          </a:p>
        </p:txBody>
      </p:sp>
    </p:spTree>
    <p:extLst>
      <p:ext uri="{BB962C8B-B14F-4D97-AF65-F5344CB8AC3E}">
        <p14:creationId xmlns:p14="http://schemas.microsoft.com/office/powerpoint/2010/main" val="1279173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31444E-8305-43AA-BEF8-083CE8C7ECD1}"/>
              </a:ext>
            </a:extLst>
          </p:cNvPr>
          <p:cNvSpPr>
            <a:spLocks noGrp="1"/>
          </p:cNvSpPr>
          <p:nvPr>
            <p:ph type="title"/>
          </p:nvPr>
        </p:nvSpPr>
        <p:spPr>
          <a:xfrm>
            <a:off x="630936" y="639520"/>
            <a:ext cx="3429000" cy="1719072"/>
          </a:xfrm>
        </p:spPr>
        <p:txBody>
          <a:bodyPr anchor="b">
            <a:normAutofit/>
          </a:bodyPr>
          <a:lstStyle/>
          <a:p>
            <a:r>
              <a:rPr lang="en-IE" sz="3800"/>
              <a:t>2. Data Link Layer: LAN Topologies</a:t>
            </a: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D288954-E93B-4195-8CA2-09799468B4F6}"/>
              </a:ext>
            </a:extLst>
          </p:cNvPr>
          <p:cNvSpPr>
            <a:spLocks noGrp="1"/>
          </p:cNvSpPr>
          <p:nvPr>
            <p:ph idx="1"/>
          </p:nvPr>
        </p:nvSpPr>
        <p:spPr>
          <a:xfrm>
            <a:off x="630936" y="2807208"/>
            <a:ext cx="3429000" cy="3410712"/>
          </a:xfrm>
        </p:spPr>
        <p:txBody>
          <a:bodyPr anchor="t">
            <a:normAutofit/>
          </a:bodyPr>
          <a:lstStyle/>
          <a:p>
            <a:r>
              <a:rPr lang="en-IE" sz="2200" dirty="0"/>
              <a:t>End devices on LANs typically use star/extended stat topology. </a:t>
            </a:r>
          </a:p>
          <a:p>
            <a:pPr lvl="1"/>
            <a:r>
              <a:rPr lang="en-IE" sz="2200" dirty="0"/>
              <a:t>Generally  easy to scale and troubleshoot.</a:t>
            </a:r>
          </a:p>
        </p:txBody>
      </p:sp>
      <p:pic>
        <p:nvPicPr>
          <p:cNvPr id="10" name="Picture 9">
            <a:extLst>
              <a:ext uri="{FF2B5EF4-FFF2-40B4-BE49-F238E27FC236}">
                <a16:creationId xmlns:a16="http://schemas.microsoft.com/office/drawing/2014/main" id="{0E4AD92B-466D-4259-A0AB-DFDFB68012A3}"/>
              </a:ext>
            </a:extLst>
          </p:cNvPr>
          <p:cNvPicPr>
            <a:picLocks noChangeAspect="1"/>
          </p:cNvPicPr>
          <p:nvPr/>
        </p:nvPicPr>
        <p:blipFill>
          <a:blip r:embed="rId2"/>
          <a:stretch>
            <a:fillRect/>
          </a:stretch>
        </p:blipFill>
        <p:spPr>
          <a:xfrm>
            <a:off x="4815395" y="640080"/>
            <a:ext cx="6581521" cy="5577840"/>
          </a:xfrm>
          <a:prstGeom prst="rect">
            <a:avLst/>
          </a:prstGeom>
        </p:spPr>
      </p:pic>
    </p:spTree>
    <p:extLst>
      <p:ext uri="{BB962C8B-B14F-4D97-AF65-F5344CB8AC3E}">
        <p14:creationId xmlns:p14="http://schemas.microsoft.com/office/powerpoint/2010/main" val="178563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58E10-7799-4CAA-9384-F638E6117ECD}"/>
              </a:ext>
            </a:extLst>
          </p:cNvPr>
          <p:cNvSpPr>
            <a:spLocks noGrp="1"/>
          </p:cNvSpPr>
          <p:nvPr>
            <p:ph type="title"/>
          </p:nvPr>
        </p:nvSpPr>
        <p:spPr/>
        <p:txBody>
          <a:bodyPr/>
          <a:lstStyle/>
          <a:p>
            <a:r>
              <a:rPr lang="en-IE" dirty="0"/>
              <a:t>Data Link Frame</a:t>
            </a:r>
          </a:p>
        </p:txBody>
      </p:sp>
      <p:sp>
        <p:nvSpPr>
          <p:cNvPr id="3" name="Text Placeholder 2">
            <a:extLst>
              <a:ext uri="{FF2B5EF4-FFF2-40B4-BE49-F238E27FC236}">
                <a16:creationId xmlns:a16="http://schemas.microsoft.com/office/drawing/2014/main" id="{3E754484-311D-405B-A023-F5D357A799E8}"/>
              </a:ext>
            </a:extLst>
          </p:cNvPr>
          <p:cNvSpPr>
            <a:spLocks noGrp="1"/>
          </p:cNvSpPr>
          <p:nvPr>
            <p:ph type="body" idx="1"/>
          </p:nvPr>
        </p:nvSpPr>
        <p:spPr/>
        <p:txBody>
          <a:bodyPr/>
          <a:lstStyle/>
          <a:p>
            <a:endParaRPr lang="en-IE"/>
          </a:p>
        </p:txBody>
      </p:sp>
    </p:spTree>
    <p:extLst>
      <p:ext uri="{BB962C8B-B14F-4D97-AF65-F5344CB8AC3E}">
        <p14:creationId xmlns:p14="http://schemas.microsoft.com/office/powerpoint/2010/main" val="3049424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4676A-4081-45ED-A6AD-278602C673F4}"/>
              </a:ext>
            </a:extLst>
          </p:cNvPr>
          <p:cNvSpPr>
            <a:spLocks noGrp="1"/>
          </p:cNvSpPr>
          <p:nvPr>
            <p:ph type="title"/>
          </p:nvPr>
        </p:nvSpPr>
        <p:spPr/>
        <p:txBody>
          <a:bodyPr/>
          <a:lstStyle/>
          <a:p>
            <a:r>
              <a:rPr lang="en-IE" dirty="0"/>
              <a:t>Data Link Layer: Frame Fields:</a:t>
            </a:r>
          </a:p>
        </p:txBody>
      </p:sp>
      <p:pic>
        <p:nvPicPr>
          <p:cNvPr id="7" name="Content Placeholder 6">
            <a:extLst>
              <a:ext uri="{FF2B5EF4-FFF2-40B4-BE49-F238E27FC236}">
                <a16:creationId xmlns:a16="http://schemas.microsoft.com/office/drawing/2014/main" id="{357C9F22-59F2-4147-AEBE-95DDEE5EF8C8}"/>
              </a:ext>
            </a:extLst>
          </p:cNvPr>
          <p:cNvPicPr>
            <a:picLocks noGrp="1" noChangeAspect="1"/>
          </p:cNvPicPr>
          <p:nvPr>
            <p:ph idx="1"/>
          </p:nvPr>
        </p:nvPicPr>
        <p:blipFill>
          <a:blip r:embed="rId2"/>
          <a:stretch>
            <a:fillRect/>
          </a:stretch>
        </p:blipFill>
        <p:spPr>
          <a:xfrm>
            <a:off x="2389901" y="1398129"/>
            <a:ext cx="7143750" cy="2505075"/>
          </a:xfrm>
          <a:prstGeom prst="rect">
            <a:avLst/>
          </a:prstGeom>
        </p:spPr>
      </p:pic>
    </p:spTree>
    <p:extLst>
      <p:ext uri="{BB962C8B-B14F-4D97-AF65-F5344CB8AC3E}">
        <p14:creationId xmlns:p14="http://schemas.microsoft.com/office/powerpoint/2010/main" val="903292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6B85F-A644-4EF1-A835-A70D67EDC14D}"/>
              </a:ext>
            </a:extLst>
          </p:cNvPr>
          <p:cNvSpPr>
            <a:spLocks noGrp="1"/>
          </p:cNvSpPr>
          <p:nvPr>
            <p:ph type="title"/>
          </p:nvPr>
        </p:nvSpPr>
        <p:spPr/>
        <p:txBody>
          <a:bodyPr/>
          <a:lstStyle/>
          <a:p>
            <a:r>
              <a:rPr lang="en-IE" dirty="0"/>
              <a:t>Data Link Layer: Addresses</a:t>
            </a:r>
          </a:p>
        </p:txBody>
      </p:sp>
      <p:sp>
        <p:nvSpPr>
          <p:cNvPr id="3" name="Content Placeholder 2">
            <a:extLst>
              <a:ext uri="{FF2B5EF4-FFF2-40B4-BE49-F238E27FC236}">
                <a16:creationId xmlns:a16="http://schemas.microsoft.com/office/drawing/2014/main" id="{DE84B0C0-4E02-4B1E-AE86-E4C8C81F0B41}"/>
              </a:ext>
            </a:extLst>
          </p:cNvPr>
          <p:cNvSpPr>
            <a:spLocks noGrp="1"/>
          </p:cNvSpPr>
          <p:nvPr>
            <p:ph idx="1"/>
          </p:nvPr>
        </p:nvSpPr>
        <p:spPr>
          <a:xfrm>
            <a:off x="703976" y="1389397"/>
            <a:ext cx="10515600" cy="4351338"/>
          </a:xfrm>
        </p:spPr>
        <p:txBody>
          <a:bodyPr/>
          <a:lstStyle/>
          <a:p>
            <a:pPr marL="342900" indent="-342900" algn="l">
              <a:buFont typeface="Arial" panose="020B0604020202020204" pitchFamily="34" charset="0"/>
              <a:buChar char="•"/>
            </a:pPr>
            <a:r>
              <a:rPr lang="en-US" sz="2800" dirty="0">
                <a:solidFill>
                  <a:srgbClr val="000000"/>
                </a:solidFill>
              </a:rPr>
              <a:t>Also referred to as a physical address or MAC address.</a:t>
            </a:r>
          </a:p>
          <a:p>
            <a:pPr marL="342900" indent="-342900" algn="l">
              <a:buFont typeface="Arial" panose="020B0604020202020204" pitchFamily="34" charset="0"/>
              <a:buChar char="•"/>
            </a:pPr>
            <a:r>
              <a:rPr lang="en-US" sz="2800" dirty="0">
                <a:solidFill>
                  <a:srgbClr val="000000"/>
                </a:solidFill>
              </a:rPr>
              <a:t>Contained in the frame header.</a:t>
            </a:r>
          </a:p>
          <a:p>
            <a:pPr marL="342900" indent="-342900" algn="l">
              <a:buFont typeface="Arial" panose="020B0604020202020204" pitchFamily="34" charset="0"/>
              <a:buChar char="•"/>
            </a:pPr>
            <a:r>
              <a:rPr lang="en-US" sz="2800" b="1" dirty="0">
                <a:solidFill>
                  <a:srgbClr val="000000"/>
                </a:solidFill>
              </a:rPr>
              <a:t>Used only for local delivery of a frame on the link.</a:t>
            </a:r>
          </a:p>
          <a:p>
            <a:pPr marL="342900" indent="-342900" algn="l">
              <a:buFont typeface="Arial" panose="020B0604020202020204" pitchFamily="34" charset="0"/>
              <a:buChar char="•"/>
            </a:pPr>
            <a:r>
              <a:rPr lang="en-US" sz="2800" b="1" dirty="0">
                <a:solidFill>
                  <a:srgbClr val="000000"/>
                </a:solidFill>
              </a:rPr>
              <a:t>Updated by each device that forwards the frame.</a:t>
            </a:r>
          </a:p>
          <a:p>
            <a:pPr marL="0" indent="0">
              <a:buNone/>
            </a:pPr>
            <a:endParaRPr lang="en-IE" dirty="0"/>
          </a:p>
        </p:txBody>
      </p:sp>
      <p:pic>
        <p:nvPicPr>
          <p:cNvPr id="4" name="Picture 3">
            <a:extLst>
              <a:ext uri="{FF2B5EF4-FFF2-40B4-BE49-F238E27FC236}">
                <a16:creationId xmlns:a16="http://schemas.microsoft.com/office/drawing/2014/main" id="{2A6B1452-0E13-42AD-8A20-7704A0A6A98F}"/>
              </a:ext>
            </a:extLst>
          </p:cNvPr>
          <p:cNvPicPr>
            <a:picLocks noChangeAspect="1"/>
          </p:cNvPicPr>
          <p:nvPr/>
        </p:nvPicPr>
        <p:blipFill>
          <a:blip r:embed="rId2"/>
          <a:stretch>
            <a:fillRect/>
          </a:stretch>
        </p:blipFill>
        <p:spPr>
          <a:xfrm>
            <a:off x="2386402" y="3454152"/>
            <a:ext cx="6562429" cy="3238182"/>
          </a:xfrm>
          <a:prstGeom prst="rect">
            <a:avLst/>
          </a:prstGeom>
        </p:spPr>
      </p:pic>
    </p:spTree>
    <p:extLst>
      <p:ext uri="{BB962C8B-B14F-4D97-AF65-F5344CB8AC3E}">
        <p14:creationId xmlns:p14="http://schemas.microsoft.com/office/powerpoint/2010/main" val="2556582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ble, connector, blue&#10;&#10;Description automatically generated">
            <a:extLst>
              <a:ext uri="{FF2B5EF4-FFF2-40B4-BE49-F238E27FC236}">
                <a16:creationId xmlns:a16="http://schemas.microsoft.com/office/drawing/2014/main" id="{46AEA5C9-A30D-4B7F-A57A-B2075CCFC8D3}"/>
              </a:ext>
            </a:extLst>
          </p:cNvPr>
          <p:cNvPicPr>
            <a:picLocks noChangeAspect="1"/>
          </p:cNvPicPr>
          <p:nvPr/>
        </p:nvPicPr>
        <p:blipFill rotWithShape="1">
          <a:blip r:embed="rId2">
            <a:alphaModFix amt="5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13127"/>
          <a:stretch/>
        </p:blipFill>
        <p:spPr>
          <a:xfrm>
            <a:off x="20" y="1"/>
            <a:ext cx="12191980" cy="6857999"/>
          </a:xfrm>
          <a:prstGeom prst="rect">
            <a:avLst/>
          </a:prstGeom>
        </p:spPr>
      </p:pic>
      <p:sp>
        <p:nvSpPr>
          <p:cNvPr id="2" name="Title 1">
            <a:extLst>
              <a:ext uri="{FF2B5EF4-FFF2-40B4-BE49-F238E27FC236}">
                <a16:creationId xmlns:a16="http://schemas.microsoft.com/office/drawing/2014/main" id="{BFD0F5B0-9F34-4E00-AC26-554470670371}"/>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Ethernet</a:t>
            </a:r>
          </a:p>
        </p:txBody>
      </p:sp>
      <p:sp>
        <p:nvSpPr>
          <p:cNvPr id="3" name="Text Placeholder 2">
            <a:extLst>
              <a:ext uri="{FF2B5EF4-FFF2-40B4-BE49-F238E27FC236}">
                <a16:creationId xmlns:a16="http://schemas.microsoft.com/office/drawing/2014/main" id="{D9F00C80-D901-4684-BE72-79529DB28AE4}"/>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US" dirty="0">
                <a:solidFill>
                  <a:schemeClr val="tx1"/>
                </a:solidFill>
              </a:rPr>
              <a:t>ETHERNET</a:t>
            </a:r>
          </a:p>
        </p:txBody>
      </p:sp>
      <p:sp>
        <p:nvSpPr>
          <p:cNvPr id="6" name="TextBox 5">
            <a:extLst>
              <a:ext uri="{FF2B5EF4-FFF2-40B4-BE49-F238E27FC236}">
                <a16:creationId xmlns:a16="http://schemas.microsoft.com/office/drawing/2014/main" id="{1F8DE5EB-C7A0-45B9-BB4C-2991557BAAB8}"/>
              </a:ext>
            </a:extLst>
          </p:cNvPr>
          <p:cNvSpPr txBox="1"/>
          <p:nvPr/>
        </p:nvSpPr>
        <p:spPr>
          <a:xfrm>
            <a:off x="9884958" y="6657945"/>
            <a:ext cx="2307042"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superuser.com/questions/1024548/plug-an-ethernet-cable-into-this-computer-with-no-connections-are-available">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extLst>
      <p:ext uri="{BB962C8B-B14F-4D97-AF65-F5344CB8AC3E}">
        <p14:creationId xmlns:p14="http://schemas.microsoft.com/office/powerpoint/2010/main" val="187515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E5F4-9025-438A-B4BC-250FD4C71DC2}"/>
              </a:ext>
            </a:extLst>
          </p:cNvPr>
          <p:cNvSpPr>
            <a:spLocks noGrp="1"/>
          </p:cNvSpPr>
          <p:nvPr>
            <p:ph type="title"/>
          </p:nvPr>
        </p:nvSpPr>
        <p:spPr/>
        <p:txBody>
          <a:bodyPr/>
          <a:lstStyle/>
          <a:p>
            <a:r>
              <a:rPr lang="en-IE" dirty="0"/>
              <a:t>Ethernet: Characteristics</a:t>
            </a:r>
          </a:p>
        </p:txBody>
      </p:sp>
      <p:sp>
        <p:nvSpPr>
          <p:cNvPr id="3" name="Content Placeholder 2">
            <a:extLst>
              <a:ext uri="{FF2B5EF4-FFF2-40B4-BE49-F238E27FC236}">
                <a16:creationId xmlns:a16="http://schemas.microsoft.com/office/drawing/2014/main" id="{CE4702E0-851A-46C4-A370-E2714D82CD1B}"/>
              </a:ext>
            </a:extLst>
          </p:cNvPr>
          <p:cNvSpPr>
            <a:spLocks noGrp="1"/>
          </p:cNvSpPr>
          <p:nvPr>
            <p:ph idx="1"/>
          </p:nvPr>
        </p:nvSpPr>
        <p:spPr>
          <a:xfrm>
            <a:off x="838201" y="1825625"/>
            <a:ext cx="5780714" cy="4351338"/>
          </a:xfrm>
        </p:spPr>
        <p:txBody>
          <a:bodyPr vert="horz" lIns="91440" tIns="45720" rIns="91440" bIns="45720" rtlCol="0" anchor="t">
            <a:normAutofit fontScale="85000" lnSpcReduction="10000"/>
          </a:bodyPr>
          <a:lstStyle/>
          <a:p>
            <a:r>
              <a:rPr lang="en-IE" dirty="0"/>
              <a:t>Operates across Data Link/physical layer</a:t>
            </a:r>
          </a:p>
          <a:p>
            <a:r>
              <a:rPr lang="en-IE" dirty="0"/>
              <a:t>Provides the following that pure physical layers do not:</a:t>
            </a:r>
          </a:p>
          <a:p>
            <a:pPr lvl="1"/>
            <a:r>
              <a:rPr lang="en-IE" dirty="0"/>
              <a:t>Connects to upper layers (i.e. network)</a:t>
            </a:r>
          </a:p>
          <a:p>
            <a:pPr lvl="1"/>
            <a:r>
              <a:rPr lang="en-IE" dirty="0"/>
              <a:t>Provides mechanism to recognise devices</a:t>
            </a:r>
          </a:p>
          <a:p>
            <a:pPr lvl="1"/>
            <a:r>
              <a:rPr lang="en-IE" dirty="0"/>
              <a:t>Organises bits into frames</a:t>
            </a:r>
          </a:p>
          <a:p>
            <a:r>
              <a:rPr lang="en-IE" dirty="0"/>
              <a:t>Provides encapsulation into “Frames”</a:t>
            </a:r>
          </a:p>
          <a:p>
            <a:r>
              <a:rPr lang="en-IE" dirty="0"/>
              <a:t>Ethernet Provides Media Access Control</a:t>
            </a:r>
            <a:endParaRPr lang="en-IE" dirty="0">
              <a:cs typeface="Calibri"/>
            </a:endParaRPr>
          </a:p>
          <a:p>
            <a:pPr lvl="1"/>
            <a:r>
              <a:rPr lang="en-IE" dirty="0"/>
              <a:t>Placement and removal of frames onto media</a:t>
            </a:r>
          </a:p>
          <a:p>
            <a:pPr lvl="1"/>
            <a:r>
              <a:rPr lang="en-IE" dirty="0"/>
              <a:t>Media access control for ethernet is CSMA/CD</a:t>
            </a:r>
          </a:p>
          <a:p>
            <a:pPr lvl="2"/>
            <a:r>
              <a:rPr lang="en-IE" dirty="0"/>
              <a:t>All devices on network segment share media</a:t>
            </a:r>
          </a:p>
          <a:p>
            <a:pPr lvl="2"/>
            <a:r>
              <a:rPr lang="en-IE" dirty="0"/>
              <a:t>All devices receive all frames transmitted on network </a:t>
            </a:r>
          </a:p>
        </p:txBody>
      </p:sp>
      <p:pic>
        <p:nvPicPr>
          <p:cNvPr id="5" name="Picture 4">
            <a:extLst>
              <a:ext uri="{FF2B5EF4-FFF2-40B4-BE49-F238E27FC236}">
                <a16:creationId xmlns:a16="http://schemas.microsoft.com/office/drawing/2014/main" id="{3576F804-1856-4589-BFF6-BD1CAE323B63}"/>
              </a:ext>
            </a:extLst>
          </p:cNvPr>
          <p:cNvPicPr>
            <a:picLocks noChangeAspect="1"/>
          </p:cNvPicPr>
          <p:nvPr/>
        </p:nvPicPr>
        <p:blipFill>
          <a:blip r:embed="rId2"/>
          <a:stretch>
            <a:fillRect/>
          </a:stretch>
        </p:blipFill>
        <p:spPr>
          <a:xfrm>
            <a:off x="6502656" y="1925579"/>
            <a:ext cx="5931815" cy="3686655"/>
          </a:xfrm>
          <a:prstGeom prst="rect">
            <a:avLst/>
          </a:prstGeom>
        </p:spPr>
      </p:pic>
    </p:spTree>
    <p:extLst>
      <p:ext uri="{BB962C8B-B14F-4D97-AF65-F5344CB8AC3E}">
        <p14:creationId xmlns:p14="http://schemas.microsoft.com/office/powerpoint/2010/main" val="1732276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10">
            <a:extLst>
              <a:ext uri="{FF2B5EF4-FFF2-40B4-BE49-F238E27FC236}">
                <a16:creationId xmlns:a16="http://schemas.microsoft.com/office/drawing/2014/main" id="{1283D38B-6625-41E2-9068-08D7379147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7730" y="687123"/>
            <a:ext cx="7494661" cy="5489840"/>
          </a:xfrm>
          <a:prstGeom prst="rect">
            <a:avLst/>
          </a:prstGeom>
        </p:spPr>
      </p:pic>
      <p:sp>
        <p:nvSpPr>
          <p:cNvPr id="2" name="Title 1">
            <a:extLst>
              <a:ext uri="{FF2B5EF4-FFF2-40B4-BE49-F238E27FC236}">
                <a16:creationId xmlns:a16="http://schemas.microsoft.com/office/drawing/2014/main" id="{286D77B5-82BE-438F-8286-0A425CEF9558}"/>
              </a:ext>
            </a:extLst>
          </p:cNvPr>
          <p:cNvSpPr>
            <a:spLocks noGrp="1"/>
          </p:cNvSpPr>
          <p:nvPr>
            <p:ph type="title"/>
          </p:nvPr>
        </p:nvSpPr>
        <p:spPr/>
        <p:txBody>
          <a:bodyPr/>
          <a:lstStyle/>
          <a:p>
            <a:r>
              <a:rPr lang="en-IE" dirty="0"/>
              <a:t>Ethernet: CSMA/CD</a:t>
            </a:r>
          </a:p>
        </p:txBody>
      </p:sp>
      <p:sp>
        <p:nvSpPr>
          <p:cNvPr id="3" name="Content Placeholder 2">
            <a:extLst>
              <a:ext uri="{FF2B5EF4-FFF2-40B4-BE49-F238E27FC236}">
                <a16:creationId xmlns:a16="http://schemas.microsoft.com/office/drawing/2014/main" id="{D0181B02-B959-4717-A4A9-C0EE1DC42E78}"/>
              </a:ext>
            </a:extLst>
          </p:cNvPr>
          <p:cNvSpPr>
            <a:spLocks noGrp="1"/>
          </p:cNvSpPr>
          <p:nvPr>
            <p:ph idx="1"/>
          </p:nvPr>
        </p:nvSpPr>
        <p:spPr>
          <a:xfrm>
            <a:off x="838200" y="1825625"/>
            <a:ext cx="6703503" cy="4351338"/>
          </a:xfrm>
        </p:spPr>
        <p:txBody>
          <a:bodyPr>
            <a:normAutofit/>
          </a:bodyPr>
          <a:lstStyle/>
          <a:p>
            <a:r>
              <a:rPr lang="en-US" dirty="0">
                <a:solidFill>
                  <a:srgbClr val="000000"/>
                </a:solidFill>
              </a:rPr>
              <a:t>Some older</a:t>
            </a:r>
            <a:r>
              <a:rPr lang="en-US" sz="2800" dirty="0">
                <a:solidFill>
                  <a:srgbClr val="000000"/>
                </a:solidFill>
              </a:rPr>
              <a:t> Ethernet networks use a bus topology or hubs</a:t>
            </a:r>
            <a:r>
              <a:rPr lang="en-US" dirty="0">
                <a:solidFill>
                  <a:srgbClr val="000000"/>
                </a:solidFill>
              </a:rPr>
              <a:t>. </a:t>
            </a:r>
            <a:r>
              <a:rPr lang="en-US" sz="2800" dirty="0">
                <a:solidFill>
                  <a:srgbClr val="000000"/>
                </a:solidFill>
              </a:rPr>
              <a:t>In </a:t>
            </a:r>
            <a:r>
              <a:rPr lang="en-US" dirty="0">
                <a:solidFill>
                  <a:srgbClr val="000000"/>
                </a:solidFill>
              </a:rPr>
              <a:t>shared medium, </a:t>
            </a:r>
            <a:r>
              <a:rPr lang="en-US" sz="2800" dirty="0">
                <a:solidFill>
                  <a:srgbClr val="000000"/>
                </a:solidFill>
              </a:rPr>
              <a:t>uses a contention-based access method, carrier sense multiple access/collision detection (CSMA/CD). </a:t>
            </a:r>
          </a:p>
          <a:p>
            <a:r>
              <a:rPr lang="en-US" sz="2800" dirty="0">
                <a:solidFill>
                  <a:srgbClr val="000000"/>
                </a:solidFill>
              </a:rPr>
              <a:t>Ethernet LANs of today use switches that operate in full-duplex. Full-duplex communications with Ethernet switches do not require access control through CSMA/CD.</a:t>
            </a:r>
          </a:p>
          <a:p>
            <a:endParaRPr lang="en-IE" dirty="0"/>
          </a:p>
        </p:txBody>
      </p:sp>
    </p:spTree>
    <p:extLst>
      <p:ext uri="{BB962C8B-B14F-4D97-AF65-F5344CB8AC3E}">
        <p14:creationId xmlns:p14="http://schemas.microsoft.com/office/powerpoint/2010/main" val="3055026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1B2AA-2323-40DC-9089-F1F50B976323}"/>
              </a:ext>
            </a:extLst>
          </p:cNvPr>
          <p:cNvSpPr>
            <a:spLocks noGrp="1"/>
          </p:cNvSpPr>
          <p:nvPr>
            <p:ph type="title"/>
          </p:nvPr>
        </p:nvSpPr>
        <p:spPr>
          <a:xfrm>
            <a:off x="6094105" y="802955"/>
            <a:ext cx="4977976" cy="1454051"/>
          </a:xfrm>
        </p:spPr>
        <p:txBody>
          <a:bodyPr>
            <a:normAutofit/>
          </a:bodyPr>
          <a:lstStyle/>
          <a:p>
            <a:r>
              <a:rPr lang="en-IE" dirty="0">
                <a:solidFill>
                  <a:srgbClr val="000000"/>
                </a:solidFill>
              </a:rPr>
              <a:t>Ethernet Collision Detection</a:t>
            </a:r>
          </a:p>
        </p:txBody>
      </p:sp>
      <p:pic>
        <p:nvPicPr>
          <p:cNvPr id="8" name="Picture 7" descr="A screen shot of a computer&#10;&#10;Description generated with very high confidence">
            <a:extLst>
              <a:ext uri="{FF2B5EF4-FFF2-40B4-BE49-F238E27FC236}">
                <a16:creationId xmlns:a16="http://schemas.microsoft.com/office/drawing/2014/main" id="{9585DAC4-B263-43B3-BFF9-1AAF97D9AED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29349" y="2185103"/>
            <a:ext cx="3661831" cy="2507993"/>
          </a:xfrm>
          <a:prstGeom prst="rect">
            <a:avLst/>
          </a:prstGeom>
        </p:spPr>
      </p:pic>
      <p:sp>
        <p:nvSpPr>
          <p:cNvPr id="3" name="Content Placeholder 2">
            <a:extLst>
              <a:ext uri="{FF2B5EF4-FFF2-40B4-BE49-F238E27FC236}">
                <a16:creationId xmlns:a16="http://schemas.microsoft.com/office/drawing/2014/main" id="{268B1763-A2C5-46DB-87DD-D8A0B89E688C}"/>
              </a:ext>
            </a:extLst>
          </p:cNvPr>
          <p:cNvSpPr>
            <a:spLocks noGrp="1"/>
          </p:cNvSpPr>
          <p:nvPr>
            <p:ph idx="1"/>
          </p:nvPr>
        </p:nvSpPr>
        <p:spPr>
          <a:xfrm>
            <a:off x="6090574" y="2421682"/>
            <a:ext cx="4977578" cy="3639289"/>
          </a:xfrm>
        </p:spPr>
        <p:txBody>
          <a:bodyPr anchor="ctr">
            <a:normAutofit/>
          </a:bodyPr>
          <a:lstStyle/>
          <a:p>
            <a:r>
              <a:rPr lang="en-IE" sz="1600" dirty="0">
                <a:solidFill>
                  <a:srgbClr val="000000"/>
                </a:solidFill>
              </a:rPr>
              <a:t>In shared media, only one device can transmit</a:t>
            </a:r>
          </a:p>
          <a:p>
            <a:r>
              <a:rPr lang="en-IE" sz="1600" dirty="0">
                <a:solidFill>
                  <a:srgbClr val="000000"/>
                </a:solidFill>
              </a:rPr>
              <a:t>More devices on network =&gt; more collisions</a:t>
            </a:r>
          </a:p>
          <a:p>
            <a:r>
              <a:rPr lang="en-IE" sz="1600" dirty="0">
                <a:solidFill>
                  <a:srgbClr val="000000"/>
                </a:solidFill>
              </a:rPr>
              <a:t>Switches reduce collisions</a:t>
            </a:r>
          </a:p>
          <a:p>
            <a:r>
              <a:rPr lang="en-IE" sz="1600" dirty="0">
                <a:solidFill>
                  <a:srgbClr val="000000"/>
                </a:solidFill>
              </a:rPr>
              <a:t>Switches isolate each port and can send a frame to its destination (if known) rather than every device</a:t>
            </a:r>
          </a:p>
          <a:p>
            <a:r>
              <a:rPr lang="en-IE" sz="1600" dirty="0">
                <a:solidFill>
                  <a:srgbClr val="000000"/>
                </a:solidFill>
              </a:rPr>
              <a:t>Often uses twisted pair cabling:</a:t>
            </a:r>
          </a:p>
          <a:p>
            <a:pPr lvl="1"/>
            <a:r>
              <a:rPr lang="en-IE" sz="1600" dirty="0">
                <a:solidFill>
                  <a:srgbClr val="000000"/>
                </a:solidFill>
              </a:rPr>
              <a:t>Allows for one pair for transmission, one for receiving.</a:t>
            </a:r>
          </a:p>
          <a:p>
            <a:r>
              <a:rPr lang="en-IE" sz="1600" dirty="0">
                <a:solidFill>
                  <a:srgbClr val="000000"/>
                </a:solidFill>
              </a:rPr>
              <a:t>The capability to do both simultaneously is called full duplex</a:t>
            </a:r>
          </a:p>
          <a:p>
            <a:pPr lvl="1"/>
            <a:r>
              <a:rPr lang="en-IE" sz="1600" dirty="0">
                <a:solidFill>
                  <a:srgbClr val="000000"/>
                </a:solidFill>
              </a:rPr>
              <a:t>No contention for media =&gt; no collision domain =&gt; No need for CSMA/CD</a:t>
            </a:r>
          </a:p>
        </p:txBody>
      </p:sp>
      <p:sp>
        <p:nvSpPr>
          <p:cNvPr id="9" name="TextBox 8">
            <a:extLst>
              <a:ext uri="{FF2B5EF4-FFF2-40B4-BE49-F238E27FC236}">
                <a16:creationId xmlns:a16="http://schemas.microsoft.com/office/drawing/2014/main" id="{0C283E6A-DC77-4E0C-AAC4-B4A8BDB2E965}"/>
              </a:ext>
            </a:extLst>
          </p:cNvPr>
          <p:cNvSpPr txBox="1"/>
          <p:nvPr/>
        </p:nvSpPr>
        <p:spPr>
          <a:xfrm>
            <a:off x="1227547" y="6398763"/>
            <a:ext cx="2307042"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hlinkClick r:id="rId3" tooltip="https://commons.wikimedia.org/wiki/file:semiduplex.png">
                  <a:extLst>
                    <a:ext uri="{A12FA001-AC4F-418D-AE19-62706E023703}">
                      <ahyp:hlinkClr xmlns:ahyp="http://schemas.microsoft.com/office/drawing/2018/hyperlinkcolor" val="tx"/>
                    </a:ext>
                  </a:extLst>
                </a:hlinkClick>
              </a:rPr>
              <a:t>This Photo</a:t>
            </a:r>
            <a:r>
              <a:rPr lang="en-IE" sz="700" dirty="0">
                <a:solidFill>
                  <a:srgbClr val="FFFFFF"/>
                </a:solidFill>
              </a:rPr>
              <a:t> by Unknown Author is licensed under </a:t>
            </a:r>
            <a:r>
              <a:rPr lang="en-IE" sz="700" dirty="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IE" sz="700" dirty="0">
              <a:solidFill>
                <a:srgbClr val="FFFFFF"/>
              </a:solidFill>
            </a:endParaRPr>
          </a:p>
        </p:txBody>
      </p:sp>
      <p:pic>
        <p:nvPicPr>
          <p:cNvPr id="1026" name="Picture 2" descr="Image result for twister pair">
            <a:extLst>
              <a:ext uri="{FF2B5EF4-FFF2-40B4-BE49-F238E27FC236}">
                <a16:creationId xmlns:a16="http://schemas.microsoft.com/office/drawing/2014/main" id="{BC402649-D1C2-444A-94E5-E34D0AFDE9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0067" y="476402"/>
            <a:ext cx="2085975" cy="1704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30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2037</TotalTime>
  <Words>1150</Words>
  <Application>Microsoft Office PowerPoint</Application>
  <PresentationFormat>Widescreen</PresentationFormat>
  <Paragraphs>115</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vt:lpstr>
      <vt:lpstr>Calibri</vt:lpstr>
      <vt:lpstr>Calibri Light</vt:lpstr>
      <vt:lpstr>Georgia</vt:lpstr>
      <vt:lpstr>guardian-text-oreilly</vt:lpstr>
      <vt:lpstr>Söhne</vt:lpstr>
      <vt:lpstr>office theme</vt:lpstr>
      <vt:lpstr>Physical/Data Link  Layer</vt:lpstr>
      <vt:lpstr>Agenda (1st Part)</vt:lpstr>
      <vt:lpstr>1. Physical Media</vt:lpstr>
      <vt:lpstr>1. Physical Media Characteristics</vt:lpstr>
      <vt:lpstr>1. Physical Media: Bandwidth, Throughput, Latency</vt:lpstr>
      <vt:lpstr>1. Physical Media: Copper Cabling</vt:lpstr>
      <vt:lpstr>2. Data Link Layer: Main Purpose</vt:lpstr>
      <vt:lpstr>2. Data Link Layer: Standards</vt:lpstr>
      <vt:lpstr>2. Data Link Layer: Access to Physical Media</vt:lpstr>
      <vt:lpstr>2. Data Link Layer: Topologies</vt:lpstr>
      <vt:lpstr>2. Data Link Layer: WAN Topologies</vt:lpstr>
      <vt:lpstr>2. Data Link Layer: LAN Topologies</vt:lpstr>
      <vt:lpstr>Data Link Frame</vt:lpstr>
      <vt:lpstr>Data Link Layer: Frame Fields:</vt:lpstr>
      <vt:lpstr>Data Link Layer: Addresses</vt:lpstr>
      <vt:lpstr>Ethernet</vt:lpstr>
      <vt:lpstr>Ethernet: Characteristics</vt:lpstr>
      <vt:lpstr>Ethernet: CSMA/CD</vt:lpstr>
      <vt:lpstr>Ethernet Collision Detection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Physical/Data Link  Layer</dc:title>
  <dc:creator>Frank X Walsh</dc:creator>
  <cp:lastModifiedBy>Mujahid Tabassum</cp:lastModifiedBy>
  <cp:revision>29</cp:revision>
  <dcterms:created xsi:type="dcterms:W3CDTF">2020-09-22T09:30:17Z</dcterms:created>
  <dcterms:modified xsi:type="dcterms:W3CDTF">2024-09-19T09:31:07Z</dcterms:modified>
</cp:coreProperties>
</file>