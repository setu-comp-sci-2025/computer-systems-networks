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371" r:id="rId2"/>
    <p:sldId id="1131" r:id="rId3"/>
    <p:sldId id="1132" r:id="rId4"/>
    <p:sldId id="259" r:id="rId5"/>
    <p:sldId id="260" r:id="rId6"/>
    <p:sldId id="1134" r:id="rId7"/>
    <p:sldId id="1138" r:id="rId8"/>
    <p:sldId id="1136" r:id="rId9"/>
    <p:sldId id="1137" r:id="rId10"/>
    <p:sldId id="1139" r:id="rId11"/>
    <p:sldId id="1148" r:id="rId12"/>
    <p:sldId id="1140" r:id="rId13"/>
    <p:sldId id="1141" r:id="rId14"/>
    <p:sldId id="1142" r:id="rId15"/>
    <p:sldId id="1143" r:id="rId16"/>
    <p:sldId id="1149" r:id="rId17"/>
    <p:sldId id="1130" r:id="rId18"/>
    <p:sldId id="1135" r:id="rId19"/>
    <p:sldId id="1146" r:id="rId20"/>
    <p:sldId id="996" r:id="rId21"/>
    <p:sldId id="1095" r:id="rId22"/>
    <p:sldId id="1096" r:id="rId23"/>
    <p:sldId id="1097" r:id="rId24"/>
    <p:sldId id="1102" r:id="rId25"/>
    <p:sldId id="1099" r:id="rId26"/>
    <p:sldId id="1100" r:id="rId27"/>
    <p:sldId id="1105" r:id="rId28"/>
    <p:sldId id="1101" r:id="rId29"/>
    <p:sldId id="1128" r:id="rId30"/>
    <p:sldId id="1127" r:id="rId31"/>
    <p:sldId id="1129" r:id="rId32"/>
    <p:sldId id="1145" r:id="rId33"/>
    <p:sldId id="114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autoAdjust="0"/>
    <p:restoredTop sz="66135" autoAdjust="0"/>
  </p:normalViewPr>
  <p:slideViewPr>
    <p:cSldViewPr snapToGrid="0">
      <p:cViewPr varScale="1">
        <p:scale>
          <a:sx n="112" d="100"/>
          <a:sy n="112" d="100"/>
        </p:scale>
        <p:origin x="76" y="47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1057AB-2EF4-4F91-A474-48A0D60D0BF4}" type="datetimeFigureOut">
              <a:rPr lang="en-IE" smtClean="0"/>
              <a:t>28/09/2022</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650DC-A9E6-4029-8E34-5572DB096263}" type="slidenum">
              <a:rPr lang="en-IE" smtClean="0"/>
              <a:t>‹#›</a:t>
            </a:fld>
            <a:endParaRPr lang="en-IE"/>
          </a:p>
        </p:txBody>
      </p:sp>
    </p:spTree>
    <p:extLst>
      <p:ext uri="{BB962C8B-B14F-4D97-AF65-F5344CB8AC3E}">
        <p14:creationId xmlns:p14="http://schemas.microsoft.com/office/powerpoint/2010/main" val="1982728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Computer_network"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en.wikipedia.org/wiki/Local_area_network"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02124"/>
                </a:solidFill>
                <a:effectLst/>
                <a:latin typeface="arial" panose="020B0604020202020204" pitchFamily="34" charset="0"/>
              </a:rPr>
              <a:t> (HTTP) is an application-layer protocol for transmitting hypermedia documents, such as HTML..</a:t>
            </a:r>
            <a:endParaRPr lang="en-GB" b="0" i="0" dirty="0">
              <a:solidFill>
                <a:srgbClr val="000000"/>
              </a:solidFill>
              <a:effectLst/>
              <a:latin typeface="arial" panose="020B0604020202020204" pitchFamily="34" charset="0"/>
            </a:endParaRPr>
          </a:p>
          <a:p>
            <a:endParaRPr lang="en-GB" b="0" i="0" dirty="0">
              <a:solidFill>
                <a:srgbClr val="000000"/>
              </a:solidFill>
              <a:effectLst/>
              <a:latin typeface="arial" panose="020B0604020202020204" pitchFamily="34" charset="0"/>
            </a:endParaRPr>
          </a:p>
          <a:p>
            <a:r>
              <a:rPr lang="en-GB" b="0" i="0" dirty="0">
                <a:solidFill>
                  <a:srgbClr val="000000"/>
                </a:solidFill>
                <a:effectLst/>
                <a:latin typeface="arial" panose="020B0604020202020204" pitchFamily="34" charset="0"/>
              </a:rPr>
              <a:t>(TCP) As each application creates a stream data to be sent to a remote application, this data must be prepared to be sent across the media in manageable pieces. The Transport layer protocols describe services that segment this data from the Application layer. This includes the encapsulation required on each piece of data. Each piece of application data requires headers to be added at the Transport layer to indicate to which communication it is associated.</a:t>
            </a:r>
          </a:p>
          <a:p>
            <a:endParaRPr lang="en-GB" b="0" i="0" dirty="0">
              <a:solidFill>
                <a:srgbClr val="000000"/>
              </a:solidFill>
              <a:effectLst/>
              <a:latin typeface="arial" panose="020B0604020202020204" pitchFamily="34" charset="0"/>
            </a:endParaRPr>
          </a:p>
          <a:p>
            <a:r>
              <a:rPr lang="en-GB" b="0" i="0" dirty="0">
                <a:solidFill>
                  <a:srgbClr val="000000"/>
                </a:solidFill>
                <a:effectLst/>
                <a:latin typeface="arial" panose="020B0604020202020204" pitchFamily="34" charset="0"/>
              </a:rPr>
              <a:t>(IP): </a:t>
            </a:r>
            <a:r>
              <a:rPr lang="en-GB" b="1" i="0" dirty="0">
                <a:solidFill>
                  <a:srgbClr val="202124"/>
                </a:solidFill>
                <a:effectLst/>
                <a:latin typeface="arial" panose="020B0604020202020204" pitchFamily="34" charset="0"/>
              </a:rPr>
              <a:t>for routing and addressing packets of data</a:t>
            </a:r>
            <a:r>
              <a:rPr lang="en-GB" b="0" i="0" dirty="0">
                <a:solidFill>
                  <a:srgbClr val="202124"/>
                </a:solidFill>
                <a:effectLst/>
                <a:latin typeface="arial" panose="020B0604020202020204" pitchFamily="34" charset="0"/>
              </a:rPr>
              <a:t> so that they can travel across networks and arrive at the correct destination</a:t>
            </a:r>
          </a:p>
          <a:p>
            <a:endParaRPr lang="en-GB" b="0" i="0" dirty="0">
              <a:solidFill>
                <a:srgbClr val="202124"/>
              </a:solidFill>
              <a:effectLst/>
              <a:latin typeface="arial" panose="020B0604020202020204" pitchFamily="34" charset="0"/>
            </a:endParaRPr>
          </a:p>
          <a:p>
            <a:r>
              <a:rPr lang="en-GB" b="0" i="0" dirty="0">
                <a:solidFill>
                  <a:srgbClr val="202124"/>
                </a:solidFill>
                <a:effectLst/>
                <a:latin typeface="arial" panose="020B0604020202020204" pitchFamily="34" charset="0"/>
              </a:rPr>
              <a:t>(Ethernet): </a:t>
            </a:r>
            <a:r>
              <a:rPr lang="en-GB" b="0" i="0" dirty="0">
                <a:solidFill>
                  <a:srgbClr val="202122"/>
                </a:solidFill>
                <a:effectLst/>
                <a:latin typeface="Arial" panose="020B0604020202020204" pitchFamily="34" charset="0"/>
              </a:rPr>
              <a:t>family of wired </a:t>
            </a:r>
            <a:r>
              <a:rPr lang="en-GB" b="0" i="0" u="none" strike="noStrike" dirty="0">
                <a:solidFill>
                  <a:srgbClr val="0645AD"/>
                </a:solidFill>
                <a:effectLst/>
                <a:latin typeface="Arial" panose="020B0604020202020204" pitchFamily="34" charset="0"/>
                <a:hlinkClick r:id="rId3" tooltip="Computer network"/>
              </a:rPr>
              <a:t>computer networking</a:t>
            </a:r>
            <a:r>
              <a:rPr lang="en-GB" b="0" i="0" dirty="0">
                <a:solidFill>
                  <a:srgbClr val="202122"/>
                </a:solidFill>
                <a:effectLst/>
                <a:latin typeface="Arial" panose="020B0604020202020204" pitchFamily="34" charset="0"/>
              </a:rPr>
              <a:t> technologies commonly used in </a:t>
            </a:r>
            <a:r>
              <a:rPr lang="en-GB" b="0" i="0" u="sng" dirty="0">
                <a:solidFill>
                  <a:srgbClr val="0645AD"/>
                </a:solidFill>
                <a:effectLst/>
                <a:latin typeface="Arial" panose="020B0604020202020204" pitchFamily="34" charset="0"/>
                <a:hlinkClick r:id="rId4"/>
              </a:rPr>
              <a:t>local area networks</a:t>
            </a:r>
            <a:r>
              <a:rPr lang="en-GB" b="0" i="0" u="sng" dirty="0">
                <a:solidFill>
                  <a:srgbClr val="0645AD"/>
                </a:solidFill>
                <a:effectLst/>
                <a:latin typeface="Arial" panose="020B0604020202020204" pitchFamily="34" charset="0"/>
              </a:rPr>
              <a:t>. Used for delivering frames from </a:t>
            </a:r>
            <a:r>
              <a:rPr lang="en-US" sz="1200" dirty="0"/>
              <a:t>one network interface card (NIC) to another NIC on the same network</a:t>
            </a:r>
            <a:endParaRPr lang="en-GB" b="1" i="0" dirty="0">
              <a:solidFill>
                <a:srgbClr val="202124"/>
              </a:solidFill>
              <a:effectLst/>
              <a:latin typeface="arial" panose="020B0604020202020204" pitchFamily="34" charset="0"/>
            </a:endParaRPr>
          </a:p>
          <a:p>
            <a:endParaRPr lang="en-GB" b="0" i="0" dirty="0">
              <a:solidFill>
                <a:srgbClr val="202124"/>
              </a:solidFill>
              <a:effectLst/>
              <a:latin typeface="arial" panose="020B0604020202020204" pitchFamily="34" charset="0"/>
            </a:endParaRPr>
          </a:p>
          <a:p>
            <a:r>
              <a:rPr lang="en-GB" b="0" i="0" dirty="0">
                <a:solidFill>
                  <a:srgbClr val="202124"/>
                </a:solidFill>
                <a:effectLst/>
                <a:latin typeface="arial" panose="020B0604020202020204" pitchFamily="34" charset="0"/>
              </a:rPr>
              <a:t>Layering the communications process means </a:t>
            </a:r>
            <a:r>
              <a:rPr lang="en-GB" b="1" i="0" dirty="0">
                <a:solidFill>
                  <a:srgbClr val="202124"/>
                </a:solidFill>
                <a:effectLst/>
                <a:latin typeface="arial" panose="020B0604020202020204" pitchFamily="34" charset="0"/>
              </a:rPr>
              <a:t>breaking down the communication process into smaller and easier to handle interdependent categories</a:t>
            </a:r>
            <a:r>
              <a:rPr lang="en-GB" b="0" i="0" dirty="0">
                <a:solidFill>
                  <a:srgbClr val="202124"/>
                </a:solidFill>
                <a:effectLst/>
                <a:latin typeface="arial" panose="020B0604020202020204" pitchFamily="34" charset="0"/>
              </a:rPr>
              <a:t>, with each solving an important and somehow distinct aspect of the data exchange process.</a:t>
            </a:r>
          </a:p>
          <a:p>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6</a:t>
            </a:fld>
            <a:endParaRPr lang="en-IE"/>
          </a:p>
        </p:txBody>
      </p:sp>
    </p:spTree>
    <p:extLst>
      <p:ext uri="{BB962C8B-B14F-4D97-AF65-F5344CB8AC3E}">
        <p14:creationId xmlns:p14="http://schemas.microsoft.com/office/powerpoint/2010/main" val="3346946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600" dirty="0"/>
              <a:t>Encapsulation is the process where protocols add their information to the data.</a:t>
            </a:r>
          </a:p>
          <a:p>
            <a:pPr>
              <a:buFont typeface="Arial" panose="020B0604020202020204" pitchFamily="34" charset="0"/>
              <a:buChar char="•"/>
            </a:pPr>
            <a:r>
              <a:rPr lang="en-US" sz="1600" dirty="0"/>
              <a:t>At each stage of the process, a PDU has a different name to reflect its new functions. </a:t>
            </a:r>
          </a:p>
          <a:p>
            <a:pPr>
              <a:buFont typeface="Arial" panose="020B0604020202020204" pitchFamily="34" charset="0"/>
              <a:buChar char="•"/>
            </a:pPr>
            <a:r>
              <a:rPr lang="en-US" sz="1600" dirty="0"/>
              <a:t>There is no universal naming convention for PDUs, in this course, the PDUs are named according to the protocols of the TCP/IP suite. </a:t>
            </a:r>
          </a:p>
          <a:p>
            <a:pPr>
              <a:buFont typeface="Arial" panose="020B0604020202020204" pitchFamily="34" charset="0"/>
              <a:buChar char="•"/>
            </a:pPr>
            <a:r>
              <a:rPr lang="en-US" sz="1600" dirty="0"/>
              <a:t>PDUs passing down the stack are as follows:</a:t>
            </a:r>
          </a:p>
          <a:p>
            <a:pPr marL="485775" lvl="1" indent="-342900">
              <a:buFont typeface="+mj-lt"/>
              <a:buAutoNum type="arabicPeriod"/>
            </a:pPr>
            <a:r>
              <a:rPr lang="en-US" sz="1600" dirty="0"/>
              <a:t>Data (Data Stream)</a:t>
            </a:r>
          </a:p>
          <a:p>
            <a:pPr marL="485775" lvl="1" indent="-342900">
              <a:buFont typeface="+mj-lt"/>
              <a:buAutoNum type="arabicPeriod"/>
            </a:pPr>
            <a:r>
              <a:rPr lang="en-US" sz="1600" dirty="0"/>
              <a:t>Segment</a:t>
            </a:r>
          </a:p>
          <a:p>
            <a:pPr marL="485775" lvl="1" indent="-342900">
              <a:buFont typeface="+mj-lt"/>
              <a:buAutoNum type="arabicPeriod"/>
            </a:pPr>
            <a:r>
              <a:rPr lang="en-US" sz="1600" dirty="0"/>
              <a:t>Packet</a:t>
            </a:r>
          </a:p>
          <a:p>
            <a:pPr marL="485775" lvl="1" indent="-342900">
              <a:buFont typeface="+mj-lt"/>
              <a:buAutoNum type="arabicPeriod"/>
            </a:pPr>
            <a:r>
              <a:rPr lang="en-US" sz="1600" dirty="0"/>
              <a:t>Frame</a:t>
            </a:r>
          </a:p>
          <a:p>
            <a:pPr marL="485775" lvl="1" indent="-342900">
              <a:buFont typeface="+mj-lt"/>
              <a:buAutoNum type="arabicPeriod"/>
            </a:pPr>
            <a:r>
              <a:rPr lang="en-US" sz="1600" dirty="0"/>
              <a:t>Bits (Bit Stream)</a:t>
            </a:r>
          </a:p>
          <a:p>
            <a:endParaRPr lang="en-IE" dirty="0"/>
          </a:p>
        </p:txBody>
      </p:sp>
      <p:sp>
        <p:nvSpPr>
          <p:cNvPr id="4" name="Slide Number Placeholder 3"/>
          <p:cNvSpPr>
            <a:spLocks noGrp="1"/>
          </p:cNvSpPr>
          <p:nvPr>
            <p:ph type="sldNum" sz="quarter" idx="5"/>
          </p:nvPr>
        </p:nvSpPr>
        <p:spPr/>
        <p:txBody>
          <a:bodyPr/>
          <a:lstStyle/>
          <a:p>
            <a:fld id="{00E90341-E123-41B7-9138-DC1D29E0C6A4}" type="slidenum">
              <a:rPr lang="en-US" smtClean="0"/>
              <a:t>7</a:t>
            </a:fld>
            <a:endParaRPr lang="en-US"/>
          </a:p>
        </p:txBody>
      </p:sp>
    </p:spTree>
    <p:extLst>
      <p:ext uri="{BB962C8B-B14F-4D97-AF65-F5344CB8AC3E}">
        <p14:creationId xmlns:p14="http://schemas.microsoft.com/office/powerpoint/2010/main" val="1356506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Next slide, working up from the bottom…</a:t>
            </a:r>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10</a:t>
            </a:fld>
            <a:endParaRPr lang="en-IE"/>
          </a:p>
        </p:txBody>
      </p:sp>
    </p:spTree>
    <p:extLst>
      <p:ext uri="{BB962C8B-B14F-4D97-AF65-F5344CB8AC3E}">
        <p14:creationId xmlns:p14="http://schemas.microsoft.com/office/powerpoint/2010/main" val="2134304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14</a:t>
            </a:fld>
            <a:endParaRPr lang="en-IE"/>
          </a:p>
        </p:txBody>
      </p:sp>
    </p:spTree>
    <p:extLst>
      <p:ext uri="{BB962C8B-B14F-4D97-AF65-F5344CB8AC3E}">
        <p14:creationId xmlns:p14="http://schemas.microsoft.com/office/powerpoint/2010/main" val="1829382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0000"/>
                </a:solidFill>
                <a:effectLst/>
                <a:latin typeface="arial" panose="020B0604020202020204" pitchFamily="34" charset="0"/>
              </a:rPr>
              <a:t>As each application creates a stream data to be sent to a remote application, this data must be prepared to be sent across the media in manageable pieces. The Transport layer protocols describe services that segment this data from the Application layer. This includes the encapsulation required on each piece of data. Each piece of application data requires headers to be added at the Transport layer to indicate to which communication it is associated.</a:t>
            </a:r>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15</a:t>
            </a:fld>
            <a:endParaRPr lang="en-IE"/>
          </a:p>
        </p:txBody>
      </p:sp>
    </p:spTree>
    <p:extLst>
      <p:ext uri="{BB962C8B-B14F-4D97-AF65-F5344CB8AC3E}">
        <p14:creationId xmlns:p14="http://schemas.microsoft.com/office/powerpoint/2010/main" val="3330147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18</a:t>
            </a:fld>
            <a:endParaRPr lang="en-IE"/>
          </a:p>
        </p:txBody>
      </p:sp>
    </p:spTree>
    <p:extLst>
      <p:ext uri="{BB962C8B-B14F-4D97-AF65-F5344CB8AC3E}">
        <p14:creationId xmlns:p14="http://schemas.microsoft.com/office/powerpoint/2010/main" val="2438468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 –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3.7.3 – </a:t>
            </a:r>
            <a:r>
              <a:rPr lang="en-US" altLang="en-US" dirty="0"/>
              <a:t>Devices on the Same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3.7.4 – </a:t>
            </a:r>
            <a:r>
              <a:rPr lang="en-US" altLang="en-US" dirty="0"/>
              <a:t>Role of the Data Link Layer Addresses: Same IP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3.7.6 – </a:t>
            </a:r>
            <a:r>
              <a:rPr lang="en-US" altLang="en-US" dirty="0"/>
              <a:t>Role of the Network Layer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4007838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9/28/2022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commons.wikimedia.org/wiki/File:IEEE_logo.svg"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creativecommons.org/licenses/by-sa/3.0/" TargetMode="External"/><Relationship Id="rId5" Type="http://schemas.openxmlformats.org/officeDocument/2006/relationships/hyperlink" Target="https://commons.wikimedia.org/wiki/File:IETF_Logo.svg"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networkengineering.stackexchange.com/questions/25592/osi-model-encapsulation" TargetMode="External"/><Relationship Id="rId2" Type="http://schemas.openxmlformats.org/officeDocument/2006/relationships/image" Target="../media/image14.gif"/><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en.wikibooks.org/wiki/Communication_Networks/NAT_and_PAT_Protocol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tackoverflow.com/questions/4756039/how-to-change-the-port-of-tomcat-from-8080-to-80"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hyperlink" Target="https://creativecommons.org/licenses/by-sa/3.0/" TargetMode="External"/><Relationship Id="rId4" Type="http://schemas.openxmlformats.org/officeDocument/2006/relationships/hyperlink" Target="https://en.wikiversity.org/wiki/Web_Science/Part1:_Foundations_of_the_web/Internet_vs_World_Wide_Web/Summary_of_the_internet_architecture"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just"/>
            <a:r>
              <a:rPr lang="en-US" dirty="0">
                <a:cs typeface="Calibri Light"/>
              </a:rPr>
              <a:t>TCP/IP Model, Encapsulation and Network Addressing</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Frank Walsh</a:t>
            </a:r>
          </a:p>
          <a:p>
            <a:r>
              <a:rPr lang="en-US" dirty="0"/>
              <a:t>Sept 2022</a:t>
            </a:r>
          </a:p>
        </p:txBody>
      </p:sp>
    </p:spTree>
    <p:extLst>
      <p:ext uri="{BB962C8B-B14F-4D97-AF65-F5344CB8AC3E}">
        <p14:creationId xmlns:p14="http://schemas.microsoft.com/office/powerpoint/2010/main" val="2679484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E9E7C26D-B6FE-4C41-9472-F9B2A4BEB931}"/>
              </a:ext>
            </a:extLst>
          </p:cNvPr>
          <p:cNvPicPr>
            <a:picLocks noChangeAspect="1"/>
          </p:cNvPicPr>
          <p:nvPr/>
        </p:nvPicPr>
        <p:blipFill rotWithShape="1">
          <a:blip r:embed="rId2"/>
          <a:srcRect r="2080" b="-2"/>
          <a:stretch/>
        </p:blipFill>
        <p:spPr>
          <a:xfrm>
            <a:off x="6090613" y="640082"/>
            <a:ext cx="5461724" cy="5577837"/>
          </a:xfrm>
          <a:prstGeom prst="rect">
            <a:avLst/>
          </a:prstGeom>
          <a:effectLst/>
        </p:spPr>
      </p:pic>
      <p:sp>
        <p:nvSpPr>
          <p:cNvPr id="2" name="Title 1">
            <a:extLst>
              <a:ext uri="{FF2B5EF4-FFF2-40B4-BE49-F238E27FC236}">
                <a16:creationId xmlns:a16="http://schemas.microsoft.com/office/drawing/2014/main" id="{83E69E85-8863-4976-A4BB-6C92FF81BA88}"/>
              </a:ext>
            </a:extLst>
          </p:cNvPr>
          <p:cNvSpPr>
            <a:spLocks noGrp="1"/>
          </p:cNvSpPr>
          <p:nvPr>
            <p:ph type="title"/>
          </p:nvPr>
        </p:nvSpPr>
        <p:spPr>
          <a:xfrm>
            <a:off x="648929" y="629266"/>
            <a:ext cx="5127031" cy="1676603"/>
          </a:xfrm>
        </p:spPr>
        <p:txBody>
          <a:bodyPr>
            <a:normAutofit/>
          </a:bodyPr>
          <a:lstStyle/>
          <a:p>
            <a:r>
              <a:rPr lang="en-US" dirty="0">
                <a:cs typeface="Calibri Light"/>
              </a:rPr>
              <a:t>Agenda(Part 1)</a:t>
            </a:r>
            <a:endParaRPr lang="en-US" dirty="0"/>
          </a:p>
        </p:txBody>
      </p:sp>
      <p:sp>
        <p:nvSpPr>
          <p:cNvPr id="3" name="Content Placeholder 2">
            <a:extLst>
              <a:ext uri="{FF2B5EF4-FFF2-40B4-BE49-F238E27FC236}">
                <a16:creationId xmlns:a16="http://schemas.microsoft.com/office/drawing/2014/main" id="{CF466A4B-95AE-44FA-97A0-F1314D93D5EA}"/>
              </a:ext>
            </a:extLst>
          </p:cNvPr>
          <p:cNvSpPr>
            <a:spLocks noGrp="1"/>
          </p:cNvSpPr>
          <p:nvPr>
            <p:ph idx="1"/>
          </p:nvPr>
        </p:nvSpPr>
        <p:spPr>
          <a:xfrm>
            <a:off x="648930" y="2438400"/>
            <a:ext cx="5127029" cy="3785419"/>
          </a:xfrm>
        </p:spPr>
        <p:txBody>
          <a:bodyPr vert="horz" lIns="91440" tIns="45720" rIns="91440" bIns="45720" rtlCol="0" anchor="t">
            <a:normAutofit/>
          </a:bodyPr>
          <a:lstStyle/>
          <a:p>
            <a:r>
              <a:rPr lang="en-US" dirty="0">
                <a:cs typeface="Calibri"/>
              </a:rPr>
              <a:t>What’s a protocol suite/stack</a:t>
            </a:r>
            <a:endParaRPr lang="en-US" dirty="0"/>
          </a:p>
          <a:p>
            <a:r>
              <a:rPr lang="en-US" dirty="0">
                <a:cs typeface="Calibri"/>
              </a:rPr>
              <a:t>TCP/IP and the benefits of “Layered Model”</a:t>
            </a:r>
          </a:p>
          <a:p>
            <a:r>
              <a:rPr lang="en-US" dirty="0">
                <a:cs typeface="Calibri"/>
              </a:rPr>
              <a:t>Data Encapsulation</a:t>
            </a:r>
            <a:endParaRPr lang="en-US" sz="2800" dirty="0">
              <a:cs typeface="Calibri"/>
            </a:endParaRPr>
          </a:p>
          <a:p>
            <a:r>
              <a:rPr lang="en-US" dirty="0">
                <a:cs typeface="Calibri"/>
              </a:rPr>
              <a:t>Accessing resources/data on a network</a:t>
            </a:r>
          </a:p>
          <a:p>
            <a:r>
              <a:rPr lang="en-US" dirty="0">
                <a:cs typeface="Calibri"/>
              </a:rPr>
              <a:t>Logical addresses and Data Link (physical) addresses</a:t>
            </a:r>
          </a:p>
          <a:p>
            <a:endParaRPr lang="en-US" dirty="0">
              <a:cs typeface="Calibri"/>
            </a:endParaRPr>
          </a:p>
        </p:txBody>
      </p:sp>
    </p:spTree>
    <p:extLst>
      <p:ext uri="{BB962C8B-B14F-4D97-AF65-F5344CB8AC3E}">
        <p14:creationId xmlns:p14="http://schemas.microsoft.com/office/powerpoint/2010/main" val="407494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8EC89-37CC-40B2-B3A0-4F0A050C142F}"/>
              </a:ext>
            </a:extLst>
          </p:cNvPr>
          <p:cNvSpPr>
            <a:spLocks noGrp="1"/>
          </p:cNvSpPr>
          <p:nvPr>
            <p:ph type="title"/>
          </p:nvPr>
        </p:nvSpPr>
        <p:spPr/>
        <p:txBody>
          <a:bodyPr/>
          <a:lstStyle/>
          <a:p>
            <a:r>
              <a:rPr lang="en-US" dirty="0">
                <a:cs typeface="Calibri Light"/>
              </a:rPr>
              <a:t>Computer Network Protocols</a:t>
            </a:r>
            <a:endParaRPr lang="en-US" dirty="0"/>
          </a:p>
        </p:txBody>
      </p:sp>
      <p:sp>
        <p:nvSpPr>
          <p:cNvPr id="3" name="Content Placeholder 2">
            <a:extLst>
              <a:ext uri="{FF2B5EF4-FFF2-40B4-BE49-F238E27FC236}">
                <a16:creationId xmlns:a16="http://schemas.microsoft.com/office/drawing/2014/main" id="{C1CE17A5-38F1-48C5-8AEF-1E8815D49159}"/>
              </a:ext>
            </a:extLst>
          </p:cNvPr>
          <p:cNvSpPr>
            <a:spLocks noGrp="1"/>
          </p:cNvSpPr>
          <p:nvPr>
            <p:ph idx="1"/>
          </p:nvPr>
        </p:nvSpPr>
        <p:spPr/>
        <p:txBody>
          <a:bodyPr vert="horz" lIns="91440" tIns="45720" rIns="91440" bIns="45720" rtlCol="0" anchor="t">
            <a:normAutofit/>
          </a:bodyPr>
          <a:lstStyle/>
          <a:p>
            <a:r>
              <a:rPr lang="en-US">
                <a:cs typeface="Calibri"/>
              </a:rPr>
              <a:t>An agreed convention for communication</a:t>
            </a:r>
          </a:p>
          <a:p>
            <a:r>
              <a:rPr lang="en-US">
                <a:cs typeface="Calibri"/>
              </a:rPr>
              <a:t>Formally Defined and unambiguous</a:t>
            </a:r>
          </a:p>
          <a:p>
            <a:r>
              <a:rPr lang="en-US">
                <a:cs typeface="Calibri"/>
              </a:rPr>
              <a:t>Network Protocols define:</a:t>
            </a:r>
          </a:p>
          <a:p>
            <a:pPr lvl="1"/>
            <a:r>
              <a:rPr lang="en-US">
                <a:cs typeface="Calibri"/>
              </a:rPr>
              <a:t>Format</a:t>
            </a:r>
          </a:p>
          <a:p>
            <a:pPr lvl="1"/>
            <a:r>
              <a:rPr lang="en-US">
                <a:cs typeface="Calibri"/>
              </a:rPr>
              <a:t>Message order</a:t>
            </a:r>
          </a:p>
          <a:p>
            <a:pPr lvl="1"/>
            <a:r>
              <a:rPr lang="en-US">
                <a:cs typeface="Calibri"/>
              </a:rPr>
              <a:t>Actions on transmission/receipt</a:t>
            </a:r>
          </a:p>
        </p:txBody>
      </p:sp>
      <p:pic>
        <p:nvPicPr>
          <p:cNvPr id="7" name="Picture 7" descr="A picture containing object&#10;&#10;Description generated with high confidence">
            <a:extLst>
              <a:ext uri="{FF2B5EF4-FFF2-40B4-BE49-F238E27FC236}">
                <a16:creationId xmlns:a16="http://schemas.microsoft.com/office/drawing/2014/main" id="{12C3D8FE-E257-4020-B65F-C0A39342CE4D}"/>
              </a:ext>
            </a:extLst>
          </p:cNvPr>
          <p:cNvPicPr>
            <a:picLocks noChangeAspect="1"/>
          </p:cNvPicPr>
          <p:nvPr/>
        </p:nvPicPr>
        <p:blipFill>
          <a:blip r:embed="rId2"/>
          <a:stretch>
            <a:fillRect/>
          </a:stretch>
        </p:blipFill>
        <p:spPr>
          <a:xfrm>
            <a:off x="7441720" y="2133645"/>
            <a:ext cx="4152181" cy="2806370"/>
          </a:xfrm>
          <a:prstGeom prst="rect">
            <a:avLst/>
          </a:prstGeom>
        </p:spPr>
      </p:pic>
    </p:spTree>
    <p:extLst>
      <p:ext uri="{BB962C8B-B14F-4D97-AF65-F5344CB8AC3E}">
        <p14:creationId xmlns:p14="http://schemas.microsoft.com/office/powerpoint/2010/main" val="429153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3">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8" name="Freeform: Shape 17">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B134D5-E710-4044-94BA-FF8F1846EFB0}"/>
              </a:ext>
            </a:extLst>
          </p:cNvPr>
          <p:cNvSpPr>
            <a:spLocks noGrp="1"/>
          </p:cNvSpPr>
          <p:nvPr>
            <p:ph type="title"/>
          </p:nvPr>
        </p:nvSpPr>
        <p:spPr>
          <a:xfrm>
            <a:off x="438913" y="859536"/>
            <a:ext cx="4832802" cy="1243584"/>
          </a:xfrm>
        </p:spPr>
        <p:txBody>
          <a:bodyPr>
            <a:normAutofit/>
          </a:bodyPr>
          <a:lstStyle/>
          <a:p>
            <a:r>
              <a:rPr lang="en-US" sz="3400">
                <a:cs typeface="Calibri Light"/>
              </a:rPr>
              <a:t>Protocol Suites &amp; Standards</a:t>
            </a:r>
            <a:endParaRPr lang="en-US" sz="3400"/>
          </a:p>
        </p:txBody>
      </p:sp>
      <p:sp>
        <p:nvSpPr>
          <p:cNvPr id="20" name="Rectangle 19">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79726B0-4FE6-4D35-89EF-677397CDCBDA}"/>
              </a:ext>
            </a:extLst>
          </p:cNvPr>
          <p:cNvSpPr>
            <a:spLocks noGrp="1"/>
          </p:cNvSpPr>
          <p:nvPr>
            <p:ph idx="1"/>
          </p:nvPr>
        </p:nvSpPr>
        <p:spPr>
          <a:xfrm>
            <a:off x="438912" y="2512611"/>
            <a:ext cx="4832803" cy="3664351"/>
          </a:xfrm>
        </p:spPr>
        <p:txBody>
          <a:bodyPr vert="horz" lIns="91440" tIns="45720" rIns="91440" bIns="45720" rtlCol="0">
            <a:normAutofit/>
          </a:bodyPr>
          <a:lstStyle/>
          <a:p>
            <a:r>
              <a:rPr lang="en-US" sz="1800">
                <a:cs typeface="Calibri"/>
              </a:rPr>
              <a:t>A Protocol Suite is a group of protocols designed to work together</a:t>
            </a:r>
          </a:p>
          <a:p>
            <a:r>
              <a:rPr lang="en-US" sz="1800">
                <a:cs typeface="Calibri"/>
              </a:rPr>
              <a:t>Typically use open, widely used protocols.</a:t>
            </a:r>
          </a:p>
          <a:p>
            <a:pPr lvl="1"/>
            <a:r>
              <a:rPr lang="en-US" sz="1800">
                <a:cs typeface="Calibri"/>
              </a:rPr>
              <a:t>Example: Wifi, HTTP, FTP, TCP, IP...</a:t>
            </a:r>
          </a:p>
          <a:p>
            <a:r>
              <a:rPr lang="en-US" sz="1800">
                <a:cs typeface="Calibri"/>
              </a:rPr>
              <a:t>Protocol Standards established by Institute of Electrical and Electronics Engineers (IEEE) or the Internet Engineering Task Force (IETF) </a:t>
            </a:r>
          </a:p>
          <a:p>
            <a:r>
              <a:rPr lang="en-US" sz="1800">
                <a:cs typeface="Calibri"/>
              </a:rPr>
              <a:t>Protocol suites based on open standards ensures that products from different manufacturers can work together for efficient communications</a:t>
            </a:r>
          </a:p>
          <a:p>
            <a:pPr marL="0" indent="0">
              <a:buNone/>
            </a:pPr>
            <a:endParaRPr lang="en-US" sz="1800">
              <a:cs typeface="Calibri"/>
            </a:endParaRPr>
          </a:p>
        </p:txBody>
      </p:sp>
      <p:pic>
        <p:nvPicPr>
          <p:cNvPr id="5" name="Picture 4" descr="Text&#10;&#10;Description automatically generated">
            <a:extLst>
              <a:ext uri="{FF2B5EF4-FFF2-40B4-BE49-F238E27FC236}">
                <a16:creationId xmlns:a16="http://schemas.microsoft.com/office/drawing/2014/main" id="{56C4EB34-2DE3-486E-A60E-360995789FBD}"/>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746827" y="517600"/>
            <a:ext cx="4876800" cy="2743200"/>
          </a:xfrm>
          <a:prstGeom prst="rect">
            <a:avLst/>
          </a:prstGeom>
        </p:spPr>
      </p:pic>
      <p:pic>
        <p:nvPicPr>
          <p:cNvPr id="8" name="Picture 7" descr="A picture containing text, clock&#10;&#10;Description automatically generated">
            <a:extLst>
              <a:ext uri="{FF2B5EF4-FFF2-40B4-BE49-F238E27FC236}">
                <a16:creationId xmlns:a16="http://schemas.microsoft.com/office/drawing/2014/main" id="{1C69CACA-C98C-4653-A602-A1B7189E899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621490" y="3429000"/>
            <a:ext cx="5127475" cy="2743200"/>
          </a:xfrm>
          <a:prstGeom prst="rect">
            <a:avLst/>
          </a:prstGeom>
        </p:spPr>
      </p:pic>
      <p:sp>
        <p:nvSpPr>
          <p:cNvPr id="9" name="TextBox 8">
            <a:extLst>
              <a:ext uri="{FF2B5EF4-FFF2-40B4-BE49-F238E27FC236}">
                <a16:creationId xmlns:a16="http://schemas.microsoft.com/office/drawing/2014/main" id="{444286B9-40FA-4A23-9D06-5E6A0F751361}"/>
              </a:ext>
            </a:extLst>
          </p:cNvPr>
          <p:cNvSpPr txBox="1"/>
          <p:nvPr/>
        </p:nvSpPr>
        <p:spPr>
          <a:xfrm>
            <a:off x="7569580" y="6415072"/>
            <a:ext cx="230704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hlinkClick r:id="rId5" tooltip="https://commons.wikimedia.org/wiki/File:IETF_Logo.svg">
                  <a:extLst>
                    <a:ext uri="{A12FA001-AC4F-418D-AE19-62706E023703}">
                      <ahyp:hlinkClr xmlns:ahyp="http://schemas.microsoft.com/office/drawing/2018/hyperlinkcolor" val="tx"/>
                    </a:ext>
                  </a:extLst>
                </a:hlinkClick>
              </a:rPr>
              <a:t>This Photo</a:t>
            </a:r>
            <a:r>
              <a:rPr lang="en-IE" sz="700" dirty="0">
                <a:solidFill>
                  <a:srgbClr val="FFFFFF"/>
                </a:solidFill>
              </a:rPr>
              <a:t> by Unknown Author is licensed under </a:t>
            </a:r>
            <a:r>
              <a:rPr lang="en-IE" sz="700" dirty="0">
                <a:solidFill>
                  <a:srgbClr val="FFFFFF"/>
                </a:solidFill>
                <a:hlinkClick r:id="rId6" tooltip="https://creativecommons.org/licenses/by-sa/3.0/">
                  <a:extLst>
                    <a:ext uri="{A12FA001-AC4F-418D-AE19-62706E023703}">
                      <ahyp:hlinkClr xmlns:ahyp="http://schemas.microsoft.com/office/drawing/2018/hyperlinkcolor" val="tx"/>
                    </a:ext>
                  </a:extLst>
                </a:hlinkClick>
              </a:rPr>
              <a:t>CC BY-SA</a:t>
            </a:r>
            <a:endParaRPr lang="en-IE" sz="700" dirty="0">
              <a:solidFill>
                <a:srgbClr val="FFFFFF"/>
              </a:solidFill>
            </a:endParaRPr>
          </a:p>
        </p:txBody>
      </p:sp>
    </p:spTree>
    <p:extLst>
      <p:ext uri="{BB962C8B-B14F-4D97-AF65-F5344CB8AC3E}">
        <p14:creationId xmlns:p14="http://schemas.microsoft.com/office/powerpoint/2010/main" val="29580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7A489C-ACEE-4A51-A3A4-5DAB619DF06A}"/>
              </a:ext>
            </a:extLst>
          </p:cNvPr>
          <p:cNvSpPr>
            <a:spLocks noGrp="1"/>
          </p:cNvSpPr>
          <p:nvPr>
            <p:ph type="title"/>
          </p:nvPr>
        </p:nvSpPr>
        <p:spPr>
          <a:xfrm>
            <a:off x="841249" y="539578"/>
            <a:ext cx="5981278" cy="1684638"/>
          </a:xfrm>
        </p:spPr>
        <p:txBody>
          <a:bodyPr>
            <a:normAutofit/>
          </a:bodyPr>
          <a:lstStyle/>
          <a:p>
            <a:r>
              <a:rPr lang="en-US" sz="4000">
                <a:cs typeface="Calibri Light"/>
              </a:rPr>
              <a:t>TCP/IP Protocol Suite</a:t>
            </a:r>
            <a:endParaRPr lang="en-US" sz="4000"/>
          </a:p>
        </p:txBody>
      </p:sp>
      <p:sp>
        <p:nvSpPr>
          <p:cNvPr id="3" name="Content Placeholder 2">
            <a:extLst>
              <a:ext uri="{FF2B5EF4-FFF2-40B4-BE49-F238E27FC236}">
                <a16:creationId xmlns:a16="http://schemas.microsoft.com/office/drawing/2014/main" id="{6E58E86A-8B72-4707-B13A-8FB9C3F3BA16}"/>
              </a:ext>
            </a:extLst>
          </p:cNvPr>
          <p:cNvSpPr>
            <a:spLocks noGrp="1"/>
          </p:cNvSpPr>
          <p:nvPr>
            <p:ph idx="1"/>
          </p:nvPr>
        </p:nvSpPr>
        <p:spPr>
          <a:xfrm>
            <a:off x="838201" y="2409568"/>
            <a:ext cx="5981278" cy="3690551"/>
          </a:xfrm>
        </p:spPr>
        <p:txBody>
          <a:bodyPr vert="horz" lIns="91440" tIns="45720" rIns="91440" bIns="45720" rtlCol="0">
            <a:normAutofit/>
          </a:bodyPr>
          <a:lstStyle/>
          <a:p>
            <a:r>
              <a:rPr lang="en-US" sz="2000" dirty="0">
                <a:cs typeface="Calibri"/>
              </a:rPr>
              <a:t>A whole suite of protocols, including TCP, IP, UDP, ARP, DNS, HTTP, ICMP and many more acronyms!</a:t>
            </a:r>
          </a:p>
          <a:p>
            <a:r>
              <a:rPr lang="en-US" sz="2000" dirty="0">
                <a:cs typeface="Calibri"/>
              </a:rPr>
              <a:t>Often referred to as TCP/IP, TCPIP, or just IP</a:t>
            </a:r>
          </a:p>
          <a:p>
            <a:r>
              <a:rPr lang="en-US" sz="2000" b="1" dirty="0">
                <a:cs typeface="Calibri"/>
              </a:rPr>
              <a:t>QI: </a:t>
            </a:r>
            <a:r>
              <a:rPr lang="en-GB" sz="2000" dirty="0">
                <a:cs typeface="Calibri"/>
              </a:rPr>
              <a:t>The Advanced Research Projects Agency Network ( ARPANET) was the first wide-area packet-switched network with distributed control and one of the first networks to implement the TCP/IP protocol suite. Both technologies became the technical foundation of the Internet.</a:t>
            </a:r>
          </a:p>
          <a:p>
            <a:r>
              <a:rPr lang="en-US" sz="2000" dirty="0">
                <a:cs typeface="Calibri"/>
              </a:rPr>
              <a:t>TCP/IP is now the “standard” protocol suite for the internet</a:t>
            </a:r>
            <a:endParaRPr lang="en-US" sz="2000" dirty="0"/>
          </a:p>
        </p:txBody>
      </p:sp>
      <p:pic>
        <p:nvPicPr>
          <p:cNvPr id="15" name="Picture 4" descr="A close up of a logo&#10;&#10;Description generated with very high confidence">
            <a:extLst>
              <a:ext uri="{FF2B5EF4-FFF2-40B4-BE49-F238E27FC236}">
                <a16:creationId xmlns:a16="http://schemas.microsoft.com/office/drawing/2014/main" id="{A82F7516-A8D2-4EDD-9F3F-ABAF09369AA9}"/>
              </a:ext>
            </a:extLst>
          </p:cNvPr>
          <p:cNvPicPr>
            <a:picLocks noChangeAspect="1"/>
          </p:cNvPicPr>
          <p:nvPr/>
        </p:nvPicPr>
        <p:blipFill>
          <a:blip r:embed="rId2"/>
          <a:stretch>
            <a:fillRect/>
          </a:stretch>
        </p:blipFill>
        <p:spPr>
          <a:xfrm>
            <a:off x="7352970" y="168876"/>
            <a:ext cx="4479982" cy="2631989"/>
          </a:xfrm>
          <a:prstGeom prst="rect">
            <a:avLst/>
          </a:prstGeom>
        </p:spPr>
      </p:pic>
      <p:pic>
        <p:nvPicPr>
          <p:cNvPr id="5" name="Picture 4" descr="A close up of text on a white background&#10;&#10;Description generated with high confidence">
            <a:extLst>
              <a:ext uri="{FF2B5EF4-FFF2-40B4-BE49-F238E27FC236}">
                <a16:creationId xmlns:a16="http://schemas.microsoft.com/office/drawing/2014/main" id="{9742ED67-0EE0-4F6B-ADB0-9122CCEDF562}"/>
              </a:ext>
            </a:extLst>
          </p:cNvPr>
          <p:cNvPicPr>
            <a:picLocks noChangeAspect="1"/>
          </p:cNvPicPr>
          <p:nvPr/>
        </p:nvPicPr>
        <p:blipFill>
          <a:blip r:embed="rId3"/>
          <a:stretch>
            <a:fillRect/>
          </a:stretch>
        </p:blipFill>
        <p:spPr>
          <a:xfrm>
            <a:off x="7259418" y="3260124"/>
            <a:ext cx="4667086" cy="3138616"/>
          </a:xfrm>
          <a:prstGeom prst="rect">
            <a:avLst/>
          </a:prstGeom>
        </p:spPr>
      </p:pic>
    </p:spTree>
    <p:extLst>
      <p:ext uri="{BB962C8B-B14F-4D97-AF65-F5344CB8AC3E}">
        <p14:creationId xmlns:p14="http://schemas.microsoft.com/office/powerpoint/2010/main" val="199670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A093-C837-4306-B2CF-B82847E40DDD}"/>
              </a:ext>
            </a:extLst>
          </p:cNvPr>
          <p:cNvSpPr>
            <a:spLocks noGrp="1"/>
          </p:cNvSpPr>
          <p:nvPr>
            <p:ph type="title"/>
          </p:nvPr>
        </p:nvSpPr>
        <p:spPr/>
        <p:txBody>
          <a:bodyPr/>
          <a:lstStyle/>
          <a:p>
            <a:r>
              <a:rPr lang="en-US">
                <a:cs typeface="Calibri Light"/>
              </a:rPr>
              <a:t>Example: Layered Model Network Comms</a:t>
            </a:r>
            <a:endParaRPr lang="en-US"/>
          </a:p>
        </p:txBody>
      </p:sp>
      <p:pic>
        <p:nvPicPr>
          <p:cNvPr id="4" name="Picture 4">
            <a:extLst>
              <a:ext uri="{FF2B5EF4-FFF2-40B4-BE49-F238E27FC236}">
                <a16:creationId xmlns:a16="http://schemas.microsoft.com/office/drawing/2014/main" id="{B855F37C-A427-4321-8B64-B7AF997861D8}"/>
              </a:ext>
            </a:extLst>
          </p:cNvPr>
          <p:cNvPicPr>
            <a:picLocks noGrp="1" noChangeAspect="1"/>
          </p:cNvPicPr>
          <p:nvPr>
            <p:ph idx="1"/>
          </p:nvPr>
        </p:nvPicPr>
        <p:blipFill>
          <a:blip r:embed="rId3"/>
          <a:stretch>
            <a:fillRect/>
          </a:stretch>
        </p:blipFill>
        <p:spPr>
          <a:xfrm>
            <a:off x="847973" y="2105346"/>
            <a:ext cx="2528814" cy="2210022"/>
          </a:xfrm>
          <a:prstGeom prst="rect">
            <a:avLst/>
          </a:prstGeom>
        </p:spPr>
      </p:pic>
      <p:sp>
        <p:nvSpPr>
          <p:cNvPr id="6" name="TextBox 5">
            <a:extLst>
              <a:ext uri="{FF2B5EF4-FFF2-40B4-BE49-F238E27FC236}">
                <a16:creationId xmlns:a16="http://schemas.microsoft.com/office/drawing/2014/main" id="{AE695EBF-CDC0-4540-B2BF-CC743E81F720}"/>
              </a:ext>
            </a:extLst>
          </p:cNvPr>
          <p:cNvSpPr txBox="1"/>
          <p:nvPr/>
        </p:nvSpPr>
        <p:spPr>
          <a:xfrm>
            <a:off x="673260" y="1632994"/>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Web Server</a:t>
            </a:r>
            <a:endParaRPr lang="en-US">
              <a:cs typeface="Calibri"/>
            </a:endParaRPr>
          </a:p>
        </p:txBody>
      </p:sp>
      <p:pic>
        <p:nvPicPr>
          <p:cNvPr id="7" name="Picture 7" descr="A screenshot of a cell phone&#10;&#10;Description generated with very high confidence">
            <a:extLst>
              <a:ext uri="{FF2B5EF4-FFF2-40B4-BE49-F238E27FC236}">
                <a16:creationId xmlns:a16="http://schemas.microsoft.com/office/drawing/2014/main" id="{D3F942EE-9D69-443E-890C-D132CEE58E90}"/>
              </a:ext>
            </a:extLst>
          </p:cNvPr>
          <p:cNvPicPr>
            <a:picLocks noChangeAspect="1"/>
          </p:cNvPicPr>
          <p:nvPr/>
        </p:nvPicPr>
        <p:blipFill>
          <a:blip r:embed="rId4"/>
          <a:stretch>
            <a:fillRect/>
          </a:stretch>
        </p:blipFill>
        <p:spPr>
          <a:xfrm>
            <a:off x="4367515" y="1512991"/>
            <a:ext cx="5289629" cy="2867458"/>
          </a:xfrm>
          <a:prstGeom prst="rect">
            <a:avLst/>
          </a:prstGeom>
        </p:spPr>
      </p:pic>
      <p:sp>
        <p:nvSpPr>
          <p:cNvPr id="9" name="Left Brace 8">
            <a:extLst>
              <a:ext uri="{FF2B5EF4-FFF2-40B4-BE49-F238E27FC236}">
                <a16:creationId xmlns:a16="http://schemas.microsoft.com/office/drawing/2014/main" id="{EACD298C-FE89-47D0-A8E6-CF1AA6EDD8BE}"/>
              </a:ext>
            </a:extLst>
          </p:cNvPr>
          <p:cNvSpPr/>
          <p:nvPr/>
        </p:nvSpPr>
        <p:spPr>
          <a:xfrm>
            <a:off x="3597237" y="1905964"/>
            <a:ext cx="666662" cy="2419108"/>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8F5707D4-6290-413D-8EE1-5564116E1ADD}"/>
              </a:ext>
            </a:extLst>
          </p:cNvPr>
          <p:cNvSpPr/>
          <p:nvPr/>
        </p:nvSpPr>
        <p:spPr>
          <a:xfrm>
            <a:off x="9834622" y="1848091"/>
            <a:ext cx="1329159" cy="64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Application</a:t>
            </a:r>
            <a:endParaRPr lang="en-US" dirty="0"/>
          </a:p>
        </p:txBody>
      </p:sp>
      <p:sp>
        <p:nvSpPr>
          <p:cNvPr id="11" name="Rectangle 10">
            <a:extLst>
              <a:ext uri="{FF2B5EF4-FFF2-40B4-BE49-F238E27FC236}">
                <a16:creationId xmlns:a16="http://schemas.microsoft.com/office/drawing/2014/main" id="{6FA29F07-5587-4BBB-8089-D21B07A10A6D}"/>
              </a:ext>
            </a:extLst>
          </p:cNvPr>
          <p:cNvSpPr/>
          <p:nvPr/>
        </p:nvSpPr>
        <p:spPr>
          <a:xfrm>
            <a:off x="9834621" y="2484698"/>
            <a:ext cx="1329159" cy="64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Transport</a:t>
            </a:r>
            <a:endParaRPr lang="en-US" dirty="0"/>
          </a:p>
        </p:txBody>
      </p:sp>
      <p:sp>
        <p:nvSpPr>
          <p:cNvPr id="12" name="Rectangle 11">
            <a:extLst>
              <a:ext uri="{FF2B5EF4-FFF2-40B4-BE49-F238E27FC236}">
                <a16:creationId xmlns:a16="http://schemas.microsoft.com/office/drawing/2014/main" id="{329DDD51-A37A-43F2-9441-86A052C38C64}"/>
              </a:ext>
            </a:extLst>
          </p:cNvPr>
          <p:cNvSpPr/>
          <p:nvPr/>
        </p:nvSpPr>
        <p:spPr>
          <a:xfrm>
            <a:off x="9834622" y="3121306"/>
            <a:ext cx="1329159" cy="64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Network/</a:t>
            </a:r>
            <a:br>
              <a:rPr lang="en-US" dirty="0">
                <a:cs typeface="Calibri"/>
              </a:rPr>
            </a:br>
            <a:r>
              <a:rPr lang="en-US" dirty="0">
                <a:cs typeface="Calibri"/>
              </a:rPr>
              <a:t>Internet</a:t>
            </a:r>
            <a:endParaRPr lang="en-US" dirty="0"/>
          </a:p>
        </p:txBody>
      </p:sp>
      <p:sp>
        <p:nvSpPr>
          <p:cNvPr id="13" name="Rectangle 12">
            <a:extLst>
              <a:ext uri="{FF2B5EF4-FFF2-40B4-BE49-F238E27FC236}">
                <a16:creationId xmlns:a16="http://schemas.microsoft.com/office/drawing/2014/main" id="{E113B173-3E54-4173-AECE-B8D3DD55145A}"/>
              </a:ext>
            </a:extLst>
          </p:cNvPr>
          <p:cNvSpPr/>
          <p:nvPr/>
        </p:nvSpPr>
        <p:spPr>
          <a:xfrm>
            <a:off x="9834621" y="3757913"/>
            <a:ext cx="1329159" cy="644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cs typeface="Calibri"/>
              </a:rPr>
              <a:t>Data Link/ Physical</a:t>
            </a:r>
            <a:endParaRPr lang="en-US" dirty="0"/>
          </a:p>
        </p:txBody>
      </p:sp>
      <p:sp>
        <p:nvSpPr>
          <p:cNvPr id="14" name="TextBox 13">
            <a:extLst>
              <a:ext uri="{FF2B5EF4-FFF2-40B4-BE49-F238E27FC236}">
                <a16:creationId xmlns:a16="http://schemas.microsoft.com/office/drawing/2014/main" id="{3B05180C-DA66-4BF7-B153-C590609935D7}"/>
              </a:ext>
            </a:extLst>
          </p:cNvPr>
          <p:cNvSpPr txBox="1"/>
          <p:nvPr/>
        </p:nvSpPr>
        <p:spPr>
          <a:xfrm>
            <a:off x="9084197" y="1440083"/>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Layers</a:t>
            </a:r>
          </a:p>
        </p:txBody>
      </p:sp>
      <p:sp>
        <p:nvSpPr>
          <p:cNvPr id="3" name="TextBox 2">
            <a:extLst>
              <a:ext uri="{FF2B5EF4-FFF2-40B4-BE49-F238E27FC236}">
                <a16:creationId xmlns:a16="http://schemas.microsoft.com/office/drawing/2014/main" id="{02D3E33D-BE95-4A09-9480-818693B740EC}"/>
              </a:ext>
            </a:extLst>
          </p:cNvPr>
          <p:cNvSpPr txBox="1"/>
          <p:nvPr/>
        </p:nvSpPr>
        <p:spPr>
          <a:xfrm>
            <a:off x="846881" y="4391627"/>
            <a:ext cx="2743200" cy="2308324"/>
          </a:xfrm>
          <a:prstGeom prst="rect">
            <a:avLst/>
          </a:prstGeom>
          <a:solidFill>
            <a:schemeClr val="bg2">
              <a:lumMod val="90000"/>
            </a:schemeClr>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Benefits of Layered Model:</a:t>
            </a:r>
          </a:p>
          <a:p>
            <a:pPr marL="285750" indent="-285750">
              <a:buFont typeface="Arial"/>
              <a:buChar char="•"/>
            </a:pPr>
            <a:r>
              <a:rPr lang="en-US"/>
              <a:t>assists in protocol design</a:t>
            </a:r>
            <a:endParaRPr lang="en-US">
              <a:cs typeface="Calibri"/>
            </a:endParaRPr>
          </a:p>
          <a:p>
            <a:pPr marL="285750" indent="-285750">
              <a:buFont typeface="Arial"/>
              <a:buChar char="•"/>
            </a:pPr>
            <a:r>
              <a:rPr lang="en-US"/>
              <a:t>fosters competition</a:t>
            </a:r>
            <a:endParaRPr lang="en-US">
              <a:cs typeface="Calibri"/>
            </a:endParaRPr>
          </a:p>
          <a:p>
            <a:pPr marL="285750" indent="-285750">
              <a:buFont typeface="Arial"/>
              <a:buChar char="•"/>
            </a:pPr>
            <a:r>
              <a:rPr lang="en-US"/>
              <a:t>changes in one layer do not affect other layers</a:t>
            </a:r>
            <a:endParaRPr lang="en-US">
              <a:cs typeface="Calibri"/>
            </a:endParaRPr>
          </a:p>
          <a:p>
            <a:pPr marL="285750" indent="-285750">
              <a:buFont typeface="Arial"/>
              <a:buChar char="•"/>
            </a:pPr>
            <a:r>
              <a:rPr lang="en-US"/>
              <a:t>provides a common language </a:t>
            </a:r>
            <a:endParaRPr lang="en-US">
              <a:cs typeface="Calibri"/>
            </a:endParaRPr>
          </a:p>
        </p:txBody>
      </p:sp>
      <p:sp>
        <p:nvSpPr>
          <p:cNvPr id="5" name="TextBox 4">
            <a:extLst>
              <a:ext uri="{FF2B5EF4-FFF2-40B4-BE49-F238E27FC236}">
                <a16:creationId xmlns:a16="http://schemas.microsoft.com/office/drawing/2014/main" id="{CFE0BD52-AECA-4A7B-9F3F-DEA24B7409EC}"/>
              </a:ext>
            </a:extLst>
          </p:cNvPr>
          <p:cNvSpPr txBox="1"/>
          <p:nvPr/>
        </p:nvSpPr>
        <p:spPr>
          <a:xfrm>
            <a:off x="4279969" y="4744844"/>
            <a:ext cx="6175828" cy="1200329"/>
          </a:xfrm>
          <a:prstGeom prst="rect">
            <a:avLst/>
          </a:prstGeom>
          <a:noFill/>
        </p:spPr>
        <p:txBody>
          <a:bodyPr wrap="square" rtlCol="0">
            <a:spAutoFit/>
          </a:bodyPr>
          <a:lstStyle/>
          <a:p>
            <a:r>
              <a:rPr lang="en-GB" b="1" dirty="0"/>
              <a:t>The Layered approach breaks down the communication process into smaller and easier to handle interdependent categories, with each solving an important and distinct aspect of the data exchange process.</a:t>
            </a:r>
            <a:endParaRPr lang="en-IE" b="1" dirty="0"/>
          </a:p>
        </p:txBody>
      </p:sp>
    </p:spTree>
    <p:extLst>
      <p:ext uri="{BB962C8B-B14F-4D97-AF65-F5344CB8AC3E}">
        <p14:creationId xmlns:p14="http://schemas.microsoft.com/office/powerpoint/2010/main" val="358364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p:bldP spid="3"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3FD969-BE08-4C6B-BEAF-4BA340B2FB8C}"/>
              </a:ext>
            </a:extLst>
          </p:cNvPr>
          <p:cNvSpPr/>
          <p:nvPr/>
        </p:nvSpPr>
        <p:spPr>
          <a:xfrm>
            <a:off x="1202233" y="4679250"/>
            <a:ext cx="3637741" cy="579513"/>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8" name="Rectangle 17">
            <a:extLst>
              <a:ext uri="{FF2B5EF4-FFF2-40B4-BE49-F238E27FC236}">
                <a16:creationId xmlns:a16="http://schemas.microsoft.com/office/drawing/2014/main" id="{6D3ACEE6-0A24-4D4B-AB07-7DCD91048267}"/>
              </a:ext>
            </a:extLst>
          </p:cNvPr>
          <p:cNvSpPr/>
          <p:nvPr/>
        </p:nvSpPr>
        <p:spPr>
          <a:xfrm>
            <a:off x="2384611" y="4016187"/>
            <a:ext cx="2330823" cy="448236"/>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14" name="Rectangle 13">
            <a:extLst>
              <a:ext uri="{FF2B5EF4-FFF2-40B4-BE49-F238E27FC236}">
                <a16:creationId xmlns:a16="http://schemas.microsoft.com/office/drawing/2014/main" id="{FF4C2AF4-DEB0-41E2-A34F-9C0B8E82231E}"/>
              </a:ext>
            </a:extLst>
          </p:cNvPr>
          <p:cNvSpPr/>
          <p:nvPr/>
        </p:nvSpPr>
        <p:spPr>
          <a:xfrm>
            <a:off x="3621741" y="3433480"/>
            <a:ext cx="103094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tx1"/>
              </a:solidFill>
              <a:cs typeface="Calibri"/>
            </a:endParaRPr>
          </a:p>
        </p:txBody>
      </p:sp>
      <p:sp>
        <p:nvSpPr>
          <p:cNvPr id="2" name="Title 1">
            <a:extLst>
              <a:ext uri="{FF2B5EF4-FFF2-40B4-BE49-F238E27FC236}">
                <a16:creationId xmlns:a16="http://schemas.microsoft.com/office/drawing/2014/main" id="{5FE7EB14-6A8D-4F1B-AA9A-D7708100239A}"/>
              </a:ext>
            </a:extLst>
          </p:cNvPr>
          <p:cNvSpPr>
            <a:spLocks noGrp="1"/>
          </p:cNvSpPr>
          <p:nvPr>
            <p:ph type="title"/>
          </p:nvPr>
        </p:nvSpPr>
        <p:spPr>
          <a:xfrm>
            <a:off x="562206" y="65983"/>
            <a:ext cx="10515600" cy="1325563"/>
          </a:xfrm>
        </p:spPr>
        <p:txBody>
          <a:bodyPr/>
          <a:lstStyle/>
          <a:p>
            <a:r>
              <a:rPr lang="en-US" dirty="0">
                <a:cs typeface="Calibri Light"/>
              </a:rPr>
              <a:t>Comms in TCP/IP: Data Encapsulation</a:t>
            </a:r>
            <a:endParaRPr lang="en-US" dirty="0"/>
          </a:p>
        </p:txBody>
      </p:sp>
      <p:pic>
        <p:nvPicPr>
          <p:cNvPr id="3" name="Picture 3">
            <a:extLst>
              <a:ext uri="{FF2B5EF4-FFF2-40B4-BE49-F238E27FC236}">
                <a16:creationId xmlns:a16="http://schemas.microsoft.com/office/drawing/2014/main" id="{85B3A3A1-4890-4427-918E-0FB75F87D4E0}"/>
              </a:ext>
            </a:extLst>
          </p:cNvPr>
          <p:cNvPicPr>
            <a:picLocks noChangeAspect="1"/>
          </p:cNvPicPr>
          <p:nvPr/>
        </p:nvPicPr>
        <p:blipFill>
          <a:blip r:embed="rId3"/>
          <a:stretch>
            <a:fillRect/>
          </a:stretch>
        </p:blipFill>
        <p:spPr>
          <a:xfrm>
            <a:off x="838200" y="1599237"/>
            <a:ext cx="1720770" cy="1315653"/>
          </a:xfrm>
          <a:prstGeom prst="rect">
            <a:avLst/>
          </a:prstGeom>
        </p:spPr>
      </p:pic>
      <p:pic>
        <p:nvPicPr>
          <p:cNvPr id="5" name="Picture 5">
            <a:extLst>
              <a:ext uri="{FF2B5EF4-FFF2-40B4-BE49-F238E27FC236}">
                <a16:creationId xmlns:a16="http://schemas.microsoft.com/office/drawing/2014/main" id="{39248399-F8BB-496D-A7EB-1CCFDAAA7CB8}"/>
              </a:ext>
            </a:extLst>
          </p:cNvPr>
          <p:cNvPicPr>
            <a:picLocks noChangeAspect="1"/>
          </p:cNvPicPr>
          <p:nvPr/>
        </p:nvPicPr>
        <p:blipFill>
          <a:blip r:embed="rId4"/>
          <a:stretch>
            <a:fillRect/>
          </a:stretch>
        </p:blipFill>
        <p:spPr>
          <a:xfrm>
            <a:off x="3063204" y="1557349"/>
            <a:ext cx="515074" cy="656834"/>
          </a:xfrm>
          <a:prstGeom prst="rect">
            <a:avLst/>
          </a:prstGeom>
        </p:spPr>
      </p:pic>
      <p:sp>
        <p:nvSpPr>
          <p:cNvPr id="7" name="Rectangle 6">
            <a:extLst>
              <a:ext uri="{FF2B5EF4-FFF2-40B4-BE49-F238E27FC236}">
                <a16:creationId xmlns:a16="http://schemas.microsoft.com/office/drawing/2014/main" id="{C28F8F72-C237-4265-A8D2-55B400EAB527}"/>
              </a:ext>
            </a:extLst>
          </p:cNvPr>
          <p:cNvSpPr/>
          <p:nvPr/>
        </p:nvSpPr>
        <p:spPr>
          <a:xfrm>
            <a:off x="3121305" y="2600445"/>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6" name="Rectangle 5">
            <a:extLst>
              <a:ext uri="{FF2B5EF4-FFF2-40B4-BE49-F238E27FC236}">
                <a16:creationId xmlns:a16="http://schemas.microsoft.com/office/drawing/2014/main" id="{0D9C6F93-DA3D-4920-A04C-DBC52383C68B}"/>
              </a:ext>
            </a:extLst>
          </p:cNvPr>
          <p:cNvSpPr/>
          <p:nvPr/>
        </p:nvSpPr>
        <p:spPr>
          <a:xfrm>
            <a:off x="4066570" y="2600444"/>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8" name="Rectangle 7">
            <a:extLst>
              <a:ext uri="{FF2B5EF4-FFF2-40B4-BE49-F238E27FC236}">
                <a16:creationId xmlns:a16="http://schemas.microsoft.com/office/drawing/2014/main" id="{B7B0166B-3CEB-4F4D-8F84-B3F1A6B4A77A}"/>
              </a:ext>
            </a:extLst>
          </p:cNvPr>
          <p:cNvSpPr/>
          <p:nvPr/>
        </p:nvSpPr>
        <p:spPr>
          <a:xfrm>
            <a:off x="4963609" y="2600445"/>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10" name="Rectangle 9">
            <a:extLst>
              <a:ext uri="{FF2B5EF4-FFF2-40B4-BE49-F238E27FC236}">
                <a16:creationId xmlns:a16="http://schemas.microsoft.com/office/drawing/2014/main" id="{1BFA3CF2-20B3-44EC-8F20-8CD10A3C9C6C}"/>
              </a:ext>
            </a:extLst>
          </p:cNvPr>
          <p:cNvSpPr/>
          <p:nvPr/>
        </p:nvSpPr>
        <p:spPr>
          <a:xfrm>
            <a:off x="3712976" y="3461057"/>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13" name="Rectangle 12">
            <a:extLst>
              <a:ext uri="{FF2B5EF4-FFF2-40B4-BE49-F238E27FC236}">
                <a16:creationId xmlns:a16="http://schemas.microsoft.com/office/drawing/2014/main" id="{AA3F3F1D-D623-4A7A-8F86-3E07433E937F}"/>
              </a:ext>
            </a:extLst>
          </p:cNvPr>
          <p:cNvSpPr/>
          <p:nvPr/>
        </p:nvSpPr>
        <p:spPr>
          <a:xfrm>
            <a:off x="2456329" y="3433480"/>
            <a:ext cx="116541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cs typeface="Calibri"/>
              </a:rPr>
              <a:t>Segment Header</a:t>
            </a:r>
          </a:p>
        </p:txBody>
      </p:sp>
      <p:sp>
        <p:nvSpPr>
          <p:cNvPr id="15" name="Rectangle 14">
            <a:extLst>
              <a:ext uri="{FF2B5EF4-FFF2-40B4-BE49-F238E27FC236}">
                <a16:creationId xmlns:a16="http://schemas.microsoft.com/office/drawing/2014/main" id="{2AA5FA9B-B76D-40A7-8388-77767813B008}"/>
              </a:ext>
            </a:extLst>
          </p:cNvPr>
          <p:cNvSpPr/>
          <p:nvPr/>
        </p:nvSpPr>
        <p:spPr>
          <a:xfrm>
            <a:off x="3603811" y="4069974"/>
            <a:ext cx="103094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tx1"/>
              </a:solidFill>
              <a:cs typeface="Calibri"/>
            </a:endParaRPr>
          </a:p>
        </p:txBody>
      </p:sp>
      <p:sp>
        <p:nvSpPr>
          <p:cNvPr id="16" name="Rectangle 15">
            <a:extLst>
              <a:ext uri="{FF2B5EF4-FFF2-40B4-BE49-F238E27FC236}">
                <a16:creationId xmlns:a16="http://schemas.microsoft.com/office/drawing/2014/main" id="{603B5123-1A9C-4710-BD76-9D8D11ACB3E2}"/>
              </a:ext>
            </a:extLst>
          </p:cNvPr>
          <p:cNvSpPr/>
          <p:nvPr/>
        </p:nvSpPr>
        <p:spPr>
          <a:xfrm>
            <a:off x="3695046" y="4097551"/>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17" name="Rectangle 16">
            <a:extLst>
              <a:ext uri="{FF2B5EF4-FFF2-40B4-BE49-F238E27FC236}">
                <a16:creationId xmlns:a16="http://schemas.microsoft.com/office/drawing/2014/main" id="{47EC0D39-A25B-4DEC-8AF6-7FBD5FB01EC9}"/>
              </a:ext>
            </a:extLst>
          </p:cNvPr>
          <p:cNvSpPr/>
          <p:nvPr/>
        </p:nvSpPr>
        <p:spPr>
          <a:xfrm>
            <a:off x="2438399" y="4069974"/>
            <a:ext cx="116541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cs typeface="Calibri"/>
              </a:rPr>
              <a:t>Segment Header</a:t>
            </a:r>
          </a:p>
        </p:txBody>
      </p:sp>
      <p:sp>
        <p:nvSpPr>
          <p:cNvPr id="19" name="Rectangle 18">
            <a:extLst>
              <a:ext uri="{FF2B5EF4-FFF2-40B4-BE49-F238E27FC236}">
                <a16:creationId xmlns:a16="http://schemas.microsoft.com/office/drawing/2014/main" id="{E55D11F3-81B2-42A0-882C-5E997D948CCE}"/>
              </a:ext>
            </a:extLst>
          </p:cNvPr>
          <p:cNvSpPr/>
          <p:nvPr/>
        </p:nvSpPr>
        <p:spPr>
          <a:xfrm>
            <a:off x="1237128" y="4016187"/>
            <a:ext cx="1147482" cy="448236"/>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000000"/>
                </a:solidFill>
                <a:cs typeface="Calibri"/>
              </a:rPr>
              <a:t>Network Header</a:t>
            </a:r>
            <a:endParaRPr lang="en-US" sz="1100" b="1">
              <a:solidFill>
                <a:srgbClr val="000000"/>
              </a:solidFill>
            </a:endParaRPr>
          </a:p>
        </p:txBody>
      </p:sp>
      <p:sp>
        <p:nvSpPr>
          <p:cNvPr id="20" name="Rectangle 19">
            <a:extLst>
              <a:ext uri="{FF2B5EF4-FFF2-40B4-BE49-F238E27FC236}">
                <a16:creationId xmlns:a16="http://schemas.microsoft.com/office/drawing/2014/main" id="{51F2AC5E-50DB-4F4F-B9F7-211BC35271A7}"/>
              </a:ext>
            </a:extLst>
          </p:cNvPr>
          <p:cNvSpPr/>
          <p:nvPr/>
        </p:nvSpPr>
        <p:spPr>
          <a:xfrm>
            <a:off x="2402541" y="4710832"/>
            <a:ext cx="2330823" cy="448236"/>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sp>
        <p:nvSpPr>
          <p:cNvPr id="21" name="Rectangle 20">
            <a:extLst>
              <a:ext uri="{FF2B5EF4-FFF2-40B4-BE49-F238E27FC236}">
                <a16:creationId xmlns:a16="http://schemas.microsoft.com/office/drawing/2014/main" id="{A0B614CC-C2B8-434F-BA12-C74927C54821}"/>
              </a:ext>
            </a:extLst>
          </p:cNvPr>
          <p:cNvSpPr/>
          <p:nvPr/>
        </p:nvSpPr>
        <p:spPr>
          <a:xfrm>
            <a:off x="3621741" y="4764619"/>
            <a:ext cx="103094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tx1"/>
              </a:solidFill>
              <a:cs typeface="Calibri"/>
            </a:endParaRPr>
          </a:p>
        </p:txBody>
      </p:sp>
      <p:sp>
        <p:nvSpPr>
          <p:cNvPr id="22" name="Rectangle 21">
            <a:extLst>
              <a:ext uri="{FF2B5EF4-FFF2-40B4-BE49-F238E27FC236}">
                <a16:creationId xmlns:a16="http://schemas.microsoft.com/office/drawing/2014/main" id="{ED8732ED-12A1-45C7-8FB7-151B36AF7003}"/>
              </a:ext>
            </a:extLst>
          </p:cNvPr>
          <p:cNvSpPr/>
          <p:nvPr/>
        </p:nvSpPr>
        <p:spPr>
          <a:xfrm>
            <a:off x="3712976" y="4792196"/>
            <a:ext cx="808299" cy="27779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rgbClr val="000000"/>
                </a:solidFill>
                <a:cs typeface="Calibri"/>
              </a:rPr>
              <a:t>Data</a:t>
            </a:r>
            <a:endParaRPr lang="en-US">
              <a:solidFill>
                <a:srgbClr val="000000"/>
              </a:solidFill>
            </a:endParaRPr>
          </a:p>
        </p:txBody>
      </p:sp>
      <p:sp>
        <p:nvSpPr>
          <p:cNvPr id="23" name="Rectangle 22">
            <a:extLst>
              <a:ext uri="{FF2B5EF4-FFF2-40B4-BE49-F238E27FC236}">
                <a16:creationId xmlns:a16="http://schemas.microsoft.com/office/drawing/2014/main" id="{468FF6EB-1EBD-4D70-9499-4E6F88A77915}"/>
              </a:ext>
            </a:extLst>
          </p:cNvPr>
          <p:cNvSpPr/>
          <p:nvPr/>
        </p:nvSpPr>
        <p:spPr>
          <a:xfrm>
            <a:off x="2456329" y="4764619"/>
            <a:ext cx="1165411" cy="34066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cs typeface="Calibri"/>
              </a:rPr>
              <a:t>Segment Header</a:t>
            </a:r>
          </a:p>
        </p:txBody>
      </p:sp>
      <p:sp>
        <p:nvSpPr>
          <p:cNvPr id="24" name="Rectangle 23">
            <a:extLst>
              <a:ext uri="{FF2B5EF4-FFF2-40B4-BE49-F238E27FC236}">
                <a16:creationId xmlns:a16="http://schemas.microsoft.com/office/drawing/2014/main" id="{58F1FBE3-F39A-44B2-AE22-1BB6BB0004CE}"/>
              </a:ext>
            </a:extLst>
          </p:cNvPr>
          <p:cNvSpPr/>
          <p:nvPr/>
        </p:nvSpPr>
        <p:spPr>
          <a:xfrm>
            <a:off x="1255058" y="4710832"/>
            <a:ext cx="1147482" cy="448236"/>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solidFill>
                  <a:srgbClr val="000000"/>
                </a:solidFill>
                <a:cs typeface="Calibri"/>
              </a:rPr>
              <a:t>Network Header</a:t>
            </a:r>
            <a:endParaRPr lang="en-US" sz="1100" b="1">
              <a:solidFill>
                <a:srgbClr val="000000"/>
              </a:solidFill>
            </a:endParaRPr>
          </a:p>
        </p:txBody>
      </p:sp>
      <p:sp>
        <p:nvSpPr>
          <p:cNvPr id="25" name="Rectangle 24">
            <a:extLst>
              <a:ext uri="{FF2B5EF4-FFF2-40B4-BE49-F238E27FC236}">
                <a16:creationId xmlns:a16="http://schemas.microsoft.com/office/drawing/2014/main" id="{F41B2BEC-8302-40AA-BCF3-4D6758A3E378}"/>
              </a:ext>
            </a:extLst>
          </p:cNvPr>
          <p:cNvSpPr/>
          <p:nvPr/>
        </p:nvSpPr>
        <p:spPr>
          <a:xfrm>
            <a:off x="222200" y="4679249"/>
            <a:ext cx="980032" cy="579513"/>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100" b="1" dirty="0">
                <a:solidFill>
                  <a:schemeClr val="tx1"/>
                </a:solidFill>
              </a:rPr>
              <a:t>Frame Header</a:t>
            </a:r>
          </a:p>
        </p:txBody>
      </p:sp>
      <p:sp>
        <p:nvSpPr>
          <p:cNvPr id="26" name="Rectangle 25">
            <a:extLst>
              <a:ext uri="{FF2B5EF4-FFF2-40B4-BE49-F238E27FC236}">
                <a16:creationId xmlns:a16="http://schemas.microsoft.com/office/drawing/2014/main" id="{15C2F2EB-69EC-4DAE-9FA7-1E8094DEED41}"/>
              </a:ext>
            </a:extLst>
          </p:cNvPr>
          <p:cNvSpPr/>
          <p:nvPr/>
        </p:nvSpPr>
        <p:spPr>
          <a:xfrm>
            <a:off x="4839974" y="4679249"/>
            <a:ext cx="980032" cy="579513"/>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100" b="1" dirty="0">
                <a:solidFill>
                  <a:schemeClr val="tx1"/>
                </a:solidFill>
              </a:rPr>
              <a:t>Frame Trailer</a:t>
            </a:r>
          </a:p>
        </p:txBody>
      </p:sp>
      <p:sp>
        <p:nvSpPr>
          <p:cNvPr id="9" name="TextBox 8">
            <a:extLst>
              <a:ext uri="{FF2B5EF4-FFF2-40B4-BE49-F238E27FC236}">
                <a16:creationId xmlns:a16="http://schemas.microsoft.com/office/drawing/2014/main" id="{D43854EF-BC22-43CE-86D2-057504E73E09}"/>
              </a:ext>
            </a:extLst>
          </p:cNvPr>
          <p:cNvSpPr txBox="1"/>
          <p:nvPr/>
        </p:nvSpPr>
        <p:spPr>
          <a:xfrm>
            <a:off x="3791303" y="1767769"/>
            <a:ext cx="1083566" cy="369332"/>
          </a:xfrm>
          <a:prstGeom prst="rect">
            <a:avLst/>
          </a:prstGeom>
          <a:noFill/>
        </p:spPr>
        <p:txBody>
          <a:bodyPr wrap="none" rtlCol="0">
            <a:spAutoFit/>
          </a:bodyPr>
          <a:lstStyle/>
          <a:p>
            <a:r>
              <a:rPr lang="en-IE" b="1" dirty="0"/>
              <a:t>Large File</a:t>
            </a:r>
          </a:p>
        </p:txBody>
      </p:sp>
      <p:sp>
        <p:nvSpPr>
          <p:cNvPr id="11" name="Arrow: Down 10">
            <a:extLst>
              <a:ext uri="{FF2B5EF4-FFF2-40B4-BE49-F238E27FC236}">
                <a16:creationId xmlns:a16="http://schemas.microsoft.com/office/drawing/2014/main" id="{B9A904A8-E9F0-4A39-B6AD-A9F5588E0945}"/>
              </a:ext>
            </a:extLst>
          </p:cNvPr>
          <p:cNvSpPr/>
          <p:nvPr/>
        </p:nvSpPr>
        <p:spPr>
          <a:xfrm>
            <a:off x="4066570" y="2214183"/>
            <a:ext cx="515074" cy="27779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27" name="Picture 4">
            <a:extLst>
              <a:ext uri="{FF2B5EF4-FFF2-40B4-BE49-F238E27FC236}">
                <a16:creationId xmlns:a16="http://schemas.microsoft.com/office/drawing/2014/main" id="{8439E343-6213-4FF0-9978-30949CA13880}"/>
              </a:ext>
            </a:extLst>
          </p:cNvPr>
          <p:cNvPicPr>
            <a:picLocks noChangeAspect="1"/>
          </p:cNvPicPr>
          <p:nvPr/>
        </p:nvPicPr>
        <p:blipFill rotWithShape="1">
          <a:blip r:embed="rId5"/>
          <a:srcRect l="53570" t="1306" r="-2" b="-1"/>
          <a:stretch/>
        </p:blipFill>
        <p:spPr>
          <a:xfrm>
            <a:off x="8094185" y="935492"/>
            <a:ext cx="2592616" cy="4890102"/>
          </a:xfrm>
          <a:prstGeom prst="rect">
            <a:avLst/>
          </a:prstGeom>
          <a:effectLst/>
        </p:spPr>
      </p:pic>
      <p:sp>
        <p:nvSpPr>
          <p:cNvPr id="28" name="Arrow: Down 27">
            <a:extLst>
              <a:ext uri="{FF2B5EF4-FFF2-40B4-BE49-F238E27FC236}">
                <a16:creationId xmlns:a16="http://schemas.microsoft.com/office/drawing/2014/main" id="{53BC3490-EE42-4DC7-88E4-170B836AF666}"/>
              </a:ext>
            </a:extLst>
          </p:cNvPr>
          <p:cNvSpPr/>
          <p:nvPr/>
        </p:nvSpPr>
        <p:spPr>
          <a:xfrm>
            <a:off x="3791303" y="3835846"/>
            <a:ext cx="259612" cy="1022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9" name="Arrow: Down 28">
            <a:extLst>
              <a:ext uri="{FF2B5EF4-FFF2-40B4-BE49-F238E27FC236}">
                <a16:creationId xmlns:a16="http://schemas.microsoft.com/office/drawing/2014/main" id="{6203A307-8E82-4427-9A04-B4042F835EF1}"/>
              </a:ext>
            </a:extLst>
          </p:cNvPr>
          <p:cNvSpPr/>
          <p:nvPr/>
        </p:nvSpPr>
        <p:spPr>
          <a:xfrm>
            <a:off x="3776150" y="4523194"/>
            <a:ext cx="259612" cy="1022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0" name="Arrow: Down 29">
            <a:extLst>
              <a:ext uri="{FF2B5EF4-FFF2-40B4-BE49-F238E27FC236}">
                <a16:creationId xmlns:a16="http://schemas.microsoft.com/office/drawing/2014/main" id="{AC308A82-0B02-4D4D-9B42-3FA3233B117A}"/>
              </a:ext>
            </a:extLst>
          </p:cNvPr>
          <p:cNvSpPr/>
          <p:nvPr/>
        </p:nvSpPr>
        <p:spPr>
          <a:xfrm rot="19400197">
            <a:off x="3698328" y="2964710"/>
            <a:ext cx="274830" cy="43745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2" name="TextBox 11">
            <a:extLst>
              <a:ext uri="{FF2B5EF4-FFF2-40B4-BE49-F238E27FC236}">
                <a16:creationId xmlns:a16="http://schemas.microsoft.com/office/drawing/2014/main" id="{4AB0FE71-C691-4C10-976C-CB5D98070002}"/>
              </a:ext>
            </a:extLst>
          </p:cNvPr>
          <p:cNvSpPr txBox="1"/>
          <p:nvPr/>
        </p:nvSpPr>
        <p:spPr>
          <a:xfrm>
            <a:off x="6325094" y="3477457"/>
            <a:ext cx="2688171" cy="400110"/>
          </a:xfrm>
          <a:prstGeom prst="rect">
            <a:avLst/>
          </a:prstGeom>
          <a:noFill/>
        </p:spPr>
        <p:txBody>
          <a:bodyPr wrap="square" rtlCol="0">
            <a:spAutoFit/>
          </a:bodyPr>
          <a:lstStyle/>
          <a:p>
            <a:r>
              <a:rPr lang="en-IE" sz="2000" b="1" dirty="0"/>
              <a:t>TCP Segment</a:t>
            </a:r>
          </a:p>
        </p:txBody>
      </p:sp>
      <p:sp>
        <p:nvSpPr>
          <p:cNvPr id="31" name="TextBox 30">
            <a:extLst>
              <a:ext uri="{FF2B5EF4-FFF2-40B4-BE49-F238E27FC236}">
                <a16:creationId xmlns:a16="http://schemas.microsoft.com/office/drawing/2014/main" id="{89CFD57B-C932-4233-9D54-95BF8D6989FE}"/>
              </a:ext>
            </a:extLst>
          </p:cNvPr>
          <p:cNvSpPr txBox="1"/>
          <p:nvPr/>
        </p:nvSpPr>
        <p:spPr>
          <a:xfrm>
            <a:off x="6325094" y="2539285"/>
            <a:ext cx="2592616" cy="400110"/>
          </a:xfrm>
          <a:prstGeom prst="rect">
            <a:avLst/>
          </a:prstGeom>
          <a:noFill/>
        </p:spPr>
        <p:txBody>
          <a:bodyPr wrap="square" rtlCol="0">
            <a:spAutoFit/>
          </a:bodyPr>
          <a:lstStyle/>
          <a:p>
            <a:r>
              <a:rPr lang="en-IE" sz="2000" b="1" dirty="0"/>
              <a:t>User/App Data</a:t>
            </a:r>
          </a:p>
        </p:txBody>
      </p:sp>
      <p:sp>
        <p:nvSpPr>
          <p:cNvPr id="32" name="TextBox 31">
            <a:extLst>
              <a:ext uri="{FF2B5EF4-FFF2-40B4-BE49-F238E27FC236}">
                <a16:creationId xmlns:a16="http://schemas.microsoft.com/office/drawing/2014/main" id="{77890EE5-C031-4424-B590-EAD7CE8FB5C0}"/>
              </a:ext>
            </a:extLst>
          </p:cNvPr>
          <p:cNvSpPr txBox="1"/>
          <p:nvPr/>
        </p:nvSpPr>
        <p:spPr>
          <a:xfrm>
            <a:off x="6338026" y="4108494"/>
            <a:ext cx="2688171" cy="400110"/>
          </a:xfrm>
          <a:prstGeom prst="rect">
            <a:avLst/>
          </a:prstGeom>
          <a:noFill/>
        </p:spPr>
        <p:txBody>
          <a:bodyPr wrap="square" rtlCol="0">
            <a:spAutoFit/>
          </a:bodyPr>
          <a:lstStyle/>
          <a:p>
            <a:r>
              <a:rPr lang="en-IE" sz="2000" b="1" dirty="0"/>
              <a:t>IP Packet</a:t>
            </a:r>
          </a:p>
        </p:txBody>
      </p:sp>
      <p:sp>
        <p:nvSpPr>
          <p:cNvPr id="33" name="TextBox 32">
            <a:extLst>
              <a:ext uri="{FF2B5EF4-FFF2-40B4-BE49-F238E27FC236}">
                <a16:creationId xmlns:a16="http://schemas.microsoft.com/office/drawing/2014/main" id="{C0EB22F3-2888-4101-BF5B-2B85E5F205CC}"/>
              </a:ext>
            </a:extLst>
          </p:cNvPr>
          <p:cNvSpPr txBox="1"/>
          <p:nvPr/>
        </p:nvSpPr>
        <p:spPr>
          <a:xfrm>
            <a:off x="6331381" y="4779483"/>
            <a:ext cx="2688171" cy="400110"/>
          </a:xfrm>
          <a:prstGeom prst="rect">
            <a:avLst/>
          </a:prstGeom>
          <a:noFill/>
        </p:spPr>
        <p:txBody>
          <a:bodyPr wrap="square" rtlCol="0">
            <a:spAutoFit/>
          </a:bodyPr>
          <a:lstStyle/>
          <a:p>
            <a:r>
              <a:rPr lang="en-IE" sz="2000" b="1" dirty="0"/>
              <a:t>Ethernet Frame</a:t>
            </a:r>
          </a:p>
        </p:txBody>
      </p:sp>
      <p:sp>
        <p:nvSpPr>
          <p:cNvPr id="34" name="TextBox 33">
            <a:extLst>
              <a:ext uri="{FF2B5EF4-FFF2-40B4-BE49-F238E27FC236}">
                <a16:creationId xmlns:a16="http://schemas.microsoft.com/office/drawing/2014/main" id="{E3174E0C-B9D2-4C16-B0DC-1F45FE528134}"/>
              </a:ext>
            </a:extLst>
          </p:cNvPr>
          <p:cNvSpPr txBox="1"/>
          <p:nvPr/>
        </p:nvSpPr>
        <p:spPr>
          <a:xfrm>
            <a:off x="222200" y="5891134"/>
            <a:ext cx="6823177" cy="369332"/>
          </a:xfrm>
          <a:prstGeom prst="rect">
            <a:avLst/>
          </a:prstGeom>
          <a:noFill/>
        </p:spPr>
        <p:txBody>
          <a:bodyPr wrap="square" rtlCol="0">
            <a:spAutoFit/>
          </a:bodyPr>
          <a:lstStyle/>
          <a:p>
            <a:r>
              <a:rPr lang="en-IE" dirty="0"/>
              <a:t>010001010101010011111010100111011011100101010101110….</a:t>
            </a:r>
          </a:p>
        </p:txBody>
      </p:sp>
      <p:sp>
        <p:nvSpPr>
          <p:cNvPr id="35" name="Arrow: Down 34">
            <a:extLst>
              <a:ext uri="{FF2B5EF4-FFF2-40B4-BE49-F238E27FC236}">
                <a16:creationId xmlns:a16="http://schemas.microsoft.com/office/drawing/2014/main" id="{E76DADD9-5DAD-4966-9A60-AA46FA9961D7}"/>
              </a:ext>
            </a:extLst>
          </p:cNvPr>
          <p:cNvSpPr/>
          <p:nvPr/>
        </p:nvSpPr>
        <p:spPr>
          <a:xfrm>
            <a:off x="3435434" y="5454509"/>
            <a:ext cx="277542" cy="416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6" name="TextBox 35">
            <a:extLst>
              <a:ext uri="{FF2B5EF4-FFF2-40B4-BE49-F238E27FC236}">
                <a16:creationId xmlns:a16="http://schemas.microsoft.com/office/drawing/2014/main" id="{0F2EFFEC-7D6B-4F61-9538-616BBDD46740}"/>
              </a:ext>
            </a:extLst>
          </p:cNvPr>
          <p:cNvSpPr txBox="1"/>
          <p:nvPr/>
        </p:nvSpPr>
        <p:spPr>
          <a:xfrm>
            <a:off x="8379934" y="4964167"/>
            <a:ext cx="2133830" cy="369332"/>
          </a:xfrm>
          <a:prstGeom prst="rect">
            <a:avLst/>
          </a:prstGeom>
          <a:solidFill>
            <a:schemeClr val="accent2">
              <a:lumMod val="75000"/>
            </a:schemeClr>
          </a:solidFill>
        </p:spPr>
        <p:txBody>
          <a:bodyPr wrap="square" rtlCol="0">
            <a:spAutoFit/>
          </a:bodyPr>
          <a:lstStyle/>
          <a:p>
            <a:r>
              <a:rPr lang="en-IE" b="1" dirty="0"/>
              <a:t>(Data Link/Physical)</a:t>
            </a:r>
          </a:p>
        </p:txBody>
      </p:sp>
    </p:spTree>
    <p:extLst>
      <p:ext uri="{BB962C8B-B14F-4D97-AF65-F5344CB8AC3E}">
        <p14:creationId xmlns:p14="http://schemas.microsoft.com/office/powerpoint/2010/main" val="377491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00"/>
                                        <p:tgtEl>
                                          <p:spTgt spid="1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4"/>
                                        </p:tgtEl>
                                        <p:attrNameLst>
                                          <p:attrName>style.visibility</p:attrName>
                                        </p:attrNameLst>
                                      </p:cBhvr>
                                      <p:to>
                                        <p:strVal val="visible"/>
                                      </p:to>
                                    </p:set>
                                    <p:animEffect transition="in" filter="fade">
                                      <p:cBhvr>
                                        <p:cTn id="78" dur="500"/>
                                        <p:tgtEl>
                                          <p:spTgt spid="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500"/>
                                        <p:tgtEl>
                                          <p:spTgt spid="2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500"/>
                                        <p:tgtEl>
                                          <p:spTgt spid="2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500"/>
                                        <p:tgtEl>
                                          <p:spTgt spid="2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500"/>
                                        <p:tgtEl>
                                          <p:spTgt spid="2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500"/>
                                        <p:tgtEl>
                                          <p:spTgt spid="2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500"/>
                                        <p:tgtEl>
                                          <p:spTgt spid="29"/>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12"/>
                                        </p:tgtEl>
                                        <p:attrNameLst>
                                          <p:attrName>style.visibility</p:attrName>
                                        </p:attrNameLst>
                                      </p:cBhvr>
                                      <p:to>
                                        <p:strVal val="visible"/>
                                      </p:to>
                                    </p:set>
                                    <p:animEffect transition="in" filter="fade">
                                      <p:cBhvr>
                                        <p:cTn id="107" dur="500"/>
                                        <p:tgtEl>
                                          <p:spTgt spid="1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500"/>
                                        <p:tgtEl>
                                          <p:spTgt spid="31"/>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Effect transition="in" filter="fade">
                                      <p:cBhvr>
                                        <p:cTn id="113" dur="500"/>
                                        <p:tgtEl>
                                          <p:spTgt spid="32"/>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3"/>
                                        </p:tgtEl>
                                        <p:attrNameLst>
                                          <p:attrName>style.visibility</p:attrName>
                                        </p:attrNameLst>
                                      </p:cBhvr>
                                      <p:to>
                                        <p:strVal val="visible"/>
                                      </p:to>
                                    </p:set>
                                    <p:animEffect transition="in" filter="fade">
                                      <p:cBhvr>
                                        <p:cTn id="116" dur="500"/>
                                        <p:tgtEl>
                                          <p:spTgt spid="33"/>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5"/>
                                        </p:tgtEl>
                                        <p:attrNameLst>
                                          <p:attrName>style.visibility</p:attrName>
                                        </p:attrNameLst>
                                      </p:cBhvr>
                                      <p:to>
                                        <p:strVal val="visible"/>
                                      </p:to>
                                    </p:set>
                                    <p:animEffect transition="in" filter="fade">
                                      <p:cBhvr>
                                        <p:cTn id="119" dur="500"/>
                                        <p:tgtEl>
                                          <p:spTgt spid="35"/>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P spid="14" grpId="0" animBg="1"/>
      <p:bldP spid="7" grpId="0" animBg="1"/>
      <p:bldP spid="6" grpId="0" animBg="1"/>
      <p:bldP spid="8" grpId="0" animBg="1"/>
      <p:bldP spid="10" grpId="0" animBg="1"/>
      <p:bldP spid="13"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P spid="9" grpId="0"/>
      <p:bldP spid="11" grpId="0" animBg="1"/>
      <p:bldP spid="28" grpId="0" animBg="1"/>
      <p:bldP spid="29" grpId="0" animBg="1"/>
      <p:bldP spid="30" grpId="0" animBg="1"/>
      <p:bldP spid="12" grpId="0"/>
      <p:bldP spid="31" grpId="0"/>
      <p:bldP spid="32" grpId="0"/>
      <p:bldP spid="33" grpId="0"/>
      <p:bldP spid="34" grpId="0"/>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6B11-C1F7-4667-A6F6-00AAF008DF4F}"/>
              </a:ext>
            </a:extLst>
          </p:cNvPr>
          <p:cNvSpPr>
            <a:spLocks noGrp="1"/>
          </p:cNvSpPr>
          <p:nvPr>
            <p:ph type="title"/>
          </p:nvPr>
        </p:nvSpPr>
        <p:spPr>
          <a:xfrm>
            <a:off x="648929" y="629266"/>
            <a:ext cx="5127031" cy="1676603"/>
          </a:xfrm>
        </p:spPr>
        <p:txBody>
          <a:bodyPr>
            <a:normAutofit/>
          </a:bodyPr>
          <a:lstStyle/>
          <a:p>
            <a:r>
              <a:rPr lang="en-US" b="1" dirty="0">
                <a:cs typeface="Calibri Light"/>
              </a:rPr>
              <a:t>OSI Model</a:t>
            </a:r>
          </a:p>
        </p:txBody>
      </p:sp>
      <p:sp>
        <p:nvSpPr>
          <p:cNvPr id="3" name="Content Placeholder 2">
            <a:extLst>
              <a:ext uri="{FF2B5EF4-FFF2-40B4-BE49-F238E27FC236}">
                <a16:creationId xmlns:a16="http://schemas.microsoft.com/office/drawing/2014/main" id="{993E33DD-E471-4854-AC01-0653A0453225}"/>
              </a:ext>
            </a:extLst>
          </p:cNvPr>
          <p:cNvSpPr>
            <a:spLocks noGrp="1"/>
          </p:cNvSpPr>
          <p:nvPr>
            <p:ph idx="1"/>
          </p:nvPr>
        </p:nvSpPr>
        <p:spPr>
          <a:xfrm>
            <a:off x="648930" y="2438400"/>
            <a:ext cx="5127029" cy="3785419"/>
          </a:xfrm>
        </p:spPr>
        <p:txBody>
          <a:bodyPr vert="horz" lIns="91440" tIns="45720" rIns="91440" bIns="45720" rtlCol="0">
            <a:normAutofit/>
          </a:bodyPr>
          <a:lstStyle/>
          <a:p>
            <a:r>
              <a:rPr lang="en-US" sz="2000" dirty="0">
                <a:cs typeface="Calibri"/>
              </a:rPr>
              <a:t>Open Systems Interconnection(OSI) introduced by the International Organization for Standardization (ISO) in 1984 </a:t>
            </a:r>
          </a:p>
          <a:p>
            <a:r>
              <a:rPr lang="en-US" sz="2000" dirty="0">
                <a:cs typeface="Calibri"/>
              </a:rPr>
              <a:t>Provide a reference model to make sure products of different vendors would interoperate in networks. </a:t>
            </a:r>
          </a:p>
          <a:p>
            <a:r>
              <a:rPr lang="en-US" sz="2000" dirty="0">
                <a:cs typeface="Calibri"/>
              </a:rPr>
              <a:t>A layer in the OSI model communicates with three other layers: </a:t>
            </a:r>
          </a:p>
          <a:p>
            <a:pPr lvl="1"/>
            <a:r>
              <a:rPr lang="en-US" sz="2000" dirty="0">
                <a:cs typeface="Calibri"/>
              </a:rPr>
              <a:t>the layer above it, the layer below it, and the same layer at its communication partner.</a:t>
            </a:r>
          </a:p>
        </p:txBody>
      </p:sp>
      <p:pic>
        <p:nvPicPr>
          <p:cNvPr id="4" name="Picture 4" descr="A close up of a logo&#10;&#10;Description generated with very high confidence">
            <a:extLst>
              <a:ext uri="{FF2B5EF4-FFF2-40B4-BE49-F238E27FC236}">
                <a16:creationId xmlns:a16="http://schemas.microsoft.com/office/drawing/2014/main" id="{F7A28498-2E2A-42A9-8A44-B188A6F677B4}"/>
              </a:ext>
            </a:extLst>
          </p:cNvPr>
          <p:cNvPicPr>
            <a:picLocks noChangeAspect="1"/>
          </p:cNvPicPr>
          <p:nvPr/>
        </p:nvPicPr>
        <p:blipFill rotWithShape="1">
          <a:blip r:embed="rId2"/>
          <a:srcRect t="2774"/>
          <a:stretch/>
        </p:blipFill>
        <p:spPr>
          <a:xfrm>
            <a:off x="6090612" y="10"/>
            <a:ext cx="6101387" cy="6857990"/>
          </a:xfrm>
          <a:prstGeom prst="rect">
            <a:avLst/>
          </a:prstGeom>
          <a:effectLst/>
        </p:spPr>
      </p:pic>
      <p:sp>
        <p:nvSpPr>
          <p:cNvPr id="6" name="TextBox 5">
            <a:extLst>
              <a:ext uri="{FF2B5EF4-FFF2-40B4-BE49-F238E27FC236}">
                <a16:creationId xmlns:a16="http://schemas.microsoft.com/office/drawing/2014/main" id="{3807EB44-6FF9-4B80-8541-A8E83DC6C5D3}"/>
              </a:ext>
            </a:extLst>
          </p:cNvPr>
          <p:cNvSpPr txBox="1"/>
          <p:nvPr/>
        </p:nvSpPr>
        <p:spPr>
          <a:xfrm>
            <a:off x="-2662517" y="6252881"/>
            <a:ext cx="12075458" cy="21544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800"/>
              <a:t>Image Source: https://upload.wikimedia.org/wikipedia/commons/thumb/4/47/Osi-model-jb.svg/2000px-Osi-model-jb.svg.png</a:t>
            </a:r>
          </a:p>
        </p:txBody>
      </p:sp>
    </p:spTree>
    <p:extLst>
      <p:ext uri="{BB962C8B-B14F-4D97-AF65-F5344CB8AC3E}">
        <p14:creationId xmlns:p14="http://schemas.microsoft.com/office/powerpoint/2010/main" val="256212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983D3-9304-4942-96DC-93F904F4C677}"/>
              </a:ext>
            </a:extLst>
          </p:cNvPr>
          <p:cNvSpPr>
            <a:spLocks noGrp="1"/>
          </p:cNvSpPr>
          <p:nvPr>
            <p:ph type="title"/>
          </p:nvPr>
        </p:nvSpPr>
        <p:spPr>
          <a:xfrm>
            <a:off x="648929" y="629266"/>
            <a:ext cx="3651467" cy="1676603"/>
          </a:xfrm>
        </p:spPr>
        <p:txBody>
          <a:bodyPr>
            <a:normAutofit/>
          </a:bodyPr>
          <a:lstStyle/>
          <a:p>
            <a:r>
              <a:rPr lang="en-US" dirty="0">
                <a:cs typeface="Calibri Light"/>
              </a:rPr>
              <a:t>OSI vs TCP/IP</a:t>
            </a:r>
            <a:endParaRPr lang="en-US" dirty="0"/>
          </a:p>
        </p:txBody>
      </p:sp>
      <p:sp>
        <p:nvSpPr>
          <p:cNvPr id="10" name="Content Placeholder 8">
            <a:extLst>
              <a:ext uri="{FF2B5EF4-FFF2-40B4-BE49-F238E27FC236}">
                <a16:creationId xmlns:a16="http://schemas.microsoft.com/office/drawing/2014/main" id="{AE7E7699-E235-4EEB-981D-B8DA818F700F}"/>
              </a:ext>
            </a:extLst>
          </p:cNvPr>
          <p:cNvSpPr>
            <a:spLocks noGrp="1"/>
          </p:cNvSpPr>
          <p:nvPr>
            <p:ph idx="1"/>
          </p:nvPr>
        </p:nvSpPr>
        <p:spPr>
          <a:xfrm>
            <a:off x="648931" y="2438400"/>
            <a:ext cx="3651466" cy="3785419"/>
          </a:xfrm>
        </p:spPr>
        <p:txBody>
          <a:bodyPr vert="horz" lIns="91440" tIns="45720" rIns="91440" bIns="45720" rtlCol="0">
            <a:normAutofit/>
          </a:bodyPr>
          <a:lstStyle/>
          <a:p>
            <a:r>
              <a:rPr lang="en-US" sz="1800" dirty="0">
                <a:cs typeface="Calibri"/>
              </a:rPr>
              <a:t>TCP/IP model combines the presentation and session layer into its application layer.</a:t>
            </a:r>
          </a:p>
          <a:p>
            <a:r>
              <a:rPr lang="en-US" sz="1800" dirty="0">
                <a:cs typeface="Calibri"/>
              </a:rPr>
              <a:t>TCP/IP combines the OSI data link and physical layers into the host-to-network/network access layer</a:t>
            </a:r>
          </a:p>
          <a:p>
            <a:r>
              <a:rPr lang="en-US" sz="1800" dirty="0">
                <a:cs typeface="Calibri"/>
              </a:rPr>
              <a:t>Internet developed on around TCP/IP protocols.</a:t>
            </a:r>
          </a:p>
          <a:p>
            <a:pPr lvl="1"/>
            <a:r>
              <a:rPr lang="en-US" sz="1800" dirty="0">
                <a:cs typeface="Calibri"/>
              </a:rPr>
              <a:t>Thus very popular.... Networks are not usually built on the OSI model, even though the OSI model is used as a guide.</a:t>
            </a:r>
          </a:p>
        </p:txBody>
      </p:sp>
      <p:pic>
        <p:nvPicPr>
          <p:cNvPr id="12" name="Picture 4">
            <a:extLst>
              <a:ext uri="{FF2B5EF4-FFF2-40B4-BE49-F238E27FC236}">
                <a16:creationId xmlns:a16="http://schemas.microsoft.com/office/drawing/2014/main" id="{ED4EA54E-EA80-4FA7-A33C-45E844BC7535}"/>
              </a:ext>
            </a:extLst>
          </p:cNvPr>
          <p:cNvPicPr>
            <a:picLocks noChangeAspect="1"/>
          </p:cNvPicPr>
          <p:nvPr/>
        </p:nvPicPr>
        <p:blipFill rotWithShape="1">
          <a:blip r:embed="rId2"/>
          <a:srcRect t="1306" r="-1" b="-1"/>
          <a:stretch/>
        </p:blipFill>
        <p:spPr>
          <a:xfrm>
            <a:off x="4639056" y="10"/>
            <a:ext cx="7552944" cy="6857990"/>
          </a:xfrm>
          <a:prstGeom prst="rect">
            <a:avLst/>
          </a:prstGeom>
          <a:effectLst/>
        </p:spPr>
      </p:pic>
      <p:sp>
        <p:nvSpPr>
          <p:cNvPr id="3" name="TextBox 2">
            <a:extLst>
              <a:ext uri="{FF2B5EF4-FFF2-40B4-BE49-F238E27FC236}">
                <a16:creationId xmlns:a16="http://schemas.microsoft.com/office/drawing/2014/main" id="{AF119A25-8C57-4F1F-8BB6-98B69CD6B3EE}"/>
              </a:ext>
            </a:extLst>
          </p:cNvPr>
          <p:cNvSpPr txBox="1"/>
          <p:nvPr/>
        </p:nvSpPr>
        <p:spPr>
          <a:xfrm>
            <a:off x="9124245" y="5654840"/>
            <a:ext cx="2736451" cy="461665"/>
          </a:xfrm>
          <a:prstGeom prst="rect">
            <a:avLst/>
          </a:prstGeom>
          <a:solidFill>
            <a:schemeClr val="accent2">
              <a:lumMod val="75000"/>
            </a:schemeClr>
          </a:solidFill>
        </p:spPr>
        <p:txBody>
          <a:bodyPr wrap="square" rtlCol="0">
            <a:spAutoFit/>
          </a:bodyPr>
          <a:lstStyle/>
          <a:p>
            <a:r>
              <a:rPr lang="en-IE" sz="2400" b="1" dirty="0"/>
              <a:t>(Data Link/Physical)</a:t>
            </a:r>
          </a:p>
        </p:txBody>
      </p:sp>
    </p:spTree>
    <p:extLst>
      <p:ext uri="{BB962C8B-B14F-4D97-AF65-F5344CB8AC3E}">
        <p14:creationId xmlns:p14="http://schemas.microsoft.com/office/powerpoint/2010/main" val="114088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fade">
                                      <p:cBhvr>
                                        <p:cTn id="17" dur="500"/>
                                        <p:tgtEl>
                                          <p:spTgt spid="10">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xEl>
                                              <p:pRg st="3" end="3"/>
                                            </p:txEl>
                                          </p:spTgt>
                                        </p:tgtEl>
                                        <p:attrNameLst>
                                          <p:attrName>style.visibility</p:attrName>
                                        </p:attrNameLst>
                                      </p:cBhvr>
                                      <p:to>
                                        <p:strVal val="visible"/>
                                      </p:to>
                                    </p:set>
                                    <p:animEffect transition="in" filter="fade">
                                      <p:cBhvr>
                                        <p:cTn id="20"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0CE81-14A8-46F3-88A5-AFC20F74560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IE" sz="2200">
                <a:solidFill>
                  <a:srgbClr val="FFFFFF"/>
                </a:solidFill>
              </a:rPr>
              <a:t>Data Encapsulation: Protocol Data Units (PDUs)</a:t>
            </a:r>
          </a:p>
        </p:txBody>
      </p:sp>
      <p:pic>
        <p:nvPicPr>
          <p:cNvPr id="3" name="Picture 3" descr="A screenshot of a cell phone&#10;&#10;Description generated with very high confidence">
            <a:extLst>
              <a:ext uri="{FF2B5EF4-FFF2-40B4-BE49-F238E27FC236}">
                <a16:creationId xmlns:a16="http://schemas.microsoft.com/office/drawing/2014/main" id="{52B21C24-C2FD-49E6-8127-CBC9C12B85B0}"/>
              </a:ext>
            </a:extLst>
          </p:cNvPr>
          <p:cNvPicPr>
            <a:picLocks noChangeAspect="1"/>
          </p:cNvPicPr>
          <p:nvPr/>
        </p:nvPicPr>
        <p:blipFill>
          <a:blip r:embed="rId3"/>
          <a:stretch>
            <a:fillRect/>
          </a:stretch>
        </p:blipFill>
        <p:spPr>
          <a:xfrm>
            <a:off x="3492261" y="688580"/>
            <a:ext cx="8194614" cy="5491827"/>
          </a:xfrm>
          <a:prstGeom prst="rect">
            <a:avLst/>
          </a:prstGeom>
        </p:spPr>
      </p:pic>
      <p:sp>
        <p:nvSpPr>
          <p:cNvPr id="5" name="TextBox 4">
            <a:extLst>
              <a:ext uri="{FF2B5EF4-FFF2-40B4-BE49-F238E27FC236}">
                <a16:creationId xmlns:a16="http://schemas.microsoft.com/office/drawing/2014/main" id="{ADFC7863-AFDE-4552-A9A6-90BD7A75DD63}"/>
              </a:ext>
            </a:extLst>
          </p:cNvPr>
          <p:cNvSpPr txBox="1"/>
          <p:nvPr/>
        </p:nvSpPr>
        <p:spPr>
          <a:xfrm>
            <a:off x="4724400" y="6298720"/>
            <a:ext cx="2743200" cy="36933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Image: </a:t>
            </a:r>
            <a:r>
              <a:rPr lang="en-US" dirty="0">
                <a:cs typeface="Calibri"/>
              </a:rPr>
              <a:t>cisco.com</a:t>
            </a:r>
            <a:endParaRPr lang="en-US" dirty="0"/>
          </a:p>
        </p:txBody>
      </p:sp>
    </p:spTree>
    <p:extLst>
      <p:ext uri="{BB962C8B-B14F-4D97-AF65-F5344CB8AC3E}">
        <p14:creationId xmlns:p14="http://schemas.microsoft.com/office/powerpoint/2010/main" val="3234384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DF02D-E28D-148B-E7E7-04C1EDB3FD03}"/>
              </a:ext>
            </a:extLst>
          </p:cNvPr>
          <p:cNvSpPr>
            <a:spLocks noGrp="1"/>
          </p:cNvSpPr>
          <p:nvPr>
            <p:ph type="title"/>
          </p:nvPr>
        </p:nvSpPr>
        <p:spPr/>
        <p:txBody>
          <a:bodyPr/>
          <a:lstStyle/>
          <a:p>
            <a:r>
              <a:rPr lang="en-IE" dirty="0"/>
              <a:t>TCP/IP Layers Overview</a:t>
            </a:r>
          </a:p>
        </p:txBody>
      </p:sp>
      <p:sp>
        <p:nvSpPr>
          <p:cNvPr id="3" name="Text Placeholder 2">
            <a:extLst>
              <a:ext uri="{FF2B5EF4-FFF2-40B4-BE49-F238E27FC236}">
                <a16:creationId xmlns:a16="http://schemas.microsoft.com/office/drawing/2014/main" id="{4979FFF8-6349-5FF8-6466-A334F6559A99}"/>
              </a:ext>
            </a:extLst>
          </p:cNvPr>
          <p:cNvSpPr>
            <a:spLocks noGrp="1"/>
          </p:cNvSpPr>
          <p:nvPr>
            <p:ph type="body" idx="1"/>
          </p:nvPr>
        </p:nvSpPr>
        <p:spPr/>
        <p:txBody>
          <a:bodyPr/>
          <a:lstStyle/>
          <a:p>
            <a:r>
              <a:rPr lang="en-IE" dirty="0"/>
              <a:t>From the bottom up….</a:t>
            </a:r>
          </a:p>
        </p:txBody>
      </p:sp>
    </p:spTree>
    <p:extLst>
      <p:ext uri="{BB962C8B-B14F-4D97-AF65-F5344CB8AC3E}">
        <p14:creationId xmlns:p14="http://schemas.microsoft.com/office/powerpoint/2010/main" val="1041178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9A9A4-6FB2-49A5-BAF3-4B027CB0309B}"/>
              </a:ext>
            </a:extLst>
          </p:cNvPr>
          <p:cNvSpPr>
            <a:spLocks noGrp="1"/>
          </p:cNvSpPr>
          <p:nvPr>
            <p:ph type="title"/>
          </p:nvPr>
        </p:nvSpPr>
        <p:spPr>
          <a:xfrm>
            <a:off x="2408692" y="23828"/>
            <a:ext cx="7374616" cy="1781175"/>
          </a:xfrm>
        </p:spPr>
        <p:txBody>
          <a:bodyPr>
            <a:normAutofit/>
          </a:bodyPr>
          <a:lstStyle/>
          <a:p>
            <a:r>
              <a:rPr lang="en-IE" sz="3000" dirty="0"/>
              <a:t>Data Link Layer  Communication </a:t>
            </a:r>
            <a:endParaRPr lang="en-IE" sz="3000" b="1" dirty="0">
              <a:cs typeface="Calibri Light"/>
            </a:endParaRPr>
          </a:p>
        </p:txBody>
      </p:sp>
      <p:sp>
        <p:nvSpPr>
          <p:cNvPr id="3" name="Content Placeholder 2">
            <a:extLst>
              <a:ext uri="{FF2B5EF4-FFF2-40B4-BE49-F238E27FC236}">
                <a16:creationId xmlns:a16="http://schemas.microsoft.com/office/drawing/2014/main" id="{35C4274F-3D0C-4782-93FE-40EEFF706614}"/>
              </a:ext>
            </a:extLst>
          </p:cNvPr>
          <p:cNvSpPr>
            <a:spLocks noGrp="1"/>
          </p:cNvSpPr>
          <p:nvPr>
            <p:ph idx="1"/>
          </p:nvPr>
        </p:nvSpPr>
        <p:spPr>
          <a:xfrm>
            <a:off x="445654" y="1659980"/>
            <a:ext cx="3234664" cy="3538040"/>
          </a:xfrm>
        </p:spPr>
        <p:txBody>
          <a:bodyPr>
            <a:normAutofit/>
          </a:bodyPr>
          <a:lstStyle/>
          <a:p>
            <a:endParaRPr lang="en-IE" sz="1600" dirty="0"/>
          </a:p>
          <a:p>
            <a:r>
              <a:rPr lang="en-IE" sz="1600" dirty="0"/>
              <a:t>Data Link Layer protocols </a:t>
            </a:r>
            <a:r>
              <a:rPr lang="en-GB" sz="1600" dirty="0"/>
              <a:t>transfer data between nodes on a network across the physical layer.</a:t>
            </a:r>
            <a:endParaRPr lang="en-IE" sz="1600" dirty="0"/>
          </a:p>
          <a:p>
            <a:r>
              <a:rPr lang="en-IE" sz="1600" dirty="0"/>
              <a:t>Supported by many physical layer implementations</a:t>
            </a:r>
          </a:p>
          <a:p>
            <a:pPr lvl="1"/>
            <a:r>
              <a:rPr lang="en-IE" sz="1600" dirty="0"/>
              <a:t>Wireless/wired</a:t>
            </a:r>
          </a:p>
          <a:p>
            <a:r>
              <a:rPr lang="en-IE" sz="2000" dirty="0"/>
              <a:t>Octet: represents an 8-bit quantity</a:t>
            </a:r>
          </a:p>
          <a:p>
            <a:r>
              <a:rPr lang="en-IE" sz="1600" dirty="0"/>
              <a:t>Protocol Data Unit is the </a:t>
            </a:r>
            <a:r>
              <a:rPr lang="en-IE" sz="1600" b="1" dirty="0"/>
              <a:t>frame</a:t>
            </a:r>
            <a:br>
              <a:rPr lang="en-IE" sz="1600" b="1" dirty="0"/>
            </a:br>
            <a:br>
              <a:rPr lang="en-IE" sz="1600" b="1" dirty="0"/>
            </a:br>
            <a:endParaRPr lang="en-IE" sz="1600" b="1" dirty="0"/>
          </a:p>
          <a:p>
            <a:endParaRPr lang="en-IE" sz="1600" b="1" dirty="0"/>
          </a:p>
          <a:p>
            <a:endParaRPr lang="en-IE" sz="1600" dirty="0"/>
          </a:p>
          <a:p>
            <a:endParaRPr lang="en-IE" sz="1600" dirty="0"/>
          </a:p>
        </p:txBody>
      </p:sp>
      <p:pic>
        <p:nvPicPr>
          <p:cNvPr id="5" name="Picture 4" descr="A screenshot of a cell phone&#10;&#10;Description generated with very high confidence">
            <a:extLst>
              <a:ext uri="{FF2B5EF4-FFF2-40B4-BE49-F238E27FC236}">
                <a16:creationId xmlns:a16="http://schemas.microsoft.com/office/drawing/2014/main" id="{B315A6C2-EBD7-4EA5-914B-C5AEFCE5517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680208" y="1349462"/>
            <a:ext cx="6903723" cy="2005668"/>
          </a:xfrm>
          <a:prstGeom prst="rect">
            <a:avLst/>
          </a:prstGeom>
        </p:spPr>
      </p:pic>
      <p:sp>
        <p:nvSpPr>
          <p:cNvPr id="6" name="TextBox 5">
            <a:extLst>
              <a:ext uri="{FF2B5EF4-FFF2-40B4-BE49-F238E27FC236}">
                <a16:creationId xmlns:a16="http://schemas.microsoft.com/office/drawing/2014/main" id="{BBCF63CE-7545-44A3-8217-49183FC6DF84}"/>
              </a:ext>
            </a:extLst>
          </p:cNvPr>
          <p:cNvSpPr txBox="1"/>
          <p:nvPr/>
        </p:nvSpPr>
        <p:spPr>
          <a:xfrm>
            <a:off x="6652299" y="6378632"/>
            <a:ext cx="230704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hlinkClick r:id="rId3" tooltip="http://networkengineering.stackexchange.com/questions/25592/osi-model-encapsulation">
                  <a:extLst>
                    <a:ext uri="{A12FA001-AC4F-418D-AE19-62706E023703}">
                      <ahyp:hlinkClr xmlns:ahyp="http://schemas.microsoft.com/office/drawing/2018/hyperlinkcolor" val="tx"/>
                    </a:ext>
                  </a:extLst>
                </a:hlinkClick>
              </a:rPr>
              <a:t>This Photo</a:t>
            </a:r>
            <a:r>
              <a:rPr lang="en-IE" sz="700" dirty="0">
                <a:solidFill>
                  <a:srgbClr val="FFFFFF"/>
                </a:solidFill>
              </a:rPr>
              <a:t> by Unknown Author is licensed under </a:t>
            </a:r>
            <a:r>
              <a:rPr lang="en-IE" sz="700" dirty="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IE" sz="700" dirty="0">
              <a:solidFill>
                <a:srgbClr val="FFFFFF"/>
              </a:solidFill>
            </a:endParaRPr>
          </a:p>
        </p:txBody>
      </p:sp>
      <p:sp>
        <p:nvSpPr>
          <p:cNvPr id="7" name="Callout: Line 6">
            <a:extLst>
              <a:ext uri="{FF2B5EF4-FFF2-40B4-BE49-F238E27FC236}">
                <a16:creationId xmlns:a16="http://schemas.microsoft.com/office/drawing/2014/main" id="{D02168E2-06B0-48D2-BDB4-5A0ED32C5B40}"/>
              </a:ext>
            </a:extLst>
          </p:cNvPr>
          <p:cNvSpPr/>
          <p:nvPr/>
        </p:nvSpPr>
        <p:spPr>
          <a:xfrm>
            <a:off x="4059932" y="3992529"/>
            <a:ext cx="2063537" cy="1516009"/>
          </a:xfrm>
          <a:prstGeom prst="borderCallout1">
            <a:avLst>
              <a:gd name="adj1" fmla="val -6600"/>
              <a:gd name="adj2" fmla="val 57039"/>
              <a:gd name="adj3" fmla="val -122647"/>
              <a:gd name="adj4" fmla="val 799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Sequence of alternating 1s and 0s for synchronisation</a:t>
            </a:r>
          </a:p>
        </p:txBody>
      </p:sp>
      <p:sp>
        <p:nvSpPr>
          <p:cNvPr id="10" name="Callout: Line 9">
            <a:extLst>
              <a:ext uri="{FF2B5EF4-FFF2-40B4-BE49-F238E27FC236}">
                <a16:creationId xmlns:a16="http://schemas.microsoft.com/office/drawing/2014/main" id="{773588E6-2525-48FD-A9E0-A260203BCBB8}"/>
              </a:ext>
            </a:extLst>
          </p:cNvPr>
          <p:cNvSpPr/>
          <p:nvPr/>
        </p:nvSpPr>
        <p:spPr>
          <a:xfrm>
            <a:off x="6385688" y="3992529"/>
            <a:ext cx="2063537" cy="1516009"/>
          </a:xfrm>
          <a:prstGeom prst="borderCallout1">
            <a:avLst>
              <a:gd name="adj1" fmla="val -6600"/>
              <a:gd name="adj2" fmla="val 57039"/>
              <a:gd name="adj3" fmla="val -121773"/>
              <a:gd name="adj4" fmla="val 1059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Unique 6 octet (48 bit)  address. “hardware” or “physical” address</a:t>
            </a:r>
          </a:p>
        </p:txBody>
      </p:sp>
      <p:sp>
        <p:nvSpPr>
          <p:cNvPr id="12" name="Callout: Line 11">
            <a:extLst>
              <a:ext uri="{FF2B5EF4-FFF2-40B4-BE49-F238E27FC236}">
                <a16:creationId xmlns:a16="http://schemas.microsoft.com/office/drawing/2014/main" id="{6B879CBB-6094-44E6-8E77-A01518D154BB}"/>
              </a:ext>
            </a:extLst>
          </p:cNvPr>
          <p:cNvSpPr/>
          <p:nvPr/>
        </p:nvSpPr>
        <p:spPr>
          <a:xfrm>
            <a:off x="9872745" y="3992528"/>
            <a:ext cx="2063537" cy="2249246"/>
          </a:xfrm>
          <a:prstGeom prst="borderCallout1">
            <a:avLst>
              <a:gd name="adj1" fmla="val -6600"/>
              <a:gd name="adj2" fmla="val 57039"/>
              <a:gd name="adj3" fmla="val -84655"/>
              <a:gd name="adj4" fmla="val 427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Value used to check accidental changes to raw data. Calculated at both ends using data. Received value should match calculated value…</a:t>
            </a:r>
          </a:p>
        </p:txBody>
      </p:sp>
    </p:spTree>
    <p:extLst>
      <p:ext uri="{BB962C8B-B14F-4D97-AF65-F5344CB8AC3E}">
        <p14:creationId xmlns:p14="http://schemas.microsoft.com/office/powerpoint/2010/main" val="396192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10"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0573F-595E-45B8-BC77-A54AC8F17DC7}"/>
              </a:ext>
            </a:extLst>
          </p:cNvPr>
          <p:cNvSpPr>
            <a:spLocks noGrp="1"/>
          </p:cNvSpPr>
          <p:nvPr>
            <p:ph type="title"/>
          </p:nvPr>
        </p:nvSpPr>
        <p:spPr/>
        <p:txBody>
          <a:bodyPr/>
          <a:lstStyle/>
          <a:p>
            <a:r>
              <a:rPr lang="en-IE" dirty="0"/>
              <a:t>Internet/Network Layer Communication</a:t>
            </a:r>
          </a:p>
        </p:txBody>
      </p:sp>
      <p:sp>
        <p:nvSpPr>
          <p:cNvPr id="3" name="Content Placeholder 2">
            <a:extLst>
              <a:ext uri="{FF2B5EF4-FFF2-40B4-BE49-F238E27FC236}">
                <a16:creationId xmlns:a16="http://schemas.microsoft.com/office/drawing/2014/main" id="{87365537-01DD-47F5-AFEF-2800034996FF}"/>
              </a:ext>
            </a:extLst>
          </p:cNvPr>
          <p:cNvSpPr>
            <a:spLocks noGrp="1"/>
          </p:cNvSpPr>
          <p:nvPr>
            <p:ph idx="1"/>
          </p:nvPr>
        </p:nvSpPr>
        <p:spPr>
          <a:xfrm>
            <a:off x="838200" y="1296574"/>
            <a:ext cx="10225472" cy="3752504"/>
          </a:xfrm>
        </p:spPr>
        <p:txBody>
          <a:bodyPr vert="horz" lIns="91440" tIns="45720" rIns="91440" bIns="45720" rtlCol="0" anchor="t">
            <a:normAutofit lnSpcReduction="10000"/>
          </a:bodyPr>
          <a:lstStyle/>
          <a:p>
            <a:r>
              <a:rPr lang="en-IE" dirty="0"/>
              <a:t>Network layer protocols primary function is to move data from one network to another network</a:t>
            </a:r>
          </a:p>
          <a:p>
            <a:r>
              <a:rPr lang="en-IE" dirty="0"/>
              <a:t>Network addresses(IP Addresses) must have a mechanism to locate hosts on different networks</a:t>
            </a:r>
            <a:endParaRPr lang="en-IE" dirty="0">
              <a:cs typeface="Calibri"/>
            </a:endParaRPr>
          </a:p>
          <a:p>
            <a:r>
              <a:rPr lang="en-IE" dirty="0"/>
              <a:t>Intermediary network devices such as routers, decapsulate frames to read destination host address contained in the packet header.</a:t>
            </a:r>
          </a:p>
          <a:p>
            <a:r>
              <a:rPr lang="en-IE" dirty="0"/>
              <a:t>Routers use the network portion of this address to determine which path to use to reach its destination.</a:t>
            </a:r>
          </a:p>
          <a:p>
            <a:r>
              <a:rPr lang="en-IE" dirty="0">
                <a:cs typeface="Calibri"/>
              </a:rPr>
              <a:t>PDU is the Packet</a:t>
            </a:r>
          </a:p>
        </p:txBody>
      </p:sp>
      <p:sp>
        <p:nvSpPr>
          <p:cNvPr id="4" name="Rectangle 3">
            <a:extLst>
              <a:ext uri="{FF2B5EF4-FFF2-40B4-BE49-F238E27FC236}">
                <a16:creationId xmlns:a16="http://schemas.microsoft.com/office/drawing/2014/main" id="{3B93BBE1-DC0D-457C-8E71-0BF411911497}"/>
              </a:ext>
            </a:extLst>
          </p:cNvPr>
          <p:cNvSpPr/>
          <p:nvPr/>
        </p:nvSpPr>
        <p:spPr>
          <a:xfrm>
            <a:off x="1961322" y="5424004"/>
            <a:ext cx="2438400" cy="887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Destination IP Address</a:t>
            </a:r>
          </a:p>
        </p:txBody>
      </p:sp>
      <p:sp>
        <p:nvSpPr>
          <p:cNvPr id="5" name="Rectangle 4">
            <a:extLst>
              <a:ext uri="{FF2B5EF4-FFF2-40B4-BE49-F238E27FC236}">
                <a16:creationId xmlns:a16="http://schemas.microsoft.com/office/drawing/2014/main" id="{C31581AC-E6E5-46A4-B0F7-5E6F8D63C177}"/>
              </a:ext>
            </a:extLst>
          </p:cNvPr>
          <p:cNvSpPr/>
          <p:nvPr/>
        </p:nvSpPr>
        <p:spPr>
          <a:xfrm>
            <a:off x="4399722" y="5424004"/>
            <a:ext cx="2438400" cy="88789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E" dirty="0"/>
              <a:t>Source IP Address</a:t>
            </a:r>
          </a:p>
        </p:txBody>
      </p:sp>
      <p:sp>
        <p:nvSpPr>
          <p:cNvPr id="6" name="Rectangle 5">
            <a:extLst>
              <a:ext uri="{FF2B5EF4-FFF2-40B4-BE49-F238E27FC236}">
                <a16:creationId xmlns:a16="http://schemas.microsoft.com/office/drawing/2014/main" id="{7772C207-5531-43C5-B9B5-3DCE11E71E9F}"/>
              </a:ext>
            </a:extLst>
          </p:cNvPr>
          <p:cNvSpPr/>
          <p:nvPr/>
        </p:nvSpPr>
        <p:spPr>
          <a:xfrm>
            <a:off x="6838122" y="5424004"/>
            <a:ext cx="1881808" cy="88789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E" dirty="0"/>
              <a:t>Data</a:t>
            </a:r>
          </a:p>
        </p:txBody>
      </p:sp>
      <p:sp>
        <p:nvSpPr>
          <p:cNvPr id="7" name="Rectangle 6">
            <a:extLst>
              <a:ext uri="{FF2B5EF4-FFF2-40B4-BE49-F238E27FC236}">
                <a16:creationId xmlns:a16="http://schemas.microsoft.com/office/drawing/2014/main" id="{D01897BE-DA02-40C1-B345-6E73584D267D}"/>
              </a:ext>
            </a:extLst>
          </p:cNvPr>
          <p:cNvSpPr/>
          <p:nvPr/>
        </p:nvSpPr>
        <p:spPr>
          <a:xfrm>
            <a:off x="1961322" y="6311900"/>
            <a:ext cx="1159566" cy="315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Network</a:t>
            </a:r>
          </a:p>
        </p:txBody>
      </p:sp>
      <p:sp>
        <p:nvSpPr>
          <p:cNvPr id="8" name="Rectangle 7">
            <a:extLst>
              <a:ext uri="{FF2B5EF4-FFF2-40B4-BE49-F238E27FC236}">
                <a16:creationId xmlns:a16="http://schemas.microsoft.com/office/drawing/2014/main" id="{E34089B7-F340-49EF-A8A8-815B97A672C8}"/>
              </a:ext>
            </a:extLst>
          </p:cNvPr>
          <p:cNvSpPr/>
          <p:nvPr/>
        </p:nvSpPr>
        <p:spPr>
          <a:xfrm>
            <a:off x="3120889" y="6311900"/>
            <a:ext cx="1278834" cy="315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Device</a:t>
            </a:r>
          </a:p>
        </p:txBody>
      </p:sp>
      <p:sp>
        <p:nvSpPr>
          <p:cNvPr id="9" name="Rectangle 8">
            <a:extLst>
              <a:ext uri="{FF2B5EF4-FFF2-40B4-BE49-F238E27FC236}">
                <a16:creationId xmlns:a16="http://schemas.microsoft.com/office/drawing/2014/main" id="{573C7563-C86E-431A-9B7D-3357941B4A6A}"/>
              </a:ext>
            </a:extLst>
          </p:cNvPr>
          <p:cNvSpPr/>
          <p:nvPr/>
        </p:nvSpPr>
        <p:spPr>
          <a:xfrm>
            <a:off x="4399721" y="6311900"/>
            <a:ext cx="1159566" cy="3159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E" dirty="0"/>
              <a:t>Network</a:t>
            </a:r>
          </a:p>
        </p:txBody>
      </p:sp>
      <p:sp>
        <p:nvSpPr>
          <p:cNvPr id="10" name="Rectangle 9">
            <a:extLst>
              <a:ext uri="{FF2B5EF4-FFF2-40B4-BE49-F238E27FC236}">
                <a16:creationId xmlns:a16="http://schemas.microsoft.com/office/drawing/2014/main" id="{32EF611F-3F3C-4996-BA08-04FB0223905C}"/>
              </a:ext>
            </a:extLst>
          </p:cNvPr>
          <p:cNvSpPr/>
          <p:nvPr/>
        </p:nvSpPr>
        <p:spPr>
          <a:xfrm>
            <a:off x="5559288" y="6311900"/>
            <a:ext cx="1278834" cy="3159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E" dirty="0"/>
              <a:t>Device</a:t>
            </a:r>
          </a:p>
        </p:txBody>
      </p:sp>
      <p:sp>
        <p:nvSpPr>
          <p:cNvPr id="11" name="TextBox 10">
            <a:extLst>
              <a:ext uri="{FF2B5EF4-FFF2-40B4-BE49-F238E27FC236}">
                <a16:creationId xmlns:a16="http://schemas.microsoft.com/office/drawing/2014/main" id="{E51B319C-D60F-4DFC-9CEA-3AC8014D54D8}"/>
              </a:ext>
            </a:extLst>
          </p:cNvPr>
          <p:cNvSpPr txBox="1"/>
          <p:nvPr/>
        </p:nvSpPr>
        <p:spPr>
          <a:xfrm>
            <a:off x="1868557" y="4923426"/>
            <a:ext cx="1910844" cy="369332"/>
          </a:xfrm>
          <a:prstGeom prst="rect">
            <a:avLst/>
          </a:prstGeom>
          <a:noFill/>
        </p:spPr>
        <p:txBody>
          <a:bodyPr wrap="none" rtlCol="0">
            <a:spAutoFit/>
          </a:bodyPr>
          <a:lstStyle/>
          <a:p>
            <a:r>
              <a:rPr lang="en-IE" dirty="0"/>
              <a:t>IP/Network Packet</a:t>
            </a:r>
          </a:p>
        </p:txBody>
      </p:sp>
    </p:spTree>
    <p:extLst>
      <p:ext uri="{BB962C8B-B14F-4D97-AF65-F5344CB8AC3E}">
        <p14:creationId xmlns:p14="http://schemas.microsoft.com/office/powerpoint/2010/main" val="82581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P spid="10" grpId="0" animBg="1"/>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0"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Rectangle 19">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66886362-415D-4DDA-87FA-57EC58A1BBD5}"/>
              </a:ext>
            </a:extLst>
          </p:cNvPr>
          <p:cNvSpPr>
            <a:spLocks noGrp="1"/>
          </p:cNvSpPr>
          <p:nvPr>
            <p:ph type="title"/>
          </p:nvPr>
        </p:nvSpPr>
        <p:spPr>
          <a:xfrm>
            <a:off x="1047280" y="759805"/>
            <a:ext cx="10306520" cy="1325563"/>
          </a:xfrm>
        </p:spPr>
        <p:txBody>
          <a:bodyPr>
            <a:normAutofit/>
          </a:bodyPr>
          <a:lstStyle/>
          <a:p>
            <a:r>
              <a:rPr lang="en-IE" sz="4000" dirty="0">
                <a:solidFill>
                  <a:srgbClr val="FFFFFF"/>
                </a:solidFill>
              </a:rPr>
              <a:t>Internet/Network Layer Communication</a:t>
            </a:r>
          </a:p>
        </p:txBody>
      </p:sp>
      <p:sp>
        <p:nvSpPr>
          <p:cNvPr id="3" name="Content Placeholder 2">
            <a:extLst>
              <a:ext uri="{FF2B5EF4-FFF2-40B4-BE49-F238E27FC236}">
                <a16:creationId xmlns:a16="http://schemas.microsoft.com/office/drawing/2014/main" id="{09C656A0-7AE3-4353-887D-708CC53A0692}"/>
              </a:ext>
            </a:extLst>
          </p:cNvPr>
          <p:cNvSpPr>
            <a:spLocks noGrp="1"/>
          </p:cNvSpPr>
          <p:nvPr>
            <p:ph idx="1"/>
          </p:nvPr>
        </p:nvSpPr>
        <p:spPr>
          <a:xfrm>
            <a:off x="1424904" y="2494450"/>
            <a:ext cx="4053545" cy="3563159"/>
          </a:xfrm>
        </p:spPr>
        <p:txBody>
          <a:bodyPr>
            <a:normAutofit/>
          </a:bodyPr>
          <a:lstStyle/>
          <a:p>
            <a:r>
              <a:rPr lang="en-IE" sz="1700"/>
              <a:t>IP addresses are “logical”</a:t>
            </a:r>
          </a:p>
          <a:p>
            <a:pPr lvl="1"/>
            <a:r>
              <a:rPr lang="en-IE" sz="1700"/>
              <a:t>Can be assigned to a device</a:t>
            </a:r>
          </a:p>
          <a:p>
            <a:r>
              <a:rPr lang="en-IE" sz="1700"/>
              <a:t>Includes network identification and Host identification</a:t>
            </a:r>
          </a:p>
          <a:p>
            <a:r>
              <a:rPr lang="en-IE" sz="1700"/>
              <a:t>Each device on a network must have a unique IP address</a:t>
            </a:r>
          </a:p>
          <a:p>
            <a:r>
              <a:rPr lang="en-IE" sz="1700"/>
              <a:t>Public IP addresses for the internet assigned by a central authority (IANA)</a:t>
            </a:r>
          </a:p>
          <a:p>
            <a:r>
              <a:rPr lang="en-IE" sz="1700"/>
              <a:t>Private IP addresses are reserve for internal use behind routers/Network address translation(NAT) devices.</a:t>
            </a:r>
          </a:p>
        </p:txBody>
      </p:sp>
      <p:pic>
        <p:nvPicPr>
          <p:cNvPr id="7" name="Picture 6" descr="A screenshot of a cell phone&#10;&#10;Description generated with high confidence">
            <a:extLst>
              <a:ext uri="{FF2B5EF4-FFF2-40B4-BE49-F238E27FC236}">
                <a16:creationId xmlns:a16="http://schemas.microsoft.com/office/drawing/2014/main" id="{6E1A4666-BA2E-4C54-AEF0-92B0C5DD27B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098892" y="3325587"/>
            <a:ext cx="4802404" cy="1896949"/>
          </a:xfrm>
          <a:prstGeom prst="rect">
            <a:avLst/>
          </a:prstGeom>
        </p:spPr>
      </p:pic>
      <p:sp>
        <p:nvSpPr>
          <p:cNvPr id="8" name="TextBox 7">
            <a:extLst>
              <a:ext uri="{FF2B5EF4-FFF2-40B4-BE49-F238E27FC236}">
                <a16:creationId xmlns:a16="http://schemas.microsoft.com/office/drawing/2014/main" id="{F1148494-513F-4B3B-98B1-B14B4553762D}"/>
              </a:ext>
            </a:extLst>
          </p:cNvPr>
          <p:cNvSpPr txBox="1"/>
          <p:nvPr/>
        </p:nvSpPr>
        <p:spPr>
          <a:xfrm>
            <a:off x="8594254" y="5022481"/>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4" tooltip="https://en.wikibooks.org/wiki/Communication_Networks/NAT_and_PAT_Protocols">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extLst>
      <p:ext uri="{BB962C8B-B14F-4D97-AF65-F5344CB8AC3E}">
        <p14:creationId xmlns:p14="http://schemas.microsoft.com/office/powerpoint/2010/main" val="380568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4"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Rectangle 17">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FB62CA93-B41C-4CAD-8376-C509A5E4A82B}"/>
              </a:ext>
            </a:extLst>
          </p:cNvPr>
          <p:cNvSpPr>
            <a:spLocks noGrp="1"/>
          </p:cNvSpPr>
          <p:nvPr>
            <p:ph type="title"/>
          </p:nvPr>
        </p:nvSpPr>
        <p:spPr>
          <a:xfrm>
            <a:off x="1047280" y="759805"/>
            <a:ext cx="10306520" cy="1325563"/>
          </a:xfrm>
        </p:spPr>
        <p:txBody>
          <a:bodyPr>
            <a:normAutofit/>
          </a:bodyPr>
          <a:lstStyle/>
          <a:p>
            <a:r>
              <a:rPr lang="en-IE" sz="4000">
                <a:solidFill>
                  <a:srgbClr val="FFFFFF"/>
                </a:solidFill>
              </a:rPr>
              <a:t>Transport Layer Communication </a:t>
            </a:r>
          </a:p>
        </p:txBody>
      </p:sp>
      <p:sp>
        <p:nvSpPr>
          <p:cNvPr id="3" name="Content Placeholder 2">
            <a:extLst>
              <a:ext uri="{FF2B5EF4-FFF2-40B4-BE49-F238E27FC236}">
                <a16:creationId xmlns:a16="http://schemas.microsoft.com/office/drawing/2014/main" id="{2E03A937-C31D-4F3D-AB9A-F24B069552FA}"/>
              </a:ext>
            </a:extLst>
          </p:cNvPr>
          <p:cNvSpPr>
            <a:spLocks noGrp="1"/>
          </p:cNvSpPr>
          <p:nvPr>
            <p:ph idx="1"/>
          </p:nvPr>
        </p:nvSpPr>
        <p:spPr>
          <a:xfrm>
            <a:off x="1424904" y="2494450"/>
            <a:ext cx="4053545" cy="3563159"/>
          </a:xfrm>
        </p:spPr>
        <p:txBody>
          <a:bodyPr>
            <a:normAutofit/>
          </a:bodyPr>
          <a:lstStyle/>
          <a:p>
            <a:r>
              <a:rPr lang="en-GB" sz="1300" dirty="0"/>
              <a:t>Transport layer protocols describe services that segment data from the Application layer. </a:t>
            </a:r>
            <a:endParaRPr lang="en-IE" sz="1300" dirty="0"/>
          </a:p>
          <a:p>
            <a:r>
              <a:rPr lang="en-IE" sz="1300" dirty="0"/>
              <a:t>How does a computer with one network interface differentiate between different services?</a:t>
            </a:r>
          </a:p>
          <a:p>
            <a:pPr lvl="1"/>
            <a:r>
              <a:rPr lang="en-IE" sz="1300" dirty="0"/>
              <a:t>Port Numbers are used in the transport layer to represent applications or services</a:t>
            </a:r>
          </a:p>
          <a:p>
            <a:r>
              <a:rPr lang="en-IE" sz="1300" dirty="0"/>
              <a:t>When a device receives data, the port number is used to determine which app or process is the correct destination</a:t>
            </a:r>
          </a:p>
          <a:p>
            <a:r>
              <a:rPr lang="en-IE" sz="1300" dirty="0"/>
              <a:t>There are generally accepted port numbers:</a:t>
            </a:r>
          </a:p>
          <a:p>
            <a:pPr lvl="1"/>
            <a:r>
              <a:rPr lang="en-IE" sz="1300" dirty="0"/>
              <a:t>What’s the port for SSH service?</a:t>
            </a:r>
          </a:p>
          <a:p>
            <a:pPr lvl="1"/>
            <a:r>
              <a:rPr lang="en-IE" sz="1300" dirty="0"/>
              <a:t>HTTP service?</a:t>
            </a:r>
          </a:p>
          <a:p>
            <a:pPr lvl="1"/>
            <a:r>
              <a:rPr lang="en-IE" sz="1300" dirty="0">
                <a:cs typeface="Calibri"/>
              </a:rPr>
              <a:t>FTP service?</a:t>
            </a:r>
          </a:p>
          <a:p>
            <a:pPr marL="0" indent="0">
              <a:buNone/>
            </a:pPr>
            <a:endParaRPr lang="en-IE" sz="1700" dirty="0">
              <a:cs typeface="Calibri"/>
            </a:endParaRPr>
          </a:p>
        </p:txBody>
      </p:sp>
      <p:pic>
        <p:nvPicPr>
          <p:cNvPr id="5" name="Picture 4" descr="A screenshot of a cell phone&#10;&#10;Description generated with very high confidence">
            <a:extLst>
              <a:ext uri="{FF2B5EF4-FFF2-40B4-BE49-F238E27FC236}">
                <a16:creationId xmlns:a16="http://schemas.microsoft.com/office/drawing/2014/main" id="{62D4EB8E-E9D5-4537-A146-D943ED1709F4}"/>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6315" r="11392" b="2"/>
          <a:stretch/>
        </p:blipFill>
        <p:spPr>
          <a:xfrm>
            <a:off x="6098892" y="2492376"/>
            <a:ext cx="4802404" cy="3563372"/>
          </a:xfrm>
          <a:prstGeom prst="rect">
            <a:avLst/>
          </a:prstGeom>
        </p:spPr>
      </p:pic>
      <p:sp>
        <p:nvSpPr>
          <p:cNvPr id="6" name="TextBox 5">
            <a:extLst>
              <a:ext uri="{FF2B5EF4-FFF2-40B4-BE49-F238E27FC236}">
                <a16:creationId xmlns:a16="http://schemas.microsoft.com/office/drawing/2014/main" id="{8D9CDE34-311D-426A-8B73-77E6C0EE38C8}"/>
              </a:ext>
            </a:extLst>
          </p:cNvPr>
          <p:cNvSpPr txBox="1"/>
          <p:nvPr/>
        </p:nvSpPr>
        <p:spPr>
          <a:xfrm>
            <a:off x="8594254" y="5855693"/>
            <a:ext cx="2307042"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4" tooltip="http://stackoverflow.com/questions/4756039/how-to-change-the-port-of-tomcat-from-8080-to-80">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E" sz="700">
              <a:solidFill>
                <a:srgbClr val="FFFFFF"/>
              </a:solidFill>
            </a:endParaRPr>
          </a:p>
        </p:txBody>
      </p:sp>
    </p:spTree>
    <p:extLst>
      <p:ext uri="{BB962C8B-B14F-4D97-AF65-F5344CB8AC3E}">
        <p14:creationId xmlns:p14="http://schemas.microsoft.com/office/powerpoint/2010/main" val="424082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7" name="Rectangle 1036">
            <a:extLst>
              <a:ext uri="{FF2B5EF4-FFF2-40B4-BE49-F238E27FC236}">
                <a16:creationId xmlns:a16="http://schemas.microsoft.com/office/drawing/2014/main" id="{A034DC13-4CA6-4DDF-96D6-2C1F3CD50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9" name="Group 1038">
            <a:extLst>
              <a:ext uri="{FF2B5EF4-FFF2-40B4-BE49-F238E27FC236}">
                <a16:creationId xmlns:a16="http://schemas.microsoft.com/office/drawing/2014/main" id="{AB83855D-F0F4-42E8-9047-A13022476C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040" name="Freeform 44">
              <a:extLst>
                <a:ext uri="{FF2B5EF4-FFF2-40B4-BE49-F238E27FC236}">
                  <a16:creationId xmlns:a16="http://schemas.microsoft.com/office/drawing/2014/main" id="{0414264F-D724-4E21-BE52-4728290DE8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1" name="Freeform 45">
              <a:extLst>
                <a:ext uri="{FF2B5EF4-FFF2-40B4-BE49-F238E27FC236}">
                  <a16:creationId xmlns:a16="http://schemas.microsoft.com/office/drawing/2014/main" id="{46C077DA-0626-4B9E-9211-446361F614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2" name="Freeform 46">
              <a:extLst>
                <a:ext uri="{FF2B5EF4-FFF2-40B4-BE49-F238E27FC236}">
                  <a16:creationId xmlns:a16="http://schemas.microsoft.com/office/drawing/2014/main" id="{DD1DA1AE-C234-4948-AA7F-F7EBB9FE73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3" name="Freeform 47">
              <a:extLst>
                <a:ext uri="{FF2B5EF4-FFF2-40B4-BE49-F238E27FC236}">
                  <a16:creationId xmlns:a16="http://schemas.microsoft.com/office/drawing/2014/main" id="{23A78588-E013-48A0-A140-E6C9A4F387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4" name="Rectangle 1043">
              <a:extLst>
                <a:ext uri="{FF2B5EF4-FFF2-40B4-BE49-F238E27FC236}">
                  <a16:creationId xmlns:a16="http://schemas.microsoft.com/office/drawing/2014/main" id="{76C9A9D1-F5E1-4455-80F2-5E0DF42568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1070EE4B-59E4-E460-E31F-6148E429426B}"/>
              </a:ext>
            </a:extLst>
          </p:cNvPr>
          <p:cNvSpPr>
            <a:spLocks noGrp="1"/>
          </p:cNvSpPr>
          <p:nvPr>
            <p:ph type="title"/>
          </p:nvPr>
        </p:nvSpPr>
        <p:spPr>
          <a:xfrm>
            <a:off x="1047280" y="759805"/>
            <a:ext cx="10306520" cy="1325563"/>
          </a:xfrm>
        </p:spPr>
        <p:txBody>
          <a:bodyPr>
            <a:normAutofit/>
          </a:bodyPr>
          <a:lstStyle/>
          <a:p>
            <a:r>
              <a:rPr lang="en-IE" sz="4000">
                <a:solidFill>
                  <a:srgbClr val="FFFFFF"/>
                </a:solidFill>
              </a:rPr>
              <a:t>Application Layer</a:t>
            </a:r>
          </a:p>
        </p:txBody>
      </p:sp>
      <p:sp>
        <p:nvSpPr>
          <p:cNvPr id="3" name="Content Placeholder 2">
            <a:extLst>
              <a:ext uri="{FF2B5EF4-FFF2-40B4-BE49-F238E27FC236}">
                <a16:creationId xmlns:a16="http://schemas.microsoft.com/office/drawing/2014/main" id="{20B7082D-F470-9C23-557A-E57FA57C1339}"/>
              </a:ext>
            </a:extLst>
          </p:cNvPr>
          <p:cNvSpPr>
            <a:spLocks noGrp="1"/>
          </p:cNvSpPr>
          <p:nvPr>
            <p:ph idx="1"/>
          </p:nvPr>
        </p:nvSpPr>
        <p:spPr>
          <a:xfrm>
            <a:off x="1424904" y="2543175"/>
            <a:ext cx="3385635" cy="3363846"/>
          </a:xfrm>
        </p:spPr>
        <p:txBody>
          <a:bodyPr anchor="ctr">
            <a:normAutofit/>
          </a:bodyPr>
          <a:lstStyle/>
          <a:p>
            <a:r>
              <a:rPr lang="en-GB" sz="1600" b="0" i="0">
                <a:effectLst/>
                <a:latin typeface="Nunito" panose="020B0604020202020204" pitchFamily="2" charset="0"/>
              </a:rPr>
              <a:t>Provides access to network.</a:t>
            </a:r>
          </a:p>
          <a:p>
            <a:r>
              <a:rPr lang="en-GB" sz="1600">
                <a:latin typeface="Nunito" panose="020B0604020202020204" pitchFamily="2" charset="0"/>
              </a:rPr>
              <a:t>Used to develop networked/connected applications.</a:t>
            </a:r>
          </a:p>
          <a:p>
            <a:r>
              <a:rPr lang="en-GB" sz="1600" b="0" i="0">
                <a:effectLst/>
                <a:latin typeface="Nunito" panose="020B0604020202020204" pitchFamily="2" charset="0"/>
              </a:rPr>
              <a:t>Exa</a:t>
            </a:r>
            <a:r>
              <a:rPr lang="en-GB" sz="1600">
                <a:latin typeface="Nunito" panose="020B0604020202020204" pitchFamily="2" charset="0"/>
              </a:rPr>
              <a:t>mples include:</a:t>
            </a:r>
          </a:p>
          <a:p>
            <a:pPr lvl="1"/>
            <a:r>
              <a:rPr lang="en-GB" sz="1600" b="0" i="0">
                <a:effectLst/>
                <a:latin typeface="Nunito" panose="020B0604020202020204" pitchFamily="2" charset="0"/>
              </a:rPr>
              <a:t>HTTP – Hypertext Transfer </a:t>
            </a:r>
            <a:r>
              <a:rPr lang="en-GB" sz="1600">
                <a:latin typeface="Nunito" panose="020B0604020202020204" pitchFamily="2" charset="0"/>
              </a:rPr>
              <a:t>Protocol</a:t>
            </a:r>
          </a:p>
          <a:p>
            <a:pPr lvl="1"/>
            <a:r>
              <a:rPr lang="en-GB" sz="1600" b="0" i="0">
                <a:effectLst/>
                <a:latin typeface="Nunito" panose="020B0604020202020204" pitchFamily="2" charset="0"/>
              </a:rPr>
              <a:t>FTP</a:t>
            </a:r>
            <a:r>
              <a:rPr lang="en-GB" sz="1600">
                <a:latin typeface="Nunito" panose="020B0604020202020204" pitchFamily="2" charset="0"/>
              </a:rPr>
              <a:t> – File Transfer Protocol</a:t>
            </a:r>
          </a:p>
          <a:p>
            <a:pPr lvl="1"/>
            <a:r>
              <a:rPr lang="en-GB" sz="1600" b="0" i="0">
                <a:effectLst/>
                <a:latin typeface="Nunito" panose="020B0604020202020204" pitchFamily="2" charset="0"/>
              </a:rPr>
              <a:t>SSH – Secure Shell</a:t>
            </a:r>
          </a:p>
          <a:p>
            <a:pPr lvl="1"/>
            <a:r>
              <a:rPr lang="en-GB" sz="1600">
                <a:latin typeface="Nunito" panose="020B0604020202020204" pitchFamily="2" charset="0"/>
              </a:rPr>
              <a:t>MQTT - MQ Telemetry Transport</a:t>
            </a:r>
            <a:endParaRPr lang="en-GB" sz="1600" b="0" i="0">
              <a:effectLst/>
              <a:latin typeface="Nunito" panose="020B0604020202020204" pitchFamily="2" charset="0"/>
            </a:endParaRPr>
          </a:p>
          <a:p>
            <a:endParaRPr lang="en-IE" sz="1600"/>
          </a:p>
        </p:txBody>
      </p:sp>
      <p:pic>
        <p:nvPicPr>
          <p:cNvPr id="1026" name="Picture 2">
            <a:extLst>
              <a:ext uri="{FF2B5EF4-FFF2-40B4-BE49-F238E27FC236}">
                <a16:creationId xmlns:a16="http://schemas.microsoft.com/office/drawing/2014/main" id="{3C70274B-6DDB-47E2-535B-F3937DB4102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76639" y="2965848"/>
            <a:ext cx="2650372" cy="67464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SH, Secure Shell Protocol And Software. Data Protection, Internet And ...">
            <a:extLst>
              <a:ext uri="{FF2B5EF4-FFF2-40B4-BE49-F238E27FC236}">
                <a16:creationId xmlns:a16="http://schemas.microsoft.com/office/drawing/2014/main" id="{633A17B1-8B93-EDC4-8663-D7574042687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90590" y="2486035"/>
            <a:ext cx="2250314" cy="162585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ree FTP Site Guide: What Is It and How Does It Work?">
            <a:extLst>
              <a:ext uri="{FF2B5EF4-FFF2-40B4-BE49-F238E27FC236}">
                <a16:creationId xmlns:a16="http://schemas.microsoft.com/office/drawing/2014/main" id="{86CA0D65-C6F9-F28B-2694-60E343E0103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420776" y="4272754"/>
            <a:ext cx="2385794" cy="16342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0A179D0-DCA6-89AB-086F-7863AC040C7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8600406" y="4272754"/>
            <a:ext cx="1634268" cy="1634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463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58237-DCD4-4449-A771-6A872D5FA07F}"/>
              </a:ext>
            </a:extLst>
          </p:cNvPr>
          <p:cNvSpPr>
            <a:spLocks noGrp="1"/>
          </p:cNvSpPr>
          <p:nvPr>
            <p:ph type="title"/>
          </p:nvPr>
        </p:nvSpPr>
        <p:spPr/>
        <p:txBody>
          <a:bodyPr/>
          <a:lstStyle/>
          <a:p>
            <a:r>
              <a:rPr lang="en-IE" dirty="0"/>
              <a:t>Accessing Resources on a Network</a:t>
            </a:r>
          </a:p>
        </p:txBody>
      </p:sp>
      <p:sp>
        <p:nvSpPr>
          <p:cNvPr id="3" name="Text Placeholder 2">
            <a:extLst>
              <a:ext uri="{FF2B5EF4-FFF2-40B4-BE49-F238E27FC236}">
                <a16:creationId xmlns:a16="http://schemas.microsoft.com/office/drawing/2014/main" id="{4312A091-77A3-4D53-B53B-13FE1D7270BB}"/>
              </a:ext>
            </a:extLst>
          </p:cNvPr>
          <p:cNvSpPr>
            <a:spLocks noGrp="1"/>
          </p:cNvSpPr>
          <p:nvPr>
            <p:ph type="body" idx="1"/>
          </p:nvPr>
        </p:nvSpPr>
        <p:spPr/>
        <p:txBody>
          <a:bodyPr/>
          <a:lstStyle/>
          <a:p>
            <a:r>
              <a:rPr lang="en-IE" dirty="0"/>
              <a:t>Using TCP/IP protocol stack</a:t>
            </a:r>
          </a:p>
        </p:txBody>
      </p:sp>
    </p:spTree>
    <p:extLst>
      <p:ext uri="{BB962C8B-B14F-4D97-AF65-F5344CB8AC3E}">
        <p14:creationId xmlns:p14="http://schemas.microsoft.com/office/powerpoint/2010/main" val="3169051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D1E56B-5CB7-4396-B39E-4936467D6030}"/>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4200" dirty="0">
                <a:solidFill>
                  <a:srgbClr val="FFFFFF"/>
                </a:solidFill>
              </a:rPr>
              <a:t>Example of Layered Model: Accessing Web Page…</a:t>
            </a:r>
          </a:p>
        </p:txBody>
      </p:sp>
      <p:cxnSp>
        <p:nvCxnSpPr>
          <p:cNvPr id="16" name="Straight Connector 15">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8" name="Content Placeholder 7" descr="A screenshot of a video game&#10;&#10;Description automatically generated">
            <a:extLst>
              <a:ext uri="{FF2B5EF4-FFF2-40B4-BE49-F238E27FC236}">
                <a16:creationId xmlns:a16="http://schemas.microsoft.com/office/drawing/2014/main" id="{5A188954-622A-40D1-B1CF-E51FE85C01E9}"/>
              </a:ext>
            </a:extLst>
          </p:cNvPr>
          <p:cNvPicPr>
            <a:picLocks noGrp="1" noChangeAspect="1"/>
          </p:cNvPicPr>
          <p:nvPr>
            <p:ph idx="1"/>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4798"/>
          <a:stretch/>
        </p:blipFill>
        <p:spPr>
          <a:xfrm>
            <a:off x="331567" y="3641193"/>
            <a:ext cx="5455917" cy="1568886"/>
          </a:xfrm>
          <a:prstGeom prst="rect">
            <a:avLst/>
          </a:prstGeom>
        </p:spPr>
      </p:pic>
      <p:cxnSp>
        <p:nvCxnSpPr>
          <p:cNvPr id="18" name="Straight Connector 17">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0E27357-1469-4FCE-B2AB-F4E96A4DF99C}"/>
              </a:ext>
            </a:extLst>
          </p:cNvPr>
          <p:cNvSpPr txBox="1"/>
          <p:nvPr/>
        </p:nvSpPr>
        <p:spPr>
          <a:xfrm>
            <a:off x="4844784" y="6526587"/>
            <a:ext cx="2307042" cy="200055"/>
          </a:xfrm>
          <a:prstGeom prst="rect">
            <a:avLst/>
          </a:prstGeom>
          <a:solidFill>
            <a:srgbClr val="000000"/>
          </a:solidFill>
        </p:spPr>
        <p:txBody>
          <a:bodyPr wrap="none" rtlCol="0">
            <a:spAutoFit/>
          </a:bodyPr>
          <a:lstStyle/>
          <a:p>
            <a:pPr algn="r">
              <a:spcAft>
                <a:spcPts val="600"/>
              </a:spcAft>
            </a:pPr>
            <a:r>
              <a:rPr lang="en-IE" sz="700" dirty="0">
                <a:solidFill>
                  <a:srgbClr val="FFFFFF"/>
                </a:solidFill>
                <a:hlinkClick r:id="rId4" tooltip="https://en.wikiversity.org/wiki/Web_Science/Part1:_Foundations_of_the_web/Internet_vs_World_Wide_Web/Summary_of_the_internet_architecture">
                  <a:extLst>
                    <a:ext uri="{A12FA001-AC4F-418D-AE19-62706E023703}">
                      <ahyp:hlinkClr xmlns:ahyp="http://schemas.microsoft.com/office/drawing/2018/hyperlinkcolor" val="tx"/>
                    </a:ext>
                  </a:extLst>
                </a:hlinkClick>
              </a:rPr>
              <a:t>This Photo</a:t>
            </a:r>
            <a:r>
              <a:rPr lang="en-IE" sz="700" dirty="0">
                <a:solidFill>
                  <a:srgbClr val="FFFFFF"/>
                </a:solidFill>
              </a:rPr>
              <a:t> by Unknown Author is licensed under </a:t>
            </a:r>
            <a:r>
              <a:rPr lang="en-IE" sz="700" dirty="0">
                <a:solidFill>
                  <a:srgbClr val="FFFFFF"/>
                </a:solidFill>
                <a:hlinkClick r:id="rId5" tooltip="https://creativecommons.org/licenses/by-sa/3.0/">
                  <a:extLst>
                    <a:ext uri="{A12FA001-AC4F-418D-AE19-62706E023703}">
                      <ahyp:hlinkClr xmlns:ahyp="http://schemas.microsoft.com/office/drawing/2018/hyperlinkcolor" val="tx"/>
                    </a:ext>
                  </a:extLst>
                </a:hlinkClick>
              </a:rPr>
              <a:t>CC BY-SA</a:t>
            </a:r>
            <a:endParaRPr lang="en-IE" sz="700" dirty="0">
              <a:solidFill>
                <a:srgbClr val="FFFFFF"/>
              </a:solidFill>
            </a:endParaRPr>
          </a:p>
        </p:txBody>
      </p:sp>
      <p:sp>
        <p:nvSpPr>
          <p:cNvPr id="5" name="TextBox 4">
            <a:extLst>
              <a:ext uri="{FF2B5EF4-FFF2-40B4-BE49-F238E27FC236}">
                <a16:creationId xmlns:a16="http://schemas.microsoft.com/office/drawing/2014/main" id="{EAA613FC-1BD8-44BF-8867-39F9234F2DEE}"/>
              </a:ext>
            </a:extLst>
          </p:cNvPr>
          <p:cNvSpPr txBox="1"/>
          <p:nvPr/>
        </p:nvSpPr>
        <p:spPr>
          <a:xfrm>
            <a:off x="8127999" y="3081281"/>
            <a:ext cx="1723549" cy="369332"/>
          </a:xfrm>
          <a:prstGeom prst="rect">
            <a:avLst/>
          </a:prstGeom>
          <a:noFill/>
        </p:spPr>
        <p:txBody>
          <a:bodyPr wrap="none" rtlCol="0">
            <a:spAutoFit/>
          </a:bodyPr>
          <a:lstStyle/>
          <a:p>
            <a:r>
              <a:rPr lang="en-IE" dirty="0"/>
              <a:t>Logical Topology</a:t>
            </a:r>
          </a:p>
        </p:txBody>
      </p:sp>
      <p:sp>
        <p:nvSpPr>
          <p:cNvPr id="11" name="TextBox 10">
            <a:extLst>
              <a:ext uri="{FF2B5EF4-FFF2-40B4-BE49-F238E27FC236}">
                <a16:creationId xmlns:a16="http://schemas.microsoft.com/office/drawing/2014/main" id="{FD12CB37-89E1-4D2C-8B1E-2122ECFD4E78}"/>
              </a:ext>
            </a:extLst>
          </p:cNvPr>
          <p:cNvSpPr txBox="1"/>
          <p:nvPr/>
        </p:nvSpPr>
        <p:spPr>
          <a:xfrm>
            <a:off x="2421075" y="2975428"/>
            <a:ext cx="1581972" cy="369332"/>
          </a:xfrm>
          <a:prstGeom prst="rect">
            <a:avLst/>
          </a:prstGeom>
          <a:noFill/>
        </p:spPr>
        <p:txBody>
          <a:bodyPr wrap="none" rtlCol="0">
            <a:spAutoFit/>
          </a:bodyPr>
          <a:lstStyle/>
          <a:p>
            <a:r>
              <a:rPr lang="en-IE" dirty="0"/>
              <a:t>Layered Model</a:t>
            </a:r>
          </a:p>
        </p:txBody>
      </p:sp>
      <p:pic>
        <p:nvPicPr>
          <p:cNvPr id="7" name="Picture 6">
            <a:extLst>
              <a:ext uri="{FF2B5EF4-FFF2-40B4-BE49-F238E27FC236}">
                <a16:creationId xmlns:a16="http://schemas.microsoft.com/office/drawing/2014/main" id="{E812F37B-AA92-4B9D-9F75-BCD0615FDA33}"/>
              </a:ext>
            </a:extLst>
          </p:cNvPr>
          <p:cNvPicPr>
            <a:picLocks noChangeAspect="1"/>
          </p:cNvPicPr>
          <p:nvPr/>
        </p:nvPicPr>
        <p:blipFill>
          <a:blip r:embed="rId6"/>
          <a:stretch>
            <a:fillRect/>
          </a:stretch>
        </p:blipFill>
        <p:spPr>
          <a:xfrm>
            <a:off x="6681785" y="3795139"/>
            <a:ext cx="5256666" cy="1414940"/>
          </a:xfrm>
          <a:prstGeom prst="rect">
            <a:avLst/>
          </a:prstGeom>
        </p:spPr>
      </p:pic>
      <p:sp>
        <p:nvSpPr>
          <p:cNvPr id="10" name="TextBox 9">
            <a:extLst>
              <a:ext uri="{FF2B5EF4-FFF2-40B4-BE49-F238E27FC236}">
                <a16:creationId xmlns:a16="http://schemas.microsoft.com/office/drawing/2014/main" id="{5C18817C-1E81-4546-8259-E51DCF67071E}"/>
              </a:ext>
            </a:extLst>
          </p:cNvPr>
          <p:cNvSpPr txBox="1"/>
          <p:nvPr/>
        </p:nvSpPr>
        <p:spPr>
          <a:xfrm>
            <a:off x="1031889" y="5186419"/>
            <a:ext cx="857927" cy="246221"/>
          </a:xfrm>
          <a:prstGeom prst="rect">
            <a:avLst/>
          </a:prstGeom>
          <a:noFill/>
        </p:spPr>
        <p:txBody>
          <a:bodyPr wrap="none" rtlCol="0">
            <a:spAutoFit/>
          </a:bodyPr>
          <a:lstStyle/>
          <a:p>
            <a:r>
              <a:rPr lang="en-IE" sz="1000" dirty="0" err="1"/>
              <a:t>Compsys</a:t>
            </a:r>
            <a:r>
              <a:rPr lang="en-IE" sz="1000" dirty="0"/>
              <a:t> VM</a:t>
            </a:r>
          </a:p>
        </p:txBody>
      </p:sp>
      <p:sp>
        <p:nvSpPr>
          <p:cNvPr id="15" name="TextBox 14">
            <a:extLst>
              <a:ext uri="{FF2B5EF4-FFF2-40B4-BE49-F238E27FC236}">
                <a16:creationId xmlns:a16="http://schemas.microsoft.com/office/drawing/2014/main" id="{1816ED8A-0385-41D3-8BAE-5A339A8D0188}"/>
              </a:ext>
            </a:extLst>
          </p:cNvPr>
          <p:cNvSpPr txBox="1"/>
          <p:nvPr/>
        </p:nvSpPr>
        <p:spPr>
          <a:xfrm>
            <a:off x="2230078" y="5192538"/>
            <a:ext cx="606256" cy="246221"/>
          </a:xfrm>
          <a:prstGeom prst="rect">
            <a:avLst/>
          </a:prstGeom>
          <a:noFill/>
        </p:spPr>
        <p:txBody>
          <a:bodyPr wrap="none" rtlCol="0">
            <a:spAutoFit/>
          </a:bodyPr>
          <a:lstStyle/>
          <a:p>
            <a:r>
              <a:rPr lang="en-IE" sz="1000" dirty="0"/>
              <a:t>Router1</a:t>
            </a:r>
          </a:p>
        </p:txBody>
      </p:sp>
      <p:sp>
        <p:nvSpPr>
          <p:cNvPr id="17" name="TextBox 16">
            <a:extLst>
              <a:ext uri="{FF2B5EF4-FFF2-40B4-BE49-F238E27FC236}">
                <a16:creationId xmlns:a16="http://schemas.microsoft.com/office/drawing/2014/main" id="{EAF41687-7DF5-4D6D-A99B-14B27DAA55D8}"/>
              </a:ext>
            </a:extLst>
          </p:cNvPr>
          <p:cNvSpPr txBox="1"/>
          <p:nvPr/>
        </p:nvSpPr>
        <p:spPr>
          <a:xfrm>
            <a:off x="3263133" y="5180462"/>
            <a:ext cx="606256" cy="246221"/>
          </a:xfrm>
          <a:prstGeom prst="rect">
            <a:avLst/>
          </a:prstGeom>
          <a:noFill/>
        </p:spPr>
        <p:txBody>
          <a:bodyPr wrap="none" rtlCol="0">
            <a:spAutoFit/>
          </a:bodyPr>
          <a:lstStyle/>
          <a:p>
            <a:r>
              <a:rPr lang="en-IE" sz="1000" dirty="0"/>
              <a:t>Router2</a:t>
            </a:r>
          </a:p>
        </p:txBody>
      </p:sp>
      <p:sp>
        <p:nvSpPr>
          <p:cNvPr id="19" name="TextBox 18">
            <a:extLst>
              <a:ext uri="{FF2B5EF4-FFF2-40B4-BE49-F238E27FC236}">
                <a16:creationId xmlns:a16="http://schemas.microsoft.com/office/drawing/2014/main" id="{EF93536C-9E34-44BD-8706-EC50BD8CBE4D}"/>
              </a:ext>
            </a:extLst>
          </p:cNvPr>
          <p:cNvSpPr txBox="1"/>
          <p:nvPr/>
        </p:nvSpPr>
        <p:spPr>
          <a:xfrm>
            <a:off x="4234381" y="5176624"/>
            <a:ext cx="931665" cy="246221"/>
          </a:xfrm>
          <a:prstGeom prst="rect">
            <a:avLst/>
          </a:prstGeom>
          <a:noFill/>
        </p:spPr>
        <p:txBody>
          <a:bodyPr wrap="none" rtlCol="0">
            <a:spAutoFit/>
          </a:bodyPr>
          <a:lstStyle/>
          <a:p>
            <a:r>
              <a:rPr lang="en-IE" sz="1000" dirty="0" err="1"/>
              <a:t>MyWebServer</a:t>
            </a:r>
            <a:endParaRPr lang="en-IE" sz="1000" dirty="0"/>
          </a:p>
        </p:txBody>
      </p:sp>
      <p:sp>
        <p:nvSpPr>
          <p:cNvPr id="3" name="TextBox 2">
            <a:extLst>
              <a:ext uri="{FF2B5EF4-FFF2-40B4-BE49-F238E27FC236}">
                <a16:creationId xmlns:a16="http://schemas.microsoft.com/office/drawing/2014/main" id="{6F1C0E84-B995-46F9-9A91-9200F9C093E3}"/>
              </a:ext>
            </a:extLst>
          </p:cNvPr>
          <p:cNvSpPr txBox="1"/>
          <p:nvPr/>
        </p:nvSpPr>
        <p:spPr>
          <a:xfrm>
            <a:off x="7707085" y="6055123"/>
            <a:ext cx="3764941" cy="369332"/>
          </a:xfrm>
          <a:prstGeom prst="rect">
            <a:avLst/>
          </a:prstGeom>
          <a:noFill/>
        </p:spPr>
        <p:txBody>
          <a:bodyPr wrap="none" rtlCol="0">
            <a:spAutoFit/>
          </a:bodyPr>
          <a:lstStyle/>
          <a:p>
            <a:r>
              <a:rPr lang="en-GB" dirty="0"/>
              <a:t>Packet Tracer Example File on Website</a:t>
            </a:r>
            <a:endParaRPr lang="en-IE" dirty="0"/>
          </a:p>
        </p:txBody>
      </p:sp>
      <p:sp>
        <p:nvSpPr>
          <p:cNvPr id="4" name="Arrow: Up 3">
            <a:extLst>
              <a:ext uri="{FF2B5EF4-FFF2-40B4-BE49-F238E27FC236}">
                <a16:creationId xmlns:a16="http://schemas.microsoft.com/office/drawing/2014/main" id="{3FB37927-D677-4B18-9858-697845F512FD}"/>
              </a:ext>
            </a:extLst>
          </p:cNvPr>
          <p:cNvSpPr/>
          <p:nvPr/>
        </p:nvSpPr>
        <p:spPr>
          <a:xfrm>
            <a:off x="9209314" y="5186419"/>
            <a:ext cx="870856" cy="51769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6" name="Picture 5">
            <a:extLst>
              <a:ext uri="{FF2B5EF4-FFF2-40B4-BE49-F238E27FC236}">
                <a16:creationId xmlns:a16="http://schemas.microsoft.com/office/drawing/2014/main" id="{40B8489E-4A99-18E9-C51B-0678CD604185}"/>
              </a:ext>
            </a:extLst>
          </p:cNvPr>
          <p:cNvPicPr>
            <a:picLocks noChangeAspect="1"/>
          </p:cNvPicPr>
          <p:nvPr/>
        </p:nvPicPr>
        <p:blipFill>
          <a:blip r:embed="rId6"/>
          <a:stretch>
            <a:fillRect/>
          </a:stretch>
        </p:blipFill>
        <p:spPr>
          <a:xfrm>
            <a:off x="6834185" y="3947539"/>
            <a:ext cx="5256666" cy="1414940"/>
          </a:xfrm>
          <a:prstGeom prst="rect">
            <a:avLst/>
          </a:prstGeom>
        </p:spPr>
      </p:pic>
    </p:spTree>
    <p:extLst>
      <p:ext uri="{BB962C8B-B14F-4D97-AF65-F5344CB8AC3E}">
        <p14:creationId xmlns:p14="http://schemas.microsoft.com/office/powerpoint/2010/main" val="1421275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165651D-6685-22D5-B94B-EDECFBA2EDD4}"/>
              </a:ext>
            </a:extLst>
          </p:cNvPr>
          <p:cNvSpPr/>
          <p:nvPr/>
        </p:nvSpPr>
        <p:spPr>
          <a:xfrm>
            <a:off x="465719" y="2453544"/>
            <a:ext cx="2498982" cy="71561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Application Layer</a:t>
            </a:r>
          </a:p>
        </p:txBody>
      </p:sp>
      <p:sp>
        <p:nvSpPr>
          <p:cNvPr id="5" name="Rectangle 4">
            <a:extLst>
              <a:ext uri="{FF2B5EF4-FFF2-40B4-BE49-F238E27FC236}">
                <a16:creationId xmlns:a16="http://schemas.microsoft.com/office/drawing/2014/main" id="{C10A581A-0BB7-6E02-F7E2-E2BA63B4CAC8}"/>
              </a:ext>
            </a:extLst>
          </p:cNvPr>
          <p:cNvSpPr/>
          <p:nvPr/>
        </p:nvSpPr>
        <p:spPr>
          <a:xfrm>
            <a:off x="465719" y="3321562"/>
            <a:ext cx="2498982" cy="71561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Transport Layer</a:t>
            </a:r>
          </a:p>
        </p:txBody>
      </p:sp>
      <p:sp>
        <p:nvSpPr>
          <p:cNvPr id="6" name="Rectangle 5">
            <a:extLst>
              <a:ext uri="{FF2B5EF4-FFF2-40B4-BE49-F238E27FC236}">
                <a16:creationId xmlns:a16="http://schemas.microsoft.com/office/drawing/2014/main" id="{56409E27-5B12-70B4-BB05-2035265AE708}"/>
              </a:ext>
            </a:extLst>
          </p:cNvPr>
          <p:cNvSpPr/>
          <p:nvPr/>
        </p:nvSpPr>
        <p:spPr>
          <a:xfrm>
            <a:off x="465719" y="4173014"/>
            <a:ext cx="2498982" cy="715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Internet/IP Layer</a:t>
            </a:r>
          </a:p>
        </p:txBody>
      </p:sp>
      <p:sp>
        <p:nvSpPr>
          <p:cNvPr id="7" name="Rectangle 6">
            <a:extLst>
              <a:ext uri="{FF2B5EF4-FFF2-40B4-BE49-F238E27FC236}">
                <a16:creationId xmlns:a16="http://schemas.microsoft.com/office/drawing/2014/main" id="{AD99E90A-DCD3-8830-D4BE-B5522F8B4D24}"/>
              </a:ext>
            </a:extLst>
          </p:cNvPr>
          <p:cNvSpPr/>
          <p:nvPr/>
        </p:nvSpPr>
        <p:spPr>
          <a:xfrm>
            <a:off x="465719" y="5121018"/>
            <a:ext cx="2498982" cy="71561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Data Link/</a:t>
            </a:r>
            <a:r>
              <a:rPr lang="en-IE" dirty="0" err="1"/>
              <a:t>Py</a:t>
            </a:r>
            <a:endParaRPr lang="en-IE" dirty="0"/>
          </a:p>
        </p:txBody>
      </p:sp>
      <p:sp>
        <p:nvSpPr>
          <p:cNvPr id="12" name="Rectangle 11">
            <a:extLst>
              <a:ext uri="{FF2B5EF4-FFF2-40B4-BE49-F238E27FC236}">
                <a16:creationId xmlns:a16="http://schemas.microsoft.com/office/drawing/2014/main" id="{74A0B3A3-D52F-9E99-F6E7-84BF5448E5CA}"/>
              </a:ext>
            </a:extLst>
          </p:cNvPr>
          <p:cNvSpPr/>
          <p:nvPr/>
        </p:nvSpPr>
        <p:spPr>
          <a:xfrm>
            <a:off x="9239605" y="2453544"/>
            <a:ext cx="2498982" cy="715618"/>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Application Layer</a:t>
            </a:r>
          </a:p>
        </p:txBody>
      </p:sp>
      <p:sp>
        <p:nvSpPr>
          <p:cNvPr id="13" name="Rectangle 12">
            <a:extLst>
              <a:ext uri="{FF2B5EF4-FFF2-40B4-BE49-F238E27FC236}">
                <a16:creationId xmlns:a16="http://schemas.microsoft.com/office/drawing/2014/main" id="{41F413BA-CE21-6D0A-A0F0-B2012B6A321A}"/>
              </a:ext>
            </a:extLst>
          </p:cNvPr>
          <p:cNvSpPr/>
          <p:nvPr/>
        </p:nvSpPr>
        <p:spPr>
          <a:xfrm>
            <a:off x="9239605" y="3321562"/>
            <a:ext cx="2498982" cy="71561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Transport Layer</a:t>
            </a:r>
          </a:p>
        </p:txBody>
      </p:sp>
      <p:sp>
        <p:nvSpPr>
          <p:cNvPr id="14" name="Rectangle 13">
            <a:extLst>
              <a:ext uri="{FF2B5EF4-FFF2-40B4-BE49-F238E27FC236}">
                <a16:creationId xmlns:a16="http://schemas.microsoft.com/office/drawing/2014/main" id="{595CD06B-FF3B-7DA7-3AD6-B006C7B824D6}"/>
              </a:ext>
            </a:extLst>
          </p:cNvPr>
          <p:cNvSpPr/>
          <p:nvPr/>
        </p:nvSpPr>
        <p:spPr>
          <a:xfrm>
            <a:off x="9239605" y="4173014"/>
            <a:ext cx="2498982" cy="715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Internet/IP Layer</a:t>
            </a:r>
          </a:p>
        </p:txBody>
      </p:sp>
      <p:sp>
        <p:nvSpPr>
          <p:cNvPr id="15" name="Rectangle 14">
            <a:extLst>
              <a:ext uri="{FF2B5EF4-FFF2-40B4-BE49-F238E27FC236}">
                <a16:creationId xmlns:a16="http://schemas.microsoft.com/office/drawing/2014/main" id="{95C40829-3CCE-7D57-4F31-A8857F7BEAD9}"/>
              </a:ext>
            </a:extLst>
          </p:cNvPr>
          <p:cNvSpPr/>
          <p:nvPr/>
        </p:nvSpPr>
        <p:spPr>
          <a:xfrm>
            <a:off x="9239605" y="5121018"/>
            <a:ext cx="2498982" cy="71561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Data Link</a:t>
            </a:r>
          </a:p>
        </p:txBody>
      </p:sp>
      <p:sp>
        <p:nvSpPr>
          <p:cNvPr id="16" name="Rectangle 15">
            <a:extLst>
              <a:ext uri="{FF2B5EF4-FFF2-40B4-BE49-F238E27FC236}">
                <a16:creationId xmlns:a16="http://schemas.microsoft.com/office/drawing/2014/main" id="{93959493-D60D-5CFE-1B0B-DDE717F1D6DB}"/>
              </a:ext>
            </a:extLst>
          </p:cNvPr>
          <p:cNvSpPr/>
          <p:nvPr/>
        </p:nvSpPr>
        <p:spPr>
          <a:xfrm>
            <a:off x="3463550" y="4173014"/>
            <a:ext cx="2498982" cy="715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Internet/IP Layer</a:t>
            </a:r>
          </a:p>
        </p:txBody>
      </p:sp>
      <p:sp>
        <p:nvSpPr>
          <p:cNvPr id="17" name="Rectangle 16">
            <a:extLst>
              <a:ext uri="{FF2B5EF4-FFF2-40B4-BE49-F238E27FC236}">
                <a16:creationId xmlns:a16="http://schemas.microsoft.com/office/drawing/2014/main" id="{901A9E13-B051-AD0E-F168-E2A763F8A812}"/>
              </a:ext>
            </a:extLst>
          </p:cNvPr>
          <p:cNvSpPr/>
          <p:nvPr/>
        </p:nvSpPr>
        <p:spPr>
          <a:xfrm>
            <a:off x="3472213" y="5121017"/>
            <a:ext cx="2498982" cy="71561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Data Link/</a:t>
            </a:r>
            <a:r>
              <a:rPr lang="en-IE" dirty="0" err="1"/>
              <a:t>Py</a:t>
            </a:r>
            <a:endParaRPr lang="en-IE" dirty="0"/>
          </a:p>
        </p:txBody>
      </p:sp>
      <p:sp>
        <p:nvSpPr>
          <p:cNvPr id="18" name="Rectangle 17">
            <a:extLst>
              <a:ext uri="{FF2B5EF4-FFF2-40B4-BE49-F238E27FC236}">
                <a16:creationId xmlns:a16="http://schemas.microsoft.com/office/drawing/2014/main" id="{A25B097D-1334-BF64-D7E3-D8EA5990B84C}"/>
              </a:ext>
            </a:extLst>
          </p:cNvPr>
          <p:cNvSpPr/>
          <p:nvPr/>
        </p:nvSpPr>
        <p:spPr>
          <a:xfrm>
            <a:off x="6405533" y="4173014"/>
            <a:ext cx="2498982" cy="715618"/>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Internet/IP Layer</a:t>
            </a:r>
          </a:p>
        </p:txBody>
      </p:sp>
      <p:sp>
        <p:nvSpPr>
          <p:cNvPr id="19" name="Rectangle 18">
            <a:extLst>
              <a:ext uri="{FF2B5EF4-FFF2-40B4-BE49-F238E27FC236}">
                <a16:creationId xmlns:a16="http://schemas.microsoft.com/office/drawing/2014/main" id="{E1FB2D56-D58D-95E2-0DA6-747A81827903}"/>
              </a:ext>
            </a:extLst>
          </p:cNvPr>
          <p:cNvSpPr/>
          <p:nvPr/>
        </p:nvSpPr>
        <p:spPr>
          <a:xfrm>
            <a:off x="6405533" y="5121018"/>
            <a:ext cx="2498982" cy="71561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Data Link/</a:t>
            </a:r>
            <a:r>
              <a:rPr lang="en-IE" dirty="0" err="1"/>
              <a:t>Py</a:t>
            </a:r>
            <a:endParaRPr lang="en-IE" dirty="0"/>
          </a:p>
        </p:txBody>
      </p:sp>
      <p:pic>
        <p:nvPicPr>
          <p:cNvPr id="20" name="Picture 19">
            <a:extLst>
              <a:ext uri="{FF2B5EF4-FFF2-40B4-BE49-F238E27FC236}">
                <a16:creationId xmlns:a16="http://schemas.microsoft.com/office/drawing/2014/main" id="{B8A1CC80-8864-961B-DEFF-6C65AF1FEF66}"/>
              </a:ext>
            </a:extLst>
          </p:cNvPr>
          <p:cNvPicPr>
            <a:picLocks noChangeAspect="1"/>
          </p:cNvPicPr>
          <p:nvPr/>
        </p:nvPicPr>
        <p:blipFill>
          <a:blip r:embed="rId2"/>
          <a:stretch>
            <a:fillRect/>
          </a:stretch>
        </p:blipFill>
        <p:spPr>
          <a:xfrm>
            <a:off x="1604309" y="-477586"/>
            <a:ext cx="8733773" cy="2350875"/>
          </a:xfrm>
          <a:prstGeom prst="rect">
            <a:avLst/>
          </a:prstGeom>
        </p:spPr>
      </p:pic>
      <p:sp>
        <p:nvSpPr>
          <p:cNvPr id="21" name="Arrow: Bent-Up 20">
            <a:extLst>
              <a:ext uri="{FF2B5EF4-FFF2-40B4-BE49-F238E27FC236}">
                <a16:creationId xmlns:a16="http://schemas.microsoft.com/office/drawing/2014/main" id="{2AA410C1-5B6B-9A5B-FA68-B34865297F80}"/>
              </a:ext>
            </a:extLst>
          </p:cNvPr>
          <p:cNvSpPr/>
          <p:nvPr/>
        </p:nvSpPr>
        <p:spPr>
          <a:xfrm rot="5400000">
            <a:off x="1502348" y="3909629"/>
            <a:ext cx="2917137" cy="720586"/>
          </a:xfrm>
          <a:prstGeom prst="bentUpArrow">
            <a:avLst>
              <a:gd name="adj1" fmla="val 25000"/>
              <a:gd name="adj2" fmla="val 24694"/>
              <a:gd name="adj3" fmla="val 25000"/>
            </a:avLst>
          </a:prstGeom>
          <a:solidFill>
            <a:srgbClr val="00206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2" name="Arrow: Bent-Up 21">
            <a:extLst>
              <a:ext uri="{FF2B5EF4-FFF2-40B4-BE49-F238E27FC236}">
                <a16:creationId xmlns:a16="http://schemas.microsoft.com/office/drawing/2014/main" id="{C1D66F3C-6C68-DE76-4951-8AC397A10354}"/>
              </a:ext>
            </a:extLst>
          </p:cNvPr>
          <p:cNvSpPr/>
          <p:nvPr/>
        </p:nvSpPr>
        <p:spPr>
          <a:xfrm>
            <a:off x="3383730" y="4530823"/>
            <a:ext cx="720587" cy="1106083"/>
          </a:xfrm>
          <a:prstGeom prst="bentUpArrow">
            <a:avLst/>
          </a:prstGeom>
          <a:solidFill>
            <a:srgbClr val="00206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3" name="Arrow: Bent-Up 22">
            <a:extLst>
              <a:ext uri="{FF2B5EF4-FFF2-40B4-BE49-F238E27FC236}">
                <a16:creationId xmlns:a16="http://schemas.microsoft.com/office/drawing/2014/main" id="{5D8DA92C-4023-4F16-1EF2-6231EFD3376B}"/>
              </a:ext>
            </a:extLst>
          </p:cNvPr>
          <p:cNvSpPr/>
          <p:nvPr/>
        </p:nvSpPr>
        <p:spPr>
          <a:xfrm rot="5400000">
            <a:off x="5289749" y="4788772"/>
            <a:ext cx="1106083" cy="773357"/>
          </a:xfrm>
          <a:prstGeom prst="bentUpArrow">
            <a:avLst>
              <a:gd name="adj1" fmla="val 25000"/>
              <a:gd name="adj2" fmla="val 25000"/>
              <a:gd name="adj3" fmla="val 25000"/>
            </a:avLst>
          </a:prstGeom>
          <a:solidFill>
            <a:srgbClr val="00206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4" name="Arrow: Bent-Up 23">
            <a:extLst>
              <a:ext uri="{FF2B5EF4-FFF2-40B4-BE49-F238E27FC236}">
                <a16:creationId xmlns:a16="http://schemas.microsoft.com/office/drawing/2014/main" id="{16EF6C99-058A-7166-D3D8-E01EEB486911}"/>
              </a:ext>
            </a:extLst>
          </p:cNvPr>
          <p:cNvSpPr/>
          <p:nvPr/>
        </p:nvSpPr>
        <p:spPr>
          <a:xfrm>
            <a:off x="6292415" y="4530822"/>
            <a:ext cx="720587" cy="1106083"/>
          </a:xfrm>
          <a:prstGeom prst="bentUpArrow">
            <a:avLst/>
          </a:prstGeom>
          <a:solidFill>
            <a:srgbClr val="00206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5" name="Arrow: Bent-Up 24">
            <a:extLst>
              <a:ext uri="{FF2B5EF4-FFF2-40B4-BE49-F238E27FC236}">
                <a16:creationId xmlns:a16="http://schemas.microsoft.com/office/drawing/2014/main" id="{218D7105-4371-7EE4-F032-FDF00AD5A150}"/>
              </a:ext>
            </a:extLst>
          </p:cNvPr>
          <p:cNvSpPr/>
          <p:nvPr/>
        </p:nvSpPr>
        <p:spPr>
          <a:xfrm>
            <a:off x="8870790" y="2811353"/>
            <a:ext cx="720587" cy="2825551"/>
          </a:xfrm>
          <a:prstGeom prst="bentUpArrow">
            <a:avLst>
              <a:gd name="adj1" fmla="val 25000"/>
              <a:gd name="adj2" fmla="val 18890"/>
              <a:gd name="adj3" fmla="val 25000"/>
            </a:avLst>
          </a:prstGeom>
          <a:solidFill>
            <a:srgbClr val="00206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26" name="Arrow: Bent-Up 25">
            <a:extLst>
              <a:ext uri="{FF2B5EF4-FFF2-40B4-BE49-F238E27FC236}">
                <a16:creationId xmlns:a16="http://schemas.microsoft.com/office/drawing/2014/main" id="{4E454A49-066D-07A0-4B5E-908A5D189B58}"/>
              </a:ext>
            </a:extLst>
          </p:cNvPr>
          <p:cNvSpPr/>
          <p:nvPr/>
        </p:nvSpPr>
        <p:spPr>
          <a:xfrm rot="5400000">
            <a:off x="7982286" y="4812432"/>
            <a:ext cx="1223829" cy="553179"/>
          </a:xfrm>
          <a:prstGeom prst="bentUpArrow">
            <a:avLst/>
          </a:prstGeom>
          <a:solidFill>
            <a:srgbClr val="002060">
              <a:alpha val="4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209882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65739" y="-45395"/>
            <a:ext cx="12192000" cy="1010068"/>
          </a:xfrm>
        </p:spPr>
        <p:txBody>
          <a:bodyPr>
            <a:normAutofit fontScale="90000"/>
          </a:bodyPr>
          <a:lstStyle/>
          <a:p>
            <a:br>
              <a:rPr lang="en-US" altLang="en-US" dirty="0"/>
            </a:br>
            <a:r>
              <a:rPr lang="en-US" altLang="en-US" dirty="0"/>
              <a:t>Network Addressing</a:t>
            </a:r>
            <a:endParaRPr lang="en-CA" altLang="en-US" dirty="0"/>
          </a:p>
        </p:txBody>
      </p:sp>
      <p:sp>
        <p:nvSpPr>
          <p:cNvPr id="13315" name="Content Placeholder 2"/>
          <p:cNvSpPr>
            <a:spLocks noGrp="1"/>
          </p:cNvSpPr>
          <p:nvPr>
            <p:ph idx="1"/>
          </p:nvPr>
        </p:nvSpPr>
        <p:spPr>
          <a:xfrm>
            <a:off x="568375" y="1110871"/>
            <a:ext cx="11260519" cy="2989391"/>
          </a:xfrm>
        </p:spPr>
        <p:txBody>
          <a:bodyPr/>
          <a:lstStyle/>
          <a:p>
            <a:r>
              <a:rPr lang="en-US" sz="2133" dirty="0"/>
              <a:t>The data link and network layers use addressing to deliver data from source to destination.</a:t>
            </a:r>
          </a:p>
          <a:p>
            <a:r>
              <a:rPr lang="en-US" sz="2133" b="1" dirty="0"/>
              <a:t>Network layer source and destination addresses</a:t>
            </a:r>
            <a:r>
              <a:rPr lang="en-US" sz="2133" dirty="0"/>
              <a:t> - Responsible for delivering the IP packet from original source to the final destination. </a:t>
            </a:r>
          </a:p>
          <a:p>
            <a:r>
              <a:rPr lang="en-US" sz="2133" b="1" dirty="0"/>
              <a:t>Data link layer source and destination addresses </a:t>
            </a:r>
            <a:r>
              <a:rPr lang="en-US" sz="2133" dirty="0"/>
              <a:t>– Responsible for delivering the data link frame from one network interface card (NIC) to another NIC on the same network.</a:t>
            </a:r>
          </a:p>
          <a:p>
            <a:pPr marL="0" indent="0">
              <a:buNone/>
            </a:pPr>
            <a:endParaRPr lang="en-CA" altLang="en-US" dirty="0"/>
          </a:p>
          <a:p>
            <a:endParaRPr lang="en-CA" altLang="en-US"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047" y="4246461"/>
            <a:ext cx="9105900" cy="222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437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55191"/>
            <a:ext cx="12192000" cy="1010068"/>
          </a:xfrm>
        </p:spPr>
        <p:txBody>
          <a:bodyPr>
            <a:normAutofit/>
          </a:bodyPr>
          <a:lstStyle/>
          <a:p>
            <a:r>
              <a:rPr lang="en-US" altLang="en-US" dirty="0"/>
              <a:t> Network Layer: Logical Address</a:t>
            </a:r>
            <a:endParaRPr lang="en-CA" altLang="en-US" dirty="0"/>
          </a:p>
        </p:txBody>
      </p:sp>
      <p:sp>
        <p:nvSpPr>
          <p:cNvPr id="13315" name="Content Placeholder 2"/>
          <p:cNvSpPr>
            <a:spLocks noGrp="1"/>
          </p:cNvSpPr>
          <p:nvPr>
            <p:ph idx="1"/>
          </p:nvPr>
        </p:nvSpPr>
        <p:spPr>
          <a:xfrm>
            <a:off x="132669" y="1383993"/>
            <a:ext cx="5069936" cy="4610100"/>
          </a:xfrm>
        </p:spPr>
        <p:txBody>
          <a:bodyPr/>
          <a:lstStyle/>
          <a:p>
            <a:pPr marL="0" indent="0">
              <a:buNone/>
            </a:pPr>
            <a:r>
              <a:rPr lang="en-US" sz="2133" dirty="0"/>
              <a:t>The IP packet contains two IP addresses:</a:t>
            </a:r>
          </a:p>
          <a:p>
            <a:pPr lvl="1"/>
            <a:r>
              <a:rPr lang="en-US" sz="2133" b="1" dirty="0"/>
              <a:t>Source IP address</a:t>
            </a:r>
            <a:r>
              <a:rPr lang="en-US" sz="2133" dirty="0"/>
              <a:t> - The IP address of the sending device,  original source of the packet.</a:t>
            </a:r>
          </a:p>
          <a:p>
            <a:pPr lvl="1"/>
            <a:r>
              <a:rPr lang="en-US" sz="2133" b="1" dirty="0"/>
              <a:t>Destination IP address</a:t>
            </a:r>
            <a:r>
              <a:rPr lang="en-US" sz="2133" dirty="0"/>
              <a:t> - The IP address of the receiving device, final destination of the packet.</a:t>
            </a:r>
          </a:p>
          <a:p>
            <a:pPr marL="0" indent="0">
              <a:buNone/>
            </a:pPr>
            <a:r>
              <a:rPr lang="en-US" sz="2133" dirty="0"/>
              <a:t>These addresses may be on the same link or remote.</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7632" y="1643816"/>
            <a:ext cx="6507619" cy="35590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497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55191"/>
            <a:ext cx="12192000" cy="1010068"/>
          </a:xfrm>
        </p:spPr>
        <p:txBody>
          <a:bodyPr>
            <a:normAutofit/>
          </a:bodyPr>
          <a:lstStyle/>
          <a:p>
            <a:r>
              <a:rPr lang="en-US" altLang="en-US" dirty="0"/>
              <a:t>Network Layer Logical Address (Cont.)</a:t>
            </a:r>
            <a:endParaRPr lang="en-CA" altLang="en-US" dirty="0"/>
          </a:p>
        </p:txBody>
      </p:sp>
      <p:sp>
        <p:nvSpPr>
          <p:cNvPr id="13315" name="Content Placeholder 2"/>
          <p:cNvSpPr>
            <a:spLocks noGrp="1"/>
          </p:cNvSpPr>
          <p:nvPr>
            <p:ph idx="1"/>
          </p:nvPr>
        </p:nvSpPr>
        <p:spPr>
          <a:xfrm>
            <a:off x="133351" y="1181099"/>
            <a:ext cx="5737381" cy="5429021"/>
          </a:xfrm>
        </p:spPr>
        <p:txBody>
          <a:bodyPr/>
          <a:lstStyle/>
          <a:p>
            <a:pPr marL="0" indent="0">
              <a:buNone/>
            </a:pPr>
            <a:r>
              <a:rPr lang="en-US" sz="2133" dirty="0"/>
              <a:t>An IP address contains two parts:</a:t>
            </a:r>
          </a:p>
          <a:p>
            <a:pPr>
              <a:buFont typeface="Arial" panose="020B0604020202020204" pitchFamily="34" charset="0"/>
              <a:buChar char="•"/>
            </a:pPr>
            <a:r>
              <a:rPr lang="en-US" sz="2133" b="1" dirty="0"/>
              <a:t>Network portion </a:t>
            </a:r>
          </a:p>
          <a:p>
            <a:pPr lvl="1"/>
            <a:r>
              <a:rPr lang="en-US" sz="1800" dirty="0"/>
              <a:t>The left-most part of the address indicates the network group which the IP address is a member.</a:t>
            </a:r>
          </a:p>
          <a:p>
            <a:pPr lvl="1"/>
            <a:r>
              <a:rPr lang="en-US" sz="2000" dirty="0"/>
              <a:t>Each network will have the same network portion.</a:t>
            </a:r>
          </a:p>
          <a:p>
            <a:pPr>
              <a:buFont typeface="Arial" panose="020B0604020202020204" pitchFamily="34" charset="0"/>
              <a:buChar char="•"/>
            </a:pPr>
            <a:r>
              <a:rPr lang="en-US" sz="2133" b="1" dirty="0"/>
              <a:t>Host portion</a:t>
            </a:r>
            <a:endParaRPr lang="en-US" sz="2133" dirty="0"/>
          </a:p>
          <a:p>
            <a:pPr lvl="1"/>
            <a:r>
              <a:rPr lang="en-US" sz="2000" dirty="0"/>
              <a:t>The remaining part of the address identifies a specific device within the group. </a:t>
            </a:r>
          </a:p>
          <a:p>
            <a:pPr lvl="1"/>
            <a:r>
              <a:rPr lang="en-US" sz="2000" dirty="0"/>
              <a:t>This portion is unique for each device on the network.</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083" y="1649476"/>
            <a:ext cx="6187917" cy="35590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420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55191"/>
            <a:ext cx="12192000" cy="1093324"/>
          </a:xfrm>
        </p:spPr>
        <p:txBody>
          <a:bodyPr>
            <a:normAutofit/>
          </a:bodyPr>
          <a:lstStyle/>
          <a:p>
            <a:r>
              <a:rPr lang="en-US" altLang="en-US" dirty="0"/>
              <a:t>Devices on the Same Network</a:t>
            </a:r>
            <a:endParaRPr lang="en-CA" altLang="en-US" dirty="0"/>
          </a:p>
        </p:txBody>
      </p:sp>
      <p:sp>
        <p:nvSpPr>
          <p:cNvPr id="13315" name="Content Placeholder 2"/>
          <p:cNvSpPr>
            <a:spLocks noGrp="1"/>
          </p:cNvSpPr>
          <p:nvPr>
            <p:ph idx="1"/>
          </p:nvPr>
        </p:nvSpPr>
        <p:spPr>
          <a:xfrm>
            <a:off x="236208" y="1580083"/>
            <a:ext cx="5051889" cy="4580413"/>
          </a:xfrm>
        </p:spPr>
        <p:txBody>
          <a:bodyPr/>
          <a:lstStyle/>
          <a:p>
            <a:pPr marL="0" indent="0">
              <a:buNone/>
            </a:pPr>
            <a:r>
              <a:rPr lang="en-US" sz="2133" dirty="0"/>
              <a:t>When devices are on the same network the source and destination will have the same number in network portion of the address.</a:t>
            </a:r>
          </a:p>
          <a:p>
            <a:pPr lvl="1"/>
            <a:r>
              <a:rPr lang="en-US" sz="2133" dirty="0"/>
              <a:t>PC1 – </a:t>
            </a:r>
            <a:r>
              <a:rPr lang="en-US" sz="2133" u="sng" dirty="0">
                <a:solidFill>
                  <a:schemeClr val="accent6"/>
                </a:solidFill>
              </a:rPr>
              <a:t>192.168.1</a:t>
            </a:r>
            <a:r>
              <a:rPr lang="en-US" sz="2133" dirty="0"/>
              <a:t>.110</a:t>
            </a:r>
          </a:p>
          <a:p>
            <a:pPr lvl="1"/>
            <a:r>
              <a:rPr lang="en-US" sz="2133" dirty="0"/>
              <a:t>FTP Server – </a:t>
            </a:r>
            <a:r>
              <a:rPr lang="en-US" sz="2133" u="sng" dirty="0">
                <a:solidFill>
                  <a:schemeClr val="accent6"/>
                </a:solidFill>
              </a:rPr>
              <a:t>192.168.1</a:t>
            </a:r>
            <a:r>
              <a:rPr lang="en-US" sz="2133" dirty="0"/>
              <a:t>.9</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8305" y="1303325"/>
            <a:ext cx="6191011" cy="39745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5629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55191"/>
            <a:ext cx="12192000" cy="1093324"/>
          </a:xfrm>
        </p:spPr>
        <p:txBody>
          <a:bodyPr>
            <a:normAutofit/>
          </a:bodyPr>
          <a:lstStyle/>
          <a:p>
            <a:r>
              <a:rPr lang="en-US" altLang="en-US" dirty="0"/>
              <a:t> Data Link Layer Addresses: Same IP Network</a:t>
            </a:r>
            <a:endParaRPr lang="en-CA" altLang="en-US" dirty="0"/>
          </a:p>
        </p:txBody>
      </p:sp>
      <p:sp>
        <p:nvSpPr>
          <p:cNvPr id="13315" name="Content Placeholder 2"/>
          <p:cNvSpPr>
            <a:spLocks noGrp="1"/>
          </p:cNvSpPr>
          <p:nvPr>
            <p:ph idx="1"/>
          </p:nvPr>
        </p:nvSpPr>
        <p:spPr>
          <a:xfrm>
            <a:off x="152401" y="1148516"/>
            <a:ext cx="5372100" cy="4580413"/>
          </a:xfrm>
        </p:spPr>
        <p:txBody>
          <a:bodyPr/>
          <a:lstStyle/>
          <a:p>
            <a:pPr marL="0" indent="0">
              <a:buNone/>
            </a:pPr>
            <a:r>
              <a:rPr lang="en-US" sz="2133" dirty="0"/>
              <a:t>When devices are on the same Ethernet network the data link frame will use the actual MAC address of the destination NIC.</a:t>
            </a:r>
          </a:p>
          <a:p>
            <a:pPr marL="0" indent="0">
              <a:buNone/>
            </a:pPr>
            <a:r>
              <a:rPr lang="en-CA" altLang="en-US" sz="2133" dirty="0"/>
              <a:t>MAC addresses are physically embedded into the Ethernet NIC and are local addressing.</a:t>
            </a:r>
          </a:p>
          <a:p>
            <a:pPr>
              <a:buFont typeface="Arial" panose="020B0604020202020204" pitchFamily="34" charset="0"/>
              <a:buChar char="•"/>
            </a:pPr>
            <a:r>
              <a:rPr lang="en-CA" altLang="en-US" sz="2133" dirty="0"/>
              <a:t>The Source MAC address will be that of the originator on the link.</a:t>
            </a:r>
          </a:p>
          <a:p>
            <a:pPr>
              <a:buFont typeface="Arial" panose="020B0604020202020204" pitchFamily="34" charset="0"/>
              <a:buChar char="•"/>
            </a:pPr>
            <a:r>
              <a:rPr lang="en-CA" altLang="en-US" sz="2133" dirty="0"/>
              <a:t>The Destination MAC address will always be on the same link as the source, even if the ultimate destination is remote.</a:t>
            </a:r>
          </a:p>
          <a:p>
            <a:pPr marL="0" indent="0">
              <a:buNone/>
            </a:pPr>
            <a:endParaRPr lang="en-CA" altLang="en-US" dirty="0"/>
          </a:p>
        </p:txBody>
      </p:sp>
      <p:pic>
        <p:nvPicPr>
          <p:cNvPr id="2" name="Picture 1"/>
          <p:cNvPicPr>
            <a:picLocks noChangeAspect="1"/>
          </p:cNvPicPr>
          <p:nvPr/>
        </p:nvPicPr>
        <p:blipFill>
          <a:blip r:embed="rId3"/>
          <a:stretch>
            <a:fillRect/>
          </a:stretch>
        </p:blipFill>
        <p:spPr>
          <a:xfrm>
            <a:off x="5865921" y="1148515"/>
            <a:ext cx="5963924" cy="3911821"/>
          </a:xfrm>
          <a:prstGeom prst="rect">
            <a:avLst/>
          </a:prstGeom>
        </p:spPr>
      </p:pic>
    </p:spTree>
    <p:extLst>
      <p:ext uri="{BB962C8B-B14F-4D97-AF65-F5344CB8AC3E}">
        <p14:creationId xmlns:p14="http://schemas.microsoft.com/office/powerpoint/2010/main" val="1711889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55191"/>
            <a:ext cx="12192000" cy="1093324"/>
          </a:xfrm>
        </p:spPr>
        <p:txBody>
          <a:bodyPr>
            <a:normAutofit/>
          </a:bodyPr>
          <a:lstStyle/>
          <a:p>
            <a:r>
              <a:rPr lang="en-US" altLang="en-US" dirty="0"/>
              <a:t>Devices on a Remote Network</a:t>
            </a:r>
            <a:endParaRPr lang="en-CA" altLang="en-US" dirty="0"/>
          </a:p>
        </p:txBody>
      </p:sp>
      <p:sp>
        <p:nvSpPr>
          <p:cNvPr id="13315" name="Content Placeholder 2"/>
          <p:cNvSpPr>
            <a:spLocks noGrp="1"/>
          </p:cNvSpPr>
          <p:nvPr>
            <p:ph idx="1"/>
          </p:nvPr>
        </p:nvSpPr>
        <p:spPr>
          <a:xfrm>
            <a:off x="152401" y="1148516"/>
            <a:ext cx="5150384" cy="4790168"/>
          </a:xfrm>
        </p:spPr>
        <p:txBody>
          <a:bodyPr/>
          <a:lstStyle/>
          <a:p>
            <a:pPr marL="0" indent="0">
              <a:buNone/>
            </a:pPr>
            <a:r>
              <a:rPr lang="en-US" altLang="en-US" sz="2133" dirty="0"/>
              <a:t>When the source and destination have a different network portion, this means they are on different networks.</a:t>
            </a:r>
          </a:p>
          <a:p>
            <a:pPr lvl="1"/>
            <a:r>
              <a:rPr lang="en-US" altLang="en-US" sz="2133" dirty="0"/>
              <a:t>PC1 – 192.168.1</a:t>
            </a:r>
          </a:p>
          <a:p>
            <a:pPr lvl="1"/>
            <a:r>
              <a:rPr lang="en-US" altLang="en-US" sz="2133" dirty="0"/>
              <a:t>Web Server – 172.16.1</a:t>
            </a:r>
          </a:p>
          <a:p>
            <a:pPr marL="0"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5524501" y="1383134"/>
            <a:ext cx="6512711" cy="4320933"/>
          </a:xfrm>
          <a:prstGeom prst="rect">
            <a:avLst/>
          </a:prstGeom>
        </p:spPr>
      </p:pic>
    </p:spTree>
    <p:extLst>
      <p:ext uri="{BB962C8B-B14F-4D97-AF65-F5344CB8AC3E}">
        <p14:creationId xmlns:p14="http://schemas.microsoft.com/office/powerpoint/2010/main" val="1152864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55192"/>
            <a:ext cx="12192000" cy="991725"/>
          </a:xfrm>
        </p:spPr>
        <p:txBody>
          <a:bodyPr>
            <a:normAutofit fontScale="90000"/>
          </a:bodyPr>
          <a:lstStyle/>
          <a:p>
            <a:r>
              <a:rPr lang="en-US" altLang="en-US" dirty="0"/>
              <a:t>Role of the Data Link Layer Addresses: Different IP Networks</a:t>
            </a:r>
            <a:endParaRPr lang="en-CA" altLang="en-US" dirty="0"/>
          </a:p>
        </p:txBody>
      </p:sp>
      <p:sp>
        <p:nvSpPr>
          <p:cNvPr id="13315" name="Content Placeholder 2"/>
          <p:cNvSpPr>
            <a:spLocks noGrp="1"/>
          </p:cNvSpPr>
          <p:nvPr>
            <p:ph idx="1"/>
          </p:nvPr>
        </p:nvSpPr>
        <p:spPr>
          <a:xfrm>
            <a:off x="152400" y="1276886"/>
            <a:ext cx="5382031" cy="5201484"/>
          </a:xfrm>
        </p:spPr>
        <p:txBody>
          <a:bodyPr>
            <a:normAutofit fontScale="85000" lnSpcReduction="20000"/>
          </a:bodyPr>
          <a:lstStyle/>
          <a:p>
            <a:pPr marL="0" indent="0">
              <a:buNone/>
            </a:pPr>
            <a:r>
              <a:rPr lang="en-US" dirty="0"/>
              <a:t>When the final destination is remote, Network Layer(Layer 3) will provide Data Link Layer(Layer 2) with the local default gateway IP address, also known as the router address.</a:t>
            </a:r>
          </a:p>
          <a:p>
            <a:pPr>
              <a:buFont typeface="Arial" panose="020B0604020202020204" pitchFamily="34" charset="0"/>
              <a:buChar char="•"/>
            </a:pPr>
            <a:r>
              <a:rPr lang="en-US" dirty="0"/>
              <a:t>The </a:t>
            </a:r>
            <a:r>
              <a:rPr lang="en-US" b="1" dirty="0"/>
              <a:t>default gateway (DGW) </a:t>
            </a:r>
            <a:r>
              <a:rPr lang="en-US" dirty="0"/>
              <a:t>is the router interface IP address that is part of this LAN and will be the “door” or “gateway” to all other remote locations.</a:t>
            </a:r>
          </a:p>
          <a:p>
            <a:pPr>
              <a:buFont typeface="Arial" panose="020B0604020202020204" pitchFamily="34" charset="0"/>
              <a:buChar char="•"/>
            </a:pPr>
            <a:r>
              <a:rPr lang="en-US" b="1" dirty="0"/>
              <a:t>All devices on the LAN must be told about this address or their traffic will be confined to the LAN only. </a:t>
            </a:r>
          </a:p>
          <a:p>
            <a:pPr>
              <a:buFont typeface="Arial" panose="020B0604020202020204" pitchFamily="34" charset="0"/>
              <a:buChar char="•"/>
            </a:pPr>
            <a:r>
              <a:rPr lang="en-US" altLang="en-US" dirty="0"/>
              <a:t>Once Layer 2 on PC1 forwards to the default gateway (Router), the router then can start the routing process of getting the information to actual destination. </a:t>
            </a:r>
            <a:endParaRPr lang="en-CA" altLang="en-US" dirty="0"/>
          </a:p>
          <a:p>
            <a:pPr marL="0" indent="0">
              <a:buNone/>
            </a:pPr>
            <a:endParaRPr lang="en-CA"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4433" y="1584960"/>
            <a:ext cx="6505167" cy="4413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3931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55191"/>
            <a:ext cx="12192000" cy="1327943"/>
          </a:xfrm>
        </p:spPr>
        <p:txBody>
          <a:bodyPr>
            <a:normAutofit fontScale="90000"/>
          </a:bodyPr>
          <a:lstStyle/>
          <a:p>
            <a:br>
              <a:rPr lang="en-US" altLang="en-US" dirty="0"/>
            </a:br>
            <a:r>
              <a:rPr lang="en-US" altLang="en-US" dirty="0"/>
              <a:t>Role of the Data Link Layer Addresses: Different IP Networks (Cont.)</a:t>
            </a:r>
            <a:endParaRPr lang="en-CA" altLang="en-US" dirty="0"/>
          </a:p>
        </p:txBody>
      </p:sp>
      <p:sp>
        <p:nvSpPr>
          <p:cNvPr id="13315" name="Content Placeholder 2"/>
          <p:cNvSpPr>
            <a:spLocks noGrp="1"/>
          </p:cNvSpPr>
          <p:nvPr>
            <p:ph idx="1"/>
          </p:nvPr>
        </p:nvSpPr>
        <p:spPr>
          <a:xfrm>
            <a:off x="152401" y="1487424"/>
            <a:ext cx="5246915" cy="4843603"/>
          </a:xfrm>
        </p:spPr>
        <p:txBody>
          <a:bodyPr>
            <a:normAutofit lnSpcReduction="10000"/>
          </a:bodyPr>
          <a:lstStyle/>
          <a:p>
            <a:pPr>
              <a:buFont typeface="Arial" panose="020B0604020202020204" pitchFamily="34" charset="0"/>
              <a:buChar char="•"/>
            </a:pPr>
            <a:r>
              <a:rPr lang="en-US" altLang="en-US" sz="2133" dirty="0"/>
              <a:t>The data link addressing is local addressing so it will have a source and destination for each link.</a:t>
            </a:r>
          </a:p>
          <a:p>
            <a:pPr>
              <a:buFont typeface="Arial" panose="020B0604020202020204" pitchFamily="34" charset="0"/>
              <a:buChar char="•"/>
            </a:pPr>
            <a:r>
              <a:rPr lang="en-US" altLang="en-US" sz="2133" dirty="0"/>
              <a:t>The MAC addressing for the first segment is :</a:t>
            </a:r>
          </a:p>
          <a:p>
            <a:pPr lvl="1"/>
            <a:r>
              <a:rPr lang="en-US" altLang="en-US" sz="2133" dirty="0"/>
              <a:t>Source –  AA-AA-AA-AA-AA-AA (PC1) Sends the frame.</a:t>
            </a:r>
          </a:p>
          <a:p>
            <a:pPr lvl="1"/>
            <a:r>
              <a:rPr lang="en-US" altLang="en-US" sz="2133" dirty="0"/>
              <a:t>Destination – 11-11-11-11-11-11 (R1- </a:t>
            </a:r>
            <a:r>
              <a:rPr lang="en-US" altLang="en-US" sz="2133" b="1" dirty="0"/>
              <a:t>Default Gateway MAC</a:t>
            </a:r>
            <a:r>
              <a:rPr lang="en-US" altLang="en-US" sz="2133" dirty="0"/>
              <a:t>) Receives the frame.</a:t>
            </a:r>
          </a:p>
          <a:p>
            <a:pPr marL="0" indent="0">
              <a:buNone/>
            </a:pPr>
            <a:r>
              <a:rPr lang="en-US" altLang="en-US" b="1" dirty="0"/>
              <a:t>Note: </a:t>
            </a:r>
            <a:r>
              <a:rPr lang="en-US" altLang="en-US" dirty="0"/>
              <a:t>While the L2 local addressing will change from link to link or hop to hop, the L3 addressing remains the same.</a:t>
            </a:r>
          </a:p>
          <a:p>
            <a:endParaRPr lang="en-CA" altLang="en-US" dirty="0"/>
          </a:p>
          <a:p>
            <a:pPr marL="0" indent="0">
              <a:buNone/>
            </a:pPr>
            <a:endParaRPr lang="en-CA"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079" y="1166036"/>
            <a:ext cx="5621117" cy="3596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8694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998720" cy="1148515"/>
          </a:xfrm>
        </p:spPr>
        <p:txBody>
          <a:bodyPr>
            <a:normAutofit fontScale="90000"/>
          </a:bodyPr>
          <a:lstStyle/>
          <a:p>
            <a:br>
              <a:rPr lang="en-US" altLang="en-US" dirty="0"/>
            </a:br>
            <a:r>
              <a:rPr lang="en-US" altLang="en-US" dirty="0"/>
              <a:t>Data Link Addresses</a:t>
            </a:r>
            <a:endParaRPr lang="en-CA" altLang="en-US" dirty="0"/>
          </a:p>
        </p:txBody>
      </p:sp>
      <p:sp>
        <p:nvSpPr>
          <p:cNvPr id="13315" name="Content Placeholder 2"/>
          <p:cNvSpPr>
            <a:spLocks noGrp="1"/>
          </p:cNvSpPr>
          <p:nvPr>
            <p:ph idx="1"/>
          </p:nvPr>
        </p:nvSpPr>
        <p:spPr>
          <a:xfrm>
            <a:off x="215901" y="1148517"/>
            <a:ext cx="11341100" cy="2235339"/>
          </a:xfrm>
        </p:spPr>
        <p:txBody>
          <a:bodyPr/>
          <a:lstStyle/>
          <a:p>
            <a:pPr>
              <a:buFont typeface="Arial" panose="020B0604020202020204" pitchFamily="34" charset="0"/>
              <a:buChar char="•"/>
            </a:pPr>
            <a:r>
              <a:rPr lang="en-US" altLang="en-US" sz="2133" dirty="0"/>
              <a:t>Since data link addressing is local addressing,  it will have a source and destination for each segment or hop of the journey to the destination.</a:t>
            </a:r>
          </a:p>
          <a:p>
            <a:pPr>
              <a:buFont typeface="Arial" panose="020B0604020202020204" pitchFamily="34" charset="0"/>
              <a:buChar char="•"/>
            </a:pPr>
            <a:r>
              <a:rPr lang="en-US" altLang="en-US" sz="2133" dirty="0"/>
              <a:t>The MAC addressing for the first segment is:</a:t>
            </a:r>
          </a:p>
          <a:p>
            <a:pPr lvl="1"/>
            <a:r>
              <a:rPr lang="en-US" altLang="en-US" sz="2133" dirty="0"/>
              <a:t>Source –  (PC1 NIC) sends frame</a:t>
            </a:r>
          </a:p>
          <a:p>
            <a:pPr lvl="1"/>
            <a:r>
              <a:rPr lang="en-US" altLang="en-US" sz="2133" dirty="0"/>
              <a:t>Destination – (First Router- DGW interface) receives frame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7789" y="3429001"/>
            <a:ext cx="5961049" cy="2886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585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5956299" cy="1148515"/>
          </a:xfrm>
        </p:spPr>
        <p:txBody>
          <a:bodyPr>
            <a:normAutofit fontScale="90000"/>
          </a:bodyPr>
          <a:lstStyle/>
          <a:p>
            <a:r>
              <a:rPr lang="en-US" altLang="en-US" dirty="0"/>
              <a:t>Data Link Addresses (Cont.)</a:t>
            </a:r>
            <a:endParaRPr lang="en-CA" altLang="en-US" dirty="0"/>
          </a:p>
        </p:txBody>
      </p:sp>
      <p:sp>
        <p:nvSpPr>
          <p:cNvPr id="13315" name="Content Placeholder 2"/>
          <p:cNvSpPr>
            <a:spLocks noGrp="1"/>
          </p:cNvSpPr>
          <p:nvPr>
            <p:ph idx="1"/>
          </p:nvPr>
        </p:nvSpPr>
        <p:spPr>
          <a:xfrm>
            <a:off x="1661190" y="1371261"/>
            <a:ext cx="10998200" cy="1531184"/>
          </a:xfrm>
        </p:spPr>
        <p:txBody>
          <a:bodyPr/>
          <a:lstStyle/>
          <a:p>
            <a:pPr marL="0" indent="0">
              <a:buNone/>
            </a:pPr>
            <a:r>
              <a:rPr lang="en-US" altLang="en-US" sz="2133" dirty="0"/>
              <a:t>The MAC addressing for the second hop is:</a:t>
            </a:r>
          </a:p>
          <a:p>
            <a:pPr lvl="1"/>
            <a:r>
              <a:rPr lang="en-US" altLang="en-US" sz="2133" dirty="0"/>
              <a:t>Source –  (First Router- exit interface) sends frame</a:t>
            </a:r>
          </a:p>
          <a:p>
            <a:pPr lvl="1"/>
            <a:r>
              <a:rPr lang="en-US" altLang="en-US" sz="2133" dirty="0"/>
              <a:t>Destination – (Second Router) receives frame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3390" y="2773339"/>
            <a:ext cx="6965221" cy="31303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996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5689599" cy="1148515"/>
          </a:xfrm>
        </p:spPr>
        <p:txBody>
          <a:bodyPr>
            <a:normAutofit fontScale="90000"/>
          </a:bodyPr>
          <a:lstStyle/>
          <a:p>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821699" y="1511874"/>
            <a:ext cx="10388599" cy="1607384"/>
          </a:xfrm>
        </p:spPr>
        <p:txBody>
          <a:bodyPr/>
          <a:lstStyle/>
          <a:p>
            <a:pPr marL="0" indent="0">
              <a:buNone/>
            </a:pPr>
            <a:r>
              <a:rPr lang="en-US" altLang="en-US" sz="2133" dirty="0"/>
              <a:t>The MAC addressing for the last segment is:</a:t>
            </a:r>
          </a:p>
          <a:p>
            <a:pPr lvl="1"/>
            <a:r>
              <a:rPr lang="en-US" altLang="en-US" sz="2133" dirty="0"/>
              <a:t>Source –  (Second Router- exit interface) sends frame</a:t>
            </a:r>
          </a:p>
          <a:p>
            <a:pPr lvl="1"/>
            <a:r>
              <a:rPr lang="en-US" altLang="en-US" sz="2133" dirty="0"/>
              <a:t>Destination – (Web Server NIC) receives frame</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828" y="2849543"/>
            <a:ext cx="6902344" cy="3039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523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6108699" cy="1148515"/>
          </a:xfrm>
        </p:spPr>
        <p:txBody>
          <a:bodyPr>
            <a:normAutofit fontScale="90000"/>
          </a:bodyPr>
          <a:lstStyle/>
          <a:p>
            <a:r>
              <a:rPr lang="en-US" altLang="en-US" sz="2133"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266701" y="1110417"/>
            <a:ext cx="11493500" cy="1607384"/>
          </a:xfrm>
        </p:spPr>
        <p:txBody>
          <a:bodyPr/>
          <a:lstStyle/>
          <a:p>
            <a:pPr>
              <a:buFont typeface="Arial" panose="020B0604020202020204" pitchFamily="34" charset="0"/>
              <a:buChar char="•"/>
            </a:pPr>
            <a:r>
              <a:rPr lang="en-US" altLang="en-US" sz="2133" dirty="0"/>
              <a:t>Notice that the packet is not modified, but the frame is changed, therefore the L3 IP addressing does not change from segment to segment like the L2 MAC addressing.</a:t>
            </a:r>
          </a:p>
          <a:p>
            <a:pPr>
              <a:buFont typeface="Arial" panose="020B0604020202020204" pitchFamily="34" charset="0"/>
              <a:buChar char="•"/>
            </a:pPr>
            <a:r>
              <a:rPr lang="en-US" altLang="en-US" sz="2133" dirty="0"/>
              <a:t>The L3 addressing remains the same since it is global and the ultimate destination is still the Web Server.</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548" y="2909504"/>
            <a:ext cx="6962305" cy="3039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697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D9534-4DB7-4E08-BED9-F340E0C5F820}"/>
              </a:ext>
            </a:extLst>
          </p:cNvPr>
          <p:cNvSpPr>
            <a:spLocks noGrp="1"/>
          </p:cNvSpPr>
          <p:nvPr>
            <p:ph type="title"/>
          </p:nvPr>
        </p:nvSpPr>
        <p:spPr/>
        <p:txBody>
          <a:bodyPr/>
          <a:lstStyle/>
          <a:p>
            <a:r>
              <a:rPr lang="en-IE" dirty="0"/>
              <a:t>Quiz</a:t>
            </a:r>
          </a:p>
        </p:txBody>
      </p:sp>
      <p:sp>
        <p:nvSpPr>
          <p:cNvPr id="3" name="TextBox 2">
            <a:extLst>
              <a:ext uri="{FF2B5EF4-FFF2-40B4-BE49-F238E27FC236}">
                <a16:creationId xmlns:a16="http://schemas.microsoft.com/office/drawing/2014/main" id="{0BA1AFFB-F492-49ED-9144-3F5E3AF4055D}"/>
              </a:ext>
            </a:extLst>
          </p:cNvPr>
          <p:cNvSpPr txBox="1"/>
          <p:nvPr/>
        </p:nvSpPr>
        <p:spPr>
          <a:xfrm>
            <a:off x="1494971" y="1937657"/>
            <a:ext cx="10130972" cy="3416320"/>
          </a:xfrm>
          <a:prstGeom prst="rect">
            <a:avLst/>
          </a:prstGeom>
          <a:noFill/>
        </p:spPr>
        <p:txBody>
          <a:bodyPr wrap="square" rtlCol="0">
            <a:spAutoFit/>
          </a:bodyPr>
          <a:lstStyle/>
          <a:p>
            <a:r>
              <a:rPr lang="en-IE" dirty="0"/>
              <a:t>Which of the following devices operate primarily at the Data Link Layer(OSI Layer 2) </a:t>
            </a:r>
          </a:p>
          <a:p>
            <a:pPr marL="342900" indent="-342900">
              <a:buAutoNum type="arabicPeriod"/>
            </a:pPr>
            <a:r>
              <a:rPr lang="en-IE" dirty="0"/>
              <a:t>Router</a:t>
            </a:r>
          </a:p>
          <a:p>
            <a:pPr marL="342900" indent="-342900">
              <a:buAutoNum type="arabicPeriod"/>
            </a:pPr>
            <a:r>
              <a:rPr lang="en-IE" dirty="0"/>
              <a:t>Web Server</a:t>
            </a:r>
          </a:p>
          <a:p>
            <a:pPr marL="342900" indent="-342900">
              <a:buAutoNum type="arabicPeriod"/>
            </a:pPr>
            <a:r>
              <a:rPr lang="en-IE" dirty="0"/>
              <a:t>Switch</a:t>
            </a:r>
          </a:p>
          <a:p>
            <a:pPr marL="342900" indent="-342900">
              <a:buAutoNum type="arabicPeriod"/>
            </a:pPr>
            <a:r>
              <a:rPr lang="en-IE" dirty="0"/>
              <a:t>Laptop</a:t>
            </a:r>
          </a:p>
          <a:p>
            <a:pPr marL="342900" indent="-342900">
              <a:buAutoNum type="arabicPeriod"/>
            </a:pPr>
            <a:endParaRPr lang="en-IE" dirty="0"/>
          </a:p>
          <a:p>
            <a:r>
              <a:rPr lang="en-IE" dirty="0"/>
              <a:t>Which of the following statements are True for communication between different networks (</a:t>
            </a:r>
            <a:r>
              <a:rPr lang="en-IE" dirty="0" err="1"/>
              <a:t>ie</a:t>
            </a:r>
            <a:r>
              <a:rPr lang="en-IE" dirty="0"/>
              <a:t> across the internet)</a:t>
            </a:r>
          </a:p>
          <a:p>
            <a:pPr marL="342900" indent="-342900">
              <a:buAutoNum type="arabicPeriod"/>
            </a:pPr>
            <a:r>
              <a:rPr lang="en-IE" dirty="0"/>
              <a:t>The source and destination MAC addresses will remain the same from link to link</a:t>
            </a:r>
          </a:p>
          <a:p>
            <a:pPr marL="342900" indent="-342900">
              <a:buAutoNum type="arabicPeriod"/>
            </a:pPr>
            <a:r>
              <a:rPr lang="en-IE" dirty="0"/>
              <a:t>The destination IP address will change from link to link.</a:t>
            </a:r>
          </a:p>
          <a:p>
            <a:pPr marL="342900" indent="-342900">
              <a:buAutoNum type="arabicPeriod"/>
            </a:pPr>
            <a:r>
              <a:rPr lang="en-IE" dirty="0"/>
              <a:t>The source and destination MAC address will change from link to link/hop to hop</a:t>
            </a:r>
          </a:p>
          <a:p>
            <a:pPr marL="342900" indent="-342900">
              <a:buAutoNum type="arabicPeriod"/>
            </a:pPr>
            <a:r>
              <a:rPr lang="en-IE" dirty="0"/>
              <a:t>The destination IP address will remain the same across all links.</a:t>
            </a:r>
          </a:p>
        </p:txBody>
      </p:sp>
    </p:spTree>
    <p:extLst>
      <p:ext uri="{BB962C8B-B14F-4D97-AF65-F5344CB8AC3E}">
        <p14:creationId xmlns:p14="http://schemas.microsoft.com/office/powerpoint/2010/main" val="2276252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9794B-52EF-47A7-A1FD-45CFE999D0A5}"/>
              </a:ext>
            </a:extLst>
          </p:cNvPr>
          <p:cNvSpPr>
            <a:spLocks noGrp="1"/>
          </p:cNvSpPr>
          <p:nvPr>
            <p:ph type="title"/>
          </p:nvPr>
        </p:nvSpPr>
        <p:spPr/>
        <p:txBody>
          <a:bodyPr/>
          <a:lstStyle/>
          <a:p>
            <a:r>
              <a:rPr lang="en-IE" dirty="0"/>
              <a:t>Break!!!</a:t>
            </a:r>
          </a:p>
        </p:txBody>
      </p:sp>
      <p:sp>
        <p:nvSpPr>
          <p:cNvPr id="3" name="Text Placeholder 2">
            <a:extLst>
              <a:ext uri="{FF2B5EF4-FFF2-40B4-BE49-F238E27FC236}">
                <a16:creationId xmlns:a16="http://schemas.microsoft.com/office/drawing/2014/main" id="{E646C239-1EC8-4DEB-A872-65FB975A7D2B}"/>
              </a:ext>
            </a:extLst>
          </p:cNvPr>
          <p:cNvSpPr>
            <a:spLocks noGrp="1"/>
          </p:cNvSpPr>
          <p:nvPr>
            <p:ph type="body" idx="1"/>
          </p:nvPr>
        </p:nvSpPr>
        <p:spPr/>
        <p:txBody>
          <a:bodyPr/>
          <a:lstStyle/>
          <a:p>
            <a:endParaRPr lang="en-IE"/>
          </a:p>
        </p:txBody>
      </p:sp>
    </p:spTree>
    <p:extLst>
      <p:ext uri="{BB962C8B-B14F-4D97-AF65-F5344CB8AC3E}">
        <p14:creationId xmlns:p14="http://schemas.microsoft.com/office/powerpoint/2010/main" val="35601824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4627</TotalTime>
  <Words>2521</Words>
  <Application>Microsoft Office PowerPoint</Application>
  <PresentationFormat>Widescreen</PresentationFormat>
  <Paragraphs>297</Paragraphs>
  <Slides>33</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arial</vt:lpstr>
      <vt:lpstr>Calibri</vt:lpstr>
      <vt:lpstr>Calibri Light</vt:lpstr>
      <vt:lpstr>Nunito</vt:lpstr>
      <vt:lpstr>office theme</vt:lpstr>
      <vt:lpstr>TCP/IP Model, Encapsulation and Network Addressing</vt:lpstr>
      <vt:lpstr>Agenda(Part 1)</vt:lpstr>
      <vt:lpstr>Computer Network Protocols</vt:lpstr>
      <vt:lpstr>Protocol Suites &amp; Standards</vt:lpstr>
      <vt:lpstr>TCP/IP Protocol Suite</vt:lpstr>
      <vt:lpstr>Example: Layered Model Network Comms</vt:lpstr>
      <vt:lpstr>Comms in TCP/IP: Data Encapsulation</vt:lpstr>
      <vt:lpstr>OSI Model</vt:lpstr>
      <vt:lpstr>OSI vs TCP/IP</vt:lpstr>
      <vt:lpstr>Data Encapsulation: Protocol Data Units (PDUs)</vt:lpstr>
      <vt:lpstr>TCP/IP Layers Overview</vt:lpstr>
      <vt:lpstr>Data Link Layer  Communication </vt:lpstr>
      <vt:lpstr>Internet/Network Layer Communication</vt:lpstr>
      <vt:lpstr>Internet/Network Layer Communication</vt:lpstr>
      <vt:lpstr>Transport Layer Communication </vt:lpstr>
      <vt:lpstr>Application Layer</vt:lpstr>
      <vt:lpstr>Accessing Resources on a Network</vt:lpstr>
      <vt:lpstr>Example of Layered Model: Accessing Web Page…</vt:lpstr>
      <vt:lpstr>PowerPoint Presentation</vt:lpstr>
      <vt:lpstr> Network Addressing</vt:lpstr>
      <vt:lpstr> Network Layer: Logical Address</vt:lpstr>
      <vt:lpstr>Network Layer Logical Address (Cont.)</vt:lpstr>
      <vt:lpstr>Devices on the Same Network</vt:lpstr>
      <vt:lpstr> Data Link Layer Addresses: Same IP Network</vt:lpstr>
      <vt:lpstr>Devices on a Remote Network</vt:lpstr>
      <vt:lpstr>Role of the Data Link Layer Addresses: Different IP Networks</vt:lpstr>
      <vt:lpstr> Role of the Data Link Layer Addresses: Different IP Networks (Cont.)</vt:lpstr>
      <vt:lpstr> Data Link Addresses</vt:lpstr>
      <vt:lpstr>Data Link Addresses (Cont.)</vt:lpstr>
      <vt:lpstr> Data Link Addresses (Cont.)</vt:lpstr>
      <vt:lpstr>Data Access Data Link Addresses (Cont.)</vt:lpstr>
      <vt:lpstr>Quiz</vt:lpstr>
      <vt:lpstr>Break!!!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Physical/Data Link  Layer</dc:title>
  <dc:creator>Frank X Walsh</dc:creator>
  <cp:lastModifiedBy>Frank X Walsh</cp:lastModifiedBy>
  <cp:revision>34</cp:revision>
  <dcterms:created xsi:type="dcterms:W3CDTF">2020-09-22T09:30:17Z</dcterms:created>
  <dcterms:modified xsi:type="dcterms:W3CDTF">2022-09-28T11:10:06Z</dcterms:modified>
</cp:coreProperties>
</file>