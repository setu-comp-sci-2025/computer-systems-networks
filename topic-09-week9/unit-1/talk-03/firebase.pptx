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89" r:id="rId3"/>
    <p:sldId id="287" r:id="rId4"/>
    <p:sldId id="313" r:id="rId5"/>
    <p:sldId id="286" r:id="rId6"/>
    <p:sldId id="314" r:id="rId7"/>
    <p:sldId id="1133" r:id="rId8"/>
    <p:sldId id="282" r:id="rId9"/>
    <p:sldId id="281" r:id="rId10"/>
    <p:sldId id="322" r:id="rId11"/>
    <p:sldId id="323" r:id="rId12"/>
    <p:sldId id="267" r:id="rId13"/>
    <p:sldId id="268" r:id="rId14"/>
    <p:sldId id="315" r:id="rId15"/>
    <p:sldId id="1136" r:id="rId16"/>
    <p:sldId id="325" r:id="rId17"/>
    <p:sldId id="280" r:id="rId18"/>
    <p:sldId id="321" r:id="rId19"/>
    <p:sldId id="279" r:id="rId20"/>
    <p:sldId id="1132" r:id="rId21"/>
    <p:sldId id="113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11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2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14T11:51:47.5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1190 5264 0 0,'0'0'14202'0'0,"2"0"-13973"0"0,0 0 0 0 0,0 1 0 0 0,0-1 0 0 0,0 0 0 0 0,0 0 0 0 0,0 0 0 0 0,0-1 1 0 0,0 1-1 0 0,3-1 0 0 0,2-6 82 0 0,1-1 0 0 0,-1 1 0 0 0,-1-1 0 0 0,1 0 0 0 0,7-14 0 0 0,-3 6 61 0 0,0 1 0 0 0,16-17-1 0 0,9-11 234 0 0,-18 20-377 0 0,35-54 320 0 0,11-16-807 0 0,-21 32 1406 0 0,118-182-1000 0 0,-137 208-80 0 0,-10 16-25 0 0,-1-1 0 0 0,-1 1 0 0 0,9-23-1 0 0,24-46 54 0 0,-37 71-68 0 0,2 1 0 0 0,0 0 0 0 0,1 0 0 0 0,16-17 0 0 0,15-23 26 0 0,-38 50-44 0 0,0 1 0 0 0,1 0 0 0 0,0 1-1 0 0,0-1 1 0 0,10-6 0 0 0,0-1 2 0 0,11-12 14 0 0,11-8 14 0 0,-2 4-39 0 0,-17 17 21 0 0,-17 11 82 0 0,7-4 181 0 0,-3 3-256 0 0,-5 1 36 0 0,0 1 12 0 0,-7 9-48 0 0,-5-1-179 0 0,5 0 138 0 0,5 0-3 0 0,2-7-64 0 0,-12 26-4908 0 0,11-17-3511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14T11:51:48.9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1109 2760 0 0,'0'0'3193'0'0,"-12"10"8119"0"0,22-25-10788 0 0,2 0-1 0 0,-1 1 1 0 0,16-14 0 0 0,-2 1 27 0 0,15-14 39 0 0,-22 23-232 0 0,0-1 0 0 0,30-43 0 0 0,33-43 602 0 0,-38 46-509 0 0,13-22 41 0 0,-21 28-211 0 0,-21 31-129 0 0,22-41 0 0 0,21-42 126 0 0,-26 50-206 0 0,7-7 2 0 0,-20 32-2 0 0,25-52 0 0 0,-38 68-40 0 0,1 0 0 0 0,1 0 0 0 0,0 1 0 0 0,1-1 0 0 0,1 2 0 0 0,0-1 0 0 0,15-15 0 0 0,-14 15-32 0 0,-9 12 0 0 0,1-1 0 0 0,-1 0 0 0 0,0 0 0 0 0,0 1 0 0 0,1-1 0 0 0,-1 0 0 0 0,0 1 0 0 0,1 0 0 0 0,0-1 0 0 0,-1 1 0 0 0,1 0 0 0 0,2-1 0 0 0,-2-2 11 0 0,-2 4 81 0 0,3-3-2464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14T11:52:02.3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1 603 1376 0 0,'0'0'13848'0'0,"1"-3"-13336"0"0,4-16 44 0 0,-2 9-23 0 0,0-1 0 0 0,2-18 0 0 0,0-17 915 0 0,0 4-393 0 0,-2 0-1 0 0,-2-45 1 0 0,-3 13-166 0 0,2 40-389 0 0,-5-37-1 0 0,3 60-412 0 0,-1-12 126 0 0,-1-32 1 0 0,-1 13-1400 0 0,18 38-12285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14T11:52:10.4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58 0 3568 0 0,'0'0'165'0'0,"-18"17"2032"0"0,9-15-1489 0 0,8-2-576 0 0,0 0 0 0 0,0 0 0 0 0,0 0 0 0 0,0 0 0 0 0,-1 0 1 0 0,1 0-1 0 0,0 0 0 0 0,0 0 0 0 0,0 1 0 0 0,0-1 0 0 0,0 0 0 0 0,1 1 0 0 0,-1-1 0 0 0,0 1 0 0 0,0-1 0 0 0,0 1 0 0 0,0-1 0 0 0,0 1 0 0 0,0 0 1 0 0,-1 2 5404 0 0,1 19-5061 0 0,-1-17-444 0 0,1 0 0 0 0,-1 0 1 0 0,1 0-1 0 0,1 0 0 0 0,-1 1 1 0 0,0 6-1 0 0,1-8-13 0 0,0-2 9 0 0,4-13-3400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14T11:55:03.7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 6 2304 0 0,'0'0'224'0'0,"-13"0"-224"0"0,5-5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D4F193-0B1A-45D5-B227-EC4FDC03B008}" type="datetimeFigureOut">
              <a:rPr lang="en-IE" smtClean="0"/>
              <a:t>13/11/2024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58DC8F-AF75-4556-8DF5-4C55FD00B97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32273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58DC8F-AF75-4556-8DF5-4C55FD00B975}" type="slidenum">
              <a:rPr lang="en-IE" smtClean="0"/>
              <a:t>17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34127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7A835-90E1-4574-9638-302D7C28B7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44BD15-F57F-4F02-A6F9-888E6B61E6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09B44-8E0E-4274-A7F6-6C5232D78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13/11/2024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40834-91BD-453D-94B8-60247D33A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9E257-B9D8-4BD8-8876-AA94ACC41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00739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D3B14-AAA4-4A60-A3BD-0B93ECCD5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8CD71-85B7-45BC-91A6-50327E94C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B16802-9F02-41EA-991E-CEF667410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13/11/2024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DC9B3-2F63-4F39-AB62-74700945E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0C4D47-931D-46F8-81F5-80619AFB7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84330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82A44-D296-4DF7-8F28-4C6021371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360BD-EC5C-41CF-80A7-C03FD715A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5EF77-BFD0-4BBE-91C2-67A9E7DD9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13/11/2024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ADFC4-8D46-4AA1-9D43-DBF9FFC05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014A6-3960-40A2-A5CE-37CA79182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55171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865AD-835B-41BD-8833-3F25B2E86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545C2-9C70-4FCF-85E0-8A8289CA7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70472-A53C-4D02-B38D-4771F1C2E9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2C6831-19F0-4296-8AEC-09D780824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13/11/2024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3D71F5-104A-4EE7-AA5C-0A22ECDF0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90C473-B102-462A-AFC0-9C2E3F261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52095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127E2-4A36-4DF2-85F1-1EB55802B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94EA4-3FB1-4A6C-B216-A739519EDC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125515-4E89-41D4-ACA3-F73D8A0121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425B79-7521-4E08-B7CC-4B19068BD2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51E10-8AE9-4B08-8337-D677C447FD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AF229E-09AE-4875-A403-AEA372BFA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13/11/2024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C5E421-3B5A-4E8E-926C-E198F9C17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017B84-F061-417E-9A38-5AD911069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17627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EBA12-ACD9-41F1-9AF9-D79F4B827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E0E397-4C8F-49BB-AC12-71278BD3D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13/11/2024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4296F1-5FB1-41F0-B63A-14D4BF651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693B71-4F20-4420-8A56-F49CDE5EB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09955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ABDD4A-B1C0-401C-8446-6EEC3C396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13/11/2024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4C3676-7CAD-4C8F-9668-5CC40B68A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B3C601-17EA-4C4C-B6C2-5272CE37A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63225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59FC0-3E75-4FD6-B7E3-8CA16F51A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E53D7-1585-414D-AB6C-FA31A3499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BC2CAC-456D-469E-BFD1-4AA40C76CE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1E3FD0-07D9-4B57-9232-69ABF0E8E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13/11/2024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376679-9C84-4242-B4D2-0E183D262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AF5323-7E26-4146-B56F-F0F37EFD3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39391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E8BC3-3B90-4EC3-A46E-5EAD66352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F4884A-7C27-4F72-86AC-3DCD1983E0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171061-3629-427C-BB90-30B3431DA9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4E92D5-EEC5-4BB3-9E26-4884243D0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13/11/2024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761D1F-2220-47A3-86CC-1ADDF19A3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D1A670-7490-4168-B937-B14DC5BB6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79892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3ACC4-3692-44BE-82E5-58DEFE144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C24BBC-414C-4B12-87B9-A15775C321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C8F25E-8900-4907-AE81-F4BE4E3CF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13/11/2024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961329-EC06-48B7-BD3D-C1A95BC3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964E2-6C4B-4A7E-B3FD-EA47900FC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94063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8CFBD3-742A-42CE-8C6C-095E807578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F5BC8C-4AC5-40D2-9EBC-4A1D354B63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D2189-D81D-40CB-BB48-ECC1EAA61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BD58-09F1-4112-9FB1-2CAFF72B0B57}" type="datetimeFigureOut">
              <a:rPr lang="en-IE" smtClean="0"/>
              <a:t>13/11/2024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85BD5-0F7A-4D4A-8C19-89540009E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6FB5B-21A4-49D4-AE4B-2F1A96301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90333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A4E485-90C0-4F04-8ECA-AD1976CF5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CF6EEE-B537-4AC1-91AA-EDF2723E9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ECE90-A04C-45BD-AF90-1358A49F42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FABD58-09F1-4112-9FB1-2CAFF72B0B57}" type="datetimeFigureOut">
              <a:rPr lang="en-IE" smtClean="0"/>
              <a:t>13/11/2024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73C58-40BD-4962-B357-18F229F7BF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5B7A9-55A8-47E6-A8C1-87F2A148F4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4CF290-759C-4C12-9A5D-7CEA0268F53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85868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image" Target="NULL"/><Relationship Id="rId3" Type="http://schemas.openxmlformats.org/officeDocument/2006/relationships/image" Target="../media/image22.png"/><Relationship Id="rId7" Type="http://schemas.openxmlformats.org/officeDocument/2006/relationships/image" Target="NULL"/><Relationship Id="rId12" Type="http://schemas.openxmlformats.org/officeDocument/2006/relationships/customXml" Target="../ink/ink4.xml"/><Relationship Id="rId17" Type="http://schemas.openxmlformats.org/officeDocument/2006/relationships/image" Target="../media/image26.jpeg"/><Relationship Id="rId2" Type="http://schemas.openxmlformats.org/officeDocument/2006/relationships/image" Target="../media/image21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11" Type="http://schemas.openxmlformats.org/officeDocument/2006/relationships/image" Target="NULL"/><Relationship Id="rId5" Type="http://schemas.openxmlformats.org/officeDocument/2006/relationships/image" Target="../media/image24.jpeg"/><Relationship Id="rId15" Type="http://schemas.openxmlformats.org/officeDocument/2006/relationships/image" Target="NULL"/><Relationship Id="rId10" Type="http://schemas.openxmlformats.org/officeDocument/2006/relationships/customXml" Target="../ink/ink3.xml"/><Relationship Id="rId4" Type="http://schemas.openxmlformats.org/officeDocument/2006/relationships/image" Target="../media/image23.png"/><Relationship Id="rId9" Type="http://schemas.openxmlformats.org/officeDocument/2006/relationships/image" Target="NULL"/><Relationship Id="rId14" Type="http://schemas.openxmlformats.org/officeDocument/2006/relationships/customXml" Target="../ink/ink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27BF1-4590-451C-BE54-55D23340D2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Indirect Messaging</a:t>
            </a:r>
            <a:endParaRPr lang="en-I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54D910-0724-4255-8AF5-63326135AD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Frank Walsh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197360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Using the “Middleman”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825625"/>
            <a:ext cx="8492672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88620" lvl="1" indent="-342900">
              <a:buClr>
                <a:schemeClr val="accent1"/>
              </a:buClr>
              <a:buSzPct val="85000"/>
            </a:pPr>
            <a:r>
              <a:rPr lang="en-US" sz="2400" dirty="0"/>
              <a:t>Communication between processes using an intermediary</a:t>
            </a:r>
            <a:endParaRPr lang="en-US">
              <a:cs typeface="Calibri"/>
            </a:endParaRPr>
          </a:p>
          <a:p>
            <a:pPr marL="662940" lvl="2" indent="-342900">
              <a:buClr>
                <a:schemeClr val="accent1"/>
              </a:buClr>
              <a:buSzPct val="85000"/>
            </a:pPr>
            <a:r>
              <a:rPr lang="en-US" dirty="0"/>
              <a:t>Sender </a:t>
            </a:r>
            <a:r>
              <a:rPr lang="en-US" dirty="0">
                <a:sym typeface="Wingdings" pitchFamily="2" charset="2"/>
              </a:rPr>
              <a:t> “</a:t>
            </a:r>
            <a:r>
              <a:rPr lang="en-US" dirty="0">
                <a:solidFill>
                  <a:srgbClr val="0070C0"/>
                </a:solidFill>
              </a:rPr>
              <a:t>The middle-man”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 Receiver</a:t>
            </a:r>
            <a:endParaRPr lang="en-US" dirty="0">
              <a:cs typeface="Calibri"/>
            </a:endParaRPr>
          </a:p>
          <a:p>
            <a:pPr marL="662940" lvl="2" indent="-342900">
              <a:buClr>
                <a:schemeClr val="accent1"/>
              </a:buClr>
              <a:buSzPct val="85000"/>
            </a:pPr>
            <a:r>
              <a:rPr lang="en-US" dirty="0">
                <a:sym typeface="Wingdings" pitchFamily="2" charset="2"/>
              </a:rPr>
              <a:t>No direct coupling</a:t>
            </a:r>
            <a:endParaRPr lang="en-US" dirty="0">
              <a:cs typeface="Calibri"/>
            </a:endParaRPr>
          </a:p>
          <a:p>
            <a:pPr marL="388620" lvl="1" indent="-342900">
              <a:buClr>
                <a:schemeClr val="accent1"/>
              </a:buClr>
              <a:buSzPct val="85000"/>
            </a:pPr>
            <a:r>
              <a:rPr lang="en-US" dirty="0">
                <a:sym typeface="Wingdings" pitchFamily="2" charset="2"/>
              </a:rPr>
              <a:t>Up to now, only considered Direct Coupling</a:t>
            </a:r>
            <a:endParaRPr lang="en-US" dirty="0">
              <a:cs typeface="Calibri"/>
            </a:endParaRPr>
          </a:p>
          <a:p>
            <a:pPr marL="662940" lvl="2" indent="-342900">
              <a:buClr>
                <a:schemeClr val="accent1"/>
              </a:buClr>
              <a:buSzPct val="85000"/>
            </a:pPr>
            <a:r>
              <a:rPr lang="en-US" dirty="0">
                <a:sym typeface="Wingdings" pitchFamily="2" charset="2"/>
              </a:rPr>
              <a:t>Introduces a degree of rigidity</a:t>
            </a:r>
            <a:endParaRPr lang="en-US" dirty="0">
              <a:cs typeface="Calibri"/>
            </a:endParaRPr>
          </a:p>
          <a:p>
            <a:pPr marL="388620" lvl="1" indent="-342900">
              <a:buClr>
                <a:schemeClr val="accent1"/>
              </a:buClr>
              <a:buSzPct val="85000"/>
            </a:pPr>
            <a:r>
              <a:rPr lang="en-US" dirty="0">
                <a:sym typeface="Wingdings" pitchFamily="2" charset="2"/>
              </a:rPr>
              <a:t>Consider…</a:t>
            </a:r>
            <a:endParaRPr lang="en-US" dirty="0">
              <a:cs typeface="Calibri"/>
            </a:endParaRPr>
          </a:p>
          <a:p>
            <a:pPr marL="662940" lvl="2" indent="-342900">
              <a:buClr>
                <a:schemeClr val="accent1"/>
              </a:buClr>
              <a:buSzPct val="85000"/>
            </a:pPr>
            <a:r>
              <a:rPr lang="en-US" dirty="0">
                <a:sym typeface="Wingdings" pitchFamily="2" charset="2"/>
              </a:rPr>
              <a:t>What happens if a device fails during communication in Direct Coupling?</a:t>
            </a:r>
            <a:endParaRPr lang="en-US" dirty="0">
              <a:cs typeface="Calibri"/>
            </a:endParaRPr>
          </a:p>
          <a:p>
            <a:pPr marL="662940" lvl="2" indent="-342900">
              <a:buClr>
                <a:schemeClr val="accent1"/>
              </a:buClr>
              <a:buSzPct val="85000"/>
            </a:pPr>
            <a:r>
              <a:rPr lang="en-US" dirty="0">
                <a:cs typeface="Calibri"/>
              </a:rPr>
              <a:t>What if you'd like to add</a:t>
            </a:r>
            <a:endParaRPr lang="en-US" dirty="0"/>
          </a:p>
          <a:p>
            <a:pPr marL="388620" lvl="1" indent="-342900">
              <a:buClr>
                <a:schemeClr val="accent1"/>
              </a:buClr>
              <a:buSzPct val="85000"/>
            </a:pPr>
            <a:r>
              <a:rPr lang="en-IE" dirty="0"/>
              <a:t>Two important properties of intermediary in communication</a:t>
            </a:r>
            <a:endParaRPr lang="en-IE" dirty="0">
              <a:cs typeface="Calibri"/>
            </a:endParaRPr>
          </a:p>
          <a:p>
            <a:pPr marL="662940" lvl="2" indent="-342900">
              <a:buClr>
                <a:schemeClr val="accent1"/>
              </a:buClr>
              <a:buSzPct val="85000"/>
            </a:pPr>
            <a:r>
              <a:rPr lang="en-IE" b="1" i="1"/>
              <a:t>Space uncoupling</a:t>
            </a:r>
            <a:r>
              <a:rPr lang="en-IE" i="1">
                <a:cs typeface="Calibri"/>
              </a:rPr>
              <a:t> (devices don't need to "know" about each other)</a:t>
            </a:r>
          </a:p>
          <a:p>
            <a:pPr marL="662940" lvl="2" indent="-342900">
              <a:buClr>
                <a:schemeClr val="accent1"/>
              </a:buClr>
              <a:buSzPct val="85000"/>
            </a:pPr>
            <a:r>
              <a:rPr lang="en-IE" b="1" i="1" dirty="0"/>
              <a:t>Time uncoupling</a:t>
            </a:r>
            <a:r>
              <a:rPr lang="en-IE" i="1" dirty="0">
                <a:cs typeface="Calibri"/>
              </a:rPr>
              <a:t> (devices don't need to be "available" at the same time)</a:t>
            </a:r>
            <a:endParaRPr lang="en-US" dirty="0">
              <a:cs typeface="Calibri"/>
            </a:endParaRPr>
          </a:p>
          <a:p>
            <a:pPr marL="388620" lvl="1" indent="-342900">
              <a:buClr>
                <a:schemeClr val="accent1"/>
              </a:buClr>
              <a:buSzPct val="85000"/>
            </a:pPr>
            <a:endParaRPr lang="en-US" dirty="0">
              <a:cs typeface="Calibri"/>
            </a:endParaRPr>
          </a:p>
          <a:p>
            <a:endParaRPr lang="en-IE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54545F6-4827-4A25-9DD8-CE7F42B22E71}"/>
              </a:ext>
            </a:extLst>
          </p:cNvPr>
          <p:cNvSpPr/>
          <p:nvPr/>
        </p:nvSpPr>
        <p:spPr>
          <a:xfrm>
            <a:off x="8623299" y="1139370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cs typeface="Calibri"/>
              </a:rPr>
              <a:t>A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BFB5F3C-72A3-4545-B673-6095924DB902}"/>
              </a:ext>
            </a:extLst>
          </p:cNvPr>
          <p:cNvSpPr/>
          <p:nvPr/>
        </p:nvSpPr>
        <p:spPr>
          <a:xfrm>
            <a:off x="10691584" y="1139369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cs typeface="Calibri"/>
              </a:rPr>
              <a:t>B</a:t>
            </a:r>
            <a:endParaRPr lang="en-US" dirty="0"/>
          </a:p>
        </p:txBody>
      </p:sp>
      <p:sp>
        <p:nvSpPr>
          <p:cNvPr id="6" name="Arrow: Left-Right 5">
            <a:extLst>
              <a:ext uri="{FF2B5EF4-FFF2-40B4-BE49-F238E27FC236}">
                <a16:creationId xmlns:a16="http://schemas.microsoft.com/office/drawing/2014/main" id="{80AFD9B1-0B80-4C9A-8AC4-C788422B5BB8}"/>
              </a:ext>
            </a:extLst>
          </p:cNvPr>
          <p:cNvSpPr/>
          <p:nvPr/>
        </p:nvSpPr>
        <p:spPr>
          <a:xfrm>
            <a:off x="9606353" y="1526612"/>
            <a:ext cx="1025652" cy="130847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00EF63E-FB16-417E-B40F-4DAF270D1EB4}"/>
              </a:ext>
            </a:extLst>
          </p:cNvPr>
          <p:cNvSpPr/>
          <p:nvPr/>
        </p:nvSpPr>
        <p:spPr>
          <a:xfrm>
            <a:off x="8006442" y="2745013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cs typeface="Calibri"/>
              </a:rPr>
              <a:t>A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685FA65-2633-428C-A74A-5B9E2A4EAFE3}"/>
              </a:ext>
            </a:extLst>
          </p:cNvPr>
          <p:cNvSpPr/>
          <p:nvPr/>
        </p:nvSpPr>
        <p:spPr>
          <a:xfrm>
            <a:off x="11045371" y="2717798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cs typeface="Calibri"/>
              </a:rPr>
              <a:t>B</a:t>
            </a:r>
            <a:endParaRPr lang="en-US" dirty="0"/>
          </a:p>
        </p:txBody>
      </p:sp>
      <p:sp>
        <p:nvSpPr>
          <p:cNvPr id="9" name="Arrow: Left-Right 8">
            <a:extLst>
              <a:ext uri="{FF2B5EF4-FFF2-40B4-BE49-F238E27FC236}">
                <a16:creationId xmlns:a16="http://schemas.microsoft.com/office/drawing/2014/main" id="{18E82F95-A715-46E3-ACD0-337660751C99}"/>
              </a:ext>
            </a:extLst>
          </p:cNvPr>
          <p:cNvSpPr/>
          <p:nvPr/>
        </p:nvSpPr>
        <p:spPr>
          <a:xfrm>
            <a:off x="8944138" y="3132255"/>
            <a:ext cx="490438" cy="130847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EE1025-3B9F-4A72-B711-7D176BE9DB10}"/>
              </a:ext>
            </a:extLst>
          </p:cNvPr>
          <p:cNvSpPr/>
          <p:nvPr/>
        </p:nvSpPr>
        <p:spPr>
          <a:xfrm>
            <a:off x="9476014" y="2935514"/>
            <a:ext cx="1014186" cy="4789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cs typeface="Calibri"/>
              </a:rPr>
              <a:t>Intermediary</a:t>
            </a:r>
            <a:endParaRPr lang="en-US" sz="1600" dirty="0">
              <a:cs typeface="Calibri"/>
            </a:endParaRPr>
          </a:p>
        </p:txBody>
      </p:sp>
      <p:sp>
        <p:nvSpPr>
          <p:cNvPr id="11" name="Arrow: Left-Right 10">
            <a:extLst>
              <a:ext uri="{FF2B5EF4-FFF2-40B4-BE49-F238E27FC236}">
                <a16:creationId xmlns:a16="http://schemas.microsoft.com/office/drawing/2014/main" id="{1F325FA0-F60A-4B3A-B78C-1C4A28F29F61}"/>
              </a:ext>
            </a:extLst>
          </p:cNvPr>
          <p:cNvSpPr/>
          <p:nvPr/>
        </p:nvSpPr>
        <p:spPr>
          <a:xfrm>
            <a:off x="10522567" y="3105040"/>
            <a:ext cx="490438" cy="130847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5F5013-4235-47F2-8B87-C2D7FC33DA8B}"/>
              </a:ext>
            </a:extLst>
          </p:cNvPr>
          <p:cNvSpPr txBox="1"/>
          <p:nvPr/>
        </p:nvSpPr>
        <p:spPr>
          <a:xfrm>
            <a:off x="8706756" y="796471"/>
            <a:ext cx="2743200" cy="369332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cs typeface="Calibri"/>
              </a:rPr>
              <a:t>Direct Communication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B994E9-7E7B-43B6-9BF8-D573694EB084}"/>
              </a:ext>
            </a:extLst>
          </p:cNvPr>
          <p:cNvSpPr txBox="1"/>
          <p:nvPr/>
        </p:nvSpPr>
        <p:spPr>
          <a:xfrm>
            <a:off x="8706755" y="2438399"/>
            <a:ext cx="2743200" cy="369332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cs typeface="Calibri"/>
              </a:rPr>
              <a:t>Indirect Communication</a:t>
            </a:r>
          </a:p>
        </p:txBody>
      </p:sp>
    </p:spTree>
    <p:extLst>
      <p:ext uri="{BB962C8B-B14F-4D97-AF65-F5344CB8AC3E}">
        <p14:creationId xmlns:p14="http://schemas.microsoft.com/office/powerpoint/2010/main" val="3968894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Image result for MQTT">
            <a:extLst>
              <a:ext uri="{FF2B5EF4-FFF2-40B4-BE49-F238E27FC236}">
                <a16:creationId xmlns:a16="http://schemas.microsoft.com/office/drawing/2014/main" id="{FBB0F5CB-6430-4725-AECF-67952F3A87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2" r="16584"/>
          <a:stretch/>
        </p:blipFill>
        <p:spPr bwMode="auto">
          <a:xfrm>
            <a:off x="20" y="10"/>
            <a:ext cx="4635571" cy="685799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388442B-E82A-4B58-BEF1-B46F4F3E9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r>
              <a:rPr lang="en-US" dirty="0"/>
              <a:t>MQTT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3CF6B-E412-4F47-BDB8-3683BF445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431" y="2438400"/>
            <a:ext cx="6586489" cy="378541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E" sz="2000" dirty="0"/>
              <a:t>MQ Telemetry Transport (MQTT)</a:t>
            </a:r>
          </a:p>
          <a:p>
            <a:r>
              <a:rPr lang="en-IE" sz="2000" dirty="0"/>
              <a:t>Telemetry</a:t>
            </a:r>
          </a:p>
          <a:p>
            <a:pPr lvl="1"/>
            <a:r>
              <a:rPr lang="en-IE" sz="2000" dirty="0"/>
              <a:t>Remote measurements</a:t>
            </a:r>
          </a:p>
          <a:p>
            <a:r>
              <a:rPr lang="en-US" sz="2000" dirty="0"/>
              <a:t>C</a:t>
            </a:r>
            <a:r>
              <a:rPr lang="en-IE" sz="2000" err="1"/>
              <a:t>reated</a:t>
            </a:r>
            <a:r>
              <a:rPr lang="en-IE" sz="2000" dirty="0"/>
              <a:t> by IBM</a:t>
            </a:r>
            <a:endParaRPr lang="en-IE" sz="2000" dirty="0">
              <a:cs typeface="Calibri"/>
            </a:endParaRPr>
          </a:p>
          <a:p>
            <a:pPr lvl="1"/>
            <a:r>
              <a:rPr lang="en-IE" sz="2000" dirty="0"/>
              <a:t>from message queueing (MQ) architecture used by IBM for service oriented networks. </a:t>
            </a:r>
            <a:endParaRPr lang="en-IE" sz="2000" dirty="0">
              <a:cs typeface="Calibri"/>
            </a:endParaRPr>
          </a:p>
          <a:p>
            <a:pPr lvl="1"/>
            <a:r>
              <a:rPr lang="en-IE" sz="2000"/>
              <a:t>Telemetry data goes from devices to a server or </a:t>
            </a:r>
            <a:r>
              <a:rPr lang="en-IE" sz="2000" dirty="0"/>
              <a:t>broker.</a:t>
            </a:r>
            <a:endParaRPr lang="en-IE" sz="2000" dirty="0">
              <a:cs typeface="Calibri"/>
            </a:endParaRPr>
          </a:p>
          <a:p>
            <a:pPr lvl="1"/>
            <a:r>
              <a:rPr lang="en-IE" sz="2000" dirty="0"/>
              <a:t>Uses a </a:t>
            </a:r>
            <a:r>
              <a:rPr lang="en-IE" sz="2000" b="1" dirty="0"/>
              <a:t>publish/subscribe</a:t>
            </a:r>
            <a:r>
              <a:rPr lang="en-IE" sz="2000" dirty="0"/>
              <a:t> mechanism.</a:t>
            </a:r>
            <a:endParaRPr lang="en-IE" sz="2000" dirty="0">
              <a:cs typeface="Calibri"/>
            </a:endParaRPr>
          </a:p>
          <a:p>
            <a:r>
              <a:rPr lang="en-US" sz="2000" dirty="0"/>
              <a:t>Lightweight both in bandwidth and code footprint</a:t>
            </a:r>
            <a:endParaRPr lang="en-IE" sz="2000" dirty="0"/>
          </a:p>
          <a:p>
            <a:endParaRPr lang="en-IE" sz="2000" b="1" dirty="0"/>
          </a:p>
          <a:p>
            <a:endParaRPr lang="en-IE" sz="2000" dirty="0"/>
          </a:p>
        </p:txBody>
      </p:sp>
    </p:spTree>
    <p:extLst>
      <p:ext uri="{BB962C8B-B14F-4D97-AF65-F5344CB8AC3E}">
        <p14:creationId xmlns:p14="http://schemas.microsoft.com/office/powerpoint/2010/main" val="3437201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Image result for MQTT">
            <a:extLst>
              <a:ext uri="{FF2B5EF4-FFF2-40B4-BE49-F238E27FC236}">
                <a16:creationId xmlns:a16="http://schemas.microsoft.com/office/drawing/2014/main" id="{57C523D5-F4B8-46D7-8FF1-65E6DA949C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24" r="-2" b="-2"/>
          <a:stretch/>
        </p:blipFill>
        <p:spPr bwMode="auto">
          <a:xfrm>
            <a:off x="4636008" y="640082"/>
            <a:ext cx="6916329" cy="5577837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3400D0-9859-4C30-A5FB-2EE02EF96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667039" cy="1676603"/>
          </a:xfrm>
        </p:spPr>
        <p:txBody>
          <a:bodyPr>
            <a:normAutofit/>
          </a:bodyPr>
          <a:lstStyle/>
          <a:p>
            <a:r>
              <a:rPr lang="en-US" sz="4100"/>
              <a:t>MQTT – publish subscribe</a:t>
            </a:r>
            <a:endParaRPr lang="en-IE" sz="41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0B847-6B22-4AF2-89CE-66DEA44ED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3667037" cy="3785419"/>
          </a:xfrm>
        </p:spPr>
        <p:txBody>
          <a:bodyPr>
            <a:normAutofit/>
          </a:bodyPr>
          <a:lstStyle/>
          <a:p>
            <a:r>
              <a:rPr lang="en-IE" sz="1800" b="1" dirty="0"/>
              <a:t>Topics/Subscriptions:</a:t>
            </a:r>
            <a:r>
              <a:rPr lang="en-IE" sz="1800" dirty="0"/>
              <a:t> Messages are published to topics.</a:t>
            </a:r>
          </a:p>
          <a:p>
            <a:pPr lvl="1"/>
            <a:r>
              <a:rPr lang="en-IE" sz="1800" dirty="0"/>
              <a:t>Clients can subscribe to a topic or a set of related topics</a:t>
            </a:r>
          </a:p>
          <a:p>
            <a:r>
              <a:rPr lang="en-IE" sz="1800" b="1" dirty="0"/>
              <a:t>Publish/Subscribe</a:t>
            </a:r>
            <a:r>
              <a:rPr lang="en-IE" sz="1800" dirty="0"/>
              <a:t>: Clients can subscribe to topics or publish to topics.</a:t>
            </a:r>
          </a:p>
        </p:txBody>
      </p:sp>
    </p:spTree>
    <p:extLst>
      <p:ext uri="{BB962C8B-B14F-4D97-AF65-F5344CB8AC3E}">
        <p14:creationId xmlns:p14="http://schemas.microsoft.com/office/powerpoint/2010/main" val="1619397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Image result for hivemq">
            <a:extLst>
              <a:ext uri="{FF2B5EF4-FFF2-40B4-BE49-F238E27FC236}">
                <a16:creationId xmlns:a16="http://schemas.microsoft.com/office/drawing/2014/main" id="{ADBCBA26-B4B9-450F-814F-457C22B17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2987" y="4452055"/>
            <a:ext cx="1765864" cy="1765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osquitto">
            <a:extLst>
              <a:ext uri="{FF2B5EF4-FFF2-40B4-BE49-F238E27FC236}">
                <a16:creationId xmlns:a16="http://schemas.microsoft.com/office/drawing/2014/main" id="{0FEFF5BB-3A55-477C-BB1F-B33EF7970B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3401" y="306909"/>
            <a:ext cx="1785027" cy="1758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https://www.cloudmqtt.com/images/iot.png">
            <a:extLst>
              <a:ext uri="{FF2B5EF4-FFF2-40B4-BE49-F238E27FC236}">
                <a16:creationId xmlns:a16="http://schemas.microsoft.com/office/drawing/2014/main" id="{B3AC16E2-1E4A-4489-9176-06E908BE43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1545" y="2386895"/>
            <a:ext cx="3258743" cy="1743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207FB7-6E4F-47A5-88EE-A677698E6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516" y="640263"/>
            <a:ext cx="6713140" cy="1344975"/>
          </a:xfrm>
        </p:spPr>
        <p:txBody>
          <a:bodyPr>
            <a:normAutofit/>
          </a:bodyPr>
          <a:lstStyle/>
          <a:p>
            <a:r>
              <a:rPr lang="en-US" sz="4000"/>
              <a:t>MQTT is Open Source</a:t>
            </a:r>
            <a:endParaRPr lang="en-IE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F8107-B101-4E61-9184-82ADE241D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514" y="2121762"/>
            <a:ext cx="6723145" cy="362691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Lots of implementations:</a:t>
            </a:r>
          </a:p>
          <a:p>
            <a:pPr lvl="2"/>
            <a:r>
              <a:rPr lang="en-IE" sz="2400" err="1"/>
              <a:t>Mosquitto</a:t>
            </a:r>
            <a:endParaRPr lang="en-IE" sz="2400"/>
          </a:p>
          <a:p>
            <a:pPr lvl="2"/>
            <a:r>
              <a:rPr lang="en-IE" sz="2400" dirty="0"/>
              <a:t>Micro broker</a:t>
            </a:r>
          </a:p>
          <a:p>
            <a:pPr lvl="2"/>
            <a:r>
              <a:rPr lang="en-IE" sz="2400" dirty="0"/>
              <a:t>Really small message broker (RSMB): C</a:t>
            </a:r>
          </a:p>
          <a:p>
            <a:pPr lvl="2"/>
            <a:r>
              <a:rPr lang="en-US" sz="2400"/>
              <a:t>Cloud broker services</a:t>
            </a:r>
            <a:endParaRPr lang="en-IE" sz="2400" dirty="0"/>
          </a:p>
        </p:txBody>
      </p:sp>
    </p:spTree>
    <p:extLst>
      <p:ext uri="{BB962C8B-B14F-4D97-AF65-F5344CB8AC3E}">
        <p14:creationId xmlns:p14="http://schemas.microsoft.com/office/powerpoint/2010/main" val="1419433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Image result for publish subscribe">
            <a:extLst>
              <a:ext uri="{FF2B5EF4-FFF2-40B4-BE49-F238E27FC236}">
                <a16:creationId xmlns:a16="http://schemas.microsoft.com/office/drawing/2014/main" id="{0371F47C-74DF-4843-A93A-CDFEC01CE8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614" y="1692266"/>
            <a:ext cx="4048434" cy="2383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44F0C1-206B-4F5A-836C-65F43529C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1692" y="553999"/>
            <a:ext cx="6428964" cy="1344975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Publish Subscribe</a:t>
            </a:r>
            <a:r>
              <a:rPr lang="en-US" sz="4000" dirty="0">
                <a:cs typeface="Calibri Light"/>
              </a:rPr>
              <a:t> Process</a:t>
            </a:r>
            <a:endParaRPr lang="en-IE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BB98A-64A3-43A2-BB3A-20442B8BA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998" y="1690442"/>
            <a:ext cx="6932018" cy="466440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IE" sz="2000" dirty="0"/>
              <a:t>A message is published once</a:t>
            </a:r>
            <a:r>
              <a:rPr lang="en-IE" sz="2000" dirty="0">
                <a:cs typeface="Calibri"/>
              </a:rPr>
              <a:t> by a publisher.</a:t>
            </a:r>
          </a:p>
          <a:p>
            <a:r>
              <a:rPr lang="en-IE" sz="2000" dirty="0"/>
              <a:t>Many things can receive the message. </a:t>
            </a:r>
            <a:endParaRPr lang="en-IE" sz="2000" dirty="0">
              <a:cs typeface="Calibri"/>
            </a:endParaRPr>
          </a:p>
          <a:p>
            <a:r>
              <a:rPr lang="en-IE" sz="2000" dirty="0"/>
              <a:t>The messaging service, or “broker”, provides decoupling between the producer and consumer(s)</a:t>
            </a:r>
            <a:endParaRPr lang="en-IE" sz="2000" dirty="0">
              <a:cs typeface="Calibri"/>
            </a:endParaRPr>
          </a:p>
          <a:p>
            <a:r>
              <a:rPr lang="en-IE" sz="2000" dirty="0"/>
              <a:t>A producer sends (publishes) a message (publication) on a topic (subject)</a:t>
            </a:r>
            <a:endParaRPr lang="en-IE" sz="2000" dirty="0">
              <a:cs typeface="Calibri"/>
            </a:endParaRPr>
          </a:p>
          <a:p>
            <a:r>
              <a:rPr lang="en-IE" sz="2000" dirty="0"/>
              <a:t>A consumer subscribes (makes a subscription) for messages on a topic (subject)</a:t>
            </a:r>
            <a:endParaRPr lang="en-IE" sz="2000" dirty="0">
              <a:cs typeface="Calibri"/>
            </a:endParaRPr>
          </a:p>
          <a:p>
            <a:r>
              <a:rPr lang="en-IE" sz="2000" dirty="0"/>
              <a:t>A message server / broker matches publications to subscriptions</a:t>
            </a:r>
            <a:endParaRPr lang="en-IE" sz="2000" dirty="0">
              <a:cs typeface="Calibri"/>
            </a:endParaRPr>
          </a:p>
          <a:p>
            <a:pPr lvl="1"/>
            <a:r>
              <a:rPr lang="en-IE" sz="2000" dirty="0"/>
              <a:t>If no matches the message is discarded</a:t>
            </a:r>
            <a:endParaRPr lang="en-IE" sz="2000" dirty="0">
              <a:cs typeface="Calibri"/>
            </a:endParaRPr>
          </a:p>
          <a:p>
            <a:pPr lvl="1"/>
            <a:r>
              <a:rPr lang="en-IE" sz="2000" dirty="0"/>
              <a:t>If one or more matches the message is delivered to each matching subscriber/consumer</a:t>
            </a:r>
            <a:endParaRPr lang="en-IE" sz="20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56342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F00EF-31C5-447A-986C-3CCCBFD1D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MQTT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C9FAF-D54E-4943-B875-3B7D61783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8526" y="1304030"/>
            <a:ext cx="10515600" cy="4351338"/>
          </a:xfrm>
        </p:spPr>
        <p:txBody>
          <a:bodyPr/>
          <a:lstStyle/>
          <a:p>
            <a:r>
              <a:rPr lang="en-GB" dirty="0"/>
              <a:t>In MQTT, the word topic refers to the string that the broker uses to filter messages for each connected client.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Note that each topic must contain </a:t>
            </a:r>
            <a:r>
              <a:rPr lang="en-GB" b="1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at least 1 character</a:t>
            </a:r>
            <a:r>
              <a:rPr lang="en-GB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 and that the topic string permits empty spaces. </a:t>
            </a:r>
            <a:r>
              <a:rPr lang="en-GB" b="1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Topics are case-sensitive.</a:t>
            </a:r>
            <a:r>
              <a:rPr lang="en-GB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 </a:t>
            </a:r>
          </a:p>
          <a:p>
            <a:r>
              <a:rPr lang="en-GB" dirty="0">
                <a:solidFill>
                  <a:srgbClr val="333333"/>
                </a:solidFill>
                <a:latin typeface="roboto" panose="02000000000000000000" pitchFamily="2" charset="0"/>
              </a:rPr>
              <a:t>Topic Wildcards:</a:t>
            </a:r>
            <a:endParaRPr lang="en-IE" b="1" dirty="0">
              <a:solidFill>
                <a:srgbClr val="333333"/>
              </a:solidFill>
              <a:latin typeface="roboto" panose="02000000000000000000" pitchFamily="2" charset="0"/>
            </a:endParaRPr>
          </a:p>
          <a:p>
            <a:endParaRPr lang="en-GB" dirty="0">
              <a:solidFill>
                <a:srgbClr val="333333"/>
              </a:solidFill>
              <a:latin typeface="roboto" panose="020000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32A0CD-4E4A-4A34-85FA-E5558C55A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292" y="2108703"/>
            <a:ext cx="5495925" cy="1323975"/>
          </a:xfrm>
          <a:prstGeom prst="rect">
            <a:avLst/>
          </a:prstGeom>
        </p:spPr>
      </p:pic>
      <p:pic>
        <p:nvPicPr>
          <p:cNvPr id="1026" name="Picture 2" descr="topic wildcard plus">
            <a:extLst>
              <a:ext uri="{FF2B5EF4-FFF2-40B4-BE49-F238E27FC236}">
                <a16:creationId xmlns:a16="http://schemas.microsoft.com/office/drawing/2014/main" id="{34676E86-2404-4CB7-81BF-51A3385F4B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526" y="5285132"/>
            <a:ext cx="6096000" cy="139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opic wildcard hash">
            <a:extLst>
              <a:ext uri="{FF2B5EF4-FFF2-40B4-BE49-F238E27FC236}">
                <a16:creationId xmlns:a16="http://schemas.microsoft.com/office/drawing/2014/main" id="{37A8FB8B-2CBF-482D-A5EE-28F06767DC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5064" y="5264819"/>
            <a:ext cx="6096000" cy="111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9114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233E3-6543-4001-A3C9-DA2FD5BD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IE" dirty="0"/>
              <a:t>MQTT Characteristics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7BF80-DBF3-4957-842A-25F285E67A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785" y="1696229"/>
            <a:ext cx="6270590" cy="4351338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IE" dirty="0"/>
              <a:t>MQTT protocol compresses to small number of bytes</a:t>
            </a:r>
          </a:p>
          <a:p>
            <a:pPr lvl="1"/>
            <a:r>
              <a:rPr lang="en-IE" dirty="0"/>
              <a:t>Smallest  packet size 2 bytes</a:t>
            </a:r>
          </a:p>
          <a:p>
            <a:pPr lvl="1"/>
            <a:r>
              <a:rPr lang="en-IE" dirty="0"/>
              <a:t>Supports always-connected and sometimes connected</a:t>
            </a:r>
          </a:p>
          <a:p>
            <a:pPr lvl="1"/>
            <a:r>
              <a:rPr lang="en-IE" dirty="0"/>
              <a:t>Provides Session awareness</a:t>
            </a:r>
          </a:p>
          <a:p>
            <a:pPr lvl="1"/>
            <a:r>
              <a:rPr lang="en-IE" dirty="0"/>
              <a:t>“Last will and testament” enable applications to know when a client goes offline abnormally</a:t>
            </a:r>
            <a:endParaRPr lang="en-IE" dirty="0">
              <a:cs typeface="Calibri"/>
            </a:endParaRPr>
          </a:p>
          <a:p>
            <a:pPr lvl="1"/>
            <a:r>
              <a:rPr lang="en-IE" dirty="0"/>
              <a:t>Typically utilises TCP-based networks.</a:t>
            </a:r>
          </a:p>
          <a:p>
            <a:pPr lvl="1"/>
            <a:r>
              <a:rPr lang="en-IE" dirty="0">
                <a:cs typeface="Calibri"/>
              </a:rPr>
              <a:t>Max size: </a:t>
            </a:r>
          </a:p>
          <a:p>
            <a:pPr lvl="2"/>
            <a:r>
              <a:rPr lang="en-IE" dirty="0">
                <a:cs typeface="Calibri"/>
              </a:rPr>
              <a:t>Theoretical 256MB for MQTT 5.0</a:t>
            </a:r>
          </a:p>
          <a:p>
            <a:pPr lvl="2"/>
            <a:r>
              <a:rPr lang="en-IE" dirty="0">
                <a:cs typeface="Calibri"/>
              </a:rPr>
              <a:t>Configured at broker: </a:t>
            </a:r>
          </a:p>
          <a:p>
            <a:pPr lvl="3"/>
            <a:r>
              <a:rPr lang="en-IE" b="1" dirty="0" err="1"/>
              <a:t>Mosquitto</a:t>
            </a:r>
            <a:r>
              <a:rPr lang="en-IE" dirty="0"/>
              <a:t>: </a:t>
            </a:r>
            <a:r>
              <a:rPr lang="en-GB" dirty="0"/>
              <a:t>Default maximum is 1 MB</a:t>
            </a:r>
            <a:endParaRPr lang="en-IE" dirty="0">
              <a:cs typeface="Calibri"/>
            </a:endParaRPr>
          </a:p>
          <a:p>
            <a:pPr lvl="3"/>
            <a:r>
              <a:rPr lang="en-GB" b="1" dirty="0"/>
              <a:t>AWS IoT</a:t>
            </a:r>
            <a:r>
              <a:rPr lang="en-GB" dirty="0"/>
              <a:t>: Limits MQTT messages to 128 KB</a:t>
            </a:r>
            <a:r>
              <a:rPr lang="en-IE" dirty="0">
                <a:cs typeface="Calibri"/>
              </a:rPr>
              <a:t> </a:t>
            </a:r>
          </a:p>
        </p:txBody>
      </p:sp>
      <p:pic>
        <p:nvPicPr>
          <p:cNvPr id="8194" name="Picture 2" descr="Image result for MQTT packet size">
            <a:extLst>
              <a:ext uri="{FF2B5EF4-FFF2-40B4-BE49-F238E27FC236}">
                <a16:creationId xmlns:a16="http://schemas.microsoft.com/office/drawing/2014/main" id="{342F0404-C02F-4429-94E5-A94D67136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3348" y="876719"/>
            <a:ext cx="4659989" cy="2558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416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0BC97-4503-4DAD-816E-97C34E777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MQTT Characteristics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4ECF7-A120-4E90-AD3A-877910361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25259" cy="4351338"/>
          </a:xfrm>
        </p:spPr>
        <p:txBody>
          <a:bodyPr>
            <a:normAutofit fontScale="85000" lnSpcReduction="10000"/>
          </a:bodyPr>
          <a:lstStyle/>
          <a:p>
            <a:r>
              <a:rPr lang="en-IE" dirty="0"/>
              <a:t>Three quality of service levels:</a:t>
            </a:r>
          </a:p>
          <a:p>
            <a:pPr lvl="1"/>
            <a:r>
              <a:rPr lang="en-IE" dirty="0"/>
              <a:t>0 </a:t>
            </a:r>
            <a:br>
              <a:rPr lang="en-IE" dirty="0"/>
            </a:br>
            <a:r>
              <a:rPr lang="en-GB" dirty="0"/>
              <a:t>The message is delivered at most once, without any acknowledgment from the receiver. This means the message is sent, and no retries are attempted if it’s lost in transit.</a:t>
            </a:r>
          </a:p>
          <a:p>
            <a:pPr lvl="1"/>
            <a:r>
              <a:rPr lang="en-IE" dirty="0"/>
              <a:t>1 </a:t>
            </a:r>
            <a:br>
              <a:rPr lang="en-IE" dirty="0"/>
            </a:br>
            <a:r>
              <a:rPr lang="en-GB" dirty="0"/>
              <a:t>The message is delivered at least once, meaning the sender keeps resending the message until it receives an acknowledgment (PUBACK) from the receiver.</a:t>
            </a:r>
            <a:endParaRPr lang="en-IE" dirty="0"/>
          </a:p>
          <a:p>
            <a:pPr lvl="1"/>
            <a:r>
              <a:rPr lang="en-IE" dirty="0"/>
              <a:t>2 </a:t>
            </a:r>
            <a:br>
              <a:rPr lang="en-IE" dirty="0"/>
            </a:br>
            <a:r>
              <a:rPr lang="en-GB" dirty="0"/>
              <a:t>The message is delivered exactly once through a four-step handshake between sender and receiver (using PUBREC, PUBREL, and PUBCOMP messages to ensure no duplication).</a:t>
            </a:r>
            <a:endParaRPr lang="fr-FR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FA06377-3B66-4DC8-AF63-B154EAD126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3459" y="2098675"/>
            <a:ext cx="461010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E1CB442-BFF2-4C09-A2DC-52AB52AAB49C}"/>
              </a:ext>
            </a:extLst>
          </p:cNvPr>
          <p:cNvSpPr txBox="1"/>
          <p:nvPr/>
        </p:nvSpPr>
        <p:spPr>
          <a:xfrm>
            <a:off x="6565900" y="5300662"/>
            <a:ext cx="5423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https://dzone.com/articles/internet-things-mqtt-quality</a:t>
            </a:r>
          </a:p>
        </p:txBody>
      </p:sp>
    </p:spTree>
    <p:extLst>
      <p:ext uri="{BB962C8B-B14F-4D97-AF65-F5344CB8AC3E}">
        <p14:creationId xmlns:p14="http://schemas.microsoft.com/office/powerpoint/2010/main" val="1315239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4C0B10B-D2C4-4A54-AFAD-3D27DF88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6BADB90-C74B-40D6-86DC-503F65FCE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710" y="635715"/>
            <a:ext cx="11142208" cy="2482136"/>
            <a:chOff x="409710" y="635715"/>
            <a:chExt cx="11142208" cy="2482136"/>
          </a:xfrm>
        </p:grpSpPr>
        <p:sp>
          <p:nvSpPr>
            <p:cNvPr id="13" name="Freeform 44">
              <a:extLst>
                <a:ext uri="{FF2B5EF4-FFF2-40B4-BE49-F238E27FC236}">
                  <a16:creationId xmlns:a16="http://schemas.microsoft.com/office/drawing/2014/main" id="{6559431D-1886-4AE0-9B87-9AD2ECAB84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23203" y="635716"/>
              <a:ext cx="328612" cy="1742360"/>
            </a:xfrm>
            <a:custGeom>
              <a:avLst/>
              <a:gdLst>
                <a:gd name="T0" fmla="*/ 207 w 207"/>
                <a:gd name="T1" fmla="*/ 987 h 1114"/>
                <a:gd name="T2" fmla="*/ 0 w 207"/>
                <a:gd name="T3" fmla="*/ 1114 h 1114"/>
                <a:gd name="T4" fmla="*/ 0 w 207"/>
                <a:gd name="T5" fmla="*/ 127 h 1114"/>
                <a:gd name="T6" fmla="*/ 207 w 207"/>
                <a:gd name="T7" fmla="*/ 0 h 1114"/>
                <a:gd name="T8" fmla="*/ 207 w 207"/>
                <a:gd name="T9" fmla="*/ 987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7" h="1114">
                  <a:moveTo>
                    <a:pt x="207" y="987"/>
                  </a:moveTo>
                  <a:lnTo>
                    <a:pt x="0" y="1114"/>
                  </a:lnTo>
                  <a:lnTo>
                    <a:pt x="0" y="127"/>
                  </a:lnTo>
                  <a:lnTo>
                    <a:pt x="207" y="0"/>
                  </a:lnTo>
                  <a:lnTo>
                    <a:pt x="207" y="987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45">
              <a:extLst>
                <a:ext uri="{FF2B5EF4-FFF2-40B4-BE49-F238E27FC236}">
                  <a16:creationId xmlns:a16="http://schemas.microsoft.com/office/drawing/2014/main" id="{373850A5-B04A-4FCD-9E73-EE322167F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1022350"/>
              <a:ext cx="709612" cy="2095501"/>
            </a:xfrm>
            <a:custGeom>
              <a:avLst/>
              <a:gdLst>
                <a:gd name="T0" fmla="*/ 447 w 447"/>
                <a:gd name="T1" fmla="*/ 1363 h 1363"/>
                <a:gd name="T2" fmla="*/ 0 w 447"/>
                <a:gd name="T3" fmla="*/ 987 h 1363"/>
                <a:gd name="T4" fmla="*/ 0 w 447"/>
                <a:gd name="T5" fmla="*/ 0 h 1363"/>
                <a:gd name="T6" fmla="*/ 447 w 447"/>
                <a:gd name="T7" fmla="*/ 376 h 1363"/>
                <a:gd name="T8" fmla="*/ 447 w 447"/>
                <a:gd name="T9" fmla="*/ 1363 h 1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7" h="1363">
                  <a:moveTo>
                    <a:pt x="447" y="1363"/>
                  </a:moveTo>
                  <a:lnTo>
                    <a:pt x="0" y="987"/>
                  </a:lnTo>
                  <a:lnTo>
                    <a:pt x="0" y="0"/>
                  </a:lnTo>
                  <a:lnTo>
                    <a:pt x="447" y="376"/>
                  </a:lnTo>
                  <a:lnTo>
                    <a:pt x="447" y="1363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46">
              <a:extLst>
                <a:ext uri="{FF2B5EF4-FFF2-40B4-BE49-F238E27FC236}">
                  <a16:creationId xmlns:a16="http://schemas.microsoft.com/office/drawing/2014/main" id="{82C18C67-80FA-4738-AA53-0AF2419F98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837744"/>
              <a:ext cx="403225" cy="1705431"/>
            </a:xfrm>
            <a:custGeom>
              <a:avLst/>
              <a:gdLst>
                <a:gd name="T0" fmla="*/ 254 w 254"/>
                <a:gd name="T1" fmla="*/ 987 h 1109"/>
                <a:gd name="T2" fmla="*/ 0 w 254"/>
                <a:gd name="T3" fmla="*/ 1109 h 1109"/>
                <a:gd name="T4" fmla="*/ 0 w 254"/>
                <a:gd name="T5" fmla="*/ 119 h 1109"/>
                <a:gd name="T6" fmla="*/ 254 w 254"/>
                <a:gd name="T7" fmla="*/ 0 h 1109"/>
                <a:gd name="T8" fmla="*/ 254 w 254"/>
                <a:gd name="T9" fmla="*/ 987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1109">
                  <a:moveTo>
                    <a:pt x="254" y="987"/>
                  </a:moveTo>
                  <a:lnTo>
                    <a:pt x="0" y="1109"/>
                  </a:lnTo>
                  <a:lnTo>
                    <a:pt x="0" y="119"/>
                  </a:lnTo>
                  <a:lnTo>
                    <a:pt x="254" y="0"/>
                  </a:lnTo>
                  <a:lnTo>
                    <a:pt x="254" y="987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47">
              <a:extLst>
                <a:ext uri="{FF2B5EF4-FFF2-40B4-BE49-F238E27FC236}">
                  <a16:creationId xmlns:a16="http://schemas.microsoft.com/office/drawing/2014/main" id="{48543B1A-8BF5-4C63-8404-41B2EA70B3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660" y="640894"/>
              <a:ext cx="168275" cy="1713195"/>
            </a:xfrm>
            <a:custGeom>
              <a:avLst/>
              <a:gdLst>
                <a:gd name="T0" fmla="*/ 106 w 106"/>
                <a:gd name="T1" fmla="*/ 1114 h 1114"/>
                <a:gd name="T2" fmla="*/ 0 w 106"/>
                <a:gd name="T3" fmla="*/ 1005 h 1114"/>
                <a:gd name="T4" fmla="*/ 0 w 106"/>
                <a:gd name="T5" fmla="*/ 0 h 1114"/>
                <a:gd name="T6" fmla="*/ 106 w 106"/>
                <a:gd name="T7" fmla="*/ 110 h 1114"/>
                <a:gd name="T8" fmla="*/ 106 w 106"/>
                <a:gd name="T9" fmla="*/ 1114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1114">
                  <a:moveTo>
                    <a:pt x="106" y="1114"/>
                  </a:moveTo>
                  <a:lnTo>
                    <a:pt x="0" y="1005"/>
                  </a:lnTo>
                  <a:lnTo>
                    <a:pt x="0" y="0"/>
                  </a:lnTo>
                  <a:lnTo>
                    <a:pt x="106" y="110"/>
                  </a:lnTo>
                  <a:lnTo>
                    <a:pt x="106" y="111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2DF5096-E051-498C-A3ED-CBA77A813A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055" y="635715"/>
              <a:ext cx="10907863" cy="154145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8555081-9559-4E0E-91F8-C7EE655C5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280" y="759805"/>
            <a:ext cx="10306520" cy="1325563"/>
          </a:xfrm>
        </p:spPr>
        <p:txBody>
          <a:bodyPr>
            <a:normAutofit/>
          </a:bodyPr>
          <a:lstStyle/>
          <a:p>
            <a:r>
              <a:rPr lang="en-IE" sz="4000" dirty="0">
                <a:solidFill>
                  <a:srgbClr val="FFFFFF"/>
                </a:solidFill>
              </a:rPr>
              <a:t>MQTT Control Packets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063F4-3A19-4946-8D4D-D7B3EE099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4904" y="2494450"/>
            <a:ext cx="4053545" cy="3563159"/>
          </a:xfrm>
        </p:spPr>
        <p:txBody>
          <a:bodyPr>
            <a:normAutofit/>
          </a:bodyPr>
          <a:lstStyle/>
          <a:p>
            <a:r>
              <a:rPr lang="en-GB" sz="2200" b="0" i="0">
                <a:effectLst/>
                <a:latin typeface="Arial" panose="020B0604020202020204" pitchFamily="34" charset="0"/>
              </a:rPr>
              <a:t>The MQTT protocol uses MQTT Control Packets using the Control Header.</a:t>
            </a:r>
          </a:p>
          <a:p>
            <a:r>
              <a:rPr lang="en-GB" sz="2200" b="0" i="0">
                <a:effectLst/>
                <a:latin typeface="Arial" panose="020B0604020202020204" pitchFamily="34" charset="0"/>
              </a:rPr>
              <a:t>Control Packet consists of three parts:</a:t>
            </a:r>
          </a:p>
          <a:p>
            <a:pPr lvl="1"/>
            <a:r>
              <a:rPr lang="en-GB" sz="2200" b="0" i="0">
                <a:effectLst/>
                <a:latin typeface="Arial" panose="020B0604020202020204" pitchFamily="34" charset="0"/>
              </a:rPr>
              <a:t> </a:t>
            </a:r>
            <a:r>
              <a:rPr lang="en-GB" sz="2200" b="0" i="1">
                <a:effectLst/>
                <a:latin typeface="Arial" panose="020B0604020202020204" pitchFamily="34" charset="0"/>
              </a:rPr>
              <a:t>fixed header</a:t>
            </a:r>
            <a:r>
              <a:rPr lang="en-GB" sz="2200" b="0" i="0">
                <a:effectLst/>
                <a:latin typeface="Arial" panose="020B0604020202020204" pitchFamily="34" charset="0"/>
              </a:rPr>
              <a:t>(present in all packets), </a:t>
            </a:r>
          </a:p>
          <a:p>
            <a:pPr lvl="1"/>
            <a:r>
              <a:rPr lang="en-GB" sz="2200" b="0" i="1">
                <a:effectLst/>
                <a:latin typeface="Arial" panose="020B0604020202020204" pitchFamily="34" charset="0"/>
              </a:rPr>
              <a:t>variable header</a:t>
            </a:r>
            <a:r>
              <a:rPr lang="en-GB" sz="2200" b="0" i="0">
                <a:effectLst/>
                <a:latin typeface="Arial" panose="020B0604020202020204" pitchFamily="34" charset="0"/>
              </a:rPr>
              <a:t>(optional)</a:t>
            </a:r>
          </a:p>
          <a:p>
            <a:pPr lvl="1"/>
            <a:r>
              <a:rPr lang="en-GB" sz="2200" b="0" i="1">
                <a:effectLst/>
                <a:latin typeface="Arial" panose="020B0604020202020204" pitchFamily="34" charset="0"/>
              </a:rPr>
              <a:t>Payload</a:t>
            </a:r>
            <a:r>
              <a:rPr lang="en-GB" sz="2200" b="0" i="0">
                <a:effectLst/>
                <a:latin typeface="Arial" panose="020B0604020202020204" pitchFamily="34" charset="0"/>
              </a:rPr>
              <a:t>(optional)</a:t>
            </a:r>
            <a:endParaRPr lang="en-IE" sz="2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D94B1C-BDB4-42B8-9A4D-465324CBF2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65" r="18055" b="-2"/>
          <a:stretch/>
        </p:blipFill>
        <p:spPr>
          <a:xfrm>
            <a:off x="6098892" y="2492376"/>
            <a:ext cx="4802404" cy="35633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A6CCA9-4612-40EE-9121-84F63007E5F3}"/>
              </a:ext>
            </a:extLst>
          </p:cNvPr>
          <p:cNvSpPr txBox="1"/>
          <p:nvPr/>
        </p:nvSpPr>
        <p:spPr>
          <a:xfrm>
            <a:off x="149845" y="6404454"/>
            <a:ext cx="12101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https://docs.devicewise.com/Content/Products/IoT_Portal_API_Reference_Guide/MQTT_Interface/MQTT-Control-Packets.htm</a:t>
            </a:r>
          </a:p>
        </p:txBody>
      </p:sp>
    </p:spTree>
    <p:extLst>
      <p:ext uri="{BB962C8B-B14F-4D97-AF65-F5344CB8AC3E}">
        <p14:creationId xmlns:p14="http://schemas.microsoft.com/office/powerpoint/2010/main" val="14365550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19312-0C74-4ED4-A7B9-D2CA953D8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MQTT Control Packets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67918-0ABA-43D7-AE86-4186B5458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MQTT Control Packet Types</a:t>
            </a:r>
            <a:br>
              <a:rPr lang="en-IE" dirty="0"/>
            </a:br>
            <a:endParaRPr lang="en-I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3B2DB1-7781-473D-933F-D707FF14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163" y="3111500"/>
            <a:ext cx="10906125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039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0C473-5354-468B-A06B-324BB06E3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Connection</a:t>
            </a:r>
            <a:endParaRPr lang="en-I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346B77-F832-43E3-BA11-6B2AFE1172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7927"/>
          <a:stretch/>
        </p:blipFill>
        <p:spPr>
          <a:xfrm>
            <a:off x="3015556" y="2170545"/>
            <a:ext cx="6160888" cy="4006418"/>
          </a:xfrm>
        </p:spPr>
      </p:pic>
    </p:spTree>
    <p:extLst>
      <p:ext uri="{BB962C8B-B14F-4D97-AF65-F5344CB8AC3E}">
        <p14:creationId xmlns:p14="http://schemas.microsoft.com/office/powerpoint/2010/main" val="22295090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2DB4-A344-4D6C-9254-19791FF48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MQTT QoS</a:t>
            </a:r>
            <a:br>
              <a:rPr lang="en-GB" dirty="0"/>
            </a:br>
            <a:endParaRPr lang="en-IE" dirty="0"/>
          </a:p>
        </p:txBody>
      </p:sp>
      <p:pic>
        <p:nvPicPr>
          <p:cNvPr id="1026" name="Picture 2" descr="Message delivery at different QoS levels. Source: Patierno 2014, slide 8.">
            <a:extLst>
              <a:ext uri="{FF2B5EF4-FFF2-40B4-BE49-F238E27FC236}">
                <a16:creationId xmlns:a16="http://schemas.microsoft.com/office/drawing/2014/main" id="{9AF0E38C-39AA-439E-959F-DC4D11D566B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4798" y="1437697"/>
            <a:ext cx="725571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1903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312A1-B25F-4988-B69E-6CE5BC067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Publish-Subscribe Characteristics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BA0B6-D0E0-4B08-ADCC-AECA1DACF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0568"/>
            <a:ext cx="10515600" cy="4566998"/>
          </a:xfrm>
        </p:spPr>
        <p:txBody>
          <a:bodyPr>
            <a:normAutofit lnSpcReduction="10000"/>
          </a:bodyPr>
          <a:lstStyle/>
          <a:p>
            <a:r>
              <a:rPr lang="en-IE" dirty="0"/>
              <a:t>A published messages may be </a:t>
            </a:r>
            <a:r>
              <a:rPr lang="en-IE" b="1" dirty="0"/>
              <a:t>retained</a:t>
            </a:r>
          </a:p>
          <a:p>
            <a:pPr lvl="1"/>
            <a:r>
              <a:rPr lang="en-GB" dirty="0"/>
              <a:t>Retained messages are used to ensure that when a client subscribes to a topic, it immediately receives the most recent message for that topic</a:t>
            </a:r>
            <a:endParaRPr lang="en-IE" b="1" dirty="0"/>
          </a:p>
          <a:p>
            <a:pPr lvl="1"/>
            <a:r>
              <a:rPr lang="en-IE" dirty="0"/>
              <a:t>A publisher can mark a message as “retained”</a:t>
            </a:r>
          </a:p>
          <a:p>
            <a:pPr lvl="1"/>
            <a:r>
              <a:rPr lang="en-IE" dirty="0"/>
              <a:t>The broker / server remembers the last known good message of a retained topic</a:t>
            </a:r>
          </a:p>
          <a:p>
            <a:pPr lvl="1"/>
            <a:r>
              <a:rPr lang="en-IE" dirty="0"/>
              <a:t>The broker / server gives the last known good message to new subscribers</a:t>
            </a:r>
          </a:p>
          <a:p>
            <a:r>
              <a:rPr lang="en-IE" dirty="0"/>
              <a:t>A Subscription can be </a:t>
            </a:r>
            <a:r>
              <a:rPr lang="en-IE" b="1" dirty="0"/>
              <a:t>durable</a:t>
            </a:r>
          </a:p>
          <a:p>
            <a:pPr lvl="1"/>
            <a:r>
              <a:rPr lang="en-IE" dirty="0"/>
              <a:t>Durable: messages forwarded to subscriber immediately, if subscriber not connected, message is stored and forwarded when connected</a:t>
            </a:r>
          </a:p>
          <a:p>
            <a:pPr lvl="1"/>
            <a:r>
              <a:rPr lang="en-IE" dirty="0"/>
              <a:t>Non-Durable: subscription only active when subscriber is connected to the server / broker</a:t>
            </a:r>
          </a:p>
        </p:txBody>
      </p:sp>
    </p:spTree>
    <p:extLst>
      <p:ext uri="{BB962C8B-B14F-4D97-AF65-F5344CB8AC3E}">
        <p14:creationId xmlns:p14="http://schemas.microsoft.com/office/powerpoint/2010/main" val="34097659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C2ED0-425F-D519-7261-7B713D2E1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230C8-6F71-2D09-6F93-72B76D757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BE6F18-A1DC-597D-6D3F-2C758A5D9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78101"/>
            <a:ext cx="9286820" cy="3501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2760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D38EE57-B708-47C9-A4A4-E25F09FAB0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7A28182-58A5-4DBB-8F64-BD944BCA8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710" y="635715"/>
            <a:ext cx="11142208" cy="2482136"/>
            <a:chOff x="409710" y="635715"/>
            <a:chExt cx="11142208" cy="2482136"/>
          </a:xfrm>
        </p:grpSpPr>
        <p:sp>
          <p:nvSpPr>
            <p:cNvPr id="13" name="Freeform 44">
              <a:extLst>
                <a:ext uri="{FF2B5EF4-FFF2-40B4-BE49-F238E27FC236}">
                  <a16:creationId xmlns:a16="http://schemas.microsoft.com/office/drawing/2014/main" id="{E4A9080E-7BA6-45FC-8677-8B9D5F4DAF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23203" y="635716"/>
              <a:ext cx="328612" cy="1742360"/>
            </a:xfrm>
            <a:custGeom>
              <a:avLst/>
              <a:gdLst>
                <a:gd name="T0" fmla="*/ 207 w 207"/>
                <a:gd name="T1" fmla="*/ 987 h 1114"/>
                <a:gd name="T2" fmla="*/ 0 w 207"/>
                <a:gd name="T3" fmla="*/ 1114 h 1114"/>
                <a:gd name="T4" fmla="*/ 0 w 207"/>
                <a:gd name="T5" fmla="*/ 127 h 1114"/>
                <a:gd name="T6" fmla="*/ 207 w 207"/>
                <a:gd name="T7" fmla="*/ 0 h 1114"/>
                <a:gd name="T8" fmla="*/ 207 w 207"/>
                <a:gd name="T9" fmla="*/ 987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7" h="1114">
                  <a:moveTo>
                    <a:pt x="207" y="987"/>
                  </a:moveTo>
                  <a:lnTo>
                    <a:pt x="0" y="1114"/>
                  </a:lnTo>
                  <a:lnTo>
                    <a:pt x="0" y="127"/>
                  </a:lnTo>
                  <a:lnTo>
                    <a:pt x="207" y="0"/>
                  </a:lnTo>
                  <a:lnTo>
                    <a:pt x="207" y="987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45">
              <a:extLst>
                <a:ext uri="{FF2B5EF4-FFF2-40B4-BE49-F238E27FC236}">
                  <a16:creationId xmlns:a16="http://schemas.microsoft.com/office/drawing/2014/main" id="{2163D516-75D4-4DE0-AC27-63719125A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1022350"/>
              <a:ext cx="709612" cy="2095501"/>
            </a:xfrm>
            <a:custGeom>
              <a:avLst/>
              <a:gdLst>
                <a:gd name="T0" fmla="*/ 447 w 447"/>
                <a:gd name="T1" fmla="*/ 1363 h 1363"/>
                <a:gd name="T2" fmla="*/ 0 w 447"/>
                <a:gd name="T3" fmla="*/ 987 h 1363"/>
                <a:gd name="T4" fmla="*/ 0 w 447"/>
                <a:gd name="T5" fmla="*/ 0 h 1363"/>
                <a:gd name="T6" fmla="*/ 447 w 447"/>
                <a:gd name="T7" fmla="*/ 376 h 1363"/>
                <a:gd name="T8" fmla="*/ 447 w 447"/>
                <a:gd name="T9" fmla="*/ 1363 h 1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7" h="1363">
                  <a:moveTo>
                    <a:pt x="447" y="1363"/>
                  </a:moveTo>
                  <a:lnTo>
                    <a:pt x="0" y="987"/>
                  </a:lnTo>
                  <a:lnTo>
                    <a:pt x="0" y="0"/>
                  </a:lnTo>
                  <a:lnTo>
                    <a:pt x="447" y="376"/>
                  </a:lnTo>
                  <a:lnTo>
                    <a:pt x="447" y="1363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46">
              <a:extLst>
                <a:ext uri="{FF2B5EF4-FFF2-40B4-BE49-F238E27FC236}">
                  <a16:creationId xmlns:a16="http://schemas.microsoft.com/office/drawing/2014/main" id="{E74A26A5-C23A-46D4-B0FF-155FB38346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837744"/>
              <a:ext cx="403225" cy="1705431"/>
            </a:xfrm>
            <a:custGeom>
              <a:avLst/>
              <a:gdLst>
                <a:gd name="T0" fmla="*/ 254 w 254"/>
                <a:gd name="T1" fmla="*/ 987 h 1109"/>
                <a:gd name="T2" fmla="*/ 0 w 254"/>
                <a:gd name="T3" fmla="*/ 1109 h 1109"/>
                <a:gd name="T4" fmla="*/ 0 w 254"/>
                <a:gd name="T5" fmla="*/ 119 h 1109"/>
                <a:gd name="T6" fmla="*/ 254 w 254"/>
                <a:gd name="T7" fmla="*/ 0 h 1109"/>
                <a:gd name="T8" fmla="*/ 254 w 254"/>
                <a:gd name="T9" fmla="*/ 987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1109">
                  <a:moveTo>
                    <a:pt x="254" y="987"/>
                  </a:moveTo>
                  <a:lnTo>
                    <a:pt x="0" y="1109"/>
                  </a:lnTo>
                  <a:lnTo>
                    <a:pt x="0" y="119"/>
                  </a:lnTo>
                  <a:lnTo>
                    <a:pt x="254" y="0"/>
                  </a:lnTo>
                  <a:lnTo>
                    <a:pt x="254" y="987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47">
              <a:extLst>
                <a:ext uri="{FF2B5EF4-FFF2-40B4-BE49-F238E27FC236}">
                  <a16:creationId xmlns:a16="http://schemas.microsoft.com/office/drawing/2014/main" id="{08E0243F-1062-43C6-AD04-130DFF668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660" y="640894"/>
              <a:ext cx="168275" cy="1713195"/>
            </a:xfrm>
            <a:custGeom>
              <a:avLst/>
              <a:gdLst>
                <a:gd name="T0" fmla="*/ 106 w 106"/>
                <a:gd name="T1" fmla="*/ 1114 h 1114"/>
                <a:gd name="T2" fmla="*/ 0 w 106"/>
                <a:gd name="T3" fmla="*/ 1005 h 1114"/>
                <a:gd name="T4" fmla="*/ 0 w 106"/>
                <a:gd name="T5" fmla="*/ 0 h 1114"/>
                <a:gd name="T6" fmla="*/ 106 w 106"/>
                <a:gd name="T7" fmla="*/ 110 h 1114"/>
                <a:gd name="T8" fmla="*/ 106 w 106"/>
                <a:gd name="T9" fmla="*/ 1114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1114">
                  <a:moveTo>
                    <a:pt x="106" y="1114"/>
                  </a:moveTo>
                  <a:lnTo>
                    <a:pt x="0" y="1005"/>
                  </a:lnTo>
                  <a:lnTo>
                    <a:pt x="0" y="0"/>
                  </a:lnTo>
                  <a:lnTo>
                    <a:pt x="106" y="110"/>
                  </a:lnTo>
                  <a:lnTo>
                    <a:pt x="106" y="111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4C5517B-1B0F-47AA-93A5-3671899698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055" y="635715"/>
              <a:ext cx="10907863" cy="154145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269B4D0-270A-474D-AFC1-3B5D053C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280" y="759805"/>
            <a:ext cx="10306520" cy="1325563"/>
          </a:xfrm>
        </p:spPr>
        <p:txBody>
          <a:bodyPr>
            <a:normAutofit/>
          </a:bodyPr>
          <a:lstStyle/>
          <a:p>
            <a:r>
              <a:rPr lang="en-IE" sz="4000">
                <a:solidFill>
                  <a:srgbClr val="FFFFFF"/>
                </a:solidFill>
              </a:rPr>
              <a:t>MQTT Last Will and Testament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EC927-225E-4097-9880-F8D42CE42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4904" y="2494450"/>
            <a:ext cx="4053545" cy="3563159"/>
          </a:xfrm>
        </p:spPr>
        <p:txBody>
          <a:bodyPr>
            <a:normAutofit/>
          </a:bodyPr>
          <a:lstStyle/>
          <a:p>
            <a:r>
              <a:rPr lang="en-GB" sz="1700"/>
              <a:t>Notify other clients about an ungraceful disconnected client. </a:t>
            </a:r>
          </a:p>
          <a:p>
            <a:r>
              <a:rPr lang="en-GB" sz="1700"/>
              <a:t>Client can specify its last will message when it connects to a broker.</a:t>
            </a:r>
          </a:p>
          <a:p>
            <a:pPr lvl="1"/>
            <a:r>
              <a:rPr lang="en-GB" sz="1700"/>
              <a:t>normal MQTT message with a topic, retained message flag, QoS, and payload</a:t>
            </a:r>
          </a:p>
          <a:p>
            <a:pPr lvl="1"/>
            <a:r>
              <a:rPr lang="en-GB" sz="1700"/>
              <a:t>When an “ungraceful disconnect” occurs, the broker sends the last-will message to all subscribed clients of the last-will message topic.</a:t>
            </a:r>
          </a:p>
          <a:p>
            <a:endParaRPr lang="en-IE" sz="1700"/>
          </a:p>
        </p:txBody>
      </p:sp>
      <p:pic>
        <p:nvPicPr>
          <p:cNvPr id="5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69ECA277-84B1-4416-B5B7-7D617B88E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8892" y="2893371"/>
            <a:ext cx="4802404" cy="276138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D1975B4-3CCC-4500-8394-3F166D7536F9}"/>
              </a:ext>
            </a:extLst>
          </p:cNvPr>
          <p:cNvSpPr txBox="1"/>
          <p:nvPr/>
        </p:nvSpPr>
        <p:spPr>
          <a:xfrm>
            <a:off x="1926803" y="6057609"/>
            <a:ext cx="929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dirty="0"/>
              <a:t>https://www.hivemq.com/blog/mqtt-essentials-part-9-last-will-and-testament/</a:t>
            </a:r>
          </a:p>
        </p:txBody>
      </p:sp>
    </p:spTree>
    <p:extLst>
      <p:ext uri="{BB962C8B-B14F-4D97-AF65-F5344CB8AC3E}">
        <p14:creationId xmlns:p14="http://schemas.microsoft.com/office/powerpoint/2010/main" val="23309026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47F88-2A19-4353-8CCE-E88B43587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E"/>
              <a:t>MQTT vs HTTP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DED32-73AB-4DAD-AEDA-3609E639AD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5406"/>
            <a:ext cx="11107514" cy="4065986"/>
          </a:xfrm>
        </p:spPr>
        <p:txBody>
          <a:bodyPr anchor="t">
            <a:normAutofit/>
          </a:bodyPr>
          <a:lstStyle/>
          <a:p>
            <a:r>
              <a:rPr lang="en-IE" dirty="0"/>
              <a:t>Push delivery of messages / data / events</a:t>
            </a:r>
            <a:endParaRPr lang="en-IE" dirty="0">
              <a:cs typeface="Calibri"/>
            </a:endParaRPr>
          </a:p>
          <a:p>
            <a:pPr lvl="1"/>
            <a:r>
              <a:rPr lang="en-IE" sz="2800" dirty="0"/>
              <a:t>MQTT – low latency push delivery of messages from client to server and </a:t>
            </a:r>
            <a:r>
              <a:rPr lang="en-IE" sz="2800" b="1" dirty="0"/>
              <a:t>server to client. </a:t>
            </a:r>
            <a:r>
              <a:rPr lang="en-IE" sz="2800" dirty="0"/>
              <a:t>Helps bring an event oriented architecture to the web</a:t>
            </a:r>
            <a:endParaRPr lang="en-IE" sz="2800" dirty="0">
              <a:cs typeface="Calibri"/>
            </a:endParaRPr>
          </a:p>
          <a:p>
            <a:pPr lvl="1"/>
            <a:r>
              <a:rPr lang="en-IE" sz="2800" dirty="0"/>
              <a:t>HTTP – push from client to server but poll from server to client</a:t>
            </a:r>
            <a:endParaRPr lang="en-IE" sz="2800" dirty="0">
              <a:cs typeface="Calibri"/>
            </a:endParaRPr>
          </a:p>
          <a:p>
            <a:r>
              <a:rPr lang="en-IE" dirty="0"/>
              <a:t>Reliable delivery over fragile network</a:t>
            </a:r>
            <a:endParaRPr lang="en-IE" dirty="0">
              <a:cs typeface="Calibri"/>
            </a:endParaRPr>
          </a:p>
          <a:p>
            <a:pPr lvl="1"/>
            <a:r>
              <a:rPr lang="en-IE" sz="2800" dirty="0"/>
              <a:t>MQTT will deliver message to QOS even </a:t>
            </a:r>
            <a:r>
              <a:rPr lang="en-IE" sz="2800" b="1" dirty="0"/>
              <a:t>across connection breaks</a:t>
            </a:r>
            <a:endParaRPr lang="en-IE" sz="2800" b="1" dirty="0">
              <a:cs typeface="Calibri"/>
            </a:endParaRPr>
          </a:p>
          <a:p>
            <a:pPr lvl="1"/>
            <a:r>
              <a:rPr lang="en-IE" sz="2800" dirty="0"/>
              <a:t>Decoupling and publish subscribe – </a:t>
            </a:r>
            <a:r>
              <a:rPr lang="en-IE" sz="2800" b="1" dirty="0"/>
              <a:t>one to many delivery</a:t>
            </a:r>
            <a:endParaRPr lang="en-IE" sz="2800" dirty="0">
              <a:cs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EAD3D3-C3E1-4217-AEC7-519ED9BCA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18746" y="6356350"/>
            <a:ext cx="4181571" cy="365125"/>
          </a:xfrm>
          <a:effectLst/>
        </p:spPr>
        <p:txBody>
          <a:bodyPr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IE"/>
              <a:t>http://stephendnicholas.com/archives/1217</a:t>
            </a:r>
          </a:p>
        </p:txBody>
      </p:sp>
    </p:spTree>
    <p:extLst>
      <p:ext uri="{BB962C8B-B14F-4D97-AF65-F5344CB8AC3E}">
        <p14:creationId xmlns:p14="http://schemas.microsoft.com/office/powerpoint/2010/main" val="30588362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11B66-640A-4B9D-84BD-35940EE08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MQTT vs HTTP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22D3414-829A-42E4-8C5B-27B5B29F39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9628" y="1690688"/>
            <a:ext cx="8049457" cy="3719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8258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3CFFC5B-5A0B-416C-A5D9-179A11A2C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274" y="3924388"/>
            <a:ext cx="10924863" cy="2870423"/>
          </a:xfrm>
          <a:custGeom>
            <a:avLst/>
            <a:gdLst>
              <a:gd name="connsiteX0" fmla="*/ 0 w 4636009"/>
              <a:gd name="connsiteY0" fmla="*/ 0 h 5032375"/>
              <a:gd name="connsiteX1" fmla="*/ 4636009 w 4636009"/>
              <a:gd name="connsiteY1" fmla="*/ 0 h 5032375"/>
              <a:gd name="connsiteX2" fmla="*/ 4636009 w 4636009"/>
              <a:gd name="connsiteY2" fmla="*/ 5032375 h 5032375"/>
              <a:gd name="connsiteX3" fmla="*/ 0 w 4636009"/>
              <a:gd name="connsiteY3" fmla="*/ 5032375 h 5032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6009" h="5032375">
                <a:moveTo>
                  <a:pt x="0" y="0"/>
                </a:moveTo>
                <a:lnTo>
                  <a:pt x="4636009" y="0"/>
                </a:lnTo>
                <a:lnTo>
                  <a:pt x="4636009" y="5032375"/>
                </a:lnTo>
                <a:lnTo>
                  <a:pt x="0" y="5032375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0A92C1-977B-44F3-901D-4332BA8A7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E" dirty="0"/>
              <a:t>Application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DB013-5EBD-4012-8A47-F2093756E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5406"/>
            <a:ext cx="10000457" cy="2125043"/>
          </a:xfrm>
        </p:spPr>
        <p:txBody>
          <a:bodyPr anchor="t">
            <a:normAutofit fontScale="92500" lnSpcReduction="20000"/>
          </a:bodyPr>
          <a:lstStyle/>
          <a:p>
            <a:r>
              <a:rPr lang="en-IE" sz="2600" dirty="0"/>
              <a:t>Home care monitoring solution</a:t>
            </a:r>
            <a:endParaRPr lang="en-IE" sz="2600" dirty="0">
              <a:cs typeface="Calibri"/>
            </a:endParaRPr>
          </a:p>
          <a:p>
            <a:pPr lvl="1"/>
            <a:r>
              <a:rPr lang="en-IE" sz="2600" dirty="0"/>
              <a:t>Home and patient instrumented with sensors.</a:t>
            </a:r>
            <a:endParaRPr lang="en-IE" sz="2600" dirty="0">
              <a:cs typeface="Calibri"/>
            </a:endParaRPr>
          </a:p>
          <a:p>
            <a:pPr lvl="2"/>
            <a:r>
              <a:rPr lang="en-IE" sz="2600" dirty="0"/>
              <a:t>E.g. door motion, blood pressure, pacemaker/defib.</a:t>
            </a:r>
            <a:endParaRPr lang="en-IE" sz="2600" dirty="0">
              <a:cs typeface="Calibri"/>
            </a:endParaRPr>
          </a:p>
          <a:p>
            <a:pPr lvl="1"/>
            <a:r>
              <a:rPr lang="en-IE" sz="2600" dirty="0"/>
              <a:t>Collected by monitoring service (broker) using MQTT</a:t>
            </a:r>
            <a:endParaRPr lang="en-IE" sz="2600" dirty="0">
              <a:cs typeface="Calibri"/>
            </a:endParaRPr>
          </a:p>
          <a:p>
            <a:pPr lvl="1"/>
            <a:r>
              <a:rPr lang="en-IE" sz="2600" dirty="0"/>
              <a:t>Subscribed by a health care service in the hospital</a:t>
            </a:r>
            <a:endParaRPr lang="en-IE" sz="2600" dirty="0">
              <a:cs typeface="Calibri"/>
            </a:endParaRPr>
          </a:p>
          <a:p>
            <a:pPr lvl="1"/>
            <a:r>
              <a:rPr lang="en-IE" dirty="0"/>
              <a:t>Alerts relations/health care profs. if anything is out-of-order</a:t>
            </a:r>
            <a:endParaRPr lang="en-IE" dirty="0">
              <a:cs typeface="Calibri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3127C38-1BF7-7BBC-9938-AE7799C061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1570" y="828876"/>
            <a:ext cx="4554147" cy="102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46697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404415E-5E29-4335-A3C9-731F35A61E89}"/>
              </a:ext>
            </a:extLst>
          </p:cNvPr>
          <p:cNvSpPr/>
          <p:nvPr/>
        </p:nvSpPr>
        <p:spPr>
          <a:xfrm>
            <a:off x="1004711" y="2544967"/>
            <a:ext cx="1157111" cy="158676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1A72F0-89E2-40FE-A946-4F8512BC8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455" y="3371010"/>
            <a:ext cx="591609" cy="5814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5F8134-B320-41E2-AA0E-8EA5C8391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711" y="4352746"/>
            <a:ext cx="414939" cy="42571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7A91715-4B42-40B9-9FF8-9BA8E68AB1E9}"/>
              </a:ext>
            </a:extLst>
          </p:cNvPr>
          <p:cNvSpPr/>
          <p:nvPr/>
        </p:nvSpPr>
        <p:spPr>
          <a:xfrm>
            <a:off x="1479235" y="2655430"/>
            <a:ext cx="242047" cy="60511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1026" name="Picture 2" descr="Antenna Clip Art at Clker.com - vector clip art online, royalty free &amp;  public domain">
            <a:extLst>
              <a:ext uri="{FF2B5EF4-FFF2-40B4-BE49-F238E27FC236}">
                <a16:creationId xmlns:a16="http://schemas.microsoft.com/office/drawing/2014/main" id="{B2A55EAB-7A49-4A58-A1B0-E73E43361E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607" y="5232753"/>
            <a:ext cx="347146" cy="37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mazon.com: Don't CLICK the RED Button ⚠️ : Apps &amp; Games">
            <a:extLst>
              <a:ext uri="{FF2B5EF4-FFF2-40B4-BE49-F238E27FC236}">
                <a16:creationId xmlns:a16="http://schemas.microsoft.com/office/drawing/2014/main" id="{0E3F0F58-974D-4FF9-BA34-0227EECB63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880" y="6101277"/>
            <a:ext cx="399873" cy="399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9A7032B-C2C7-4F98-B72A-3B6CD0705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2256" y="1376655"/>
            <a:ext cx="591609" cy="58140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B05C29A-22BE-48C1-B97C-DC1D2250E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562" y="2933143"/>
            <a:ext cx="591609" cy="58140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28706A7-1E2A-4FD8-8BC5-8560BC476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818" y="3967929"/>
            <a:ext cx="591609" cy="581409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FA31004F-41D7-4EB9-A8E7-4DD192751693}"/>
              </a:ext>
            </a:extLst>
          </p:cNvPr>
          <p:cNvGrpSpPr/>
          <p:nvPr/>
        </p:nvGrpSpPr>
        <p:grpSpPr>
          <a:xfrm>
            <a:off x="1200120" y="3931569"/>
            <a:ext cx="331920" cy="439200"/>
            <a:chOff x="1200120" y="3931569"/>
            <a:chExt cx="331920" cy="43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0143F00-C6D8-4605-AA09-2B98A34265B2}"/>
                    </a:ext>
                  </a:extLst>
                </p14:cNvPr>
                <p14:cNvContentPartPr/>
                <p14:nvPr/>
              </p14:nvContentPartPr>
              <p14:xfrm>
                <a:off x="1201920" y="3931569"/>
                <a:ext cx="330120" cy="4287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0143F00-C6D8-4605-AA09-2B98A34265B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97600" y="3927249"/>
                  <a:ext cx="33876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FE33FD5-A9AC-4A5A-B754-0E5E0F96B594}"/>
                    </a:ext>
                  </a:extLst>
                </p14:cNvPr>
                <p14:cNvContentPartPr/>
                <p14:nvPr/>
              </p14:nvContentPartPr>
              <p14:xfrm>
                <a:off x="1200120" y="3967929"/>
                <a:ext cx="278280" cy="402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FE33FD5-A9AC-4A5A-B754-0E5E0F96B59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95800" y="3963609"/>
                  <a:ext cx="286920" cy="411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6D5E58DC-2808-4820-ACAE-7E8F05568076}"/>
                  </a:ext>
                </a:extLst>
              </p14:cNvPr>
              <p14:cNvContentPartPr/>
              <p14:nvPr/>
            </p14:nvContentPartPr>
            <p14:xfrm>
              <a:off x="1592160" y="3227409"/>
              <a:ext cx="11520" cy="2174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6D5E58DC-2808-4820-ACAE-7E8F0556807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587840" y="3223089"/>
                <a:ext cx="2016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1CE64BC5-2E03-46BA-BFA6-CB7683E8FFF8}"/>
                  </a:ext>
                </a:extLst>
              </p14:cNvPr>
              <p14:cNvContentPartPr/>
              <p14:nvPr/>
            </p14:nvContentPartPr>
            <p14:xfrm>
              <a:off x="1611960" y="2475009"/>
              <a:ext cx="21240" cy="3600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1CE64BC5-2E03-46BA-BFA6-CB7683E8FFF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607640" y="2470689"/>
                <a:ext cx="29880" cy="44640"/>
              </a:xfrm>
              <a:prstGeom prst="rect">
                <a:avLst/>
              </a:prstGeom>
            </p:spPr>
          </p:pic>
        </mc:Fallback>
      </mc:AlternateContent>
      <p:sp>
        <p:nvSpPr>
          <p:cNvPr id="1074" name="Rectangle 1073">
            <a:extLst>
              <a:ext uri="{FF2B5EF4-FFF2-40B4-BE49-F238E27FC236}">
                <a16:creationId xmlns:a16="http://schemas.microsoft.com/office/drawing/2014/main" id="{F8ED613B-910D-4FAF-845C-CFC9FFDAAA1A}"/>
              </a:ext>
            </a:extLst>
          </p:cNvPr>
          <p:cNvSpPr/>
          <p:nvPr/>
        </p:nvSpPr>
        <p:spPr>
          <a:xfrm>
            <a:off x="4576122" y="4858124"/>
            <a:ext cx="1545000" cy="12922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400" dirty="0"/>
              <a:t>Server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75" name="Ink 1074">
                <a:extLst>
                  <a:ext uri="{FF2B5EF4-FFF2-40B4-BE49-F238E27FC236}">
                    <a16:creationId xmlns:a16="http://schemas.microsoft.com/office/drawing/2014/main" id="{A5EB34F0-7CD4-46A9-A093-DC979BC4CB68}"/>
                  </a:ext>
                </a:extLst>
              </p14:cNvPr>
              <p14:cNvContentPartPr/>
              <p14:nvPr/>
            </p14:nvContentPartPr>
            <p14:xfrm>
              <a:off x="6167400" y="5504409"/>
              <a:ext cx="7920" cy="2160"/>
            </p14:xfrm>
          </p:contentPart>
        </mc:Choice>
        <mc:Fallback xmlns="">
          <p:pic>
            <p:nvPicPr>
              <p:cNvPr id="1075" name="Ink 1074">
                <a:extLst>
                  <a:ext uri="{FF2B5EF4-FFF2-40B4-BE49-F238E27FC236}">
                    <a16:creationId xmlns:a16="http://schemas.microsoft.com/office/drawing/2014/main" id="{A5EB34F0-7CD4-46A9-A093-DC979BC4CB6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163080" y="5500089"/>
                <a:ext cx="16560" cy="10800"/>
              </a:xfrm>
              <a:prstGeom prst="rect">
                <a:avLst/>
              </a:prstGeom>
            </p:spPr>
          </p:pic>
        </mc:Fallback>
      </mc:AlternateContent>
      <p:sp>
        <p:nvSpPr>
          <p:cNvPr id="144" name="Rectangle 143">
            <a:extLst>
              <a:ext uri="{FF2B5EF4-FFF2-40B4-BE49-F238E27FC236}">
                <a16:creationId xmlns:a16="http://schemas.microsoft.com/office/drawing/2014/main" id="{AF0984F6-3C4A-4FF2-9DD3-7DEBC83D08C8}"/>
              </a:ext>
            </a:extLst>
          </p:cNvPr>
          <p:cNvSpPr/>
          <p:nvPr/>
        </p:nvSpPr>
        <p:spPr>
          <a:xfrm>
            <a:off x="9454144" y="2056376"/>
            <a:ext cx="1157111" cy="158676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C2F20C65-8755-49DF-A69E-2D1BBA8A27DD}"/>
              </a:ext>
            </a:extLst>
          </p:cNvPr>
          <p:cNvSpPr/>
          <p:nvPr/>
        </p:nvSpPr>
        <p:spPr>
          <a:xfrm>
            <a:off x="9928668" y="2166839"/>
            <a:ext cx="242047" cy="60511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107" name="Picture 6" descr="Computer Svg Desktop Computer Svg Desktop Svg Silhouette Dxf | Etsy">
            <a:extLst>
              <a:ext uri="{FF2B5EF4-FFF2-40B4-BE49-F238E27FC236}">
                <a16:creationId xmlns:a16="http://schemas.microsoft.com/office/drawing/2014/main" id="{11A884BC-D4F3-4ABB-99CB-492DC7ED80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5072" y="4487757"/>
            <a:ext cx="246697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Picture 149" descr="Shape&#10;&#10;Description automatically generated">
            <a:extLst>
              <a:ext uri="{FF2B5EF4-FFF2-40B4-BE49-F238E27FC236}">
                <a16:creationId xmlns:a16="http://schemas.microsoft.com/office/drawing/2014/main" id="{BAE39909-B389-4826-AB44-736A81B4F019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5542" y="4856308"/>
            <a:ext cx="821586" cy="58713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5A2D047-EE59-439D-9FDB-D490C9EAD593}"/>
              </a:ext>
            </a:extLst>
          </p:cNvPr>
          <p:cNvSpPr/>
          <p:nvPr/>
        </p:nvSpPr>
        <p:spPr>
          <a:xfrm>
            <a:off x="4518951" y="6356371"/>
            <a:ext cx="1659341" cy="3026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End Devices</a:t>
            </a:r>
            <a:endParaRPr lang="en-IE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A036344-4ABD-4C72-9C7D-5581E184050A}"/>
              </a:ext>
            </a:extLst>
          </p:cNvPr>
          <p:cNvCxnSpPr>
            <a:cxnSpLocks/>
          </p:cNvCxnSpPr>
          <p:nvPr/>
        </p:nvCxnSpPr>
        <p:spPr>
          <a:xfrm flipH="1" flipV="1">
            <a:off x="1532040" y="6313079"/>
            <a:ext cx="2778607" cy="1880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BDA2E29-D6F1-45AA-8742-C4D3419BBFD7}"/>
              </a:ext>
            </a:extLst>
          </p:cNvPr>
          <p:cNvCxnSpPr>
            <a:cxnSpLocks/>
          </p:cNvCxnSpPr>
          <p:nvPr/>
        </p:nvCxnSpPr>
        <p:spPr>
          <a:xfrm flipV="1">
            <a:off x="6303029" y="5232753"/>
            <a:ext cx="2778341" cy="12683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C1C9CB6E-7CE2-4E9B-980C-27E242401B57}"/>
              </a:ext>
            </a:extLst>
          </p:cNvPr>
          <p:cNvSpPr/>
          <p:nvPr/>
        </p:nvSpPr>
        <p:spPr>
          <a:xfrm>
            <a:off x="4436659" y="270809"/>
            <a:ext cx="1659341" cy="58140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Infrastructure Devices</a:t>
            </a:r>
            <a:endParaRPr lang="en-IE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595E999-8EF3-41A4-8B15-B26BBE86D222}"/>
              </a:ext>
            </a:extLst>
          </p:cNvPr>
          <p:cNvCxnSpPr>
            <a:stCxn id="32" idx="1"/>
          </p:cNvCxnSpPr>
          <p:nvPr/>
        </p:nvCxnSpPr>
        <p:spPr>
          <a:xfrm flipH="1">
            <a:off x="2161822" y="561514"/>
            <a:ext cx="2274837" cy="19834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A0DEB19-E741-41BE-9421-F42CDB360534}"/>
              </a:ext>
            </a:extLst>
          </p:cNvPr>
          <p:cNvCxnSpPr/>
          <p:nvPr/>
        </p:nvCxnSpPr>
        <p:spPr>
          <a:xfrm flipH="1">
            <a:off x="4759890" y="958201"/>
            <a:ext cx="292928" cy="319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B96E501-E1B7-440D-A00A-2B0CDE1A056C}"/>
              </a:ext>
            </a:extLst>
          </p:cNvPr>
          <p:cNvCxnSpPr/>
          <p:nvPr/>
        </p:nvCxnSpPr>
        <p:spPr>
          <a:xfrm>
            <a:off x="5423770" y="920663"/>
            <a:ext cx="576197" cy="3945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19BFE2F8-DC95-4F1D-8CF7-52BE4AB67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6647" y="1474967"/>
            <a:ext cx="591609" cy="58140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F393DB95-505F-4C6A-A319-D7DF1000D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3438" y="2847591"/>
            <a:ext cx="591609" cy="58140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B7A81A0A-FD63-43CF-AAD2-E8532980F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754" y="2924220"/>
            <a:ext cx="591609" cy="58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641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  <p:bldP spid="1074" grpId="0" animBg="1"/>
      <p:bldP spid="144" grpId="0" animBg="1"/>
      <p:bldP spid="146" grpId="0" animBg="1"/>
      <p:bldP spid="2" grpId="0" animBg="1"/>
      <p:bldP spid="3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4266F-69E5-DCA6-69CA-E7AD5AE0E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Demo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5C18E-046D-EB01-3D76-4A69A83C6A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351F8F-B69D-4A68-47C2-19D729B69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278" y="1271134"/>
            <a:ext cx="9426357" cy="5341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20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973</Words>
  <Application>Microsoft Office PowerPoint</Application>
  <PresentationFormat>Widescreen</PresentationFormat>
  <Paragraphs>121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roboto</vt:lpstr>
      <vt:lpstr>Wingdings</vt:lpstr>
      <vt:lpstr>Office Theme</vt:lpstr>
      <vt:lpstr>Indirect Messaging</vt:lpstr>
      <vt:lpstr>Using the “Middleman”</vt:lpstr>
      <vt:lpstr>MQTT</vt:lpstr>
      <vt:lpstr>MQTT – publish subscribe</vt:lpstr>
      <vt:lpstr>MQTT is Open Source</vt:lpstr>
      <vt:lpstr>Publish Subscribe Process</vt:lpstr>
      <vt:lpstr>MQTT Topics</vt:lpstr>
      <vt:lpstr>MQTT Characteristics </vt:lpstr>
      <vt:lpstr>MQTT Characteristics</vt:lpstr>
      <vt:lpstr>MQTT Control Packets</vt:lpstr>
      <vt:lpstr>MQTT Control Packets</vt:lpstr>
      <vt:lpstr>Connection</vt:lpstr>
      <vt:lpstr>MQTT QoS </vt:lpstr>
      <vt:lpstr>Publish-Subscribe Characteristics</vt:lpstr>
      <vt:lpstr>PowerPoint Presentation</vt:lpstr>
      <vt:lpstr>MQTT Last Will and Testament</vt:lpstr>
      <vt:lpstr>MQTT vs HTTP</vt:lpstr>
      <vt:lpstr>MQTT vs HTTP</vt:lpstr>
      <vt:lpstr>Application Example</vt:lpstr>
      <vt:lpstr>PowerPoint Presentation</vt:lpstr>
      <vt:lpstr>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APIs and Indirect Messaging</dc:title>
  <dc:creator>Frank X Walsh</dc:creator>
  <cp:lastModifiedBy>Frank Walsh</cp:lastModifiedBy>
  <cp:revision>18</cp:revision>
  <dcterms:created xsi:type="dcterms:W3CDTF">2020-10-19T10:45:15Z</dcterms:created>
  <dcterms:modified xsi:type="dcterms:W3CDTF">2024-11-13T11:57:29Z</dcterms:modified>
</cp:coreProperties>
</file>