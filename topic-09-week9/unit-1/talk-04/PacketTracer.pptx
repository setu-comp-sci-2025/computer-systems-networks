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60" r:id="rId4"/>
    <p:sldId id="271" r:id="rId5"/>
    <p:sldId id="263" r:id="rId6"/>
    <p:sldId id="259" r:id="rId7"/>
    <p:sldId id="269" r:id="rId8"/>
    <p:sldId id="268" r:id="rId9"/>
    <p:sldId id="261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5" autoAdjust="0"/>
    <p:restoredTop sz="86752" autoAdjust="0"/>
  </p:normalViewPr>
  <p:slideViewPr>
    <p:cSldViewPr snapToGrid="0">
      <p:cViewPr varScale="1">
        <p:scale>
          <a:sx n="101" d="100"/>
          <a:sy n="101" d="100"/>
        </p:scale>
        <p:origin x="8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726F-0839-40A9-92E1-6B00998BB51F}" type="datetimeFigureOut">
              <a:rPr lang="en-IE" smtClean="0"/>
              <a:t>11/11/2024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ADDE7-9747-4F5F-B611-359E49E7DE4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70368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. A fire sprinkler will raise the water level and humidity in a container. An old car will increase various gases and ambient temperature when turned on. A smoke detector can be used to trigger an alarm when the smoke in environment increases to a certain point.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ADDE7-9747-4F5F-B611-359E49E7DE41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70607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A3DB4-C8FC-6E7C-898E-8122F324B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26D2B-F32C-2359-E999-E4BAB4DB8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56E87-F66C-4DAA-8CCC-6A17F15BB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C9DC-D1FF-4DF4-B4FA-C9A46C6F61B6}" type="datetimeFigureOut">
              <a:rPr lang="en-IE" smtClean="0"/>
              <a:t>11/11/2024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0B44C-369F-C60F-83B3-1B2BE63C9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8F60D-E15C-3859-0D9A-8DB1788CE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E31CE-D626-45C1-BCEE-55698B0BC9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41850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2BAC2-F224-4E78-E91F-952473B89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99DAF-E20A-B8C1-7926-333BD2FA1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84B11-D7A6-95C2-4F0D-1D8ED0B3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C9DC-D1FF-4DF4-B4FA-C9A46C6F61B6}" type="datetimeFigureOut">
              <a:rPr lang="en-IE" smtClean="0"/>
              <a:t>11/11/2024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E2292-B637-1D2E-2C35-4EBF89B53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67000-21EA-CE93-AF2A-761E0823A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E31CE-D626-45C1-BCEE-55698B0BC9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350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87FB7-5323-FBD6-03FF-999CE9D8F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6390C-CFD6-7634-4136-BC3FB1509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031AF-44D0-285B-854D-3C9C22D75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C9DC-D1FF-4DF4-B4FA-C9A46C6F61B6}" type="datetimeFigureOut">
              <a:rPr lang="en-IE" smtClean="0"/>
              <a:t>11/11/2024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D962F-B4E9-8C3B-8BEC-A12FF70A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B0C4F-DBD8-4383-E017-9BB19E57C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E31CE-D626-45C1-BCEE-55698B0BC9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139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ADC5F-D825-D8EA-2D2E-715E350C6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8F276-E6D4-2D36-89FB-81567F107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890D7-5B0C-27DF-41BB-B1135BD6A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75D28-2B8B-82B4-587B-16F10355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C9DC-D1FF-4DF4-B4FA-C9A46C6F61B6}" type="datetimeFigureOut">
              <a:rPr lang="en-IE" smtClean="0"/>
              <a:t>11/11/2024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9E856-D012-A699-FF8E-D6FBD6915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9447A-DAD4-220F-D514-25842E494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E31CE-D626-45C1-BCEE-55698B0BC9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84689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60683-DFF0-4E60-B513-9D5152AAD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5A911-5044-27E4-2DF0-EA449EC34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20C5C-3B12-02E0-C8C1-B8A266FA9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A66101-D667-9C19-F5E4-594A8E790E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092032-7A14-B126-765C-3135CD483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A2D42-A199-1FD8-F59B-D05DC4FB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C9DC-D1FF-4DF4-B4FA-C9A46C6F61B6}" type="datetimeFigureOut">
              <a:rPr lang="en-IE" smtClean="0"/>
              <a:t>11/11/2024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CE8878-0E81-BB5C-7D67-6FA4DB8D6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7AD47E-3CE4-760F-A66C-02A33954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E31CE-D626-45C1-BCEE-55698B0BC9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7669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518E-6585-DD93-33BB-78F578772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DC8A3-4F9E-642B-5947-BB4E3D7F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C9DC-D1FF-4DF4-B4FA-C9A46C6F61B6}" type="datetimeFigureOut">
              <a:rPr lang="en-IE" smtClean="0"/>
              <a:t>11/11/2024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4F5C2-B5AC-D5E9-D2B0-D14410940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01769-F9CD-2187-7AA5-8C78FBDAB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E31CE-D626-45C1-BCEE-55698B0BC9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41965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C74EF9-7B82-F9EE-96BB-D64456A6B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C9DC-D1FF-4DF4-B4FA-C9A46C6F61B6}" type="datetimeFigureOut">
              <a:rPr lang="en-IE" smtClean="0"/>
              <a:t>11/11/2024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BF5255-CFCD-8671-7CD9-A77831424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81229-C9F5-63AB-67DC-2B3F835F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E31CE-D626-45C1-BCEE-55698B0BC9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62207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532A-1FB6-FF16-BA83-CEC516C30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DDC79-32EF-FC5F-3332-268A8C29B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C503C-D94A-6B4B-9E2E-A1E0457F7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7E831-CDF1-9FA5-0C3F-1E9F153F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C9DC-D1FF-4DF4-B4FA-C9A46C6F61B6}" type="datetimeFigureOut">
              <a:rPr lang="en-IE" smtClean="0"/>
              <a:t>11/11/2024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8DCF3-03A8-2A09-7755-FF75E77A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6481F-37EC-F436-EB1B-DDD6E68D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E31CE-D626-45C1-BCEE-55698B0BC9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51634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31708-6E60-7870-47B0-98C235B1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E5D722-74E2-4525-BAE1-129E605EE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E7189-CF88-9F22-898C-A68531E71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63444-E6FF-CB46-ECA8-7C59780A6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C9DC-D1FF-4DF4-B4FA-C9A46C6F61B6}" type="datetimeFigureOut">
              <a:rPr lang="en-IE" smtClean="0"/>
              <a:t>11/11/2024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0422E-FAF5-0D05-142A-164AC3C3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ABF66-DAF7-E82E-1B7E-124B6C3F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E31CE-D626-45C1-BCEE-55698B0BC9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680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CA3C-4D7D-CBC0-6D30-B3914299E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5B44D7-7930-8296-E183-2E5F6C772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03E95-92FD-B966-7BBB-9E060D7BE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C9DC-D1FF-4DF4-B4FA-C9A46C6F61B6}" type="datetimeFigureOut">
              <a:rPr lang="en-IE" smtClean="0"/>
              <a:t>11/11/2024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4E1DB-7F43-8AB3-671B-758CCED2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1A92B-7427-B507-CE8E-1923B612C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E31CE-D626-45C1-BCEE-55698B0BC9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1244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398554-D08C-8EEE-6CBF-59132362C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2BAFD-AE60-EC96-119B-00E7AA287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96C07-89C6-8C86-448A-BADE44713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C9DC-D1FF-4DF4-B4FA-C9A46C6F61B6}" type="datetimeFigureOut">
              <a:rPr lang="en-IE" smtClean="0"/>
              <a:t>11/11/2024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25428-8F15-2521-6F82-19C67563E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F067C-620A-F834-DFB5-38DC96F3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E31CE-D626-45C1-BCEE-55698B0BC9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4637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22007D-E6FC-7CFD-7AB7-8A56D85D2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D0393-0976-D4DD-1AB6-11D01BFF0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8DDCA-A3D5-AB51-2743-905364F19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0C9DC-D1FF-4DF4-B4FA-C9A46C6F61B6}" type="datetimeFigureOut">
              <a:rPr lang="en-IE" smtClean="0"/>
              <a:t>11/11/2024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CC35A-EE5F-99A0-9B35-C20F8B36D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757FE-5FB9-BC39-D50E-BAC9CA65E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E31CE-D626-45C1-BCEE-55698B0BC9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16381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rp.org/journal/paperinformation.aspx?paperid=10849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/3.0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FF0AC4-A2FF-4129-AEF6-8049AF6A9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5EE6CD-C61E-4F22-9787-1ADF1D3EB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0488705" y="699896"/>
            <a:ext cx="1699361" cy="5405515"/>
          </a:xfrm>
          <a:prstGeom prst="rect">
            <a:avLst/>
          </a:prstGeom>
          <a:solidFill>
            <a:schemeClr val="accent5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chemeClr val="accent5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28AB17-F6FA-4C53-B3E3-D0A39D4A3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FADC67-92A1-44FB-8691-D8CD71A21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D660D0F-1F5B-648D-27B8-4A99F5D81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57888" y="827088"/>
            <a:ext cx="5403850" cy="5149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A86CDA-D66F-5485-3EC1-A098ED8BB82C}"/>
              </a:ext>
            </a:extLst>
          </p:cNvPr>
          <p:cNvSpPr txBox="1"/>
          <p:nvPr/>
        </p:nvSpPr>
        <p:spPr>
          <a:xfrm>
            <a:off x="5957888" y="4945063"/>
            <a:ext cx="5403850" cy="1030288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IE" sz="1300">
                <a:solidFill>
                  <a:srgbClr val="FFFFFF"/>
                </a:solidFill>
                <a:hlinkClick r:id="rId3" tooltip="https://www.scirp.org/journal/paperinformation.aspx?paperid=10849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1300">
                <a:solidFill>
                  <a:srgbClr val="FFFFFF"/>
                </a:solidFill>
              </a:rPr>
              <a:t> by Unknown Author is licensed under </a:t>
            </a:r>
            <a:r>
              <a:rPr lang="en-IE" sz="13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IE" sz="13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2280D-639A-57C2-A31C-E3CA56CDD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898" y="576263"/>
            <a:ext cx="4669055" cy="2967606"/>
          </a:xfrm>
        </p:spPr>
        <p:txBody>
          <a:bodyPr anchor="b">
            <a:normAutofit/>
          </a:bodyPr>
          <a:lstStyle/>
          <a:p>
            <a:pPr algn="l"/>
            <a:r>
              <a:rPr lang="en-IE" sz="4800"/>
              <a:t>Packet Tracer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FA0ED-C9A7-1B44-57D8-6C0F105B9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898" y="3764975"/>
            <a:ext cx="4669055" cy="2192683"/>
          </a:xfrm>
        </p:spPr>
        <p:txBody>
          <a:bodyPr>
            <a:normAutofit/>
          </a:bodyPr>
          <a:lstStyle/>
          <a:p>
            <a:pPr algn="l"/>
            <a:r>
              <a:rPr lang="en-IE" dirty="0"/>
              <a:t>IoT Devices</a:t>
            </a:r>
            <a:endParaRPr lang="en-IE"/>
          </a:p>
          <a:p>
            <a:pPr algn="l"/>
            <a:r>
              <a:rPr lang="en-IE" dirty="0"/>
              <a:t>Config and Programming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334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AD07-0EF1-C632-41EF-B236F944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C2EC4-5B06-5AD1-9130-540D0F510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IoT Devices in Packet Tracer</a:t>
            </a:r>
          </a:p>
          <a:p>
            <a:r>
              <a:rPr lang="en-IE" dirty="0"/>
              <a:t>Programming IoT Devices in PT</a:t>
            </a:r>
          </a:p>
          <a:p>
            <a:r>
              <a:rPr lang="en-IE" dirty="0"/>
              <a:t>Linking PT simulation to real world!</a:t>
            </a:r>
          </a:p>
        </p:txBody>
      </p:sp>
    </p:spTree>
    <p:extLst>
      <p:ext uri="{BB962C8B-B14F-4D97-AF65-F5344CB8AC3E}">
        <p14:creationId xmlns:p14="http://schemas.microsoft.com/office/powerpoint/2010/main" val="4268104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FC017D-99E2-A418-463E-E71934AEF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 dirty="0"/>
              <a:t>IoT Components in Packet Tracer</a:t>
            </a:r>
            <a:endParaRPr lang="en-IE" sz="3600" dirty="0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D1DE3-0458-2AAE-3F67-04B031744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GB" sz="1500"/>
              <a:t>Packet Tracer can be used as a prototyping tool for IoT.</a:t>
            </a:r>
          </a:p>
          <a:p>
            <a:r>
              <a:rPr lang="en-GB" sz="1500">
                <a:latin typeface="Cisco Sans"/>
              </a:rPr>
              <a:t>Packet Tracer can </a:t>
            </a:r>
            <a:r>
              <a:rPr lang="en-GB" sz="1500" b="0" i="0">
                <a:effectLst/>
                <a:latin typeface="Cisco Sans"/>
              </a:rPr>
              <a:t>simulate smart networks that make use of IoT devices. </a:t>
            </a:r>
          </a:p>
          <a:p>
            <a:r>
              <a:rPr lang="en-GB" sz="1500" b="0" i="0">
                <a:effectLst/>
                <a:latin typeface="Cisco Sans"/>
              </a:rPr>
              <a:t>Many IoT devices for a Smart Home/Industrial/Power Grid network. </a:t>
            </a:r>
            <a:endParaRPr lang="en-IE" sz="1500"/>
          </a:p>
          <a:p>
            <a:r>
              <a:rPr lang="en-IE" sz="1500"/>
              <a:t>Can build your own “custom” IoT device</a:t>
            </a:r>
          </a:p>
          <a:p>
            <a:r>
              <a:rPr lang="en-GB" sz="1500"/>
              <a:t>Direct interaction with a device:</a:t>
            </a:r>
          </a:p>
          <a:p>
            <a:pPr lvl="1"/>
            <a:r>
              <a:rPr lang="en-GB" sz="1500"/>
              <a:t>Hold down the Alt key and click on the device to turn it on or off.</a:t>
            </a:r>
          </a:p>
          <a:p>
            <a:pPr lvl="1"/>
            <a:r>
              <a:rPr lang="en-GB" sz="1500"/>
              <a:t>Control remotely over the network via a web browser</a:t>
            </a:r>
            <a:endParaRPr lang="en-IE" sz="1500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C41DF-D167-9960-0FE4-428EE660C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2813079"/>
            <a:ext cx="5628018" cy="99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32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4A143-1053-ED89-7018-EF0B86909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E" sz="3700"/>
              <a:t>MCU/SBC/Sensor and Actuators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0E87-9CE2-123F-5BB9-D1CB2D640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IE" sz="2000" dirty="0"/>
              <a:t>PT contains a set of common sensors and actuators (components)</a:t>
            </a:r>
          </a:p>
          <a:p>
            <a:pPr lvl="1"/>
            <a:r>
              <a:rPr lang="en-IE" sz="1600" dirty="0"/>
              <a:t>LED, Button</a:t>
            </a:r>
          </a:p>
          <a:p>
            <a:r>
              <a:rPr lang="en-GB" sz="2000" dirty="0"/>
              <a:t>Components can't be directly connected to the Network</a:t>
            </a:r>
            <a:endParaRPr lang="en-IE" sz="2000" dirty="0"/>
          </a:p>
          <a:p>
            <a:r>
              <a:rPr lang="en-IE" sz="2000" dirty="0"/>
              <a:t>Connect to Single Board Computer or Microcontroller, you can create/prototype electronic circuits.</a:t>
            </a:r>
          </a:p>
          <a:p>
            <a:r>
              <a:rPr lang="en-IE" sz="2000" dirty="0"/>
              <a:t>Connect them using IoT Custom Cable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812B58-3FBB-FDF5-AC90-7C13890D9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226" y="1389141"/>
            <a:ext cx="5612689" cy="394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00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6CB79-00BA-73B7-449B-492571CE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Program a Device or Custom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57ABB-AC9E-E3AE-B15E-E8EA5A31A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Packet Tracer provides support for JavaScript, Phyton and Visual Programming language called Blocky for most IoT devices/components, including Custom devices</a:t>
            </a:r>
          </a:p>
          <a:p>
            <a:r>
              <a:rPr lang="en-GB" dirty="0"/>
              <a:t>Access the Programming environment via advanced-&gt;Programming tab</a:t>
            </a:r>
          </a:p>
          <a:p>
            <a:r>
              <a:rPr lang="en-GB" dirty="0"/>
              <a:t>Usually, a default example Project(s) present</a:t>
            </a:r>
          </a:p>
          <a:p>
            <a:r>
              <a:rPr lang="en-GB" dirty="0"/>
              <a:t>Can create new programming project or edit an existing one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4577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0E5BE-AE04-E73D-0DF3-98227231E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Programming: 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0E7F8-B469-A3E1-4EF0-92137C5CA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0422A6-0C59-39D8-FA71-65B60ABC3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747" y="1949374"/>
            <a:ext cx="3988005" cy="2959252"/>
          </a:xfrm>
          <a:prstGeom prst="rect">
            <a:avLst/>
          </a:prstGeom>
        </p:spPr>
      </p:pic>
      <p:sp>
        <p:nvSpPr>
          <p:cNvPr id="6" name="Callout: Line with Border and Accent Bar 5">
            <a:extLst>
              <a:ext uri="{FF2B5EF4-FFF2-40B4-BE49-F238E27FC236}">
                <a16:creationId xmlns:a16="http://schemas.microsoft.com/office/drawing/2014/main" id="{B963581B-625B-733C-62C2-21B03DF47EC1}"/>
              </a:ext>
            </a:extLst>
          </p:cNvPr>
          <p:cNvSpPr/>
          <p:nvPr/>
        </p:nvSpPr>
        <p:spPr>
          <a:xfrm>
            <a:off x="7700712" y="1986814"/>
            <a:ext cx="3653088" cy="552450"/>
          </a:xfrm>
          <a:prstGeom prst="accentBorderCallout1">
            <a:avLst>
              <a:gd name="adj1" fmla="val 18750"/>
              <a:gd name="adj2" fmla="val -8333"/>
              <a:gd name="adj3" fmla="val 35294"/>
              <a:gd name="adj4" fmla="val -987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1. Select Programming Tab</a:t>
            </a:r>
          </a:p>
        </p:txBody>
      </p:sp>
      <p:sp>
        <p:nvSpPr>
          <p:cNvPr id="7" name="Callout: Line with Border and Accent Bar 6">
            <a:extLst>
              <a:ext uri="{FF2B5EF4-FFF2-40B4-BE49-F238E27FC236}">
                <a16:creationId xmlns:a16="http://schemas.microsoft.com/office/drawing/2014/main" id="{67537A20-B907-40D6-73C1-040147318C03}"/>
              </a:ext>
            </a:extLst>
          </p:cNvPr>
          <p:cNvSpPr/>
          <p:nvPr/>
        </p:nvSpPr>
        <p:spPr>
          <a:xfrm>
            <a:off x="7700712" y="2700453"/>
            <a:ext cx="3653088" cy="859574"/>
          </a:xfrm>
          <a:prstGeom prst="accentBorderCallout1">
            <a:avLst>
              <a:gd name="adj1" fmla="val 18750"/>
              <a:gd name="adj2" fmla="val -8333"/>
              <a:gd name="adj3" fmla="val 4477"/>
              <a:gd name="adj4" fmla="val -1449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2. Left Panel shows projects available on device</a:t>
            </a:r>
          </a:p>
        </p:txBody>
      </p:sp>
      <p:sp>
        <p:nvSpPr>
          <p:cNvPr id="8" name="Callout: Line with Border and Accent Bar 7">
            <a:extLst>
              <a:ext uri="{FF2B5EF4-FFF2-40B4-BE49-F238E27FC236}">
                <a16:creationId xmlns:a16="http://schemas.microsoft.com/office/drawing/2014/main" id="{EA382014-060E-E151-3EAD-6435417DF238}"/>
              </a:ext>
            </a:extLst>
          </p:cNvPr>
          <p:cNvSpPr/>
          <p:nvPr/>
        </p:nvSpPr>
        <p:spPr>
          <a:xfrm>
            <a:off x="7700712" y="3694964"/>
            <a:ext cx="3653088" cy="859574"/>
          </a:xfrm>
          <a:prstGeom prst="accentBorderCallout1">
            <a:avLst>
              <a:gd name="adj1" fmla="val 18750"/>
              <a:gd name="adj2" fmla="val -8333"/>
              <a:gd name="adj3" fmla="val -117205"/>
              <a:gd name="adj4" fmla="val -1681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3. Asterix indicates which Project is running</a:t>
            </a:r>
          </a:p>
        </p:txBody>
      </p:sp>
      <p:sp>
        <p:nvSpPr>
          <p:cNvPr id="9" name="Callout: Line with Border and Accent Bar 8">
            <a:extLst>
              <a:ext uri="{FF2B5EF4-FFF2-40B4-BE49-F238E27FC236}">
                <a16:creationId xmlns:a16="http://schemas.microsoft.com/office/drawing/2014/main" id="{45EA1FAA-1CC2-0DB8-92D9-F322FF73B814}"/>
              </a:ext>
            </a:extLst>
          </p:cNvPr>
          <p:cNvSpPr/>
          <p:nvPr/>
        </p:nvSpPr>
        <p:spPr>
          <a:xfrm>
            <a:off x="7700712" y="4648233"/>
            <a:ext cx="3653088" cy="859574"/>
          </a:xfrm>
          <a:prstGeom prst="accentBorderCallout1">
            <a:avLst>
              <a:gd name="adj1" fmla="val 18750"/>
              <a:gd name="adj2" fmla="val -8333"/>
              <a:gd name="adj3" fmla="val -247099"/>
              <a:gd name="adj4" fmla="val -1383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4. Use buttons to Open/Delete/Create/Stop/Start projects</a:t>
            </a:r>
          </a:p>
        </p:txBody>
      </p:sp>
    </p:spTree>
    <p:extLst>
      <p:ext uri="{BB962C8B-B14F-4D97-AF65-F5344CB8AC3E}">
        <p14:creationId xmlns:p14="http://schemas.microsoft.com/office/powerpoint/2010/main" val="2635688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4BD24-C5B5-04FE-9E78-27CCDE4EF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E" sz="3600"/>
              <a:t>Create a new Component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B159F-7F29-F789-DC05-6DA638740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IE" sz="1000" dirty="0"/>
              <a:t>To Create a new Thing:</a:t>
            </a:r>
          </a:p>
          <a:p>
            <a:pPr lvl="1"/>
            <a:r>
              <a:rPr lang="en-GB" sz="1000" dirty="0"/>
              <a:t>Add a Thing from Components list</a:t>
            </a:r>
          </a:p>
          <a:p>
            <a:pPr lvl="1"/>
            <a:r>
              <a:rPr lang="en-GB" sz="1000" dirty="0"/>
              <a:t>Click the Advanced to access the /Thing Editor</a:t>
            </a:r>
          </a:p>
          <a:p>
            <a:pPr lvl="1"/>
            <a:r>
              <a:rPr lang="en-GB" sz="1000" dirty="0"/>
              <a:t>Associate the new graphics to their respective states(e.g. on/off)</a:t>
            </a:r>
          </a:p>
          <a:p>
            <a:pPr lvl="1"/>
            <a:r>
              <a:rPr lang="en-GB" sz="1000" dirty="0"/>
              <a:t>Click on the Config tab to select the network adaptor to be used to connect to the network (if applicable).</a:t>
            </a:r>
          </a:p>
          <a:p>
            <a:r>
              <a:rPr lang="en-GB" sz="1000" dirty="0"/>
              <a:t>Save it for later:</a:t>
            </a:r>
          </a:p>
          <a:p>
            <a:pPr lvl="1"/>
            <a:r>
              <a:rPr lang="en-GB" sz="1000" dirty="0"/>
              <a:t>Select Tools/Custom Device Dialog from the toolbar.</a:t>
            </a:r>
          </a:p>
          <a:p>
            <a:pPr lvl="1"/>
            <a:r>
              <a:rPr lang="en-GB" sz="1000" dirty="0"/>
              <a:t>Click on Select and click on the Thing to be saved.</a:t>
            </a:r>
          </a:p>
          <a:p>
            <a:pPr lvl="1"/>
            <a:r>
              <a:rPr lang="en-GB" sz="1000" dirty="0"/>
              <a:t>Modify the template and description.</a:t>
            </a:r>
          </a:p>
          <a:p>
            <a:pPr lvl="1"/>
            <a:r>
              <a:rPr lang="en-GB" sz="1000" dirty="0"/>
              <a:t>Click on the type of new Thing.</a:t>
            </a:r>
          </a:p>
          <a:p>
            <a:pPr lvl="1"/>
            <a:r>
              <a:rPr lang="en-GB" sz="1000" dirty="0"/>
              <a:t>Click on Add - The new template will be saved in the PT template file on the local disk and the customized Thing will now display with the other sensors.</a:t>
            </a:r>
            <a:endParaRPr lang="en-IE" sz="1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B509F-13DD-03F8-5034-5C0C0F832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2103477"/>
            <a:ext cx="5628018" cy="241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653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A9EAF6-A698-E351-4632-11EC33C43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E" sz="3600"/>
              <a:t>IoT Components: Configuration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E1D5C-0C10-540E-C959-04146C0D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IE" sz="1500"/>
              <a:t>The Config window of a device allows you to:</a:t>
            </a:r>
          </a:p>
          <a:p>
            <a:pPr lvl="1"/>
            <a:r>
              <a:rPr lang="en-GB" sz="1500"/>
              <a:t>Specifications - describes the features, usage, local and remote control of the device.</a:t>
            </a:r>
          </a:p>
          <a:p>
            <a:pPr lvl="1"/>
            <a:r>
              <a:rPr lang="en-GB" sz="1500"/>
              <a:t>Physical - available modules and power connections.</a:t>
            </a:r>
          </a:p>
          <a:p>
            <a:pPr lvl="1"/>
            <a:r>
              <a:rPr lang="en-GB" sz="1500"/>
              <a:t>Config - show display name, serial number, network configuration and IoT server.</a:t>
            </a:r>
          </a:p>
          <a:p>
            <a:pPr lvl="1"/>
            <a:r>
              <a:rPr lang="en-GB" sz="1500"/>
              <a:t>Attributes - display the devices attributes such as MTBF, power consumption and cost.</a:t>
            </a:r>
          </a:p>
          <a:p>
            <a:r>
              <a:rPr lang="en-GB" sz="1500"/>
              <a:t>Advanced config also possible including programming/behaviour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422921-8798-AA81-B93A-EC56A71D8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297" y="650494"/>
            <a:ext cx="5270899" cy="53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78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D2766-AB2E-3A05-9E7B-9ABFDFE88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E" sz="3700"/>
              <a:t>Packet Tracer Environment Controls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C09E4-B486-8CA4-FEE9-F67E42C98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GB" sz="1900"/>
              <a:t>The Physical Workspace uses containers. </a:t>
            </a:r>
          </a:p>
          <a:p>
            <a:r>
              <a:rPr lang="en-GB" sz="1900"/>
              <a:t>Each container (intercity, buildings, and wiring closets) can have their own set of environmental values. </a:t>
            </a:r>
          </a:p>
          <a:p>
            <a:r>
              <a:rPr lang="en-GB" sz="1900"/>
              <a:t>There are 24 default environmental elements, such as temperature, rain, water level, wind speed, and snow. </a:t>
            </a:r>
          </a:p>
          <a:p>
            <a:pPr lvl="1"/>
            <a:r>
              <a:rPr lang="en-GB" sz="1900"/>
              <a:t>A heater will increase ambient temperature when turned on. </a:t>
            </a:r>
          </a:p>
          <a:p>
            <a:pPr lvl="1"/>
            <a:r>
              <a:rPr lang="en-GB" sz="1900"/>
              <a:t>A smoke detector can be used to trigger an alarm when the smoke in environment increases to a certain point.</a:t>
            </a:r>
            <a:endParaRPr lang="en-IE" sz="19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EA71C2-9966-8524-1BC0-C16A7EAB87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408" b="-3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08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877D5-7342-67A4-9616-DF70F4773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E" sz="4800"/>
              <a:t>Programming: Creating a new Project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6668B-9F56-B71F-0AF0-8F43D5DB3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IE" sz="2000" dirty="0"/>
              <a:t>Select the Template to suit </a:t>
            </a:r>
          </a:p>
          <a:p>
            <a:pPr lvl="1"/>
            <a:r>
              <a:rPr lang="en-IE" sz="2000" dirty="0"/>
              <a:t>Many available in Python/</a:t>
            </a:r>
            <a:r>
              <a:rPr lang="en-IE" sz="2000" dirty="0" err="1"/>
              <a:t>Javascript</a:t>
            </a:r>
            <a:endParaRPr lang="en-IE" sz="2000" dirty="0"/>
          </a:p>
          <a:p>
            <a:r>
              <a:rPr lang="en-IE" sz="2000" dirty="0"/>
              <a:t>Modify the code to suit your means</a:t>
            </a:r>
          </a:p>
          <a:p>
            <a:pPr lvl="1"/>
            <a:r>
              <a:rPr lang="en-IE" sz="2000" dirty="0"/>
              <a:t>Good idea to look at similar devices code as an example</a:t>
            </a:r>
          </a:p>
          <a:p>
            <a:endParaRPr lang="en-IE" sz="2000" dirty="0"/>
          </a:p>
          <a:p>
            <a:pPr marL="0" indent="0">
              <a:buNone/>
            </a:pPr>
            <a:endParaRPr lang="en-IE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443924-DC56-18DF-438F-A2266EFDE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422760"/>
            <a:ext cx="5150277" cy="183723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9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Microsoft Office PowerPoint</Application>
  <PresentationFormat>Widescreen</PresentationFormat>
  <Paragraphs>64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Cisco Sans</vt:lpstr>
      <vt:lpstr>Helvetica Neue Medium</vt:lpstr>
      <vt:lpstr>Office Theme</vt:lpstr>
      <vt:lpstr>Packet Tracer</vt:lpstr>
      <vt:lpstr>Agenda</vt:lpstr>
      <vt:lpstr>IoT Components in Packet Tracer</vt:lpstr>
      <vt:lpstr>MCU/SBC/Sensor and Actuators</vt:lpstr>
      <vt:lpstr>Program a Device or Custom Component</vt:lpstr>
      <vt:lpstr>Programming:  Projects</vt:lpstr>
      <vt:lpstr>Create a new Component</vt:lpstr>
      <vt:lpstr>IoT Components: Configuration</vt:lpstr>
      <vt:lpstr>Packet Tracer Environment Controls</vt:lpstr>
      <vt:lpstr>Programming: Creating a new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Packet Tracer</dc:title>
  <dc:creator>Frank X Walsh</dc:creator>
  <cp:lastModifiedBy>Frank Walsh</cp:lastModifiedBy>
  <cp:revision>5</cp:revision>
  <dcterms:created xsi:type="dcterms:W3CDTF">2022-10-23T15:07:42Z</dcterms:created>
  <dcterms:modified xsi:type="dcterms:W3CDTF">2024-11-11T14:04:21Z</dcterms:modified>
</cp:coreProperties>
</file>