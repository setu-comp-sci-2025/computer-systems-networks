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256" r:id="rId2"/>
    <p:sldId id="310" r:id="rId3"/>
    <p:sldId id="299" r:id="rId4"/>
    <p:sldId id="276" r:id="rId5"/>
    <p:sldId id="258" r:id="rId6"/>
    <p:sldId id="259" r:id="rId7"/>
    <p:sldId id="261" r:id="rId8"/>
    <p:sldId id="312" r:id="rId9"/>
    <p:sldId id="262" r:id="rId10"/>
    <p:sldId id="263" r:id="rId11"/>
    <p:sldId id="264" r:id="rId12"/>
    <p:sldId id="309" r:id="rId13"/>
    <p:sldId id="267" r:id="rId14"/>
    <p:sldId id="268" r:id="rId15"/>
    <p:sldId id="311" r:id="rId16"/>
    <p:sldId id="295" r:id="rId17"/>
    <p:sldId id="297" r:id="rId18"/>
    <p:sldId id="298" r:id="rId19"/>
    <p:sldId id="293" r:id="rId20"/>
    <p:sldId id="292" r:id="rId21"/>
    <p:sldId id="291" r:id="rId22"/>
    <p:sldId id="290" r:id="rId23"/>
    <p:sldId id="313" r:id="rId24"/>
    <p:sldId id="314" r:id="rId25"/>
    <p:sldId id="315" r:id="rId26"/>
    <p:sldId id="26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46459E-C2A0-4C12-927D-7418FB1F2B20}" v="2" dt="2020-10-14T08:41:41.8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53036" autoAdjust="0"/>
  </p:normalViewPr>
  <p:slideViewPr>
    <p:cSldViewPr snapToGrid="0">
      <p:cViewPr varScale="1">
        <p:scale>
          <a:sx n="62" d="100"/>
          <a:sy n="62" d="100"/>
        </p:scale>
        <p:origin x="1500" y="6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5B64C14-C56A-49FF-967E-4BD32CA4BE13}"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F79B6791-D309-4D81-9B4C-CDE412987EE3}">
      <dgm:prSet/>
      <dgm:spPr/>
      <dgm:t>
        <a:bodyPr/>
        <a:lstStyle/>
        <a:p>
          <a:r>
            <a:rPr lang="en-US"/>
            <a:t>GET </a:t>
          </a:r>
        </a:p>
      </dgm:t>
    </dgm:pt>
    <dgm:pt modelId="{8B65EF90-89ED-4EB8-B4BE-F9D3E6707D0E}" type="parTrans" cxnId="{7D74F846-0DBE-4EFE-AABD-B21BC4146066}">
      <dgm:prSet/>
      <dgm:spPr/>
      <dgm:t>
        <a:bodyPr/>
        <a:lstStyle/>
        <a:p>
          <a:endParaRPr lang="en-US"/>
        </a:p>
      </dgm:t>
    </dgm:pt>
    <dgm:pt modelId="{3D2420F7-007F-4A2E-A489-CE01B24D9A8A}" type="sibTrans" cxnId="{7D74F846-0DBE-4EFE-AABD-B21BC4146066}">
      <dgm:prSet/>
      <dgm:spPr/>
      <dgm:t>
        <a:bodyPr/>
        <a:lstStyle/>
        <a:p>
          <a:endParaRPr lang="en-US"/>
        </a:p>
      </dgm:t>
    </dgm:pt>
    <dgm:pt modelId="{312231F5-F1BA-4E68-A73A-356C8B5776CA}">
      <dgm:prSet/>
      <dgm:spPr/>
      <dgm:t>
        <a:bodyPr/>
        <a:lstStyle/>
        <a:p>
          <a:r>
            <a:rPr lang="en-US" dirty="0"/>
            <a:t>Request resource without sending data </a:t>
          </a:r>
        </a:p>
      </dgm:t>
    </dgm:pt>
    <dgm:pt modelId="{5145A37C-DE73-4A82-A1F0-45772806F8B4}" type="parTrans" cxnId="{4AABBE16-F074-44D6-94EF-5E77C2B3C16C}">
      <dgm:prSet/>
      <dgm:spPr/>
      <dgm:t>
        <a:bodyPr/>
        <a:lstStyle/>
        <a:p>
          <a:endParaRPr lang="en-US"/>
        </a:p>
      </dgm:t>
    </dgm:pt>
    <dgm:pt modelId="{ADF008E8-8633-44B2-A598-7EFF1FDBEDDC}" type="sibTrans" cxnId="{4AABBE16-F074-44D6-94EF-5E77C2B3C16C}">
      <dgm:prSet/>
      <dgm:spPr/>
      <dgm:t>
        <a:bodyPr/>
        <a:lstStyle/>
        <a:p>
          <a:endParaRPr lang="en-US"/>
        </a:p>
      </dgm:t>
    </dgm:pt>
    <dgm:pt modelId="{2F8CACEA-1CB6-481F-92C9-A5DCE38DFB45}">
      <dgm:prSet/>
      <dgm:spPr/>
      <dgm:t>
        <a:bodyPr/>
        <a:lstStyle/>
        <a:p>
          <a:r>
            <a:rPr lang="en-US" dirty="0"/>
            <a:t>PUT</a:t>
          </a:r>
        </a:p>
      </dgm:t>
    </dgm:pt>
    <dgm:pt modelId="{5331CA3F-6313-4DEA-8E92-78547A15E8DA}" type="parTrans" cxnId="{1B50DE99-DD12-4C28-960A-C11E84E0E995}">
      <dgm:prSet/>
      <dgm:spPr/>
      <dgm:t>
        <a:bodyPr/>
        <a:lstStyle/>
        <a:p>
          <a:endParaRPr lang="en-US"/>
        </a:p>
      </dgm:t>
    </dgm:pt>
    <dgm:pt modelId="{CB918AB9-19FF-437C-83B7-E053AC25FC9C}" type="sibTrans" cxnId="{1B50DE99-DD12-4C28-960A-C11E84E0E995}">
      <dgm:prSet/>
      <dgm:spPr/>
      <dgm:t>
        <a:bodyPr/>
        <a:lstStyle/>
        <a:p>
          <a:endParaRPr lang="en-US"/>
        </a:p>
      </dgm:t>
    </dgm:pt>
    <dgm:pt modelId="{6D741527-8E6B-433F-BF6F-C46398B2B387}">
      <dgm:prSet/>
      <dgm:spPr/>
      <dgm:t>
        <a:bodyPr/>
        <a:lstStyle/>
        <a:p>
          <a:r>
            <a:rPr lang="en-US" dirty="0"/>
            <a:t>Modify/replace resource with data that you are sending </a:t>
          </a:r>
        </a:p>
      </dgm:t>
    </dgm:pt>
    <dgm:pt modelId="{CC371100-8502-416C-837C-5AB7AEC86F38}" type="parTrans" cxnId="{664E6C15-A07F-400F-8A04-CD2D6A178E60}">
      <dgm:prSet/>
      <dgm:spPr/>
      <dgm:t>
        <a:bodyPr/>
        <a:lstStyle/>
        <a:p>
          <a:endParaRPr lang="en-US"/>
        </a:p>
      </dgm:t>
    </dgm:pt>
    <dgm:pt modelId="{C0724200-7EBD-4660-9431-35ACB75F1252}" type="sibTrans" cxnId="{664E6C15-A07F-400F-8A04-CD2D6A178E60}">
      <dgm:prSet/>
      <dgm:spPr/>
      <dgm:t>
        <a:bodyPr/>
        <a:lstStyle/>
        <a:p>
          <a:endParaRPr lang="en-US"/>
        </a:p>
      </dgm:t>
    </dgm:pt>
    <dgm:pt modelId="{6B06BE86-D0B8-45E0-8372-3B10D1653FBC}">
      <dgm:prSet/>
      <dgm:spPr/>
      <dgm:t>
        <a:bodyPr/>
        <a:lstStyle/>
        <a:p>
          <a:r>
            <a:rPr lang="en-US" dirty="0"/>
            <a:t>POST </a:t>
          </a:r>
        </a:p>
      </dgm:t>
    </dgm:pt>
    <dgm:pt modelId="{E92EEED8-5FED-45B4-8992-F81729271F02}" type="parTrans" cxnId="{2EE439DE-5A03-494F-9195-1F9D1F87A6FD}">
      <dgm:prSet/>
      <dgm:spPr/>
      <dgm:t>
        <a:bodyPr/>
        <a:lstStyle/>
        <a:p>
          <a:endParaRPr lang="en-US"/>
        </a:p>
      </dgm:t>
    </dgm:pt>
    <dgm:pt modelId="{95678437-099B-4A6B-908C-0D26DCE6D663}" type="sibTrans" cxnId="{2EE439DE-5A03-494F-9195-1F9D1F87A6FD}">
      <dgm:prSet/>
      <dgm:spPr/>
      <dgm:t>
        <a:bodyPr/>
        <a:lstStyle/>
        <a:p>
          <a:endParaRPr lang="en-US"/>
        </a:p>
      </dgm:t>
    </dgm:pt>
    <dgm:pt modelId="{9852570C-CAC9-4FC7-A0B4-9A668B8A7028}">
      <dgm:prSet/>
      <dgm:spPr/>
      <dgm:t>
        <a:bodyPr/>
        <a:lstStyle/>
        <a:p>
          <a:r>
            <a:rPr lang="en-US" dirty="0"/>
            <a:t>Create new resource with data that you are sending </a:t>
          </a:r>
        </a:p>
      </dgm:t>
    </dgm:pt>
    <dgm:pt modelId="{6982C239-C30C-4FAD-890F-9D4D194DDFFE}" type="parTrans" cxnId="{8AC83D3A-E8A1-4FB5-96E6-1AD7B2166BE5}">
      <dgm:prSet/>
      <dgm:spPr/>
      <dgm:t>
        <a:bodyPr/>
        <a:lstStyle/>
        <a:p>
          <a:endParaRPr lang="en-US"/>
        </a:p>
      </dgm:t>
    </dgm:pt>
    <dgm:pt modelId="{EB07BFC3-A6D5-46A1-87E7-16852EB21503}" type="sibTrans" cxnId="{8AC83D3A-E8A1-4FB5-96E6-1AD7B2166BE5}">
      <dgm:prSet/>
      <dgm:spPr/>
      <dgm:t>
        <a:bodyPr/>
        <a:lstStyle/>
        <a:p>
          <a:endParaRPr lang="en-US"/>
        </a:p>
      </dgm:t>
    </dgm:pt>
    <dgm:pt modelId="{82FC7625-CB57-4856-AE16-31FAB013C55F}">
      <dgm:prSet/>
      <dgm:spPr/>
      <dgm:t>
        <a:bodyPr/>
        <a:lstStyle/>
        <a:p>
          <a:r>
            <a:rPr lang="en-US"/>
            <a:t>DELETE </a:t>
          </a:r>
        </a:p>
      </dgm:t>
    </dgm:pt>
    <dgm:pt modelId="{63D0257B-D292-497F-8B77-4F5E1569E8D7}" type="parTrans" cxnId="{7B4D3196-10A6-417B-B06A-6AB5BF47AE3B}">
      <dgm:prSet/>
      <dgm:spPr/>
      <dgm:t>
        <a:bodyPr/>
        <a:lstStyle/>
        <a:p>
          <a:endParaRPr lang="en-US"/>
        </a:p>
      </dgm:t>
    </dgm:pt>
    <dgm:pt modelId="{6CB056D3-E4FD-4962-BC3C-6E897ACD12BD}" type="sibTrans" cxnId="{7B4D3196-10A6-417B-B06A-6AB5BF47AE3B}">
      <dgm:prSet/>
      <dgm:spPr/>
      <dgm:t>
        <a:bodyPr/>
        <a:lstStyle/>
        <a:p>
          <a:endParaRPr lang="en-US"/>
        </a:p>
      </dgm:t>
    </dgm:pt>
    <dgm:pt modelId="{A7918F34-35B9-4F56-A1BE-D091DE389B39}">
      <dgm:prSet/>
      <dgm:spPr/>
      <dgm:t>
        <a:bodyPr/>
        <a:lstStyle/>
        <a:p>
          <a:r>
            <a:rPr lang="en-US" dirty="0"/>
            <a:t>Delete resource without sending data</a:t>
          </a:r>
        </a:p>
      </dgm:t>
    </dgm:pt>
    <dgm:pt modelId="{BD2BD30C-9817-4885-A471-15BD64E91417}" type="parTrans" cxnId="{759E6A5D-6192-49F6-A450-880928F612E9}">
      <dgm:prSet/>
      <dgm:spPr/>
      <dgm:t>
        <a:bodyPr/>
        <a:lstStyle/>
        <a:p>
          <a:endParaRPr lang="en-US"/>
        </a:p>
      </dgm:t>
    </dgm:pt>
    <dgm:pt modelId="{91916F79-7634-457B-A0DC-8C2C9A738198}" type="sibTrans" cxnId="{759E6A5D-6192-49F6-A450-880928F612E9}">
      <dgm:prSet/>
      <dgm:spPr/>
      <dgm:t>
        <a:bodyPr/>
        <a:lstStyle/>
        <a:p>
          <a:endParaRPr lang="en-US"/>
        </a:p>
      </dgm:t>
    </dgm:pt>
    <dgm:pt modelId="{96544DA7-D5E8-4D7D-A7BE-886B0CF3D9B1}" type="pres">
      <dgm:prSet presAssocID="{E5B64C14-C56A-49FF-967E-4BD32CA4BE13}" presName="linear" presStyleCnt="0">
        <dgm:presLayoutVars>
          <dgm:animLvl val="lvl"/>
          <dgm:resizeHandles val="exact"/>
        </dgm:presLayoutVars>
      </dgm:prSet>
      <dgm:spPr/>
    </dgm:pt>
    <dgm:pt modelId="{8745833D-4890-4436-8E75-FE4D033A9476}" type="pres">
      <dgm:prSet presAssocID="{F79B6791-D309-4D81-9B4C-CDE412987EE3}" presName="parentText" presStyleLbl="node1" presStyleIdx="0" presStyleCnt="4">
        <dgm:presLayoutVars>
          <dgm:chMax val="0"/>
          <dgm:bulletEnabled val="1"/>
        </dgm:presLayoutVars>
      </dgm:prSet>
      <dgm:spPr/>
    </dgm:pt>
    <dgm:pt modelId="{E3C7D20C-5D95-4D5E-8044-57FF0AC04F61}" type="pres">
      <dgm:prSet presAssocID="{F79B6791-D309-4D81-9B4C-CDE412987EE3}" presName="childText" presStyleLbl="revTx" presStyleIdx="0" presStyleCnt="4">
        <dgm:presLayoutVars>
          <dgm:bulletEnabled val="1"/>
        </dgm:presLayoutVars>
      </dgm:prSet>
      <dgm:spPr/>
    </dgm:pt>
    <dgm:pt modelId="{20E8EB6B-C90D-4498-BEBB-EA8BB55D15A2}" type="pres">
      <dgm:prSet presAssocID="{2F8CACEA-1CB6-481F-92C9-A5DCE38DFB45}" presName="parentText" presStyleLbl="node1" presStyleIdx="1" presStyleCnt="4">
        <dgm:presLayoutVars>
          <dgm:chMax val="0"/>
          <dgm:bulletEnabled val="1"/>
        </dgm:presLayoutVars>
      </dgm:prSet>
      <dgm:spPr/>
    </dgm:pt>
    <dgm:pt modelId="{E2C3F35C-3878-4B56-A84D-F7F57879FC7A}" type="pres">
      <dgm:prSet presAssocID="{2F8CACEA-1CB6-481F-92C9-A5DCE38DFB45}" presName="childText" presStyleLbl="revTx" presStyleIdx="1" presStyleCnt="4">
        <dgm:presLayoutVars>
          <dgm:bulletEnabled val="1"/>
        </dgm:presLayoutVars>
      </dgm:prSet>
      <dgm:spPr/>
    </dgm:pt>
    <dgm:pt modelId="{918499BD-E891-4028-A260-50A7B4092BD6}" type="pres">
      <dgm:prSet presAssocID="{6B06BE86-D0B8-45E0-8372-3B10D1653FBC}" presName="parentText" presStyleLbl="node1" presStyleIdx="2" presStyleCnt="4">
        <dgm:presLayoutVars>
          <dgm:chMax val="0"/>
          <dgm:bulletEnabled val="1"/>
        </dgm:presLayoutVars>
      </dgm:prSet>
      <dgm:spPr/>
    </dgm:pt>
    <dgm:pt modelId="{42902D75-5B34-4548-9281-CDB622C1E22A}" type="pres">
      <dgm:prSet presAssocID="{6B06BE86-D0B8-45E0-8372-3B10D1653FBC}" presName="childText" presStyleLbl="revTx" presStyleIdx="2" presStyleCnt="4">
        <dgm:presLayoutVars>
          <dgm:bulletEnabled val="1"/>
        </dgm:presLayoutVars>
      </dgm:prSet>
      <dgm:spPr/>
    </dgm:pt>
    <dgm:pt modelId="{8429FA5D-8434-425E-8417-1519FF0DDD60}" type="pres">
      <dgm:prSet presAssocID="{82FC7625-CB57-4856-AE16-31FAB013C55F}" presName="parentText" presStyleLbl="node1" presStyleIdx="3" presStyleCnt="4">
        <dgm:presLayoutVars>
          <dgm:chMax val="0"/>
          <dgm:bulletEnabled val="1"/>
        </dgm:presLayoutVars>
      </dgm:prSet>
      <dgm:spPr/>
    </dgm:pt>
    <dgm:pt modelId="{00881735-8607-4C53-9063-EA6A345F3D2D}" type="pres">
      <dgm:prSet presAssocID="{82FC7625-CB57-4856-AE16-31FAB013C55F}" presName="childText" presStyleLbl="revTx" presStyleIdx="3" presStyleCnt="4">
        <dgm:presLayoutVars>
          <dgm:bulletEnabled val="1"/>
        </dgm:presLayoutVars>
      </dgm:prSet>
      <dgm:spPr/>
    </dgm:pt>
  </dgm:ptLst>
  <dgm:cxnLst>
    <dgm:cxn modelId="{E4966E10-8F7B-4F54-A522-6BE78CC53F4C}" type="presOf" srcId="{82FC7625-CB57-4856-AE16-31FAB013C55F}" destId="{8429FA5D-8434-425E-8417-1519FF0DDD60}" srcOrd="0" destOrd="0" presId="urn:microsoft.com/office/officeart/2005/8/layout/vList2"/>
    <dgm:cxn modelId="{664E6C15-A07F-400F-8A04-CD2D6A178E60}" srcId="{2F8CACEA-1CB6-481F-92C9-A5DCE38DFB45}" destId="{6D741527-8E6B-433F-BF6F-C46398B2B387}" srcOrd="0" destOrd="0" parTransId="{CC371100-8502-416C-837C-5AB7AEC86F38}" sibTransId="{C0724200-7EBD-4660-9431-35ACB75F1252}"/>
    <dgm:cxn modelId="{4AABBE16-F074-44D6-94EF-5E77C2B3C16C}" srcId="{F79B6791-D309-4D81-9B4C-CDE412987EE3}" destId="{312231F5-F1BA-4E68-A73A-356C8B5776CA}" srcOrd="0" destOrd="0" parTransId="{5145A37C-DE73-4A82-A1F0-45772806F8B4}" sibTransId="{ADF008E8-8633-44B2-A598-7EFF1FDBEDDC}"/>
    <dgm:cxn modelId="{23556022-FC8D-4B88-BA6E-BF9726810436}" type="presOf" srcId="{6B06BE86-D0B8-45E0-8372-3B10D1653FBC}" destId="{918499BD-E891-4028-A260-50A7B4092BD6}" srcOrd="0" destOrd="0" presId="urn:microsoft.com/office/officeart/2005/8/layout/vList2"/>
    <dgm:cxn modelId="{B6C1A922-E315-4F6B-870D-55130814C1AE}" type="presOf" srcId="{2F8CACEA-1CB6-481F-92C9-A5DCE38DFB45}" destId="{20E8EB6B-C90D-4498-BEBB-EA8BB55D15A2}" srcOrd="0" destOrd="0" presId="urn:microsoft.com/office/officeart/2005/8/layout/vList2"/>
    <dgm:cxn modelId="{8AC83D3A-E8A1-4FB5-96E6-1AD7B2166BE5}" srcId="{6B06BE86-D0B8-45E0-8372-3B10D1653FBC}" destId="{9852570C-CAC9-4FC7-A0B4-9A668B8A7028}" srcOrd="0" destOrd="0" parTransId="{6982C239-C30C-4FAD-890F-9D4D194DDFFE}" sibTransId="{EB07BFC3-A6D5-46A1-87E7-16852EB21503}"/>
    <dgm:cxn modelId="{759E6A5D-6192-49F6-A450-880928F612E9}" srcId="{82FC7625-CB57-4856-AE16-31FAB013C55F}" destId="{A7918F34-35B9-4F56-A1BE-D091DE389B39}" srcOrd="0" destOrd="0" parTransId="{BD2BD30C-9817-4885-A471-15BD64E91417}" sibTransId="{91916F79-7634-457B-A0DC-8C2C9A738198}"/>
    <dgm:cxn modelId="{6C05F760-6842-4803-8FC8-59A78B82CB17}" type="presOf" srcId="{312231F5-F1BA-4E68-A73A-356C8B5776CA}" destId="{E3C7D20C-5D95-4D5E-8044-57FF0AC04F61}" srcOrd="0" destOrd="0" presId="urn:microsoft.com/office/officeart/2005/8/layout/vList2"/>
    <dgm:cxn modelId="{7D74F846-0DBE-4EFE-AABD-B21BC4146066}" srcId="{E5B64C14-C56A-49FF-967E-4BD32CA4BE13}" destId="{F79B6791-D309-4D81-9B4C-CDE412987EE3}" srcOrd="0" destOrd="0" parTransId="{8B65EF90-89ED-4EB8-B4BE-F9D3E6707D0E}" sibTransId="{3D2420F7-007F-4A2E-A489-CE01B24D9A8A}"/>
    <dgm:cxn modelId="{B1128275-D213-4184-82DD-855DBEC90912}" type="presOf" srcId="{E5B64C14-C56A-49FF-967E-4BD32CA4BE13}" destId="{96544DA7-D5E8-4D7D-A7BE-886B0CF3D9B1}" srcOrd="0" destOrd="0" presId="urn:microsoft.com/office/officeart/2005/8/layout/vList2"/>
    <dgm:cxn modelId="{CB92407E-F076-440C-868E-4A90F93880FA}" type="presOf" srcId="{A7918F34-35B9-4F56-A1BE-D091DE389B39}" destId="{00881735-8607-4C53-9063-EA6A345F3D2D}" srcOrd="0" destOrd="0" presId="urn:microsoft.com/office/officeart/2005/8/layout/vList2"/>
    <dgm:cxn modelId="{B3BFAB89-8171-45EE-A4F2-9023FABE4B87}" type="presOf" srcId="{9852570C-CAC9-4FC7-A0B4-9A668B8A7028}" destId="{42902D75-5B34-4548-9281-CDB622C1E22A}" srcOrd="0" destOrd="0" presId="urn:microsoft.com/office/officeart/2005/8/layout/vList2"/>
    <dgm:cxn modelId="{7B4D3196-10A6-417B-B06A-6AB5BF47AE3B}" srcId="{E5B64C14-C56A-49FF-967E-4BD32CA4BE13}" destId="{82FC7625-CB57-4856-AE16-31FAB013C55F}" srcOrd="3" destOrd="0" parTransId="{63D0257B-D292-497F-8B77-4F5E1569E8D7}" sibTransId="{6CB056D3-E4FD-4962-BC3C-6E897ACD12BD}"/>
    <dgm:cxn modelId="{1B50DE99-DD12-4C28-960A-C11E84E0E995}" srcId="{E5B64C14-C56A-49FF-967E-4BD32CA4BE13}" destId="{2F8CACEA-1CB6-481F-92C9-A5DCE38DFB45}" srcOrd="1" destOrd="0" parTransId="{5331CA3F-6313-4DEA-8E92-78547A15E8DA}" sibTransId="{CB918AB9-19FF-437C-83B7-E053AC25FC9C}"/>
    <dgm:cxn modelId="{20915CA3-B90F-4AC7-86A2-033D82515C04}" type="presOf" srcId="{6D741527-8E6B-433F-BF6F-C46398B2B387}" destId="{E2C3F35C-3878-4B56-A84D-F7F57879FC7A}" srcOrd="0" destOrd="0" presId="urn:microsoft.com/office/officeart/2005/8/layout/vList2"/>
    <dgm:cxn modelId="{972674CD-FB4A-4434-88B2-A03A4F073EA9}" type="presOf" srcId="{F79B6791-D309-4D81-9B4C-CDE412987EE3}" destId="{8745833D-4890-4436-8E75-FE4D033A9476}" srcOrd="0" destOrd="0" presId="urn:microsoft.com/office/officeart/2005/8/layout/vList2"/>
    <dgm:cxn modelId="{2EE439DE-5A03-494F-9195-1F9D1F87A6FD}" srcId="{E5B64C14-C56A-49FF-967E-4BD32CA4BE13}" destId="{6B06BE86-D0B8-45E0-8372-3B10D1653FBC}" srcOrd="2" destOrd="0" parTransId="{E92EEED8-5FED-45B4-8992-F81729271F02}" sibTransId="{95678437-099B-4A6B-908C-0D26DCE6D663}"/>
    <dgm:cxn modelId="{A4F2D615-8ECA-488C-8134-0A4D5C0FF93D}" type="presParOf" srcId="{96544DA7-D5E8-4D7D-A7BE-886B0CF3D9B1}" destId="{8745833D-4890-4436-8E75-FE4D033A9476}" srcOrd="0" destOrd="0" presId="urn:microsoft.com/office/officeart/2005/8/layout/vList2"/>
    <dgm:cxn modelId="{6FD41D4A-4906-40E5-BE5A-F37D4306D709}" type="presParOf" srcId="{96544DA7-D5E8-4D7D-A7BE-886B0CF3D9B1}" destId="{E3C7D20C-5D95-4D5E-8044-57FF0AC04F61}" srcOrd="1" destOrd="0" presId="urn:microsoft.com/office/officeart/2005/8/layout/vList2"/>
    <dgm:cxn modelId="{1EA916E2-1CF7-4432-9D11-88A73CAD1CE9}" type="presParOf" srcId="{96544DA7-D5E8-4D7D-A7BE-886B0CF3D9B1}" destId="{20E8EB6B-C90D-4498-BEBB-EA8BB55D15A2}" srcOrd="2" destOrd="0" presId="urn:microsoft.com/office/officeart/2005/8/layout/vList2"/>
    <dgm:cxn modelId="{C4450F9D-9BC3-4421-9A2F-5F1E25625E43}" type="presParOf" srcId="{96544DA7-D5E8-4D7D-A7BE-886B0CF3D9B1}" destId="{E2C3F35C-3878-4B56-A84D-F7F57879FC7A}" srcOrd="3" destOrd="0" presId="urn:microsoft.com/office/officeart/2005/8/layout/vList2"/>
    <dgm:cxn modelId="{9B01E80E-EB43-4811-85D6-7D2D87238C71}" type="presParOf" srcId="{96544DA7-D5E8-4D7D-A7BE-886B0CF3D9B1}" destId="{918499BD-E891-4028-A260-50A7B4092BD6}" srcOrd="4" destOrd="0" presId="urn:microsoft.com/office/officeart/2005/8/layout/vList2"/>
    <dgm:cxn modelId="{0CF13EA3-6F79-4292-BFCF-3751A7EBE1BD}" type="presParOf" srcId="{96544DA7-D5E8-4D7D-A7BE-886B0CF3D9B1}" destId="{42902D75-5B34-4548-9281-CDB622C1E22A}" srcOrd="5" destOrd="0" presId="urn:microsoft.com/office/officeart/2005/8/layout/vList2"/>
    <dgm:cxn modelId="{34048E77-7B56-417D-BDF6-82981375BD52}" type="presParOf" srcId="{96544DA7-D5E8-4D7D-A7BE-886B0CF3D9B1}" destId="{8429FA5D-8434-425E-8417-1519FF0DDD60}" srcOrd="6" destOrd="0" presId="urn:microsoft.com/office/officeart/2005/8/layout/vList2"/>
    <dgm:cxn modelId="{6A2F3BA3-A9DF-451F-A2B5-1E39CC2A41BB}" type="presParOf" srcId="{96544DA7-D5E8-4D7D-A7BE-886B0CF3D9B1}" destId="{00881735-8607-4C53-9063-EA6A345F3D2D}" srcOrd="7"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45833D-4890-4436-8E75-FE4D033A9476}">
      <dsp:nvSpPr>
        <dsp:cNvPr id="0" name=""/>
        <dsp:cNvSpPr/>
      </dsp:nvSpPr>
      <dsp:spPr>
        <a:xfrm>
          <a:off x="0" y="86769"/>
          <a:ext cx="6263640" cy="719549"/>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a:t>GET </a:t>
          </a:r>
        </a:p>
      </dsp:txBody>
      <dsp:txXfrm>
        <a:off x="35125" y="121894"/>
        <a:ext cx="6193390" cy="649299"/>
      </dsp:txXfrm>
    </dsp:sp>
    <dsp:sp modelId="{E3C7D20C-5D95-4D5E-8044-57FF0AC04F61}">
      <dsp:nvSpPr>
        <dsp:cNvPr id="0" name=""/>
        <dsp:cNvSpPr/>
      </dsp:nvSpPr>
      <dsp:spPr>
        <a:xfrm>
          <a:off x="0" y="806319"/>
          <a:ext cx="6263640" cy="496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n-US" sz="2300" kern="1200" dirty="0"/>
            <a:t>Request resource without sending data </a:t>
          </a:r>
        </a:p>
      </dsp:txBody>
      <dsp:txXfrm>
        <a:off x="0" y="806319"/>
        <a:ext cx="6263640" cy="496800"/>
      </dsp:txXfrm>
    </dsp:sp>
    <dsp:sp modelId="{20E8EB6B-C90D-4498-BEBB-EA8BB55D15A2}">
      <dsp:nvSpPr>
        <dsp:cNvPr id="0" name=""/>
        <dsp:cNvSpPr/>
      </dsp:nvSpPr>
      <dsp:spPr>
        <a:xfrm>
          <a:off x="0" y="1303119"/>
          <a:ext cx="6263640" cy="719549"/>
        </a:xfrm>
        <a:prstGeom prst="roundRect">
          <a:avLst/>
        </a:prstGeom>
        <a:solidFill>
          <a:schemeClr val="accent5">
            <a:hueOff val="-2451115"/>
            <a:satOff val="-3409"/>
            <a:lumOff val="-130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PUT</a:t>
          </a:r>
        </a:p>
      </dsp:txBody>
      <dsp:txXfrm>
        <a:off x="35125" y="1338244"/>
        <a:ext cx="6193390" cy="649299"/>
      </dsp:txXfrm>
    </dsp:sp>
    <dsp:sp modelId="{E2C3F35C-3878-4B56-A84D-F7F57879FC7A}">
      <dsp:nvSpPr>
        <dsp:cNvPr id="0" name=""/>
        <dsp:cNvSpPr/>
      </dsp:nvSpPr>
      <dsp:spPr>
        <a:xfrm>
          <a:off x="0" y="2022669"/>
          <a:ext cx="6263640" cy="7296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n-US" sz="2300" kern="1200" dirty="0"/>
            <a:t>Modify/replace resource with data that you are sending </a:t>
          </a:r>
        </a:p>
      </dsp:txBody>
      <dsp:txXfrm>
        <a:off x="0" y="2022669"/>
        <a:ext cx="6263640" cy="729675"/>
      </dsp:txXfrm>
    </dsp:sp>
    <dsp:sp modelId="{918499BD-E891-4028-A260-50A7B4092BD6}">
      <dsp:nvSpPr>
        <dsp:cNvPr id="0" name=""/>
        <dsp:cNvSpPr/>
      </dsp:nvSpPr>
      <dsp:spPr>
        <a:xfrm>
          <a:off x="0" y="2752343"/>
          <a:ext cx="6263640" cy="719549"/>
        </a:xfrm>
        <a:prstGeom prst="roundRect">
          <a:avLst/>
        </a:prstGeom>
        <a:solidFill>
          <a:schemeClr val="accent5">
            <a:hueOff val="-4902230"/>
            <a:satOff val="-6819"/>
            <a:lumOff val="-261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POST </a:t>
          </a:r>
        </a:p>
      </dsp:txBody>
      <dsp:txXfrm>
        <a:off x="35125" y="2787468"/>
        <a:ext cx="6193390" cy="649299"/>
      </dsp:txXfrm>
    </dsp:sp>
    <dsp:sp modelId="{42902D75-5B34-4548-9281-CDB622C1E22A}">
      <dsp:nvSpPr>
        <dsp:cNvPr id="0" name=""/>
        <dsp:cNvSpPr/>
      </dsp:nvSpPr>
      <dsp:spPr>
        <a:xfrm>
          <a:off x="0" y="3471894"/>
          <a:ext cx="6263640" cy="7296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n-US" sz="2300" kern="1200" dirty="0"/>
            <a:t>Create new resource with data that you are sending </a:t>
          </a:r>
        </a:p>
      </dsp:txBody>
      <dsp:txXfrm>
        <a:off x="0" y="3471894"/>
        <a:ext cx="6263640" cy="729675"/>
      </dsp:txXfrm>
    </dsp:sp>
    <dsp:sp modelId="{8429FA5D-8434-425E-8417-1519FF0DDD60}">
      <dsp:nvSpPr>
        <dsp:cNvPr id="0" name=""/>
        <dsp:cNvSpPr/>
      </dsp:nvSpPr>
      <dsp:spPr>
        <a:xfrm>
          <a:off x="0" y="4201568"/>
          <a:ext cx="6263640" cy="719549"/>
        </a:xfrm>
        <a:prstGeom prst="roundRect">
          <a:avLst/>
        </a:prstGeom>
        <a:solidFill>
          <a:schemeClr val="accent5">
            <a:hueOff val="-7353344"/>
            <a:satOff val="-10228"/>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a:t>DELETE </a:t>
          </a:r>
        </a:p>
      </dsp:txBody>
      <dsp:txXfrm>
        <a:off x="35125" y="4236693"/>
        <a:ext cx="6193390" cy="649299"/>
      </dsp:txXfrm>
    </dsp:sp>
    <dsp:sp modelId="{00881735-8607-4C53-9063-EA6A345F3D2D}">
      <dsp:nvSpPr>
        <dsp:cNvPr id="0" name=""/>
        <dsp:cNvSpPr/>
      </dsp:nvSpPr>
      <dsp:spPr>
        <a:xfrm>
          <a:off x="0" y="4921118"/>
          <a:ext cx="6263640" cy="496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71"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n-US" sz="2300" kern="1200" dirty="0"/>
            <a:t>Delete resource without sending data</a:t>
          </a:r>
        </a:p>
      </dsp:txBody>
      <dsp:txXfrm>
        <a:off x="0" y="4921118"/>
        <a:ext cx="6263640" cy="49680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F59DCBE-7903-4CC3-BA3A-6346FDFCF31A}" type="datetimeFigureOut">
              <a:rPr lang="en-US"/>
              <a:t>11/11/2024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B2BC22-52B8-4A4F-B04B-16740D2D9FF3}" type="slidenum">
              <a:rPr lang="en-US"/>
              <a:t>‹#›</a:t>
            </a:fld>
            <a:endParaRPr lang="en-US"/>
          </a:p>
        </p:txBody>
      </p:sp>
    </p:spTree>
    <p:extLst>
      <p:ext uri="{BB962C8B-B14F-4D97-AF65-F5344CB8AC3E}">
        <p14:creationId xmlns:p14="http://schemas.microsoft.com/office/powerpoint/2010/main" val="27801733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1</a:t>
            </a:fld>
            <a:endParaRPr lang="en-US"/>
          </a:p>
        </p:txBody>
      </p:sp>
    </p:spTree>
    <p:extLst>
      <p:ext uri="{BB962C8B-B14F-4D97-AF65-F5344CB8AC3E}">
        <p14:creationId xmlns:p14="http://schemas.microsoft.com/office/powerpoint/2010/main" val="3727247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5</a:t>
            </a:fld>
            <a:endParaRPr lang="en-US"/>
          </a:p>
        </p:txBody>
      </p:sp>
    </p:spTree>
    <p:extLst>
      <p:ext uri="{BB962C8B-B14F-4D97-AF65-F5344CB8AC3E}">
        <p14:creationId xmlns:p14="http://schemas.microsoft.com/office/powerpoint/2010/main" val="168329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6</a:t>
            </a:fld>
            <a:endParaRPr lang="en-US"/>
          </a:p>
        </p:txBody>
      </p:sp>
    </p:spTree>
    <p:extLst>
      <p:ext uri="{BB962C8B-B14F-4D97-AF65-F5344CB8AC3E}">
        <p14:creationId xmlns:p14="http://schemas.microsoft.com/office/powerpoint/2010/main" val="37307706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7</a:t>
            </a:fld>
            <a:endParaRPr lang="en-US"/>
          </a:p>
        </p:txBody>
      </p:sp>
    </p:spTree>
    <p:extLst>
      <p:ext uri="{BB962C8B-B14F-4D97-AF65-F5344CB8AC3E}">
        <p14:creationId xmlns:p14="http://schemas.microsoft.com/office/powerpoint/2010/main" val="38136993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8</a:t>
            </a:fld>
            <a:endParaRPr lang="en-US"/>
          </a:p>
        </p:txBody>
      </p:sp>
    </p:spTree>
    <p:extLst>
      <p:ext uri="{BB962C8B-B14F-4D97-AF65-F5344CB8AC3E}">
        <p14:creationId xmlns:p14="http://schemas.microsoft.com/office/powerpoint/2010/main" val="552066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9</a:t>
            </a:fld>
            <a:endParaRPr lang="en-US"/>
          </a:p>
        </p:txBody>
      </p:sp>
    </p:spTree>
    <p:extLst>
      <p:ext uri="{BB962C8B-B14F-4D97-AF65-F5344CB8AC3E}">
        <p14:creationId xmlns:p14="http://schemas.microsoft.com/office/powerpoint/2010/main" val="27349174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10</a:t>
            </a:fld>
            <a:endParaRPr lang="en-US"/>
          </a:p>
        </p:txBody>
      </p:sp>
    </p:spTree>
    <p:extLst>
      <p:ext uri="{BB962C8B-B14F-4D97-AF65-F5344CB8AC3E}">
        <p14:creationId xmlns:p14="http://schemas.microsoft.com/office/powerpoint/2010/main" val="23728233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11</a:t>
            </a:fld>
            <a:endParaRPr lang="en-US"/>
          </a:p>
        </p:txBody>
      </p:sp>
    </p:spTree>
    <p:extLst>
      <p:ext uri="{BB962C8B-B14F-4D97-AF65-F5344CB8AC3E}">
        <p14:creationId xmlns:p14="http://schemas.microsoft.com/office/powerpoint/2010/main" val="10901905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13</a:t>
            </a:fld>
            <a:endParaRPr lang="en-US"/>
          </a:p>
        </p:txBody>
      </p:sp>
    </p:spTree>
    <p:extLst>
      <p:ext uri="{BB962C8B-B14F-4D97-AF65-F5344CB8AC3E}">
        <p14:creationId xmlns:p14="http://schemas.microsoft.com/office/powerpoint/2010/main" val="2580121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14</a:t>
            </a:fld>
            <a:endParaRPr lang="en-US"/>
          </a:p>
        </p:txBody>
      </p:sp>
    </p:spTree>
    <p:extLst>
      <p:ext uri="{BB962C8B-B14F-4D97-AF65-F5344CB8AC3E}">
        <p14:creationId xmlns:p14="http://schemas.microsoft.com/office/powerpoint/2010/main" val="25611870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GB" b="1" dirty="0"/>
              <a:t>Enhanced </a:t>
            </a:r>
            <a:r>
              <a:rPr lang="en-GB" b="1" dirty="0" err="1"/>
              <a:t>Security</a:t>
            </a:r>
            <a:r>
              <a:rPr lang="en-GB" dirty="0" err="1"/>
              <a:t>:Protects</a:t>
            </a:r>
            <a:r>
              <a:rPr lang="en-GB" dirty="0"/>
              <a:t> sensitive data (like passwords, credit card numbers) from attackers.</a:t>
            </a:r>
          </a:p>
          <a:p>
            <a:pPr>
              <a:buFont typeface="Arial" panose="020B0604020202020204" pitchFamily="34" charset="0"/>
              <a:buChar char="•"/>
            </a:pPr>
            <a:r>
              <a:rPr lang="en-GB" b="1" dirty="0"/>
              <a:t>Trust and </a:t>
            </a:r>
            <a:r>
              <a:rPr lang="en-GB" b="1" dirty="0" err="1"/>
              <a:t>Credibility</a:t>
            </a:r>
            <a:r>
              <a:rPr lang="en-GB" dirty="0" err="1"/>
              <a:t>:Builds</a:t>
            </a:r>
            <a:r>
              <a:rPr lang="en-GB" dirty="0"/>
              <a:t> user confidence; HTTPS is recognized as a sign of a trustworthy website.</a:t>
            </a:r>
          </a:p>
          <a:p>
            <a:pPr>
              <a:buFont typeface="Arial" panose="020B0604020202020204" pitchFamily="34" charset="0"/>
              <a:buChar char="•"/>
            </a:pPr>
            <a:r>
              <a:rPr lang="en-GB" dirty="0"/>
              <a:t>Many browsers display a lock icon or flag sites as “Not Secure” if they lack HTTPS.</a:t>
            </a:r>
          </a:p>
          <a:p>
            <a:pPr>
              <a:buFont typeface="Arial" panose="020B0604020202020204" pitchFamily="34" charset="0"/>
              <a:buChar char="•"/>
            </a:pPr>
            <a:r>
              <a:rPr lang="en-GB" b="1" dirty="0"/>
              <a:t>SEO </a:t>
            </a:r>
            <a:r>
              <a:rPr lang="en-GB" b="1" dirty="0" err="1"/>
              <a:t>Benefits</a:t>
            </a:r>
            <a:r>
              <a:rPr lang="en-GB" dirty="0" err="1"/>
              <a:t>:Google</a:t>
            </a:r>
            <a:r>
              <a:rPr lang="en-GB" dirty="0"/>
              <a:t> and other search engines prioritize HTTPS sites in search rankings.</a:t>
            </a:r>
          </a:p>
          <a:p>
            <a:pPr>
              <a:buFont typeface="Arial" panose="020B0604020202020204" pitchFamily="34" charset="0"/>
              <a:buChar char="•"/>
            </a:pPr>
            <a:r>
              <a:rPr lang="en-GB" b="1" dirty="0"/>
              <a:t>Legal and Compliance </a:t>
            </a:r>
            <a:r>
              <a:rPr lang="en-GB" b="1" dirty="0" err="1"/>
              <a:t>Requirements</a:t>
            </a:r>
            <a:r>
              <a:rPr lang="en-GB" dirty="0" err="1"/>
              <a:t>:Many</a:t>
            </a:r>
            <a:r>
              <a:rPr lang="en-GB" dirty="0"/>
              <a:t> industries require HTTPS for handling personal and financial data.</a:t>
            </a:r>
          </a:p>
          <a:p>
            <a:endParaRPr lang="en-IE" dirty="0"/>
          </a:p>
        </p:txBody>
      </p:sp>
      <p:sp>
        <p:nvSpPr>
          <p:cNvPr id="4" name="Slide Number Placeholder 3"/>
          <p:cNvSpPr>
            <a:spLocks noGrp="1"/>
          </p:cNvSpPr>
          <p:nvPr>
            <p:ph type="sldNum" sz="quarter" idx="5"/>
          </p:nvPr>
        </p:nvSpPr>
        <p:spPr/>
        <p:txBody>
          <a:bodyPr/>
          <a:lstStyle/>
          <a:p>
            <a:fld id="{71B2BC22-52B8-4A4F-B04B-16740D2D9FF3}" type="slidenum">
              <a:rPr lang="en-US" smtClean="0"/>
              <a:t>23</a:t>
            </a:fld>
            <a:endParaRPr lang="en-US"/>
          </a:p>
        </p:txBody>
      </p:sp>
    </p:spTree>
    <p:extLst>
      <p:ext uri="{BB962C8B-B14F-4D97-AF65-F5344CB8AC3E}">
        <p14:creationId xmlns:p14="http://schemas.microsoft.com/office/powerpoint/2010/main" val="13946035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71B2BC22-52B8-4A4F-B04B-16740D2D9FF3}" type="slidenum">
              <a:rPr lang="en-US" smtClean="0"/>
              <a:t>24</a:t>
            </a:fld>
            <a:endParaRPr lang="en-US"/>
          </a:p>
        </p:txBody>
      </p:sp>
    </p:spTree>
    <p:extLst>
      <p:ext uri="{BB962C8B-B14F-4D97-AF65-F5344CB8AC3E}">
        <p14:creationId xmlns:p14="http://schemas.microsoft.com/office/powerpoint/2010/main" val="19438138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71B2BC22-52B8-4A4F-B04B-16740D2D9FF3}" type="slidenum">
              <a:rPr lang="en-US" smtClean="0"/>
              <a:t>25</a:t>
            </a:fld>
            <a:endParaRPr lang="en-US"/>
          </a:p>
        </p:txBody>
      </p:sp>
    </p:spTree>
    <p:extLst>
      <p:ext uri="{BB962C8B-B14F-4D97-AF65-F5344CB8AC3E}">
        <p14:creationId xmlns:p14="http://schemas.microsoft.com/office/powerpoint/2010/main" val="16319964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B2BC22-52B8-4A4F-B04B-16740D2D9FF3}" type="slidenum">
              <a:rPr lang="en-US"/>
              <a:t>26</a:t>
            </a:fld>
            <a:endParaRPr lang="en-US"/>
          </a:p>
        </p:txBody>
      </p:sp>
    </p:spTree>
    <p:extLst>
      <p:ext uri="{BB962C8B-B14F-4D97-AF65-F5344CB8AC3E}">
        <p14:creationId xmlns:p14="http://schemas.microsoft.com/office/powerpoint/2010/main" val="32887687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11/11/2024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11/11/2024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11/11/2024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11/11/2024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11/11/2024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11/11/2024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11/11/2024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11/11/2024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11/11/2024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11/11/2024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11/11/2024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CE7D5-CF57-46EF-B807-FDD0502418D4}" type="datetimeFigureOut">
              <a:rPr lang="en-US" smtClean="0"/>
              <a:t>11/11/2024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commons.wikimedia.org/wiki/File:Internet_Protocol_Analysis_-_Application_Layer.png" TargetMode="External"/><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hyperlink" Target="https://creativecommons.org/licenses/by-sa/3.0/"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7"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hyperlink" Target="http://www.wit.ie" TargetMode="External"/><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hyperlink" Target="NUL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s://creativecommons.org/licenses/by-nc/3.0/" TargetMode="External"/><Relationship Id="rId5" Type="http://schemas.openxmlformats.org/officeDocument/2006/relationships/hyperlink" Target="https://www.pngall.com/application-png" TargetMode="Externa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creativecommons.org/licenses/by-nc/3.0/" TargetMode="External"/><Relationship Id="rId5" Type="http://schemas.openxmlformats.org/officeDocument/2006/relationships/hyperlink" Target="https://www.pngall.com/application-png" TargetMode="Externa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hyperlink" Target="http://www.nowhere123.co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www.nowhere123.com/docs/index.html"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www.nowhere123.com/doc/index.html"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clipground.com/png-mime-type.html" TargetMode="External"/><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yhome.com/heating?status=on"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www.cdk5.net/person"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creativecommons.org/licenses/by-sa/3.0/" TargetMode="External"/><Relationship Id="rId4" Type="http://schemas.openxmlformats.org/officeDocument/2006/relationships/hyperlink" Target="https://devopedia.org/flask"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www.ntu.edu.sg/home/ehchua/programming/webprogramming/http_basics.ht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80226" y="446627"/>
            <a:ext cx="9144000" cy="2387600"/>
          </a:xfrm>
        </p:spPr>
        <p:txBody>
          <a:bodyPr>
            <a:normAutofit fontScale="90000"/>
          </a:bodyPr>
          <a:lstStyle/>
          <a:p>
            <a:r>
              <a:rPr lang="en-US" dirty="0"/>
              <a:t>Application Layer:</a:t>
            </a:r>
            <a:br>
              <a:rPr lang="en-US" dirty="0"/>
            </a:br>
            <a:r>
              <a:rPr lang="en-US" dirty="0"/>
              <a:t>HTTP</a:t>
            </a:r>
            <a:br>
              <a:rPr lang="en-US" dirty="0">
                <a:cs typeface="Calibri Light"/>
              </a:rPr>
            </a:br>
            <a:endParaRPr lang="en-US" dirty="0"/>
          </a:p>
        </p:txBody>
      </p:sp>
      <p:sp>
        <p:nvSpPr>
          <p:cNvPr id="3" name="Subtitle 2"/>
          <p:cNvSpPr>
            <a:spLocks noGrp="1"/>
          </p:cNvSpPr>
          <p:nvPr>
            <p:ph type="subTitle" idx="1"/>
          </p:nvPr>
        </p:nvSpPr>
        <p:spPr>
          <a:xfrm>
            <a:off x="1250830" y="3141963"/>
            <a:ext cx="9144000" cy="1655762"/>
          </a:xfrm>
        </p:spPr>
        <p:txBody>
          <a:bodyPr vert="horz" lIns="91440" tIns="45720" rIns="91440" bIns="45720" rtlCol="0" anchor="t">
            <a:normAutofit/>
          </a:bodyPr>
          <a:lstStyle/>
          <a:p>
            <a:r>
              <a:rPr lang="en-US" dirty="0"/>
              <a:t>Frank Walsh</a:t>
            </a:r>
          </a:p>
        </p:txBody>
      </p:sp>
      <p:pic>
        <p:nvPicPr>
          <p:cNvPr id="4" name="Picture 3"/>
          <p:cNvPicPr>
            <a:picLocks noChangeAspect="1"/>
          </p:cNvPicPr>
          <p:nvPr/>
        </p:nvPicPr>
        <p:blipFill>
          <a:blip r:embed="rId3"/>
          <a:stretch>
            <a:fillRect/>
          </a:stretch>
        </p:blipFill>
        <p:spPr>
          <a:xfrm>
            <a:off x="3968790" y="3628023"/>
            <a:ext cx="3833297" cy="2545691"/>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73C5885-0CDF-9D1D-2E30-8166DF90914C}"/>
              </a:ext>
            </a:extLst>
          </p:cNvPr>
          <p:cNvSpPr>
            <a:spLocks noGrp="1"/>
          </p:cNvSpPr>
          <p:nvPr>
            <p:ph type="title"/>
          </p:nvPr>
        </p:nvSpPr>
        <p:spPr>
          <a:xfrm>
            <a:off x="643467" y="321734"/>
            <a:ext cx="10905066" cy="1135737"/>
          </a:xfrm>
        </p:spPr>
        <p:txBody>
          <a:bodyPr>
            <a:normAutofit/>
          </a:bodyPr>
          <a:lstStyle/>
          <a:p>
            <a:r>
              <a:rPr lang="en-IE" sz="3600"/>
              <a:t>Application Layer</a:t>
            </a:r>
          </a:p>
        </p:txBody>
      </p:sp>
      <p:sp>
        <p:nvSpPr>
          <p:cNvPr id="3" name="Content Placeholder 2">
            <a:extLst>
              <a:ext uri="{FF2B5EF4-FFF2-40B4-BE49-F238E27FC236}">
                <a16:creationId xmlns:a16="http://schemas.microsoft.com/office/drawing/2014/main" id="{368FEB9A-DD0D-9C45-006D-50DF20B0718B}"/>
              </a:ext>
            </a:extLst>
          </p:cNvPr>
          <p:cNvSpPr>
            <a:spLocks noGrp="1"/>
          </p:cNvSpPr>
          <p:nvPr>
            <p:ph idx="1"/>
          </p:nvPr>
        </p:nvSpPr>
        <p:spPr>
          <a:xfrm>
            <a:off x="643469" y="1782981"/>
            <a:ext cx="4008384" cy="4393982"/>
          </a:xfrm>
        </p:spPr>
        <p:txBody>
          <a:bodyPr>
            <a:normAutofit/>
          </a:bodyPr>
          <a:lstStyle/>
          <a:p>
            <a:r>
              <a:rPr lang="en-GB" sz="1900" dirty="0"/>
              <a:t>The application layer provides the interfaces and protocols needed by users/applications to access the network</a:t>
            </a:r>
          </a:p>
          <a:p>
            <a:pPr lvl="1"/>
            <a:r>
              <a:rPr lang="en-GB" sz="1900" dirty="0"/>
              <a:t>It facilitates the users/network-based applications to use the services of the network.</a:t>
            </a:r>
          </a:p>
          <a:p>
            <a:pPr lvl="1"/>
            <a:r>
              <a:rPr lang="en-GB" sz="1900" dirty="0"/>
              <a:t>Provides services/protocols that support user authentication, naming network devices, formatting messages, and e-mails, transfer of files etc.</a:t>
            </a:r>
          </a:p>
        </p:txBody>
      </p:sp>
      <p:grpSp>
        <p:nvGrpSpPr>
          <p:cNvPr id="13" name="Group 12">
            <a:extLst>
              <a:ext uri="{FF2B5EF4-FFF2-40B4-BE49-F238E27FC236}">
                <a16:creationId xmlns:a16="http://schemas.microsoft.com/office/drawing/2014/main" id="{828A5161-06F1-46CF-8AD7-844680A59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4601497"/>
            <a:ext cx="1014060" cy="2017580"/>
            <a:chOff x="0" y="4601497"/>
            <a:chExt cx="1014060" cy="2017580"/>
          </a:xfrm>
        </p:grpSpPr>
        <p:sp>
          <p:nvSpPr>
            <p:cNvPr id="14"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Graphical user interface&#10;&#10;Description automatically generated with medium confidence">
            <a:extLst>
              <a:ext uri="{FF2B5EF4-FFF2-40B4-BE49-F238E27FC236}">
                <a16:creationId xmlns:a16="http://schemas.microsoft.com/office/drawing/2014/main" id="{A2FEA95D-0AA4-C55B-9DD3-1665F2FFCC3A}"/>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295320" y="1833927"/>
            <a:ext cx="6253212" cy="4259999"/>
          </a:xfrm>
          <a:prstGeom prst="rect">
            <a:avLst/>
          </a:prstGeom>
        </p:spPr>
      </p:pic>
      <p:grpSp>
        <p:nvGrpSpPr>
          <p:cNvPr id="17" name="Group 16">
            <a:extLst>
              <a:ext uri="{FF2B5EF4-FFF2-40B4-BE49-F238E27FC236}">
                <a16:creationId xmlns:a16="http://schemas.microsoft.com/office/drawing/2014/main" id="{5995D10D-E9C9-47DB-AE7E-801FEF38F5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19290" y="1"/>
            <a:ext cx="972709" cy="1935307"/>
            <a:chOff x="10918968" y="713127"/>
            <a:chExt cx="1273032" cy="2532832"/>
          </a:xfrm>
        </p:grpSpPr>
        <p:sp>
          <p:nvSpPr>
            <p:cNvPr id="18" name="Rectangle 17">
              <a:extLst>
                <a:ext uri="{FF2B5EF4-FFF2-40B4-BE49-F238E27FC236}">
                  <a16:creationId xmlns:a16="http://schemas.microsoft.com/office/drawing/2014/main" id="{CC1A72C6-3DE4-4EC3-9AD5-9E0D40D8CE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0B0DA1F1-C391-4EDF-9FE0-23E86E1377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TextBox 5">
            <a:extLst>
              <a:ext uri="{FF2B5EF4-FFF2-40B4-BE49-F238E27FC236}">
                <a16:creationId xmlns:a16="http://schemas.microsoft.com/office/drawing/2014/main" id="{834C4608-760F-3852-AF8A-68ACBF4DCFEE}"/>
              </a:ext>
            </a:extLst>
          </p:cNvPr>
          <p:cNvSpPr txBox="1"/>
          <p:nvPr/>
        </p:nvSpPr>
        <p:spPr>
          <a:xfrm>
            <a:off x="9241489" y="5893871"/>
            <a:ext cx="2307043" cy="200055"/>
          </a:xfrm>
          <a:prstGeom prst="rect">
            <a:avLst/>
          </a:prstGeom>
          <a:solidFill>
            <a:srgbClr val="000000"/>
          </a:solidFill>
        </p:spPr>
        <p:txBody>
          <a:bodyPr wrap="none" rtlCol="0">
            <a:spAutoFit/>
          </a:bodyPr>
          <a:lstStyle/>
          <a:p>
            <a:pPr algn="r">
              <a:spcAft>
                <a:spcPts val="600"/>
              </a:spcAft>
            </a:pPr>
            <a:r>
              <a:rPr lang="en-IE" sz="700">
                <a:solidFill>
                  <a:srgbClr val="FFFFFF"/>
                </a:solidFill>
                <a:hlinkClick r:id="rId3" tooltip="https://commons.wikimedia.org/wiki/File:Internet_Protocol_Analysis_-_Application_Layer.png">
                  <a:extLst>
                    <a:ext uri="{A12FA001-AC4F-418D-AE19-62706E023703}">
                      <ahyp:hlinkClr xmlns:ahyp="http://schemas.microsoft.com/office/drawing/2018/hyperlinkcolor" val="tx"/>
                    </a:ext>
                  </a:extLst>
                </a:hlinkClick>
              </a:rPr>
              <a:t>This Photo</a:t>
            </a:r>
            <a:r>
              <a:rPr lang="en-IE" sz="700">
                <a:solidFill>
                  <a:srgbClr val="FFFFFF"/>
                </a:solidFill>
              </a:rPr>
              <a:t> by Unknown Author is licensed under </a:t>
            </a:r>
            <a:r>
              <a:rPr lang="en-IE" sz="700">
                <a:solidFill>
                  <a:srgbClr val="FFFFFF"/>
                </a:solidFill>
                <a:hlinkClick r:id="rId4" tooltip="https://creativecommons.org/licenses/by-sa/3.0/">
                  <a:extLst>
                    <a:ext uri="{A12FA001-AC4F-418D-AE19-62706E023703}">
                      <ahyp:hlinkClr xmlns:ahyp="http://schemas.microsoft.com/office/drawing/2018/hyperlinkcolor" val="tx"/>
                    </a:ext>
                  </a:extLst>
                </a:hlinkClick>
              </a:rPr>
              <a:t>CC BY-SA</a:t>
            </a:r>
            <a:endParaRPr lang="en-IE" sz="700">
              <a:solidFill>
                <a:srgbClr val="FFFFFF"/>
              </a:solidFill>
            </a:endParaRPr>
          </a:p>
        </p:txBody>
      </p:sp>
    </p:spTree>
    <p:extLst>
      <p:ext uri="{BB962C8B-B14F-4D97-AF65-F5344CB8AC3E}">
        <p14:creationId xmlns:p14="http://schemas.microsoft.com/office/powerpoint/2010/main" val="160008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A251C-2F9D-4B1D-B290-BF197A285684}"/>
              </a:ext>
            </a:extLst>
          </p:cNvPr>
          <p:cNvSpPr>
            <a:spLocks noGrp="1"/>
          </p:cNvSpPr>
          <p:nvPr>
            <p:ph type="title"/>
          </p:nvPr>
        </p:nvSpPr>
        <p:spPr/>
        <p:txBody>
          <a:bodyPr/>
          <a:lstStyle/>
          <a:p>
            <a:r>
              <a:rPr lang="en-US" dirty="0">
                <a:cs typeface="Calibri Light"/>
              </a:rPr>
              <a:t>TCP/IP Protocol Stack</a:t>
            </a:r>
            <a:endParaRPr lang="en-US" dirty="0"/>
          </a:p>
        </p:txBody>
      </p:sp>
      <p:pic>
        <p:nvPicPr>
          <p:cNvPr id="4" name="Picture 4" descr="A close up of text on a white background&#10;&#10;Description generated with high confidence">
            <a:extLst>
              <a:ext uri="{FF2B5EF4-FFF2-40B4-BE49-F238E27FC236}">
                <a16:creationId xmlns:a16="http://schemas.microsoft.com/office/drawing/2014/main" id="{DE4E761B-72C2-484E-B02E-64CF0FAD5C82}"/>
              </a:ext>
            </a:extLst>
          </p:cNvPr>
          <p:cNvPicPr>
            <a:picLocks noGrp="1" noChangeAspect="1"/>
          </p:cNvPicPr>
          <p:nvPr>
            <p:ph idx="1"/>
          </p:nvPr>
        </p:nvPicPr>
        <p:blipFill>
          <a:blip r:embed="rId2"/>
          <a:stretch>
            <a:fillRect/>
          </a:stretch>
        </p:blipFill>
        <p:spPr>
          <a:xfrm>
            <a:off x="1951809" y="1926267"/>
            <a:ext cx="6476834" cy="4351338"/>
          </a:xfrm>
          <a:prstGeom prst="rect">
            <a:avLst/>
          </a:prstGeom>
        </p:spPr>
      </p:pic>
      <p:sp>
        <p:nvSpPr>
          <p:cNvPr id="6" name="Rectangle 5">
            <a:extLst>
              <a:ext uri="{FF2B5EF4-FFF2-40B4-BE49-F238E27FC236}">
                <a16:creationId xmlns:a16="http://schemas.microsoft.com/office/drawing/2014/main" id="{B6F39D9B-7E28-4D62-8DF0-6ABC5D802F0F}"/>
              </a:ext>
            </a:extLst>
          </p:cNvPr>
          <p:cNvSpPr/>
          <p:nvPr/>
        </p:nvSpPr>
        <p:spPr>
          <a:xfrm>
            <a:off x="8600536" y="2216988"/>
            <a:ext cx="1115683" cy="396815"/>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cs typeface="Calibri"/>
              </a:rPr>
              <a:t>MQTT</a:t>
            </a:r>
            <a:endParaRPr lang="en-US" dirty="0"/>
          </a:p>
        </p:txBody>
      </p:sp>
      <p:cxnSp>
        <p:nvCxnSpPr>
          <p:cNvPr id="7" name="Straight Arrow Connector 6">
            <a:extLst>
              <a:ext uri="{FF2B5EF4-FFF2-40B4-BE49-F238E27FC236}">
                <a16:creationId xmlns:a16="http://schemas.microsoft.com/office/drawing/2014/main" id="{746FD5B3-4C18-46D7-8F0A-AB3BBC1758DB}"/>
              </a:ext>
            </a:extLst>
          </p:cNvPr>
          <p:cNvCxnSpPr/>
          <p:nvPr/>
        </p:nvCxnSpPr>
        <p:spPr>
          <a:xfrm flipH="1">
            <a:off x="6797615" y="2605176"/>
            <a:ext cx="2277373" cy="799382"/>
          </a:xfrm>
          <a:prstGeom prst="straightConnector1">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4461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8929" y="629266"/>
            <a:ext cx="3505495" cy="1622321"/>
          </a:xfrm>
        </p:spPr>
        <p:txBody>
          <a:bodyPr>
            <a:normAutofit/>
          </a:bodyPr>
          <a:lstStyle/>
          <a:p>
            <a:r>
              <a:rPr lang="en-IE"/>
              <a:t>Web APIs</a:t>
            </a:r>
          </a:p>
        </p:txBody>
      </p:sp>
      <p:sp>
        <p:nvSpPr>
          <p:cNvPr id="3" name="Content Placeholder 2"/>
          <p:cNvSpPr>
            <a:spLocks noGrp="1"/>
          </p:cNvSpPr>
          <p:nvPr>
            <p:ph idx="1"/>
          </p:nvPr>
        </p:nvSpPr>
        <p:spPr>
          <a:xfrm>
            <a:off x="648931" y="2438400"/>
            <a:ext cx="3505494" cy="3785419"/>
          </a:xfrm>
        </p:spPr>
        <p:txBody>
          <a:bodyPr vert="horz" lIns="91440" tIns="45720" rIns="91440" bIns="45720" rtlCol="0">
            <a:normAutofit/>
          </a:bodyPr>
          <a:lstStyle/>
          <a:p>
            <a:r>
              <a:rPr lang="en-IE" sz="1400" dirty="0"/>
              <a:t>Programmatic interface exposed via the web</a:t>
            </a:r>
          </a:p>
          <a:p>
            <a:r>
              <a:rPr lang="en-IE" sz="1400" dirty="0"/>
              <a:t>Uses open standards typically with request-response messaging.</a:t>
            </a:r>
            <a:endParaRPr lang="en-IE" sz="1400" dirty="0">
              <a:cs typeface="Calibri"/>
            </a:endParaRPr>
          </a:p>
          <a:p>
            <a:pPr lvl="1"/>
            <a:r>
              <a:rPr lang="en-IE" sz="1400" dirty="0"/>
              <a:t>Messages in well known format(e.g. JSON)</a:t>
            </a:r>
            <a:endParaRPr lang="en-IE" sz="1400" dirty="0">
              <a:cs typeface="Calibri"/>
            </a:endParaRPr>
          </a:p>
          <a:p>
            <a:pPr lvl="1"/>
            <a:r>
              <a:rPr lang="en-IE" sz="1400" dirty="0"/>
              <a:t>HTTP as transport</a:t>
            </a:r>
            <a:endParaRPr lang="en-IE" sz="1400" dirty="0">
              <a:cs typeface="Calibri"/>
            </a:endParaRPr>
          </a:p>
          <a:p>
            <a:pPr lvl="1"/>
            <a:r>
              <a:rPr lang="en-IE" sz="1400" dirty="0"/>
              <a:t>URLs</a:t>
            </a:r>
            <a:endParaRPr lang="en-IE" sz="1400" dirty="0">
              <a:cs typeface="Calibri"/>
            </a:endParaRPr>
          </a:p>
          <a:p>
            <a:r>
              <a:rPr lang="en-IE" sz="1400" dirty="0"/>
              <a:t>Example would be Restful web service</a:t>
            </a:r>
          </a:p>
          <a:p>
            <a:r>
              <a:rPr lang="en-IE" sz="1400" dirty="0"/>
              <a:t>Typical use:</a:t>
            </a:r>
            <a:endParaRPr lang="en-IE" sz="1400" dirty="0">
              <a:cs typeface="Calibri"/>
            </a:endParaRPr>
          </a:p>
          <a:p>
            <a:pPr lvl="1"/>
            <a:r>
              <a:rPr lang="en-IE" sz="1400" dirty="0"/>
              <a:t>Expose application functionality via the web</a:t>
            </a:r>
            <a:endParaRPr lang="en-IE" sz="1400" dirty="0">
              <a:cs typeface="Calibri"/>
            </a:endParaRPr>
          </a:p>
          <a:p>
            <a:pPr lvl="1"/>
            <a:r>
              <a:rPr lang="en-IE" sz="1400" dirty="0"/>
              <a:t>Machine to machine communication</a:t>
            </a:r>
            <a:endParaRPr lang="en-IE" sz="1400" dirty="0">
              <a:cs typeface="Calibri"/>
            </a:endParaRPr>
          </a:p>
          <a:p>
            <a:pPr lvl="1"/>
            <a:r>
              <a:rPr lang="en-IE" sz="1400" dirty="0"/>
              <a:t>Distributed systems</a:t>
            </a:r>
            <a:endParaRPr lang="en-IE" sz="1400" dirty="0">
              <a:cs typeface="Calibri"/>
            </a:endParaRPr>
          </a:p>
          <a:p>
            <a:endParaRPr lang="en-IE" sz="1400" dirty="0"/>
          </a:p>
        </p:txBody>
      </p:sp>
      <p:sp>
        <p:nvSpPr>
          <p:cNvPr id="10" name="Rectangle 9">
            <a:extLst>
              <a:ext uri="{FF2B5EF4-FFF2-40B4-BE49-F238E27FC236}">
                <a16:creationId xmlns:a16="http://schemas.microsoft.com/office/drawing/2014/main" id="{5E39A796-BE83-48B1-B33F-35C4A32AA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9">
            <a:extLst>
              <a:ext uri="{FF2B5EF4-FFF2-40B4-BE49-F238E27FC236}">
                <a16:creationId xmlns:a16="http://schemas.microsoft.com/office/drawing/2014/main" id="{72F84B47-E267-4194-8194-831DB7B55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557784"/>
            <a:ext cx="6584098"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5">
            <a:extLst>
              <a:ext uri="{FF2B5EF4-FFF2-40B4-BE49-F238E27FC236}">
                <a16:creationId xmlns:a16="http://schemas.microsoft.com/office/drawing/2014/main" id="{F27683DA-F688-4833-B52C-0FB26FCEFE3F}"/>
              </a:ext>
            </a:extLst>
          </p:cNvPr>
          <p:cNvPicPr>
            <a:picLocks noChangeAspect="1"/>
          </p:cNvPicPr>
          <p:nvPr/>
        </p:nvPicPr>
        <p:blipFill rotWithShape="1">
          <a:blip r:embed="rId2"/>
          <a:srcRect t="1929" r="-1" b="6050"/>
          <a:stretch/>
        </p:blipFill>
        <p:spPr>
          <a:xfrm>
            <a:off x="5405862" y="893026"/>
            <a:ext cx="6019331" cy="5068701"/>
          </a:xfrm>
          <a:prstGeom prst="rect">
            <a:avLst/>
          </a:prstGeom>
          <a:effectLst/>
        </p:spPr>
      </p:pic>
    </p:spTree>
    <p:extLst>
      <p:ext uri="{BB962C8B-B14F-4D97-AF65-F5344CB8AC3E}">
        <p14:creationId xmlns:p14="http://schemas.microsoft.com/office/powerpoint/2010/main" val="28403807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017254" y="525439"/>
            <a:ext cx="3336545" cy="1657614"/>
          </a:xfrm>
        </p:spPr>
        <p:txBody>
          <a:bodyPr vert="horz" lIns="91440" tIns="45720" rIns="91440" bIns="45720" rtlCol="0" anchor="ctr">
            <a:normAutofit/>
          </a:bodyPr>
          <a:lstStyle/>
          <a:p>
            <a:r>
              <a:rPr lang="en-US" sz="3600" kern="1200">
                <a:solidFill>
                  <a:schemeClr val="tx1"/>
                </a:solidFill>
                <a:latin typeface="+mj-lt"/>
                <a:ea typeface="+mj-ea"/>
                <a:cs typeface="+mj-cs"/>
              </a:rPr>
              <a:t>What's a Web API</a:t>
            </a:r>
          </a:p>
        </p:txBody>
      </p:sp>
      <p:pic>
        <p:nvPicPr>
          <p:cNvPr id="6" name="Picture 5" descr="Server Vs Me | Nothing To Post"/>
          <p:cNvPicPr>
            <a:picLocks noChangeAspect="1"/>
          </p:cNvPicPr>
          <p:nvPr/>
        </p:nvPicPr>
        <p:blipFill>
          <a:blip r:embed="rId3"/>
          <a:stretch>
            <a:fillRect/>
          </a:stretch>
        </p:blipFill>
        <p:spPr>
          <a:xfrm>
            <a:off x="692235" y="375320"/>
            <a:ext cx="3338710" cy="3848658"/>
          </a:xfrm>
          <a:prstGeom prst="rect">
            <a:avLst/>
          </a:prstGeom>
        </p:spPr>
      </p:pic>
      <p:cxnSp>
        <p:nvCxnSpPr>
          <p:cNvPr id="14" name="Straight Connector 13">
            <a:extLst>
              <a:ext uri="{FF2B5EF4-FFF2-40B4-BE49-F238E27FC236}">
                <a16:creationId xmlns:a16="http://schemas.microsoft.com/office/drawing/2014/main" id="{822A5670-0F7B-4199-AEAB-33FBA9CEA4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3627" y="-1"/>
            <a:ext cx="0" cy="4572000"/>
          </a:xfrm>
          <a:prstGeom prst="line">
            <a:avLst/>
          </a:prstGeom>
          <a:ln w="3810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Even though I actually used the Arduino Uno for the development since ..."/>
          <p:cNvPicPr>
            <a:picLocks noChangeAspect="1"/>
          </p:cNvPicPr>
          <p:nvPr/>
        </p:nvPicPr>
        <p:blipFill>
          <a:blip r:embed="rId4"/>
          <a:stretch>
            <a:fillRect/>
          </a:stretch>
        </p:blipFill>
        <p:spPr>
          <a:xfrm>
            <a:off x="5304705" y="375320"/>
            <a:ext cx="1831615" cy="1657612"/>
          </a:xfrm>
          <a:prstGeom prst="rect">
            <a:avLst/>
          </a:prstGeom>
        </p:spPr>
      </p:pic>
      <p:cxnSp>
        <p:nvCxnSpPr>
          <p:cNvPr id="16" name="Straight Connector 15">
            <a:extLst>
              <a:ext uri="{FF2B5EF4-FFF2-40B4-BE49-F238E27FC236}">
                <a16:creationId xmlns:a16="http://schemas.microsoft.com/office/drawing/2014/main" id="{8BB1744D-A7DF-4B65-B6E3-DCF12BB2D86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3627" y="2228770"/>
            <a:ext cx="2877035"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8" name="Picture 7" descr="... computer to the arduino board in this case to control the brightness"/>
          <p:cNvPicPr>
            <a:picLocks noChangeAspect="1"/>
          </p:cNvPicPr>
          <p:nvPr/>
        </p:nvPicPr>
        <p:blipFill>
          <a:blip r:embed="rId5"/>
          <a:stretch>
            <a:fillRect/>
          </a:stretch>
        </p:blipFill>
        <p:spPr>
          <a:xfrm>
            <a:off x="5312575" y="2424609"/>
            <a:ext cx="1808439" cy="1799367"/>
          </a:xfrm>
          <a:prstGeom prst="rect">
            <a:avLst/>
          </a:prstGeom>
        </p:spPr>
      </p:pic>
      <p:cxnSp>
        <p:nvCxnSpPr>
          <p:cNvPr id="18" name="Straight Connector 17">
            <a:extLst>
              <a:ext uri="{FF2B5EF4-FFF2-40B4-BE49-F238E27FC236}">
                <a16:creationId xmlns:a16="http://schemas.microsoft.com/office/drawing/2014/main" id="{882DD753-EA38-4E86-91FB-05041A44A2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67905"/>
            <a:ext cx="7530662"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5" name="Content Placeholder 4" descr="Revivendo un Linksys WRTG4 GL v1 | Entre Redes y Servidores"/>
          <p:cNvPicPr>
            <a:picLocks noGrp="1" noChangeAspect="1"/>
          </p:cNvPicPr>
          <p:nvPr>
            <p:ph sz="half" idx="2"/>
          </p:nvPr>
        </p:nvPicPr>
        <p:blipFill>
          <a:blip r:embed="rId6"/>
          <a:stretch>
            <a:fillRect/>
          </a:stretch>
        </p:blipFill>
        <p:spPr>
          <a:xfrm>
            <a:off x="742913" y="4911833"/>
            <a:ext cx="1540445" cy="1448019"/>
          </a:xfrm>
          <a:prstGeom prst="rect">
            <a:avLst/>
          </a:prstGeom>
        </p:spPr>
      </p:pic>
      <p:pic>
        <p:nvPicPr>
          <p:cNvPr id="7" name="Picture 6" descr="Nest Thermostat Controls And..."/>
          <p:cNvPicPr>
            <a:picLocks noChangeAspect="1"/>
          </p:cNvPicPr>
          <p:nvPr/>
        </p:nvPicPr>
        <p:blipFill>
          <a:blip r:embed="rId7"/>
          <a:stretch>
            <a:fillRect/>
          </a:stretch>
        </p:blipFill>
        <p:spPr>
          <a:xfrm>
            <a:off x="4538955" y="4911833"/>
            <a:ext cx="1612133" cy="1448024"/>
          </a:xfrm>
          <a:prstGeom prst="rect">
            <a:avLst/>
          </a:prstGeom>
        </p:spPr>
      </p:pic>
      <p:sp>
        <p:nvSpPr>
          <p:cNvPr id="3" name="Content Placeholder 2"/>
          <p:cNvSpPr>
            <a:spLocks noGrp="1"/>
          </p:cNvSpPr>
          <p:nvPr>
            <p:ph sz="half" idx="1"/>
          </p:nvPr>
        </p:nvSpPr>
        <p:spPr>
          <a:xfrm>
            <a:off x="8017254" y="2274491"/>
            <a:ext cx="3336546" cy="3902472"/>
          </a:xfrm>
        </p:spPr>
        <p:txBody>
          <a:bodyPr vert="horz" lIns="91440" tIns="45720" rIns="91440" bIns="45720" rtlCol="0">
            <a:normAutofit/>
          </a:bodyPr>
          <a:lstStyle/>
          <a:p>
            <a:r>
              <a:rPr lang="en-US" sz="2000"/>
              <a:t>Typically implements HTTP</a:t>
            </a:r>
          </a:p>
          <a:p>
            <a:pPr lvl="1"/>
            <a:r>
              <a:rPr lang="en-US" sz="2000"/>
              <a:t>processes HTTP requests</a:t>
            </a:r>
          </a:p>
          <a:p>
            <a:r>
              <a:rPr lang="en-US" sz="2000"/>
              <a:t>Usually runs on machine connected to a network</a:t>
            </a:r>
          </a:p>
          <a:p>
            <a:pPr lvl="1"/>
            <a:r>
              <a:rPr lang="en-US" sz="2000"/>
              <a:t>Has an IP address</a:t>
            </a:r>
          </a:p>
          <a:p>
            <a:r>
              <a:rPr lang="en-US" sz="2000"/>
              <a:t>Serves up resources</a:t>
            </a:r>
          </a:p>
          <a:p>
            <a:pPr lvl="1"/>
            <a:r>
              <a:rPr lang="en-US" sz="2000"/>
              <a:t>Ideally in a "restful" manner</a:t>
            </a:r>
          </a:p>
          <a:p>
            <a:r>
              <a:rPr lang="en-US" sz="2000"/>
              <a:t>Many different types of devices can run a web API...</a:t>
            </a:r>
          </a:p>
          <a:p>
            <a:endParaRPr lang="en-US" sz="2000"/>
          </a:p>
          <a:p>
            <a:endParaRPr lang="en-US" sz="2000"/>
          </a:p>
        </p:txBody>
      </p:sp>
      <p:cxnSp>
        <p:nvCxnSpPr>
          <p:cNvPr id="20" name="Straight Connector 19">
            <a:extLst>
              <a:ext uri="{FF2B5EF4-FFF2-40B4-BE49-F238E27FC236}">
                <a16:creationId xmlns:a16="http://schemas.microsoft.com/office/drawing/2014/main" id="{6DA63E78-7704-45EF-B5D3-EADDF5D826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16200000">
            <a:off x="1730262" y="5706812"/>
            <a:ext cx="2286000" cy="0"/>
          </a:xfrm>
          <a:prstGeom prst="line">
            <a:avLst/>
          </a:prstGeom>
          <a:ln w="381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6329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8929" y="629266"/>
            <a:ext cx="3505495" cy="1622321"/>
          </a:xfrm>
        </p:spPr>
        <p:txBody>
          <a:bodyPr vert="horz" lIns="91440" tIns="45720" rIns="91440" bIns="45720" rtlCol="0" anchor="ctr">
            <a:normAutofit/>
          </a:bodyPr>
          <a:lstStyle/>
          <a:p>
            <a:r>
              <a:rPr lang="en-US" kern="1200">
                <a:solidFill>
                  <a:schemeClr val="tx1"/>
                </a:solidFill>
                <a:latin typeface="+mj-lt"/>
                <a:ea typeface="+mj-ea"/>
                <a:cs typeface="+mj-cs"/>
              </a:rPr>
              <a:t>What’s HTTP</a:t>
            </a:r>
          </a:p>
        </p:txBody>
      </p:sp>
      <p:sp>
        <p:nvSpPr>
          <p:cNvPr id="3" name="Content Placeholder 2"/>
          <p:cNvSpPr>
            <a:spLocks noGrp="1"/>
          </p:cNvSpPr>
          <p:nvPr>
            <p:ph sz="half" idx="1"/>
          </p:nvPr>
        </p:nvSpPr>
        <p:spPr>
          <a:xfrm>
            <a:off x="648931" y="2438400"/>
            <a:ext cx="3505494" cy="3785419"/>
          </a:xfrm>
        </p:spPr>
        <p:txBody>
          <a:bodyPr vert="horz" lIns="91440" tIns="45720" rIns="91440" bIns="45720" rtlCol="0">
            <a:normAutofit/>
          </a:bodyPr>
          <a:lstStyle/>
          <a:p>
            <a:r>
              <a:rPr lang="en-US" sz="2000" dirty="0" err="1"/>
              <a:t>HyperText</a:t>
            </a:r>
            <a:r>
              <a:rPr lang="en-US" sz="2000" dirty="0"/>
              <a:t> Transfer Protocol</a:t>
            </a:r>
          </a:p>
          <a:p>
            <a:r>
              <a:rPr lang="en-US" sz="2000" dirty="0"/>
              <a:t>Protocol used in World Wide Web</a:t>
            </a:r>
          </a:p>
          <a:p>
            <a:pPr lvl="1"/>
            <a:r>
              <a:rPr lang="en-US" sz="2000" b="1" dirty="0">
                <a:hlinkClick r:id="rId3"/>
              </a:rPr>
              <a:t>http</a:t>
            </a:r>
            <a:r>
              <a:rPr lang="en-US" sz="2000" dirty="0">
                <a:hlinkClick r:id="rId4" invalidUrl="http://://www.wit.ie"/>
              </a:rPr>
              <a:t>://www.setu.ie</a:t>
            </a:r>
            <a:endParaRPr lang="en-US" sz="2000" dirty="0"/>
          </a:p>
          <a:p>
            <a:r>
              <a:rPr lang="en-US" sz="2000" dirty="0"/>
              <a:t>Your browser communicates using HTTP (HTTP Client)</a:t>
            </a:r>
          </a:p>
          <a:p>
            <a:r>
              <a:rPr lang="en-US" sz="2000" dirty="0"/>
              <a:t>Devices communicate using HTTP</a:t>
            </a:r>
          </a:p>
          <a:p>
            <a:r>
              <a:rPr lang="en-US" sz="2000" dirty="0"/>
              <a:t>Simple, ubiquitous. </a:t>
            </a:r>
          </a:p>
        </p:txBody>
      </p:sp>
      <p:sp>
        <p:nvSpPr>
          <p:cNvPr id="10" name="Rectangle 9">
            <a:extLst>
              <a:ext uri="{FF2B5EF4-FFF2-40B4-BE49-F238E27FC236}">
                <a16:creationId xmlns:a16="http://schemas.microsoft.com/office/drawing/2014/main" id="{5E39A796-BE83-48B1-B33F-35C4A32AA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9">
            <a:extLst>
              <a:ext uri="{FF2B5EF4-FFF2-40B4-BE49-F238E27FC236}">
                <a16:creationId xmlns:a16="http://schemas.microsoft.com/office/drawing/2014/main" id="{72F84B47-E267-4194-8194-831DB7B55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557784"/>
            <a:ext cx="6584098"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p:cNvPicPr>
            <a:picLocks noGrp="1" noChangeAspect="1"/>
          </p:cNvPicPr>
          <p:nvPr>
            <p:ph sz="half" idx="2"/>
          </p:nvPr>
        </p:nvPicPr>
        <p:blipFill>
          <a:blip r:embed="rId5"/>
          <a:stretch>
            <a:fillRect/>
          </a:stretch>
        </p:blipFill>
        <p:spPr>
          <a:xfrm>
            <a:off x="5405862" y="1809682"/>
            <a:ext cx="6019331" cy="3235390"/>
          </a:xfrm>
          <a:prstGeom prst="rect">
            <a:avLst/>
          </a:prstGeom>
          <a:effectLst/>
        </p:spPr>
      </p:pic>
    </p:spTree>
    <p:extLst>
      <p:ext uri="{BB962C8B-B14F-4D97-AF65-F5344CB8AC3E}">
        <p14:creationId xmlns:p14="http://schemas.microsoft.com/office/powerpoint/2010/main" val="25425333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HTTP </a:t>
            </a:r>
            <a:r>
              <a:rPr lang="en-US" dirty="0">
                <a:cs typeface="Calibri Light"/>
              </a:rPr>
              <a:t>request from an application.</a:t>
            </a:r>
            <a:endParaRPr lang="en-US" dirty="0"/>
          </a:p>
        </p:txBody>
      </p:sp>
      <p:sp>
        <p:nvSpPr>
          <p:cNvPr id="3" name="Content Placeholder 2"/>
          <p:cNvSpPr>
            <a:spLocks noGrp="1"/>
          </p:cNvSpPr>
          <p:nvPr>
            <p:ph idx="1"/>
          </p:nvPr>
        </p:nvSpPr>
        <p:spPr>
          <a:xfrm>
            <a:off x="901700" y="1689554"/>
            <a:ext cx="10515600" cy="4351338"/>
          </a:xfrm>
        </p:spPr>
        <p:txBody>
          <a:bodyPr vert="horz" lIns="91440" tIns="45720" rIns="91440" bIns="45720" rtlCol="0" anchor="t">
            <a:normAutofit/>
          </a:bodyPr>
          <a:lstStyle/>
          <a:p>
            <a:pPr marL="0" indent="0">
              <a:buNone/>
            </a:pPr>
            <a:endParaRPr lang="en-US" dirty="0"/>
          </a:p>
        </p:txBody>
      </p:sp>
      <p:pic>
        <p:nvPicPr>
          <p:cNvPr id="4" name="Picture 3"/>
          <p:cNvPicPr>
            <a:picLocks noChangeAspect="1"/>
          </p:cNvPicPr>
          <p:nvPr/>
        </p:nvPicPr>
        <p:blipFill>
          <a:blip r:embed="rId3"/>
          <a:stretch>
            <a:fillRect/>
          </a:stretch>
        </p:blipFill>
        <p:spPr>
          <a:xfrm>
            <a:off x="1063625" y="2387600"/>
            <a:ext cx="9071113" cy="3290888"/>
          </a:xfrm>
          <a:prstGeom prst="rect">
            <a:avLst/>
          </a:prstGeom>
        </p:spPr>
      </p:pic>
      <p:sp>
        <p:nvSpPr>
          <p:cNvPr id="5" name="Rectangle 4">
            <a:extLst>
              <a:ext uri="{FF2B5EF4-FFF2-40B4-BE49-F238E27FC236}">
                <a16:creationId xmlns:a16="http://schemas.microsoft.com/office/drawing/2014/main" id="{A31BDCE8-5CD1-9371-45A7-CEC25D02E7D8}"/>
              </a:ext>
            </a:extLst>
          </p:cNvPr>
          <p:cNvSpPr/>
          <p:nvPr/>
        </p:nvSpPr>
        <p:spPr>
          <a:xfrm>
            <a:off x="1063625" y="2118066"/>
            <a:ext cx="3045278" cy="349431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dirty="0"/>
          </a:p>
        </p:txBody>
      </p:sp>
      <p:sp>
        <p:nvSpPr>
          <p:cNvPr id="6" name="TextBox 5">
            <a:extLst>
              <a:ext uri="{FF2B5EF4-FFF2-40B4-BE49-F238E27FC236}">
                <a16:creationId xmlns:a16="http://schemas.microsoft.com/office/drawing/2014/main" id="{E4EE5693-E8A9-5E19-9209-5F610F945A0F}"/>
              </a:ext>
            </a:extLst>
          </p:cNvPr>
          <p:cNvSpPr txBox="1"/>
          <p:nvPr/>
        </p:nvSpPr>
        <p:spPr>
          <a:xfrm>
            <a:off x="966942" y="2364633"/>
            <a:ext cx="3238644" cy="584775"/>
          </a:xfrm>
          <a:prstGeom prst="rect">
            <a:avLst/>
          </a:prstGeom>
          <a:noFill/>
        </p:spPr>
        <p:txBody>
          <a:bodyPr wrap="none" rtlCol="0">
            <a:spAutoFit/>
          </a:bodyPr>
          <a:lstStyle/>
          <a:p>
            <a:r>
              <a:rPr lang="en-IE" sz="1600" dirty="0"/>
              <a:t>(1) </a:t>
            </a:r>
            <a:r>
              <a:rPr lang="en-IE" sz="1600" b="1" dirty="0"/>
              <a:t>URL</a:t>
            </a:r>
            <a:r>
              <a:rPr lang="en-IE" sz="1600" dirty="0"/>
              <a:t> used to create HTTP request </a:t>
            </a:r>
            <a:br>
              <a:rPr lang="en-IE" sz="1600" dirty="0"/>
            </a:br>
            <a:r>
              <a:rPr lang="en-IE" sz="1600" dirty="0"/>
              <a:t>   http://host:port/path/to/resource </a:t>
            </a:r>
          </a:p>
        </p:txBody>
      </p:sp>
      <p:sp>
        <p:nvSpPr>
          <p:cNvPr id="7" name="TextBox 6">
            <a:extLst>
              <a:ext uri="{FF2B5EF4-FFF2-40B4-BE49-F238E27FC236}">
                <a16:creationId xmlns:a16="http://schemas.microsoft.com/office/drawing/2014/main" id="{4A4D7758-BC96-222D-1965-607178B1573A}"/>
              </a:ext>
            </a:extLst>
          </p:cNvPr>
          <p:cNvSpPr txBox="1"/>
          <p:nvPr/>
        </p:nvSpPr>
        <p:spPr>
          <a:xfrm>
            <a:off x="4108903" y="2387600"/>
            <a:ext cx="3045278" cy="338554"/>
          </a:xfrm>
          <a:prstGeom prst="rect">
            <a:avLst/>
          </a:prstGeom>
          <a:solidFill>
            <a:schemeClr val="bg1"/>
          </a:solidFill>
        </p:spPr>
        <p:txBody>
          <a:bodyPr wrap="square" rtlCol="0">
            <a:spAutoFit/>
          </a:bodyPr>
          <a:lstStyle/>
          <a:p>
            <a:r>
              <a:rPr lang="en-IE" sz="1600" dirty="0"/>
              <a:t>(2) App sends a request message  </a:t>
            </a:r>
          </a:p>
        </p:txBody>
      </p:sp>
      <p:sp>
        <p:nvSpPr>
          <p:cNvPr id="8" name="TextBox 7">
            <a:extLst>
              <a:ext uri="{FF2B5EF4-FFF2-40B4-BE49-F238E27FC236}">
                <a16:creationId xmlns:a16="http://schemas.microsoft.com/office/drawing/2014/main" id="{6A73CBF5-BA63-CFDD-6B96-7F9D68B8E7C3}"/>
              </a:ext>
            </a:extLst>
          </p:cNvPr>
          <p:cNvSpPr txBox="1"/>
          <p:nvPr/>
        </p:nvSpPr>
        <p:spPr>
          <a:xfrm>
            <a:off x="4707341" y="2810908"/>
            <a:ext cx="2011866" cy="276999"/>
          </a:xfrm>
          <a:prstGeom prst="rect">
            <a:avLst/>
          </a:prstGeom>
          <a:solidFill>
            <a:schemeClr val="bg1"/>
          </a:solidFill>
        </p:spPr>
        <p:txBody>
          <a:bodyPr wrap="square" rtlCol="0">
            <a:spAutoFit/>
          </a:bodyPr>
          <a:lstStyle/>
          <a:p>
            <a:r>
              <a:rPr lang="en-IE" sz="1200" dirty="0"/>
              <a:t>GET /path HTTP 1.1</a:t>
            </a:r>
          </a:p>
        </p:txBody>
      </p:sp>
      <p:sp>
        <p:nvSpPr>
          <p:cNvPr id="9" name="TextBox 8">
            <a:extLst>
              <a:ext uri="{FF2B5EF4-FFF2-40B4-BE49-F238E27FC236}">
                <a16:creationId xmlns:a16="http://schemas.microsoft.com/office/drawing/2014/main" id="{4BDA8447-73DF-A5D9-7B47-68A23A1BB348}"/>
              </a:ext>
            </a:extLst>
          </p:cNvPr>
          <p:cNvSpPr txBox="1"/>
          <p:nvPr/>
        </p:nvSpPr>
        <p:spPr>
          <a:xfrm>
            <a:off x="966942" y="4829892"/>
            <a:ext cx="3045278" cy="338554"/>
          </a:xfrm>
          <a:prstGeom prst="rect">
            <a:avLst/>
          </a:prstGeom>
          <a:solidFill>
            <a:schemeClr val="bg1"/>
          </a:solidFill>
        </p:spPr>
        <p:txBody>
          <a:bodyPr wrap="square" rtlCol="0">
            <a:spAutoFit/>
          </a:bodyPr>
          <a:lstStyle/>
          <a:p>
            <a:r>
              <a:rPr lang="en-IE" sz="1600" dirty="0"/>
              <a:t>(5) App processes response</a:t>
            </a:r>
          </a:p>
        </p:txBody>
      </p:sp>
      <p:pic>
        <p:nvPicPr>
          <p:cNvPr id="11" name="Picture 10" descr="Icon&#10;&#10;Description automatically generated">
            <a:extLst>
              <a:ext uri="{FF2B5EF4-FFF2-40B4-BE49-F238E27FC236}">
                <a16:creationId xmlns:a16="http://schemas.microsoft.com/office/drawing/2014/main" id="{41D34259-B464-F9B6-28D8-64E11F2136B7}"/>
              </a:ext>
            </a:extLst>
          </p:cNvPr>
          <p:cNvPicPr>
            <a:picLocks noChangeAspect="1"/>
          </p:cNvPicPr>
          <p:nvPr/>
        </p:nvPicPr>
        <p:blipFill>
          <a:blip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689649" y="2950287"/>
            <a:ext cx="1957820" cy="2048882"/>
          </a:xfrm>
          <a:prstGeom prst="rect">
            <a:avLst/>
          </a:prstGeom>
        </p:spPr>
      </p:pic>
      <p:sp>
        <p:nvSpPr>
          <p:cNvPr id="12" name="TextBox 11">
            <a:extLst>
              <a:ext uri="{FF2B5EF4-FFF2-40B4-BE49-F238E27FC236}">
                <a16:creationId xmlns:a16="http://schemas.microsoft.com/office/drawing/2014/main" id="{3B10535B-278A-A6DF-4A70-68786A44F8F7}"/>
              </a:ext>
            </a:extLst>
          </p:cNvPr>
          <p:cNvSpPr txBox="1"/>
          <p:nvPr/>
        </p:nvSpPr>
        <p:spPr>
          <a:xfrm>
            <a:off x="1552823" y="5699188"/>
            <a:ext cx="1671826" cy="369332"/>
          </a:xfrm>
          <a:prstGeom prst="rect">
            <a:avLst/>
          </a:prstGeom>
          <a:noFill/>
        </p:spPr>
        <p:txBody>
          <a:bodyPr wrap="square" rtlCol="0">
            <a:spAutoFit/>
          </a:bodyPr>
          <a:lstStyle/>
          <a:p>
            <a:r>
              <a:rPr lang="en-IE" sz="900">
                <a:hlinkClick r:id="rId5" tooltip="https://www.pngall.com/application-png"/>
              </a:rPr>
              <a:t>This Photo</a:t>
            </a:r>
            <a:r>
              <a:rPr lang="en-IE" sz="900"/>
              <a:t> by Unknown Author is licensed under </a:t>
            </a:r>
            <a:r>
              <a:rPr lang="en-IE" sz="900">
                <a:hlinkClick r:id="rId6" tooltip="https://creativecommons.org/licenses/by-nc/3.0/"/>
              </a:rPr>
              <a:t>CC BY-NC</a:t>
            </a:r>
            <a:endParaRPr lang="en-IE" sz="900"/>
          </a:p>
        </p:txBody>
      </p:sp>
    </p:spTree>
    <p:extLst>
      <p:ext uri="{BB962C8B-B14F-4D97-AF65-F5344CB8AC3E}">
        <p14:creationId xmlns:p14="http://schemas.microsoft.com/office/powerpoint/2010/main" val="40271386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HTTP: The Method/Verb</a:t>
            </a:r>
          </a:p>
        </p:txBody>
      </p:sp>
      <p:sp>
        <p:nvSpPr>
          <p:cNvPr id="3" name="Content Placeholder 2"/>
          <p:cNvSpPr>
            <a:spLocks noGrp="1"/>
          </p:cNvSpPr>
          <p:nvPr>
            <p:ph idx="1"/>
          </p:nvPr>
        </p:nvSpPr>
        <p:spPr>
          <a:xfrm>
            <a:off x="901700" y="1689554"/>
            <a:ext cx="10515600" cy="4351338"/>
          </a:xfrm>
        </p:spPr>
        <p:txBody>
          <a:bodyPr vert="horz" lIns="91440" tIns="45720" rIns="91440" bIns="45720" rtlCol="0" anchor="t">
            <a:normAutofit/>
          </a:bodyPr>
          <a:lstStyle/>
          <a:p>
            <a:pPr marL="0" indent="0">
              <a:buNone/>
            </a:pPr>
            <a:endParaRPr lang="en-US" dirty="0"/>
          </a:p>
        </p:txBody>
      </p:sp>
      <p:pic>
        <p:nvPicPr>
          <p:cNvPr id="4" name="Picture 3"/>
          <p:cNvPicPr>
            <a:picLocks noChangeAspect="1"/>
          </p:cNvPicPr>
          <p:nvPr/>
        </p:nvPicPr>
        <p:blipFill>
          <a:blip r:embed="rId3"/>
          <a:stretch>
            <a:fillRect/>
          </a:stretch>
        </p:blipFill>
        <p:spPr>
          <a:xfrm>
            <a:off x="1063625" y="2387600"/>
            <a:ext cx="9071113" cy="3290888"/>
          </a:xfrm>
          <a:prstGeom prst="rect">
            <a:avLst/>
          </a:prstGeom>
        </p:spPr>
      </p:pic>
      <p:sp>
        <p:nvSpPr>
          <p:cNvPr id="5" name="Rectangle 4">
            <a:extLst>
              <a:ext uri="{FF2B5EF4-FFF2-40B4-BE49-F238E27FC236}">
                <a16:creationId xmlns:a16="http://schemas.microsoft.com/office/drawing/2014/main" id="{A31BDCE8-5CD1-9371-45A7-CEC25D02E7D8}"/>
              </a:ext>
            </a:extLst>
          </p:cNvPr>
          <p:cNvSpPr/>
          <p:nvPr/>
        </p:nvSpPr>
        <p:spPr>
          <a:xfrm>
            <a:off x="1063625" y="2118066"/>
            <a:ext cx="3045278" cy="349431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dirty="0"/>
          </a:p>
        </p:txBody>
      </p:sp>
      <p:sp>
        <p:nvSpPr>
          <p:cNvPr id="6" name="TextBox 5">
            <a:extLst>
              <a:ext uri="{FF2B5EF4-FFF2-40B4-BE49-F238E27FC236}">
                <a16:creationId xmlns:a16="http://schemas.microsoft.com/office/drawing/2014/main" id="{E4EE5693-E8A9-5E19-9209-5F610F945A0F}"/>
              </a:ext>
            </a:extLst>
          </p:cNvPr>
          <p:cNvSpPr txBox="1"/>
          <p:nvPr/>
        </p:nvSpPr>
        <p:spPr>
          <a:xfrm>
            <a:off x="966942" y="2364633"/>
            <a:ext cx="3238644" cy="584775"/>
          </a:xfrm>
          <a:prstGeom prst="rect">
            <a:avLst/>
          </a:prstGeom>
          <a:noFill/>
        </p:spPr>
        <p:txBody>
          <a:bodyPr wrap="none" rtlCol="0">
            <a:spAutoFit/>
          </a:bodyPr>
          <a:lstStyle/>
          <a:p>
            <a:r>
              <a:rPr lang="en-IE" sz="1600" dirty="0"/>
              <a:t>(1) URL used to create HTTP request </a:t>
            </a:r>
            <a:br>
              <a:rPr lang="en-IE" sz="1600" dirty="0"/>
            </a:br>
            <a:r>
              <a:rPr lang="en-IE" sz="1600" dirty="0"/>
              <a:t>   http://host:port/path/to/resource </a:t>
            </a:r>
          </a:p>
        </p:txBody>
      </p:sp>
      <p:sp>
        <p:nvSpPr>
          <p:cNvPr id="7" name="TextBox 6">
            <a:extLst>
              <a:ext uri="{FF2B5EF4-FFF2-40B4-BE49-F238E27FC236}">
                <a16:creationId xmlns:a16="http://schemas.microsoft.com/office/drawing/2014/main" id="{4A4D7758-BC96-222D-1965-607178B1573A}"/>
              </a:ext>
            </a:extLst>
          </p:cNvPr>
          <p:cNvSpPr txBox="1"/>
          <p:nvPr/>
        </p:nvSpPr>
        <p:spPr>
          <a:xfrm>
            <a:off x="4108903" y="2387600"/>
            <a:ext cx="3045278" cy="338554"/>
          </a:xfrm>
          <a:prstGeom prst="rect">
            <a:avLst/>
          </a:prstGeom>
          <a:solidFill>
            <a:schemeClr val="bg1"/>
          </a:solidFill>
        </p:spPr>
        <p:txBody>
          <a:bodyPr wrap="square" rtlCol="0">
            <a:spAutoFit/>
          </a:bodyPr>
          <a:lstStyle/>
          <a:p>
            <a:r>
              <a:rPr lang="en-IE" sz="1600" dirty="0"/>
              <a:t>(2) App sends a request message  </a:t>
            </a:r>
          </a:p>
        </p:txBody>
      </p:sp>
      <p:sp>
        <p:nvSpPr>
          <p:cNvPr id="8" name="TextBox 7">
            <a:extLst>
              <a:ext uri="{FF2B5EF4-FFF2-40B4-BE49-F238E27FC236}">
                <a16:creationId xmlns:a16="http://schemas.microsoft.com/office/drawing/2014/main" id="{6A73CBF5-BA63-CFDD-6B96-7F9D68B8E7C3}"/>
              </a:ext>
            </a:extLst>
          </p:cNvPr>
          <p:cNvSpPr txBox="1"/>
          <p:nvPr/>
        </p:nvSpPr>
        <p:spPr>
          <a:xfrm>
            <a:off x="4707341" y="2810908"/>
            <a:ext cx="2011866" cy="276999"/>
          </a:xfrm>
          <a:prstGeom prst="rect">
            <a:avLst/>
          </a:prstGeom>
          <a:solidFill>
            <a:schemeClr val="bg1"/>
          </a:solidFill>
        </p:spPr>
        <p:txBody>
          <a:bodyPr wrap="square" rtlCol="0">
            <a:spAutoFit/>
          </a:bodyPr>
          <a:lstStyle/>
          <a:p>
            <a:r>
              <a:rPr lang="en-IE" sz="1200" dirty="0"/>
              <a:t>GET /path HTTP 1.1</a:t>
            </a:r>
          </a:p>
        </p:txBody>
      </p:sp>
      <p:sp>
        <p:nvSpPr>
          <p:cNvPr id="9" name="TextBox 8">
            <a:extLst>
              <a:ext uri="{FF2B5EF4-FFF2-40B4-BE49-F238E27FC236}">
                <a16:creationId xmlns:a16="http://schemas.microsoft.com/office/drawing/2014/main" id="{4BDA8447-73DF-A5D9-7B47-68A23A1BB348}"/>
              </a:ext>
            </a:extLst>
          </p:cNvPr>
          <p:cNvSpPr txBox="1"/>
          <p:nvPr/>
        </p:nvSpPr>
        <p:spPr>
          <a:xfrm>
            <a:off x="966942" y="4829892"/>
            <a:ext cx="3045278" cy="338554"/>
          </a:xfrm>
          <a:prstGeom prst="rect">
            <a:avLst/>
          </a:prstGeom>
          <a:solidFill>
            <a:schemeClr val="bg1"/>
          </a:solidFill>
        </p:spPr>
        <p:txBody>
          <a:bodyPr wrap="square" rtlCol="0">
            <a:spAutoFit/>
          </a:bodyPr>
          <a:lstStyle/>
          <a:p>
            <a:r>
              <a:rPr lang="en-IE" sz="1600" dirty="0"/>
              <a:t>(5) App processes response</a:t>
            </a:r>
          </a:p>
        </p:txBody>
      </p:sp>
      <p:pic>
        <p:nvPicPr>
          <p:cNvPr id="11" name="Picture 10" descr="Icon&#10;&#10;Description automatically generated">
            <a:extLst>
              <a:ext uri="{FF2B5EF4-FFF2-40B4-BE49-F238E27FC236}">
                <a16:creationId xmlns:a16="http://schemas.microsoft.com/office/drawing/2014/main" id="{41D34259-B464-F9B6-28D8-64E11F2136B7}"/>
              </a:ext>
            </a:extLst>
          </p:cNvPr>
          <p:cNvPicPr>
            <a:picLocks noChangeAspect="1"/>
          </p:cNvPicPr>
          <p:nvPr/>
        </p:nvPicPr>
        <p:blipFill>
          <a:blip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689649" y="2950287"/>
            <a:ext cx="1957820" cy="2048882"/>
          </a:xfrm>
          <a:prstGeom prst="rect">
            <a:avLst/>
          </a:prstGeom>
        </p:spPr>
      </p:pic>
      <p:sp>
        <p:nvSpPr>
          <p:cNvPr id="12" name="TextBox 11">
            <a:extLst>
              <a:ext uri="{FF2B5EF4-FFF2-40B4-BE49-F238E27FC236}">
                <a16:creationId xmlns:a16="http://schemas.microsoft.com/office/drawing/2014/main" id="{3B10535B-278A-A6DF-4A70-68786A44F8F7}"/>
              </a:ext>
            </a:extLst>
          </p:cNvPr>
          <p:cNvSpPr txBox="1"/>
          <p:nvPr/>
        </p:nvSpPr>
        <p:spPr>
          <a:xfrm>
            <a:off x="1552823" y="5699188"/>
            <a:ext cx="1671826" cy="369332"/>
          </a:xfrm>
          <a:prstGeom prst="rect">
            <a:avLst/>
          </a:prstGeom>
          <a:noFill/>
        </p:spPr>
        <p:txBody>
          <a:bodyPr wrap="square" rtlCol="0">
            <a:spAutoFit/>
          </a:bodyPr>
          <a:lstStyle/>
          <a:p>
            <a:r>
              <a:rPr lang="en-IE" sz="900">
                <a:hlinkClick r:id="rId5" tooltip="https://www.pngall.com/application-png"/>
              </a:rPr>
              <a:t>This Photo</a:t>
            </a:r>
            <a:r>
              <a:rPr lang="en-IE" sz="900"/>
              <a:t> by Unknown Author is licensed under </a:t>
            </a:r>
            <a:r>
              <a:rPr lang="en-IE" sz="900">
                <a:hlinkClick r:id="rId6" tooltip="https://creativecommons.org/licenses/by-nc/3.0/"/>
              </a:rPr>
              <a:t>CC BY-NC</a:t>
            </a:r>
            <a:endParaRPr lang="en-IE" sz="900"/>
          </a:p>
        </p:txBody>
      </p:sp>
      <p:sp>
        <p:nvSpPr>
          <p:cNvPr id="10" name="Callout: Line with Border and Accent Bar 9">
            <a:extLst>
              <a:ext uri="{FF2B5EF4-FFF2-40B4-BE49-F238E27FC236}">
                <a16:creationId xmlns:a16="http://schemas.microsoft.com/office/drawing/2014/main" id="{FC509EFF-6180-48B1-0D5D-7D3D8DC09AE7}"/>
              </a:ext>
            </a:extLst>
          </p:cNvPr>
          <p:cNvSpPr/>
          <p:nvPr/>
        </p:nvSpPr>
        <p:spPr>
          <a:xfrm>
            <a:off x="5702299" y="1843603"/>
            <a:ext cx="1349828" cy="612648"/>
          </a:xfrm>
          <a:prstGeom prst="accentBorderCallout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cs typeface="Calibri"/>
              </a:rPr>
              <a:t>HTTP method</a:t>
            </a:r>
            <a:endParaRPr lang="en-US" dirty="0"/>
          </a:p>
        </p:txBody>
      </p:sp>
      <p:cxnSp>
        <p:nvCxnSpPr>
          <p:cNvPr id="13" name="Straight Arrow Connector 12">
            <a:extLst>
              <a:ext uri="{FF2B5EF4-FFF2-40B4-BE49-F238E27FC236}">
                <a16:creationId xmlns:a16="http://schemas.microsoft.com/office/drawing/2014/main" id="{A2C1ADCC-03A5-ED9C-01C4-3E67BAA4F4D6}"/>
              </a:ext>
            </a:extLst>
          </p:cNvPr>
          <p:cNvCxnSpPr/>
          <p:nvPr/>
        </p:nvCxnSpPr>
        <p:spPr>
          <a:xfrm flipH="1">
            <a:off x="4920343" y="1946728"/>
            <a:ext cx="682170" cy="941614"/>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4" name="Rectangle: Rounded Corners 13">
            <a:extLst>
              <a:ext uri="{FF2B5EF4-FFF2-40B4-BE49-F238E27FC236}">
                <a16:creationId xmlns:a16="http://schemas.microsoft.com/office/drawing/2014/main" id="{97220867-CB76-CFF7-7526-D4BA8C955730}"/>
              </a:ext>
            </a:extLst>
          </p:cNvPr>
          <p:cNvSpPr/>
          <p:nvPr/>
        </p:nvSpPr>
        <p:spPr>
          <a:xfrm>
            <a:off x="4659085" y="2817585"/>
            <a:ext cx="442686" cy="288473"/>
          </a:xfrm>
          <a:prstGeom prst="roundRect">
            <a:avLst/>
          </a:prstGeom>
          <a:noFill/>
          <a:ln w="28575">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539651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HTTP: </a:t>
            </a:r>
            <a:r>
              <a:rPr lang="en-US" b="1" dirty="0"/>
              <a:t>The URL</a:t>
            </a:r>
          </a:p>
        </p:txBody>
      </p:sp>
      <p:sp>
        <p:nvSpPr>
          <p:cNvPr id="3" name="Content Placeholder 2"/>
          <p:cNvSpPr>
            <a:spLocks noGrp="1"/>
          </p:cNvSpPr>
          <p:nvPr>
            <p:ph idx="1"/>
          </p:nvPr>
        </p:nvSpPr>
        <p:spPr>
          <a:solidFill>
            <a:schemeClr val="bg1"/>
          </a:solidFill>
        </p:spPr>
        <p:txBody>
          <a:bodyPr vert="horz" lIns="91440" tIns="45720" rIns="91440" bIns="45720" rtlCol="0" anchor="t">
            <a:normAutofit fontScale="62500" lnSpcReduction="20000"/>
          </a:bodyPr>
          <a:lstStyle/>
          <a:p>
            <a:pPr algn="just"/>
            <a:r>
              <a:rPr lang="en-US" sz="3600" dirty="0">
                <a:latin typeface="Calibri" charset="0"/>
              </a:rPr>
              <a:t>A URL (Uniform Resource Locator) uniquely identifies a resource over the web. </a:t>
            </a:r>
            <a:r>
              <a:rPr lang="en-US" sz="3600" i="1" dirty="0">
                <a:latin typeface="Calibri" charset="0"/>
              </a:rPr>
              <a:t>protocol://hostname:port/path</a:t>
            </a:r>
            <a:endParaRPr lang="en-US" dirty="0">
              <a:latin typeface="Calibri" charset="0"/>
            </a:endParaRPr>
          </a:p>
          <a:p>
            <a:pPr algn="just"/>
            <a:r>
              <a:rPr lang="en-US" sz="3600" dirty="0">
                <a:latin typeface="Calibri" charset="0"/>
              </a:rPr>
              <a:t>There are 4 parts in a URL:</a:t>
            </a:r>
            <a:endParaRPr lang="en-US" dirty="0">
              <a:cs typeface="Calibri"/>
            </a:endParaRPr>
          </a:p>
          <a:p>
            <a:pPr lvl="1" algn="just"/>
            <a:r>
              <a:rPr lang="en-US" sz="3200" b="1" i="1" dirty="0">
                <a:latin typeface="Calibri" charset="0"/>
              </a:rPr>
              <a:t>Protocol</a:t>
            </a:r>
            <a:r>
              <a:rPr lang="en-US" sz="3200" b="1" dirty="0">
                <a:latin typeface="Calibri" charset="0"/>
              </a:rPr>
              <a:t>:</a:t>
            </a:r>
            <a:r>
              <a:rPr lang="en-US" sz="3200" dirty="0">
                <a:latin typeface="Calibri" charset="0"/>
              </a:rPr>
              <a:t> The application-level protocol used by the client and server, e.g., HTTP, FTP, and telnet.</a:t>
            </a:r>
          </a:p>
          <a:p>
            <a:pPr lvl="1" algn="just"/>
            <a:r>
              <a:rPr lang="en-US" sz="3200" b="1" i="1" dirty="0">
                <a:latin typeface="Calibri" charset="0"/>
              </a:rPr>
              <a:t>Hostname</a:t>
            </a:r>
            <a:r>
              <a:rPr lang="en-US" sz="3200" b="1" dirty="0">
                <a:latin typeface="Calibri" charset="0"/>
              </a:rPr>
              <a:t>:</a:t>
            </a:r>
            <a:r>
              <a:rPr lang="en-US" sz="3200" dirty="0">
                <a:latin typeface="Calibri" charset="0"/>
              </a:rPr>
              <a:t> The domain name (e.g., </a:t>
            </a:r>
            <a:r>
              <a:rPr lang="en-US" sz="3200" dirty="0">
                <a:latin typeface="Calibri" charset="0"/>
                <a:hlinkClick r:id="rId3"/>
              </a:rPr>
              <a:t>www.nowhere123.com</a:t>
            </a:r>
            <a:r>
              <a:rPr lang="en-US" sz="3200" dirty="0">
                <a:latin typeface="Calibri" charset="0"/>
              </a:rPr>
              <a:t>) or IP address (e.g., 192.128.1.2) of the server.</a:t>
            </a:r>
            <a:endParaRPr lang="en-US" sz="3200" dirty="0">
              <a:latin typeface="Calibri" charset="0"/>
              <a:cs typeface="Calibri"/>
            </a:endParaRPr>
          </a:p>
          <a:p>
            <a:pPr lvl="1" algn="just"/>
            <a:r>
              <a:rPr lang="en-US" sz="3200" b="1" i="1" dirty="0">
                <a:latin typeface="Calibri" charset="0"/>
              </a:rPr>
              <a:t>Port</a:t>
            </a:r>
            <a:r>
              <a:rPr lang="en-US" sz="3200" b="1" dirty="0">
                <a:latin typeface="Calibri" charset="0"/>
              </a:rPr>
              <a:t>:</a:t>
            </a:r>
            <a:r>
              <a:rPr lang="en-US" sz="3200" dirty="0">
                <a:latin typeface="Calibri" charset="0"/>
              </a:rPr>
              <a:t> The TCP port number that the server is listening for incoming requests from the clients.</a:t>
            </a:r>
          </a:p>
          <a:p>
            <a:pPr lvl="1" algn="just"/>
            <a:r>
              <a:rPr lang="en-US" sz="3200" b="1" i="1" dirty="0">
                <a:latin typeface="Calibri" charset="0"/>
              </a:rPr>
              <a:t>Path-and-file-name</a:t>
            </a:r>
            <a:r>
              <a:rPr lang="en-US" sz="3200" b="1" dirty="0">
                <a:latin typeface="Calibri" charset="0"/>
              </a:rPr>
              <a:t>:</a:t>
            </a:r>
            <a:r>
              <a:rPr lang="en-US" sz="3200" dirty="0">
                <a:latin typeface="Calibri" charset="0"/>
              </a:rPr>
              <a:t> The name and location of the requested resource, under the server document base directory.</a:t>
            </a:r>
          </a:p>
          <a:p>
            <a:pPr algn="just"/>
            <a:r>
              <a:rPr lang="en-US" sz="3600" dirty="0">
                <a:latin typeface="Calibri" charset="0"/>
              </a:rPr>
              <a:t>Example, for </a:t>
            </a:r>
            <a:r>
              <a:rPr lang="en-US" sz="3600" dirty="0">
                <a:latin typeface="Calibri" charset="0"/>
                <a:hlinkClick r:id="rId4"/>
              </a:rPr>
              <a:t>http://www.nowhere123.com/docs/index.html</a:t>
            </a:r>
            <a:r>
              <a:rPr lang="en-US" sz="3600" dirty="0">
                <a:latin typeface="Calibri" charset="0"/>
              </a:rPr>
              <a:t> </a:t>
            </a:r>
          </a:p>
          <a:p>
            <a:pPr lvl="1" algn="just"/>
            <a:r>
              <a:rPr lang="en-US" sz="3200" dirty="0">
                <a:latin typeface="Calibri" charset="0"/>
                <a:cs typeface="Calibri"/>
              </a:rPr>
              <a:t>the communication protocol is HTTP</a:t>
            </a:r>
          </a:p>
          <a:p>
            <a:pPr lvl="1" algn="just"/>
            <a:r>
              <a:rPr lang="en-US" sz="3200" dirty="0">
                <a:latin typeface="Calibri" charset="0"/>
                <a:cs typeface="Calibri"/>
              </a:rPr>
              <a:t>he host is </a:t>
            </a:r>
            <a:r>
              <a:rPr lang="en-US" sz="3200" dirty="0">
                <a:latin typeface="Calibri" charset="0"/>
                <a:cs typeface="Calibri"/>
                <a:hlinkClick r:id="rId3"/>
              </a:rPr>
              <a:t>www.nowhere123.com</a:t>
            </a:r>
            <a:r>
              <a:rPr lang="en-US" sz="3200" dirty="0">
                <a:latin typeface="Calibri" charset="0"/>
                <a:cs typeface="Calibri"/>
              </a:rPr>
              <a:t>. </a:t>
            </a:r>
          </a:p>
          <a:p>
            <a:pPr lvl="1" algn="just"/>
            <a:r>
              <a:rPr lang="en-US" sz="3200" dirty="0">
                <a:latin typeface="Calibri" charset="0"/>
                <a:cs typeface="Calibri"/>
              </a:rPr>
              <a:t>The port number was not specified, and takes default number, which is TCP port 80 for HTTP. </a:t>
            </a:r>
          </a:p>
          <a:p>
            <a:pPr lvl="1" algn="just"/>
            <a:r>
              <a:rPr lang="en-US" sz="3200" dirty="0">
                <a:latin typeface="Calibri" charset="0"/>
                <a:cs typeface="Calibri"/>
              </a:rPr>
              <a:t>The path for the resource to be located is "/docs/index.html".</a:t>
            </a:r>
          </a:p>
          <a:p>
            <a:pPr marL="0" indent="0" algn="just">
              <a:buNone/>
            </a:pPr>
            <a:endParaRPr lang="en-US" dirty="0">
              <a:latin typeface="Calibri" charset="0"/>
            </a:endParaRPr>
          </a:p>
          <a:p>
            <a:endParaRPr lang="en-US" dirty="0"/>
          </a:p>
        </p:txBody>
      </p:sp>
    </p:spTree>
    <p:extLst>
      <p:ext uri="{BB962C8B-B14F-4D97-AF65-F5344CB8AC3E}">
        <p14:creationId xmlns:p14="http://schemas.microsoft.com/office/powerpoint/2010/main" val="40091227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127" y="346540"/>
            <a:ext cx="10515600" cy="1325563"/>
          </a:xfrm>
        </p:spPr>
        <p:txBody>
          <a:bodyPr/>
          <a:lstStyle/>
          <a:p>
            <a:r>
              <a:rPr lang="en-US" dirty="0"/>
              <a:t>HTTP: </a:t>
            </a:r>
            <a:r>
              <a:rPr lang="en-US" b="1" dirty="0"/>
              <a:t>The Request</a:t>
            </a:r>
          </a:p>
        </p:txBody>
      </p:sp>
      <p:sp>
        <p:nvSpPr>
          <p:cNvPr id="3" name="Content Placeholder 2"/>
          <p:cNvSpPr>
            <a:spLocks noGrp="1"/>
          </p:cNvSpPr>
          <p:nvPr>
            <p:ph idx="1"/>
          </p:nvPr>
        </p:nvSpPr>
        <p:spPr>
          <a:xfrm>
            <a:off x="1209907" y="1714113"/>
            <a:ext cx="10515600" cy="4351338"/>
          </a:xfrm>
        </p:spPr>
        <p:txBody>
          <a:bodyPr vert="horz" lIns="91440" tIns="45720" rIns="91440" bIns="45720" rtlCol="0" anchor="t">
            <a:normAutofit/>
          </a:bodyPr>
          <a:lstStyle/>
          <a:p>
            <a:r>
              <a:rPr lang="en-US" dirty="0">
                <a:latin typeface="Calibri" charset="0"/>
              </a:rPr>
              <a:t>HTTP clients (e.g. a browser or Python module) translates a URL into a request message according to the specified protocol; and sends the request message to the server.</a:t>
            </a:r>
          </a:p>
          <a:p>
            <a:r>
              <a:rPr lang="en-US" dirty="0">
                <a:latin typeface="Calibri" charset="0"/>
              </a:rPr>
              <a:t>For example, the client translated the URL  </a:t>
            </a:r>
            <a:r>
              <a:rPr lang="en-US" dirty="0">
                <a:latin typeface="Calibri" charset="0"/>
                <a:hlinkClick r:id="rId3"/>
              </a:rPr>
              <a:t>http://www.nowhere123.com/doc/index.html</a:t>
            </a:r>
            <a:r>
              <a:rPr lang="en-US" dirty="0">
                <a:latin typeface="Calibri" charset="0"/>
              </a:rPr>
              <a:t> into the following request message:</a:t>
            </a:r>
            <a:br>
              <a:rPr lang="en-US" b="1" dirty="0">
                <a:latin typeface="Calibri" charset="0"/>
              </a:rPr>
            </a:br>
            <a:br>
              <a:rPr lang="en-US" b="1" dirty="0">
                <a:latin typeface="Calibri" charset="0"/>
              </a:rPr>
            </a:br>
            <a:endParaRPr lang="en-US" dirty="0">
              <a:latin typeface="Arial"/>
            </a:endParaRPr>
          </a:p>
        </p:txBody>
      </p:sp>
      <p:sp>
        <p:nvSpPr>
          <p:cNvPr id="4" name="TextBox 3"/>
          <p:cNvSpPr txBox="1"/>
          <p:nvPr/>
        </p:nvSpPr>
        <p:spPr>
          <a:xfrm>
            <a:off x="1526430" y="4288079"/>
            <a:ext cx="7426712" cy="2031325"/>
          </a:xfrm>
          <a:prstGeom prst="rect">
            <a:avLst/>
          </a:prstGeom>
          <a:solidFill>
            <a:schemeClr val="bg2"/>
          </a:solidFill>
        </p:spPr>
        <p:txBody>
          <a:bodyPr rtlCol="0">
            <a:spAutoFit/>
          </a:bodyPr>
          <a:lstStyle/>
          <a:p>
            <a:r>
              <a:rPr lang="en-US" dirty="0">
                <a:latin typeface="Calibri" charset="0"/>
              </a:rPr>
              <a:t>GET /docs/index.html HTTP/1.1 </a:t>
            </a:r>
            <a:br>
              <a:rPr lang="en-US" dirty="0">
                <a:latin typeface="Calibri" charset="0"/>
              </a:rPr>
            </a:br>
            <a:r>
              <a:rPr lang="en-US" dirty="0">
                <a:latin typeface="Calibri" charset="0"/>
              </a:rPr>
              <a:t>Host: www.nowhere123.com</a:t>
            </a:r>
            <a:r>
              <a:rPr lang="en-US" dirty="0">
                <a:latin typeface="Arial" charset="0"/>
              </a:rPr>
              <a:t> </a:t>
            </a:r>
            <a:br>
              <a:rPr lang="en-US" dirty="0">
                <a:latin typeface="Arial" charset="0"/>
              </a:rPr>
            </a:br>
            <a:r>
              <a:rPr lang="en-US" dirty="0">
                <a:latin typeface="Arial" charset="0"/>
              </a:rPr>
              <a:t>Accept: image/gif, image/jpeg, */* </a:t>
            </a:r>
            <a:br>
              <a:rPr lang="en-US" dirty="0">
                <a:latin typeface="Arial" charset="0"/>
              </a:rPr>
            </a:br>
            <a:r>
              <a:rPr lang="en-US" dirty="0">
                <a:latin typeface="Arial" charset="0"/>
              </a:rPr>
              <a:t>Accept-Language: </a:t>
            </a:r>
            <a:r>
              <a:rPr lang="en-US" dirty="0" err="1">
                <a:latin typeface="Arial" charset="0"/>
              </a:rPr>
              <a:t>en</a:t>
            </a:r>
            <a:r>
              <a:rPr lang="en-US" dirty="0">
                <a:latin typeface="Arial" charset="0"/>
              </a:rPr>
              <a:t>-us </a:t>
            </a:r>
            <a:br>
              <a:rPr lang="en-US" dirty="0">
                <a:latin typeface="Arial" charset="0"/>
              </a:rPr>
            </a:br>
            <a:r>
              <a:rPr lang="en-US" dirty="0">
                <a:latin typeface="Arial" charset="0"/>
              </a:rPr>
              <a:t>Accept-Encoding: </a:t>
            </a:r>
            <a:r>
              <a:rPr lang="en-US" dirty="0" err="1">
                <a:latin typeface="Arial" charset="0"/>
              </a:rPr>
              <a:t>gzip</a:t>
            </a:r>
            <a:r>
              <a:rPr lang="en-US" dirty="0">
                <a:latin typeface="Arial" charset="0"/>
              </a:rPr>
              <a:t>, deflate </a:t>
            </a:r>
            <a:br>
              <a:rPr lang="en-US" dirty="0">
                <a:latin typeface="Arial" charset="0"/>
              </a:rPr>
            </a:br>
            <a:r>
              <a:rPr lang="en-US" dirty="0">
                <a:latin typeface="Arial" charset="0"/>
              </a:rPr>
              <a:t>User-Agent: Mozilla/4.0 (compatible; MSIE 6.0; Windows NT 5.1) </a:t>
            </a:r>
            <a:br>
              <a:rPr lang="en-US" dirty="0">
                <a:latin typeface="Arial" charset="0"/>
              </a:rPr>
            </a:br>
            <a:r>
              <a:rPr lang="en-US" dirty="0">
                <a:latin typeface="Arial" charset="0"/>
              </a:rPr>
              <a:t>(blank line)</a:t>
            </a:r>
          </a:p>
        </p:txBody>
      </p:sp>
    </p:spTree>
    <p:extLst>
      <p:ext uri="{BB962C8B-B14F-4D97-AF65-F5344CB8AC3E}">
        <p14:creationId xmlns:p14="http://schemas.microsoft.com/office/powerpoint/2010/main" val="23745612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HTTP: </a:t>
            </a:r>
            <a:r>
              <a:rPr lang="en-US" b="1" dirty="0"/>
              <a:t>The Response</a:t>
            </a:r>
          </a:p>
        </p:txBody>
      </p:sp>
      <p:sp>
        <p:nvSpPr>
          <p:cNvPr id="3" name="Content Placeholder 2"/>
          <p:cNvSpPr>
            <a:spLocks noGrp="1"/>
          </p:cNvSpPr>
          <p:nvPr>
            <p:ph idx="1"/>
          </p:nvPr>
        </p:nvSpPr>
        <p:spPr>
          <a:xfrm>
            <a:off x="615176" y="1360991"/>
            <a:ext cx="10515600" cy="2529973"/>
          </a:xfrm>
        </p:spPr>
        <p:txBody>
          <a:bodyPr vert="horz" lIns="91440" tIns="45720" rIns="91440" bIns="45720" rtlCol="0" anchor="t">
            <a:normAutofit fontScale="85000" lnSpcReduction="20000"/>
          </a:bodyPr>
          <a:lstStyle/>
          <a:p>
            <a:pPr algn="just"/>
            <a:r>
              <a:rPr lang="en-US" dirty="0">
                <a:latin typeface="Arial"/>
              </a:rPr>
              <a:t>When this request message reaches the server, the server can take either one of these actions:</a:t>
            </a:r>
          </a:p>
          <a:p>
            <a:pPr marL="914400" lvl="1" indent="-457200" algn="just">
              <a:buFont typeface="+mj-lt"/>
              <a:buAutoNum type="arabicPeriod"/>
            </a:pPr>
            <a:r>
              <a:rPr lang="en-US" dirty="0">
                <a:latin typeface="Arial"/>
              </a:rPr>
              <a:t>The server interprets the request received, maps the request into a file under the server's document directory, and returns the file requested to the client.</a:t>
            </a:r>
          </a:p>
          <a:p>
            <a:pPr marL="914400" lvl="1" indent="-457200" algn="just">
              <a:buFont typeface="+mj-lt"/>
              <a:buAutoNum type="arabicPeriod"/>
            </a:pPr>
            <a:r>
              <a:rPr lang="en-US" dirty="0">
                <a:latin typeface="Arial"/>
              </a:rPr>
              <a:t>The server interprets the request received, maps the request into a program kept in the server, executes the program, and returns the output of the program to the client.</a:t>
            </a:r>
          </a:p>
          <a:p>
            <a:pPr marL="914400" lvl="1" indent="-457200" algn="just">
              <a:buFont typeface="+mj-lt"/>
              <a:buAutoNum type="arabicPeriod"/>
            </a:pPr>
            <a:r>
              <a:rPr lang="en-US" dirty="0">
                <a:latin typeface="Arial"/>
              </a:rPr>
              <a:t>The request cannot be satisfied, the server returns an error message.</a:t>
            </a:r>
            <a:endParaRPr lang="en-US" b="1" dirty="0">
              <a:latin typeface="Calibri" charset="0"/>
            </a:endParaRPr>
          </a:p>
          <a:p>
            <a:pPr marL="0" indent="0" algn="just">
              <a:buNone/>
            </a:pPr>
            <a:r>
              <a:rPr lang="en-US" dirty="0">
                <a:latin typeface="Arial"/>
              </a:rPr>
              <a:t>An example of the HTTP response message is below:</a:t>
            </a:r>
          </a:p>
          <a:p>
            <a:pPr marL="0" indent="0" algn="just">
              <a:buNone/>
            </a:pPr>
            <a:endParaRPr lang="en-US" b="1" dirty="0">
              <a:latin typeface="Calibri" charset="0"/>
            </a:endParaRPr>
          </a:p>
          <a:p>
            <a:pPr marL="0" indent="0">
              <a:buNone/>
            </a:pPr>
            <a:endParaRPr lang="en-US" b="1" dirty="0">
              <a:latin typeface="Calibri" charset="0"/>
            </a:endParaRPr>
          </a:p>
        </p:txBody>
      </p:sp>
      <p:sp>
        <p:nvSpPr>
          <p:cNvPr id="4" name="TextBox 3"/>
          <p:cNvSpPr txBox="1"/>
          <p:nvPr/>
        </p:nvSpPr>
        <p:spPr>
          <a:xfrm>
            <a:off x="1342444" y="4207357"/>
            <a:ext cx="6683297" cy="2585323"/>
          </a:xfrm>
          <a:prstGeom prst="rect">
            <a:avLst/>
          </a:prstGeom>
          <a:solidFill>
            <a:schemeClr val="bg2"/>
          </a:solidFill>
        </p:spPr>
        <p:txBody>
          <a:bodyPr rtlCol="0">
            <a:spAutoFit/>
          </a:bodyPr>
          <a:lstStyle/>
          <a:p>
            <a:r>
              <a:rPr lang="en-US" b="1" dirty="0">
                <a:latin typeface="Arial"/>
              </a:rPr>
              <a:t>HTTP/1.1 200 OK</a:t>
            </a:r>
            <a:r>
              <a:rPr lang="en-US" dirty="0">
                <a:latin typeface="Arial"/>
              </a:rPr>
              <a:t> </a:t>
            </a:r>
          </a:p>
          <a:p>
            <a:r>
              <a:rPr lang="en-US" dirty="0">
                <a:latin typeface="Arial"/>
              </a:rPr>
              <a:t>Date: Sun, 18 Oct 2009 08:56:53 GMT </a:t>
            </a:r>
          </a:p>
          <a:p>
            <a:r>
              <a:rPr lang="en-US" dirty="0">
                <a:latin typeface="Arial"/>
              </a:rPr>
              <a:t>Server: Apache/2.2.14 (Win32) </a:t>
            </a:r>
          </a:p>
          <a:p>
            <a:r>
              <a:rPr lang="en-US" dirty="0">
                <a:latin typeface="Arial"/>
              </a:rPr>
              <a:t>Last-Modified: Sat, 20 Nov 2004 07:16:26 GMT </a:t>
            </a:r>
          </a:p>
          <a:p>
            <a:r>
              <a:rPr lang="en-US" dirty="0">
                <a:latin typeface="Arial"/>
              </a:rPr>
              <a:t>Content-Length: 44 </a:t>
            </a:r>
          </a:p>
          <a:p>
            <a:r>
              <a:rPr lang="en-US" dirty="0">
                <a:latin typeface="Arial"/>
              </a:rPr>
              <a:t>Connection: close </a:t>
            </a:r>
          </a:p>
          <a:p>
            <a:r>
              <a:rPr lang="en-US" b="1" dirty="0">
                <a:latin typeface="Arial"/>
              </a:rPr>
              <a:t>Content-Type: text/html</a:t>
            </a:r>
          </a:p>
          <a:p>
            <a:br>
              <a:rPr lang="en-US" b="1" dirty="0">
                <a:latin typeface="Arial"/>
              </a:rPr>
            </a:br>
            <a:r>
              <a:rPr lang="en-US" dirty="0">
                <a:latin typeface="Arial"/>
              </a:rPr>
              <a:t> </a:t>
            </a:r>
            <a:r>
              <a:rPr lang="en-US" b="1" dirty="0">
                <a:latin typeface="Arial"/>
              </a:rPr>
              <a:t>&lt;html&gt;&lt;body&gt;&lt;h1&gt;It works!&lt;/h1&gt;&lt;/body&gt;&lt;/html&gt;</a:t>
            </a:r>
            <a:r>
              <a:rPr lang="en-US" dirty="0">
                <a:latin typeface="Arial"/>
              </a:rPr>
              <a:t> </a:t>
            </a:r>
          </a:p>
        </p:txBody>
      </p:sp>
    </p:spTree>
    <p:extLst>
      <p:ext uri="{BB962C8B-B14F-4D97-AF65-F5344CB8AC3E}">
        <p14:creationId xmlns:p14="http://schemas.microsoft.com/office/powerpoint/2010/main" val="29399945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27CA643-5971-4B09-B9F3-1E18BA7B2816}"/>
              </a:ext>
            </a:extLst>
          </p:cNvPr>
          <p:cNvSpPr>
            <a:spLocks noGrp="1"/>
          </p:cNvSpPr>
          <p:nvPr>
            <p:ph type="title"/>
          </p:nvPr>
        </p:nvSpPr>
        <p:spPr>
          <a:xfrm>
            <a:off x="630936" y="640080"/>
            <a:ext cx="4818888" cy="1481328"/>
          </a:xfrm>
        </p:spPr>
        <p:txBody>
          <a:bodyPr anchor="b">
            <a:normAutofit/>
          </a:bodyPr>
          <a:lstStyle/>
          <a:p>
            <a:r>
              <a:rPr lang="en-IE" sz="4200"/>
              <a:t>HTTP Protocol: </a:t>
            </a:r>
            <a:r>
              <a:rPr lang="en-IE" sz="4200" b="1"/>
              <a:t>Content-Type Header</a:t>
            </a:r>
          </a:p>
        </p:txBody>
      </p:sp>
      <p:sp>
        <p:nvSpPr>
          <p:cNvPr id="21"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8A31408-505F-427F-AC27-C2FF67A7B47F}"/>
              </a:ext>
            </a:extLst>
          </p:cNvPr>
          <p:cNvSpPr>
            <a:spLocks noGrp="1"/>
          </p:cNvSpPr>
          <p:nvPr>
            <p:ph idx="1"/>
          </p:nvPr>
        </p:nvSpPr>
        <p:spPr>
          <a:xfrm>
            <a:off x="630936" y="2660904"/>
            <a:ext cx="4818888" cy="3547872"/>
          </a:xfrm>
        </p:spPr>
        <p:txBody>
          <a:bodyPr anchor="t">
            <a:normAutofit/>
          </a:bodyPr>
          <a:lstStyle/>
          <a:p>
            <a:r>
              <a:rPr lang="en-GB" sz="2000"/>
              <a:t>The Content-Type tells the client what the content type of the returned content.</a:t>
            </a:r>
          </a:p>
          <a:p>
            <a:r>
              <a:rPr lang="en-GB" sz="2000"/>
              <a:t>Also known as “MIME” ,”media type”, "content type") 	</a:t>
            </a:r>
          </a:p>
          <a:p>
            <a:pPr lvl="1"/>
            <a:r>
              <a:rPr lang="en-GB" sz="2000"/>
              <a:t>a video file might be </a:t>
            </a:r>
            <a:r>
              <a:rPr lang="en-GB" sz="2000" b="1"/>
              <a:t>audio/mpeg</a:t>
            </a:r>
            <a:r>
              <a:rPr lang="en-GB" sz="2000"/>
              <a:t>, or an image file </a:t>
            </a:r>
            <a:r>
              <a:rPr lang="en-GB" sz="2000" b="1"/>
              <a:t>image/png</a:t>
            </a:r>
            <a:r>
              <a:rPr lang="en-GB" sz="2000"/>
              <a:t>).</a:t>
            </a:r>
          </a:p>
          <a:p>
            <a:r>
              <a:rPr lang="en-GB" sz="2000"/>
              <a:t>The Internet Assigned Numbers Authority (IANA) is the official authority for the standardization and publication of these classifications.</a:t>
            </a:r>
          </a:p>
          <a:p>
            <a:endParaRPr lang="en-IE" sz="2000"/>
          </a:p>
        </p:txBody>
      </p:sp>
      <p:pic>
        <p:nvPicPr>
          <p:cNvPr id="6" name="Picture 5" descr="Icon&#10;&#10;Description automatically generated with medium confidence">
            <a:extLst>
              <a:ext uri="{FF2B5EF4-FFF2-40B4-BE49-F238E27FC236}">
                <a16:creationId xmlns:a16="http://schemas.microsoft.com/office/drawing/2014/main" id="{5381429E-38CC-468F-9D77-1F71F75099A0}"/>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1049" r="26618" b="-2"/>
          <a:stretch/>
        </p:blipFill>
        <p:spPr>
          <a:xfrm>
            <a:off x="6099048" y="1403730"/>
            <a:ext cx="5458968" cy="4050539"/>
          </a:xfrm>
          <a:prstGeom prst="rect">
            <a:avLst/>
          </a:prstGeom>
        </p:spPr>
      </p:pic>
    </p:spTree>
    <p:extLst>
      <p:ext uri="{BB962C8B-B14F-4D97-AF65-F5344CB8AC3E}">
        <p14:creationId xmlns:p14="http://schemas.microsoft.com/office/powerpoint/2010/main" val="21669425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HTTP: </a:t>
            </a:r>
            <a:r>
              <a:rPr lang="en-US" b="1" dirty="0"/>
              <a:t>The URL Query String</a:t>
            </a:r>
          </a:p>
        </p:txBody>
      </p:sp>
      <p:sp>
        <p:nvSpPr>
          <p:cNvPr id="3" name="Content Placeholder 2"/>
          <p:cNvSpPr>
            <a:spLocks noGrp="1"/>
          </p:cNvSpPr>
          <p:nvPr>
            <p:ph idx="1"/>
          </p:nvPr>
        </p:nvSpPr>
        <p:spPr/>
        <p:txBody>
          <a:bodyPr vert="horz" lIns="91440" tIns="45720" rIns="91440" bIns="45720" rtlCol="0" anchor="t">
            <a:normAutofit/>
          </a:bodyPr>
          <a:lstStyle/>
          <a:p>
            <a:r>
              <a:rPr lang="en-US" dirty="0">
                <a:latin typeface="Calibri" charset="0"/>
              </a:rPr>
              <a:t>Query string used to include data in a URL. For example</a:t>
            </a:r>
          </a:p>
          <a:p>
            <a:endParaRPr lang="en-US" dirty="0">
              <a:latin typeface="Calibri" charset="0"/>
            </a:endParaRPr>
          </a:p>
          <a:p>
            <a:pPr marL="0" indent="0">
              <a:buNone/>
            </a:pPr>
            <a:r>
              <a:rPr lang="en-US" dirty="0">
                <a:latin typeface="Calibri" charset="0"/>
                <a:hlinkClick r:id="rId3"/>
              </a:rPr>
              <a:t>https://www.myhome.com/heating?status=on</a:t>
            </a:r>
            <a:endParaRPr lang="en-US" dirty="0">
              <a:latin typeface="Calibri" charset="0"/>
              <a:cs typeface="Calibri"/>
              <a:hlinkClick r:id="rId3"/>
            </a:endParaRPr>
          </a:p>
          <a:p>
            <a:pPr marL="0" indent="0">
              <a:buNone/>
            </a:pPr>
            <a:endParaRPr lang="en-US" dirty="0">
              <a:latin typeface="Calibri" charset="0"/>
            </a:endParaRPr>
          </a:p>
          <a:p>
            <a:r>
              <a:rPr lang="en-US" dirty="0">
                <a:solidFill>
                  <a:srgbClr val="252525"/>
                </a:solidFill>
                <a:latin typeface="sans-serif" charset="0"/>
              </a:rPr>
              <a:t>The server can use the query string to execute logic associated with that resource. In this example, it could be used to set the status of the resource (heating) to true.</a:t>
            </a:r>
          </a:p>
          <a:p>
            <a:r>
              <a:rPr lang="en-US" dirty="0">
                <a:solidFill>
                  <a:srgbClr val="252525"/>
                </a:solidFill>
                <a:latin typeface="sans-serif" charset="0"/>
              </a:rPr>
              <a:t>Remember </a:t>
            </a:r>
            <a:r>
              <a:rPr lang="en-US" dirty="0" err="1">
                <a:solidFill>
                  <a:srgbClr val="252525"/>
                </a:solidFill>
                <a:latin typeface="sans-serif" charset="0"/>
              </a:rPr>
              <a:t>OpenWeather</a:t>
            </a:r>
            <a:r>
              <a:rPr lang="en-US" dirty="0">
                <a:solidFill>
                  <a:srgbClr val="252525"/>
                </a:solidFill>
                <a:latin typeface="sans-serif" charset="0"/>
              </a:rPr>
              <a:t> API…</a:t>
            </a:r>
          </a:p>
        </p:txBody>
      </p:sp>
      <p:sp>
        <p:nvSpPr>
          <p:cNvPr id="5" name="Line Callout 2 4"/>
          <p:cNvSpPr/>
          <p:nvPr/>
        </p:nvSpPr>
        <p:spPr>
          <a:xfrm>
            <a:off x="7304119" y="2308952"/>
            <a:ext cx="914400" cy="612648"/>
          </a:xfrm>
          <a:prstGeom prst="borderCallout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Query String</a:t>
            </a:r>
          </a:p>
        </p:txBody>
      </p:sp>
    </p:spTree>
    <p:extLst>
      <p:ext uri="{BB962C8B-B14F-4D97-AF65-F5344CB8AC3E}">
        <p14:creationId xmlns:p14="http://schemas.microsoft.com/office/powerpoint/2010/main" val="33229418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24741" y="620392"/>
            <a:ext cx="3808268" cy="5504688"/>
          </a:xfrm>
        </p:spPr>
        <p:txBody>
          <a:bodyPr>
            <a:normAutofit/>
          </a:bodyPr>
          <a:lstStyle/>
          <a:p>
            <a:r>
              <a:rPr lang="en-US" sz="6000" dirty="0"/>
              <a:t>HTTP Methods</a:t>
            </a:r>
            <a:br>
              <a:rPr lang="en-US" sz="6000" dirty="0"/>
            </a:br>
            <a:r>
              <a:rPr lang="en-US" sz="6000" dirty="0"/>
              <a:t>(“typical uses”)</a:t>
            </a:r>
          </a:p>
        </p:txBody>
      </p:sp>
      <p:sp>
        <p:nvSpPr>
          <p:cNvPr id="9" name="Rectangle 8">
            <a:extLst>
              <a:ext uri="{FF2B5EF4-FFF2-40B4-BE49-F238E27FC236}">
                <a16:creationId xmlns:a16="http://schemas.microsoft.com/office/drawing/2014/main" id="{5D84EFE8-C53A-44C4-B289-D1B42CF690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032938" y="-6032938"/>
            <a:ext cx="126124" cy="12192000"/>
          </a:xfrm>
          <a:prstGeom prst="rect">
            <a:avLst/>
          </a:prstGeom>
          <a:solidFill>
            <a:srgbClr val="4472C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21" name="Content Placeholder 2">
            <a:extLst>
              <a:ext uri="{FF2B5EF4-FFF2-40B4-BE49-F238E27FC236}">
                <a16:creationId xmlns:a16="http://schemas.microsoft.com/office/drawing/2014/main" id="{70749E37-1630-41EE-888C-0DCEAAC63C14}"/>
              </a:ext>
            </a:extLst>
          </p:cNvPr>
          <p:cNvGraphicFramePr>
            <a:graphicFrameLocks noGrp="1"/>
          </p:cNvGraphicFramePr>
          <p:nvPr>
            <p:ph idx="1"/>
            <p:extLst>
              <p:ext uri="{D42A27DB-BD31-4B8C-83A1-F6EECF244321}">
                <p14:modId xmlns:p14="http://schemas.microsoft.com/office/powerpoint/2010/main" val="2500150095"/>
              </p:ext>
            </p:extLst>
          </p:nvPr>
        </p:nvGraphicFramePr>
        <p:xfrm>
          <a:off x="5093208"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805845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8AFFB-FCC7-4286-D768-85397AF66FF1}"/>
              </a:ext>
            </a:extLst>
          </p:cNvPr>
          <p:cNvSpPr>
            <a:spLocks noGrp="1"/>
          </p:cNvSpPr>
          <p:nvPr>
            <p:ph type="title"/>
          </p:nvPr>
        </p:nvSpPr>
        <p:spPr/>
        <p:txBody>
          <a:bodyPr/>
          <a:lstStyle/>
          <a:p>
            <a:r>
              <a:rPr lang="en-IE" dirty="0"/>
              <a:t>HTTP: The Body</a:t>
            </a:r>
          </a:p>
        </p:txBody>
      </p:sp>
      <p:sp>
        <p:nvSpPr>
          <p:cNvPr id="3" name="Content Placeholder 2">
            <a:extLst>
              <a:ext uri="{FF2B5EF4-FFF2-40B4-BE49-F238E27FC236}">
                <a16:creationId xmlns:a16="http://schemas.microsoft.com/office/drawing/2014/main" id="{2E67E05A-BF28-BDE0-5157-BB90E84551BB}"/>
              </a:ext>
            </a:extLst>
          </p:cNvPr>
          <p:cNvSpPr>
            <a:spLocks noGrp="1"/>
          </p:cNvSpPr>
          <p:nvPr>
            <p:ph idx="1"/>
          </p:nvPr>
        </p:nvSpPr>
        <p:spPr/>
        <p:txBody>
          <a:bodyPr/>
          <a:lstStyle/>
          <a:p>
            <a:pPr lvl="0">
              <a:defRPr b="1"/>
            </a:pPr>
            <a:r>
              <a:rPr lang="en-GB" b="0" i="0" dirty="0"/>
              <a:t>An optional </a:t>
            </a:r>
            <a:r>
              <a:rPr lang="en-GB" b="0" i="1" dirty="0"/>
              <a:t>body</a:t>
            </a:r>
            <a:r>
              <a:rPr lang="en-GB" b="0" i="0" dirty="0"/>
              <a:t> containing data associated with the message.</a:t>
            </a:r>
            <a:endParaRPr lang="en-US" dirty="0"/>
          </a:p>
          <a:p>
            <a:pPr lvl="0">
              <a:defRPr b="1"/>
            </a:pPr>
            <a:r>
              <a:rPr lang="en-GB" dirty="0"/>
              <a:t>For a HTTP request, the body can contain:</a:t>
            </a:r>
            <a:endParaRPr lang="en-US" dirty="0"/>
          </a:p>
          <a:p>
            <a:pPr lvl="1"/>
            <a:r>
              <a:rPr lang="en-GB" b="0" i="0" dirty="0"/>
              <a:t>content of an HTML form</a:t>
            </a:r>
            <a:endParaRPr lang="en-US" dirty="0"/>
          </a:p>
          <a:p>
            <a:pPr lvl="1"/>
            <a:r>
              <a:rPr lang="en-GB" b="1" dirty="0"/>
              <a:t>c</a:t>
            </a:r>
            <a:r>
              <a:rPr lang="en-GB" b="1" i="0" dirty="0"/>
              <a:t>ommands for a device </a:t>
            </a:r>
            <a:endParaRPr lang="en-US" b="1" dirty="0"/>
          </a:p>
          <a:p>
            <a:pPr lvl="0">
              <a:defRPr b="1"/>
            </a:pPr>
            <a:r>
              <a:rPr lang="en-GB" dirty="0"/>
              <a:t>For a HTTP response, the body can be:</a:t>
            </a:r>
            <a:endParaRPr lang="en-US" dirty="0"/>
          </a:p>
          <a:p>
            <a:pPr lvl="1"/>
            <a:r>
              <a:rPr lang="en-GB" dirty="0"/>
              <a:t>data</a:t>
            </a:r>
            <a:r>
              <a:rPr lang="en-GB" b="0" i="0" dirty="0"/>
              <a:t> associated with a response. </a:t>
            </a:r>
            <a:endParaRPr lang="en-US" dirty="0"/>
          </a:p>
          <a:p>
            <a:pPr lvl="0">
              <a:defRPr b="1"/>
            </a:pPr>
            <a:r>
              <a:rPr lang="en-GB" b="0" i="0" dirty="0"/>
              <a:t>The presence of the body and its format is specified by the start-line and HTTP headers.</a:t>
            </a:r>
            <a:endParaRPr lang="en-US" dirty="0"/>
          </a:p>
          <a:p>
            <a:endParaRPr lang="en-IE" dirty="0"/>
          </a:p>
        </p:txBody>
      </p:sp>
    </p:spTree>
    <p:extLst>
      <p:ext uri="{BB962C8B-B14F-4D97-AF65-F5344CB8AC3E}">
        <p14:creationId xmlns:p14="http://schemas.microsoft.com/office/powerpoint/2010/main" val="6630705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lose up of a device&#10;&#10;Description generated with very high confidence">
            <a:extLst>
              <a:ext uri="{FF2B5EF4-FFF2-40B4-BE49-F238E27FC236}">
                <a16:creationId xmlns:a16="http://schemas.microsoft.com/office/drawing/2014/main" id="{FDC7C3FD-30C2-4FE7-8B0E-783BB8308346}"/>
              </a:ext>
            </a:extLst>
          </p:cNvPr>
          <p:cNvPicPr>
            <a:picLocks noChangeAspect="1"/>
          </p:cNvPicPr>
          <p:nvPr/>
        </p:nvPicPr>
        <p:blipFill>
          <a:blip r:embed="rId2"/>
          <a:stretch>
            <a:fillRect/>
          </a:stretch>
        </p:blipFill>
        <p:spPr>
          <a:xfrm>
            <a:off x="6070311" y="3245188"/>
            <a:ext cx="1353901" cy="1390640"/>
          </a:xfrm>
          <a:prstGeom prst="rect">
            <a:avLst/>
          </a:prstGeom>
        </p:spPr>
      </p:pic>
      <p:pic>
        <p:nvPicPr>
          <p:cNvPr id="3" name="Picture 2" descr="A close up of a logo&#10;&#10;Description generated with very high confidence">
            <a:extLst>
              <a:ext uri="{FF2B5EF4-FFF2-40B4-BE49-F238E27FC236}">
                <a16:creationId xmlns:a16="http://schemas.microsoft.com/office/drawing/2014/main" id="{51015C5D-FE6B-4B41-BB71-196E38A81C0B}"/>
              </a:ext>
            </a:extLst>
          </p:cNvPr>
          <p:cNvPicPr>
            <a:picLocks noChangeAspect="1"/>
          </p:cNvPicPr>
          <p:nvPr/>
        </p:nvPicPr>
        <p:blipFill>
          <a:blip r:embed="rId3"/>
          <a:stretch>
            <a:fillRect/>
          </a:stretch>
        </p:blipFill>
        <p:spPr>
          <a:xfrm>
            <a:off x="2723625" y="3370087"/>
            <a:ext cx="770618" cy="1123042"/>
          </a:xfrm>
          <a:prstGeom prst="rect">
            <a:avLst/>
          </a:prstGeom>
        </p:spPr>
      </p:pic>
      <p:sp>
        <p:nvSpPr>
          <p:cNvPr id="10" name="Speech Bubble: Rectangle with Corners Rounded 9">
            <a:extLst>
              <a:ext uri="{FF2B5EF4-FFF2-40B4-BE49-F238E27FC236}">
                <a16:creationId xmlns:a16="http://schemas.microsoft.com/office/drawing/2014/main" id="{C94A3CFF-9B7C-4141-91A1-D61B8E109DB7}"/>
              </a:ext>
            </a:extLst>
          </p:cNvPr>
          <p:cNvSpPr/>
          <p:nvPr/>
        </p:nvSpPr>
        <p:spPr>
          <a:xfrm>
            <a:off x="2463800" y="2433246"/>
            <a:ext cx="1848756" cy="812220"/>
          </a:xfrm>
          <a:prstGeom prst="wedgeRoundRectCallou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400" dirty="0">
                <a:cs typeface="Calibri"/>
              </a:rPr>
              <a:t>Post </a:t>
            </a:r>
            <a:r>
              <a:rPr lang="en-IE" sz="1400" b="0" i="0" dirty="0">
                <a:solidFill>
                  <a:srgbClr val="303030"/>
                </a:solidFill>
                <a:effectLst/>
                <a:latin typeface="Gudea"/>
              </a:rPr>
              <a:t>{“</a:t>
            </a:r>
            <a:r>
              <a:rPr lang="en-IE" sz="1400" b="0" i="0" dirty="0" err="1">
                <a:solidFill>
                  <a:srgbClr val="303030"/>
                </a:solidFill>
                <a:effectLst/>
                <a:latin typeface="Gudea"/>
              </a:rPr>
              <a:t>state”:”on</a:t>
            </a:r>
            <a:r>
              <a:rPr lang="en-IE" sz="1400" b="0" i="0" dirty="0">
                <a:solidFill>
                  <a:srgbClr val="303030"/>
                </a:solidFill>
                <a:effectLst/>
                <a:latin typeface="Gudea"/>
              </a:rPr>
              <a:t>”}</a:t>
            </a:r>
            <a:r>
              <a:rPr lang="en-US" sz="1400" dirty="0">
                <a:cs typeface="Calibri"/>
              </a:rPr>
              <a:t> to the resource at /light</a:t>
            </a:r>
            <a:endParaRPr lang="en-US" sz="1050" dirty="0">
              <a:cs typeface="Calibri"/>
            </a:endParaRPr>
          </a:p>
        </p:txBody>
      </p:sp>
      <p:sp>
        <p:nvSpPr>
          <p:cNvPr id="13" name="Title 1">
            <a:extLst>
              <a:ext uri="{FF2B5EF4-FFF2-40B4-BE49-F238E27FC236}">
                <a16:creationId xmlns:a16="http://schemas.microsoft.com/office/drawing/2014/main" id="{307B9C9B-9F4A-41FF-B0C9-B4B4B334A1F7}"/>
              </a:ext>
            </a:extLst>
          </p:cNvPr>
          <p:cNvSpPr txBox="1">
            <a:spLocks/>
          </p:cNvSpPr>
          <p:nvPr/>
        </p:nvSpPr>
        <p:spPr>
          <a:xfrm>
            <a:off x="838200" y="365125"/>
            <a:ext cx="10515600" cy="1325563"/>
          </a:xfrm>
          <a:prstGeom prst="rect">
            <a:avLst/>
          </a:prstGeom>
        </p:spPr>
        <p:txBody>
          <a:bodyPr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HTTP API for IOT Example</a:t>
            </a:r>
          </a:p>
        </p:txBody>
      </p:sp>
      <p:pic>
        <p:nvPicPr>
          <p:cNvPr id="12" name="Picture 13" descr="A close up of a logo&#10;&#10;Description generated with very high confidence">
            <a:extLst>
              <a:ext uri="{FF2B5EF4-FFF2-40B4-BE49-F238E27FC236}">
                <a16:creationId xmlns:a16="http://schemas.microsoft.com/office/drawing/2014/main" id="{04CBD9E2-BF5C-4657-807A-7E4D5C7A9F5B}"/>
              </a:ext>
            </a:extLst>
          </p:cNvPr>
          <p:cNvPicPr>
            <a:picLocks noChangeAspect="1"/>
          </p:cNvPicPr>
          <p:nvPr/>
        </p:nvPicPr>
        <p:blipFill>
          <a:blip r:embed="rId4"/>
          <a:stretch>
            <a:fillRect/>
          </a:stretch>
        </p:blipFill>
        <p:spPr>
          <a:xfrm>
            <a:off x="6313688" y="2079171"/>
            <a:ext cx="807411" cy="1366158"/>
          </a:xfrm>
          <a:prstGeom prst="rect">
            <a:avLst/>
          </a:prstGeom>
        </p:spPr>
      </p:pic>
    </p:spTree>
    <p:extLst>
      <p:ext uri="{BB962C8B-B14F-4D97-AF65-F5344CB8AC3E}">
        <p14:creationId xmlns:p14="http://schemas.microsoft.com/office/powerpoint/2010/main" val="17161562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lose up of a device&#10;&#10;Description generated with very high confidence">
            <a:extLst>
              <a:ext uri="{FF2B5EF4-FFF2-40B4-BE49-F238E27FC236}">
                <a16:creationId xmlns:a16="http://schemas.microsoft.com/office/drawing/2014/main" id="{FDC7C3FD-30C2-4FE7-8B0E-783BB8308346}"/>
              </a:ext>
            </a:extLst>
          </p:cNvPr>
          <p:cNvPicPr>
            <a:picLocks noChangeAspect="1"/>
          </p:cNvPicPr>
          <p:nvPr/>
        </p:nvPicPr>
        <p:blipFill>
          <a:blip r:embed="rId2"/>
          <a:stretch>
            <a:fillRect/>
          </a:stretch>
        </p:blipFill>
        <p:spPr>
          <a:xfrm>
            <a:off x="6070311" y="3245188"/>
            <a:ext cx="1353901" cy="1390640"/>
          </a:xfrm>
          <a:prstGeom prst="rect">
            <a:avLst/>
          </a:prstGeom>
        </p:spPr>
      </p:pic>
      <p:pic>
        <p:nvPicPr>
          <p:cNvPr id="3" name="Picture 2" descr="A close up of a logo&#10;&#10;Description generated with very high confidence">
            <a:extLst>
              <a:ext uri="{FF2B5EF4-FFF2-40B4-BE49-F238E27FC236}">
                <a16:creationId xmlns:a16="http://schemas.microsoft.com/office/drawing/2014/main" id="{51015C5D-FE6B-4B41-BB71-196E38A81C0B}"/>
              </a:ext>
            </a:extLst>
          </p:cNvPr>
          <p:cNvPicPr>
            <a:picLocks noChangeAspect="1"/>
          </p:cNvPicPr>
          <p:nvPr/>
        </p:nvPicPr>
        <p:blipFill>
          <a:blip r:embed="rId3"/>
          <a:stretch>
            <a:fillRect/>
          </a:stretch>
        </p:blipFill>
        <p:spPr>
          <a:xfrm>
            <a:off x="2723625" y="3370087"/>
            <a:ext cx="770618" cy="1123042"/>
          </a:xfrm>
          <a:prstGeom prst="rect">
            <a:avLst/>
          </a:prstGeom>
        </p:spPr>
      </p:pic>
      <p:sp>
        <p:nvSpPr>
          <p:cNvPr id="4" name="Arrow: Right 3">
            <a:extLst>
              <a:ext uri="{FF2B5EF4-FFF2-40B4-BE49-F238E27FC236}">
                <a16:creationId xmlns:a16="http://schemas.microsoft.com/office/drawing/2014/main" id="{C083CDA4-9943-48EE-A92E-9951ECE15D74}"/>
              </a:ext>
            </a:extLst>
          </p:cNvPr>
          <p:cNvSpPr/>
          <p:nvPr/>
        </p:nvSpPr>
        <p:spPr>
          <a:xfrm>
            <a:off x="3556652" y="3721898"/>
            <a:ext cx="2584050" cy="23063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 name="TextBox 4">
            <a:extLst>
              <a:ext uri="{FF2B5EF4-FFF2-40B4-BE49-F238E27FC236}">
                <a16:creationId xmlns:a16="http://schemas.microsoft.com/office/drawing/2014/main" id="{11120880-DE66-4D4A-A5A2-1AD1D60D0C89}"/>
              </a:ext>
            </a:extLst>
          </p:cNvPr>
          <p:cNvSpPr txBox="1"/>
          <p:nvPr/>
        </p:nvSpPr>
        <p:spPr>
          <a:xfrm>
            <a:off x="3581400" y="3463471"/>
            <a:ext cx="2743200" cy="369332"/>
          </a:xfrm>
          <a:prstGeom prst="rect">
            <a:avLst/>
          </a:prstGeom>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HTTP Request</a:t>
            </a:r>
          </a:p>
        </p:txBody>
      </p:sp>
      <p:sp>
        <p:nvSpPr>
          <p:cNvPr id="6" name="TextBox 5">
            <a:extLst>
              <a:ext uri="{FF2B5EF4-FFF2-40B4-BE49-F238E27FC236}">
                <a16:creationId xmlns:a16="http://schemas.microsoft.com/office/drawing/2014/main" id="{01E43D99-5F4E-4219-84A8-5A6D09117FAD}"/>
              </a:ext>
            </a:extLst>
          </p:cNvPr>
          <p:cNvSpPr txBox="1"/>
          <p:nvPr/>
        </p:nvSpPr>
        <p:spPr>
          <a:xfrm>
            <a:off x="3962399" y="3907971"/>
            <a:ext cx="1917699" cy="738664"/>
          </a:xfrm>
          <a:prstGeom prst="rect">
            <a:avLst/>
          </a:prstGeom>
          <a:ln>
            <a:solidFill>
              <a:schemeClr val="tx1">
                <a:lumMod val="95000"/>
                <a:lumOff val="5000"/>
              </a:schemeClr>
            </a:solidFill>
          </a:ln>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 </a:t>
            </a:r>
            <a:r>
              <a:rPr lang="en-US" sz="1200" dirty="0"/>
              <a:t>POST</a:t>
            </a:r>
            <a:r>
              <a:rPr lang="en-US" sz="1200" dirty="0">
                <a:cs typeface="Calibri"/>
              </a:rPr>
              <a:t> /light</a:t>
            </a:r>
            <a:br>
              <a:rPr lang="en-US" sz="1200" dirty="0">
                <a:cs typeface="Calibri"/>
              </a:rPr>
            </a:br>
            <a:r>
              <a:rPr lang="en-IE" sz="1200" b="0" i="0" dirty="0">
                <a:solidFill>
                  <a:srgbClr val="303030"/>
                </a:solidFill>
                <a:effectLst/>
                <a:latin typeface="Gudea"/>
              </a:rPr>
              <a:t>{“</a:t>
            </a:r>
            <a:r>
              <a:rPr lang="en-IE" sz="1200" b="0" i="0" dirty="0" err="1">
                <a:solidFill>
                  <a:srgbClr val="303030"/>
                </a:solidFill>
                <a:effectLst/>
                <a:latin typeface="Gudea"/>
              </a:rPr>
              <a:t>state”:”on</a:t>
            </a:r>
            <a:r>
              <a:rPr lang="en-IE" sz="1200" b="0" i="0" dirty="0">
                <a:solidFill>
                  <a:srgbClr val="303030"/>
                </a:solidFill>
                <a:effectLst/>
                <a:latin typeface="Gudea"/>
              </a:rPr>
              <a:t>”}</a:t>
            </a:r>
            <a:endParaRPr lang="en-US" sz="1200" dirty="0">
              <a:cs typeface="Calibri"/>
            </a:endParaRPr>
          </a:p>
          <a:p>
            <a:pPr algn="ctr"/>
            <a:r>
              <a:rPr lang="en-US" sz="1200" dirty="0">
                <a:cs typeface="Calibri"/>
              </a:rPr>
              <a:t>…....</a:t>
            </a:r>
          </a:p>
        </p:txBody>
      </p:sp>
      <p:sp>
        <p:nvSpPr>
          <p:cNvPr id="13" name="Title 1">
            <a:extLst>
              <a:ext uri="{FF2B5EF4-FFF2-40B4-BE49-F238E27FC236}">
                <a16:creationId xmlns:a16="http://schemas.microsoft.com/office/drawing/2014/main" id="{307B9C9B-9F4A-41FF-B0C9-B4B4B334A1F7}"/>
              </a:ext>
            </a:extLst>
          </p:cNvPr>
          <p:cNvSpPr txBox="1">
            <a:spLocks/>
          </p:cNvSpPr>
          <p:nvPr/>
        </p:nvSpPr>
        <p:spPr>
          <a:xfrm>
            <a:off x="883557" y="401411"/>
            <a:ext cx="10515600" cy="1325563"/>
          </a:xfrm>
          <a:prstGeom prst="rect">
            <a:avLst/>
          </a:prstGeom>
        </p:spPr>
        <p:txBody>
          <a:bodyPr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HTTP Post</a:t>
            </a:r>
          </a:p>
        </p:txBody>
      </p:sp>
      <p:pic>
        <p:nvPicPr>
          <p:cNvPr id="12" name="Picture 13" descr="A close up of a logo&#10;&#10;Description generated with very high confidence">
            <a:extLst>
              <a:ext uri="{FF2B5EF4-FFF2-40B4-BE49-F238E27FC236}">
                <a16:creationId xmlns:a16="http://schemas.microsoft.com/office/drawing/2014/main" id="{B7BD4D9E-4D45-420A-9ECB-5D30FD64DFEE}"/>
              </a:ext>
            </a:extLst>
          </p:cNvPr>
          <p:cNvPicPr>
            <a:picLocks noChangeAspect="1"/>
          </p:cNvPicPr>
          <p:nvPr/>
        </p:nvPicPr>
        <p:blipFill>
          <a:blip r:embed="rId4"/>
          <a:stretch>
            <a:fillRect/>
          </a:stretch>
        </p:blipFill>
        <p:spPr>
          <a:xfrm>
            <a:off x="6304616" y="1988458"/>
            <a:ext cx="843697" cy="1429658"/>
          </a:xfrm>
          <a:prstGeom prst="rect">
            <a:avLst/>
          </a:prstGeom>
        </p:spPr>
      </p:pic>
      <p:sp>
        <p:nvSpPr>
          <p:cNvPr id="11" name="Speech Bubble: Rectangle with Corners Rounded 10">
            <a:extLst>
              <a:ext uri="{FF2B5EF4-FFF2-40B4-BE49-F238E27FC236}">
                <a16:creationId xmlns:a16="http://schemas.microsoft.com/office/drawing/2014/main" id="{8369C3EF-9467-44B6-A1BE-7497186D7D1D}"/>
              </a:ext>
            </a:extLst>
          </p:cNvPr>
          <p:cNvSpPr/>
          <p:nvPr/>
        </p:nvSpPr>
        <p:spPr>
          <a:xfrm>
            <a:off x="6228442" y="2433245"/>
            <a:ext cx="1848756" cy="812220"/>
          </a:xfrm>
          <a:prstGeom prst="wedgeRoundRect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400" dirty="0">
                <a:cs typeface="Calibri"/>
              </a:rPr>
              <a:t>Pass request to resource at </a:t>
            </a:r>
            <a:r>
              <a:rPr lang="en-US" sz="1400" b="1" dirty="0">
                <a:cs typeface="Calibri"/>
              </a:rPr>
              <a:t>/light</a:t>
            </a:r>
            <a:r>
              <a:rPr lang="en-US" sz="1400" dirty="0">
                <a:cs typeface="Calibri"/>
              </a:rPr>
              <a:t> (it's actually a program)</a:t>
            </a:r>
            <a:endParaRPr lang="en-US" sz="1050" dirty="0">
              <a:cs typeface="Calibri"/>
            </a:endParaRPr>
          </a:p>
        </p:txBody>
      </p:sp>
    </p:spTree>
    <p:extLst>
      <p:ext uri="{BB962C8B-B14F-4D97-AF65-F5344CB8AC3E}">
        <p14:creationId xmlns:p14="http://schemas.microsoft.com/office/powerpoint/2010/main" val="19779695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lose up of a device&#10;&#10;Description generated with very high confidence">
            <a:extLst>
              <a:ext uri="{FF2B5EF4-FFF2-40B4-BE49-F238E27FC236}">
                <a16:creationId xmlns:a16="http://schemas.microsoft.com/office/drawing/2014/main" id="{FDC7C3FD-30C2-4FE7-8B0E-783BB8308346}"/>
              </a:ext>
            </a:extLst>
          </p:cNvPr>
          <p:cNvPicPr>
            <a:picLocks noChangeAspect="1"/>
          </p:cNvPicPr>
          <p:nvPr/>
        </p:nvPicPr>
        <p:blipFill>
          <a:blip r:embed="rId2"/>
          <a:stretch>
            <a:fillRect/>
          </a:stretch>
        </p:blipFill>
        <p:spPr>
          <a:xfrm>
            <a:off x="6070311" y="3245188"/>
            <a:ext cx="1353901" cy="1390640"/>
          </a:xfrm>
          <a:prstGeom prst="rect">
            <a:avLst/>
          </a:prstGeom>
        </p:spPr>
      </p:pic>
      <p:pic>
        <p:nvPicPr>
          <p:cNvPr id="3" name="Picture 2" descr="A close up of a logo&#10;&#10;Description generated with very high confidence">
            <a:extLst>
              <a:ext uri="{FF2B5EF4-FFF2-40B4-BE49-F238E27FC236}">
                <a16:creationId xmlns:a16="http://schemas.microsoft.com/office/drawing/2014/main" id="{51015C5D-FE6B-4B41-BB71-196E38A81C0B}"/>
              </a:ext>
            </a:extLst>
          </p:cNvPr>
          <p:cNvPicPr>
            <a:picLocks noChangeAspect="1"/>
          </p:cNvPicPr>
          <p:nvPr/>
        </p:nvPicPr>
        <p:blipFill>
          <a:blip r:embed="rId3"/>
          <a:stretch>
            <a:fillRect/>
          </a:stretch>
        </p:blipFill>
        <p:spPr>
          <a:xfrm>
            <a:off x="2723625" y="3370087"/>
            <a:ext cx="770618" cy="1123042"/>
          </a:xfrm>
          <a:prstGeom prst="rect">
            <a:avLst/>
          </a:prstGeom>
        </p:spPr>
      </p:pic>
      <p:sp>
        <p:nvSpPr>
          <p:cNvPr id="7" name="Arrow: Left 6">
            <a:extLst>
              <a:ext uri="{FF2B5EF4-FFF2-40B4-BE49-F238E27FC236}">
                <a16:creationId xmlns:a16="http://schemas.microsoft.com/office/drawing/2014/main" id="{EAF6439E-6043-4937-B03C-CC139A02990B}"/>
              </a:ext>
            </a:extLst>
          </p:cNvPr>
          <p:cNvSpPr/>
          <p:nvPr/>
        </p:nvSpPr>
        <p:spPr>
          <a:xfrm>
            <a:off x="3611082" y="3721897"/>
            <a:ext cx="2520550" cy="21249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8" name="TextBox 7">
            <a:extLst>
              <a:ext uri="{FF2B5EF4-FFF2-40B4-BE49-F238E27FC236}">
                <a16:creationId xmlns:a16="http://schemas.microsoft.com/office/drawing/2014/main" id="{D54619FB-A9E0-460B-ACD4-9F5DFFF49AE2}"/>
              </a:ext>
            </a:extLst>
          </p:cNvPr>
          <p:cNvSpPr txBox="1"/>
          <p:nvPr/>
        </p:nvSpPr>
        <p:spPr>
          <a:xfrm>
            <a:off x="3454399" y="3427184"/>
            <a:ext cx="2743200" cy="369332"/>
          </a:xfrm>
          <a:prstGeom prst="rect">
            <a:avLst/>
          </a:prstGeom>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HTTP Response</a:t>
            </a:r>
          </a:p>
        </p:txBody>
      </p:sp>
      <p:sp>
        <p:nvSpPr>
          <p:cNvPr id="9" name="TextBox 8">
            <a:extLst>
              <a:ext uri="{FF2B5EF4-FFF2-40B4-BE49-F238E27FC236}">
                <a16:creationId xmlns:a16="http://schemas.microsoft.com/office/drawing/2014/main" id="{AAD1317E-EE50-45D7-B093-C9B2224F790A}"/>
              </a:ext>
            </a:extLst>
          </p:cNvPr>
          <p:cNvSpPr txBox="1"/>
          <p:nvPr/>
        </p:nvSpPr>
        <p:spPr>
          <a:xfrm>
            <a:off x="4034969" y="3944256"/>
            <a:ext cx="1854199" cy="738664"/>
          </a:xfrm>
          <a:prstGeom prst="rect">
            <a:avLst/>
          </a:prstGeom>
          <a:ln>
            <a:solidFill>
              <a:schemeClr val="tx1">
                <a:lumMod val="95000"/>
                <a:lumOff val="5000"/>
              </a:schemeClr>
            </a:solidFill>
          </a:ln>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400" dirty="0">
                <a:cs typeface="Calibri"/>
              </a:rPr>
              <a:t>200 OK</a:t>
            </a:r>
          </a:p>
          <a:p>
            <a:pPr algn="ctr"/>
            <a:r>
              <a:rPr lang="en-US" sz="1400" dirty="0"/>
              <a:t>{"</a:t>
            </a:r>
            <a:r>
              <a:rPr lang="en-US" sz="1400" dirty="0" err="1"/>
              <a:t>status":"on</a:t>
            </a:r>
            <a:r>
              <a:rPr lang="en-US" sz="1400" dirty="0"/>
              <a:t>", "</a:t>
            </a:r>
            <a:r>
              <a:rPr lang="en-US" sz="1400" dirty="0" err="1"/>
              <a:t>colour</a:t>
            </a:r>
            <a:r>
              <a:rPr lang="en-US" sz="1400" dirty="0"/>
              <a:t>":"white"}</a:t>
            </a:r>
            <a:endParaRPr lang="en-US" sz="1400" dirty="0">
              <a:cs typeface="Calibri"/>
            </a:endParaRPr>
          </a:p>
        </p:txBody>
      </p:sp>
      <p:sp>
        <p:nvSpPr>
          <p:cNvPr id="10" name="Speech Bubble: Rectangle with Corners Rounded 9">
            <a:extLst>
              <a:ext uri="{FF2B5EF4-FFF2-40B4-BE49-F238E27FC236}">
                <a16:creationId xmlns:a16="http://schemas.microsoft.com/office/drawing/2014/main" id="{C94A3CFF-9B7C-4141-91A1-D61B8E109DB7}"/>
              </a:ext>
            </a:extLst>
          </p:cNvPr>
          <p:cNvSpPr/>
          <p:nvPr/>
        </p:nvSpPr>
        <p:spPr>
          <a:xfrm>
            <a:off x="2463800" y="2669103"/>
            <a:ext cx="1422399" cy="576363"/>
          </a:xfrm>
          <a:prstGeom prst="wedgeRoundRectCallou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400" dirty="0">
                <a:cs typeface="Calibri"/>
              </a:rPr>
              <a:t>Display "Light is on"</a:t>
            </a:r>
          </a:p>
        </p:txBody>
      </p:sp>
      <p:sp>
        <p:nvSpPr>
          <p:cNvPr id="13" name="Title 1">
            <a:extLst>
              <a:ext uri="{FF2B5EF4-FFF2-40B4-BE49-F238E27FC236}">
                <a16:creationId xmlns:a16="http://schemas.microsoft.com/office/drawing/2014/main" id="{307B9C9B-9F4A-41FF-B0C9-B4B4B334A1F7}"/>
              </a:ext>
            </a:extLst>
          </p:cNvPr>
          <p:cNvSpPr txBox="1">
            <a:spLocks/>
          </p:cNvSpPr>
          <p:nvPr/>
        </p:nvSpPr>
        <p:spPr>
          <a:xfrm>
            <a:off x="629557" y="392339"/>
            <a:ext cx="10515600" cy="1325563"/>
          </a:xfrm>
          <a:prstGeom prst="rect">
            <a:avLst/>
          </a:prstGeom>
        </p:spPr>
        <p:txBody>
          <a:bodyPr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HTTP Post</a:t>
            </a:r>
          </a:p>
        </p:txBody>
      </p:sp>
      <p:pic>
        <p:nvPicPr>
          <p:cNvPr id="14" name="Picture 14">
            <a:extLst>
              <a:ext uri="{FF2B5EF4-FFF2-40B4-BE49-F238E27FC236}">
                <a16:creationId xmlns:a16="http://schemas.microsoft.com/office/drawing/2014/main" id="{CBB1AB9D-F100-4B0D-AB94-FC56AD6791E3}"/>
              </a:ext>
            </a:extLst>
          </p:cNvPr>
          <p:cNvPicPr>
            <a:picLocks noChangeAspect="1"/>
          </p:cNvPicPr>
          <p:nvPr/>
        </p:nvPicPr>
        <p:blipFill>
          <a:blip r:embed="rId4"/>
          <a:stretch>
            <a:fillRect/>
          </a:stretch>
        </p:blipFill>
        <p:spPr>
          <a:xfrm>
            <a:off x="6021614" y="1717765"/>
            <a:ext cx="1455058" cy="1580969"/>
          </a:xfrm>
          <a:prstGeom prst="rect">
            <a:avLst/>
          </a:prstGeom>
        </p:spPr>
      </p:pic>
    </p:spTree>
    <p:extLst>
      <p:ext uri="{BB962C8B-B14F-4D97-AF65-F5344CB8AC3E}">
        <p14:creationId xmlns:p14="http://schemas.microsoft.com/office/powerpoint/2010/main" val="8348533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113" y="347033"/>
            <a:ext cx="8534400" cy="758952"/>
          </a:xfrm>
        </p:spPr>
        <p:txBody>
          <a:bodyPr>
            <a:normAutofit fontScale="90000"/>
          </a:bodyPr>
          <a:lstStyle/>
          <a:p>
            <a:r>
              <a:rPr lang="en-IE" dirty="0"/>
              <a:t>External Data Representations</a:t>
            </a:r>
            <a:br>
              <a:rPr lang="en-IE" dirty="0">
                <a:cs typeface="Calibri Light"/>
              </a:rPr>
            </a:br>
            <a:r>
              <a:rPr lang="en-IE" dirty="0"/>
              <a:t>XML</a:t>
            </a:r>
          </a:p>
        </p:txBody>
      </p:sp>
      <p:sp>
        <p:nvSpPr>
          <p:cNvPr id="3" name="Content Placeholder 2"/>
          <p:cNvSpPr>
            <a:spLocks noGrp="1"/>
          </p:cNvSpPr>
          <p:nvPr>
            <p:ph sz="quarter" idx="1"/>
          </p:nvPr>
        </p:nvSpPr>
        <p:spPr/>
        <p:txBody>
          <a:bodyPr vert="horz" lIns="91440" tIns="45720" rIns="91440" bIns="45720" rtlCol="0" anchor="t">
            <a:normAutofit lnSpcReduction="10000"/>
          </a:bodyPr>
          <a:lstStyle/>
          <a:p>
            <a:r>
              <a:rPr lang="en-IE" dirty="0" err="1"/>
              <a:t>eXtensible</a:t>
            </a:r>
            <a:r>
              <a:rPr lang="en-IE" dirty="0"/>
              <a:t> </a:t>
            </a:r>
            <a:r>
              <a:rPr lang="en-IE" dirty="0" err="1"/>
              <a:t>Markup</a:t>
            </a:r>
            <a:r>
              <a:rPr lang="en-IE" dirty="0"/>
              <a:t> Language(XML)</a:t>
            </a:r>
          </a:p>
          <a:p>
            <a:r>
              <a:rPr lang="en-IE" dirty="0"/>
              <a:t>Same heritage as HTML(but XML is NOT HTML)</a:t>
            </a:r>
          </a:p>
          <a:p>
            <a:r>
              <a:rPr lang="en-IE" dirty="0"/>
              <a:t>XML data items are tagged with ‘</a:t>
            </a:r>
            <a:r>
              <a:rPr lang="en-IE" dirty="0" err="1"/>
              <a:t>markup</a:t>
            </a:r>
            <a:r>
              <a:rPr lang="en-IE" dirty="0"/>
              <a:t>’ strings</a:t>
            </a:r>
          </a:p>
          <a:p>
            <a:pPr lvl="1"/>
            <a:r>
              <a:rPr lang="en-IE" sz="2300" dirty="0"/>
              <a:t>used to describe the logical structure of the data</a:t>
            </a:r>
          </a:p>
          <a:p>
            <a:r>
              <a:rPr lang="en-IE" dirty="0"/>
              <a:t>XML has many uses. For now we confine ourselves to external data representations</a:t>
            </a:r>
            <a:endParaRPr lang="en-IE" dirty="0">
              <a:cs typeface="Calibri"/>
            </a:endParaRPr>
          </a:p>
          <a:p>
            <a:r>
              <a:rPr lang="en-IE" dirty="0"/>
              <a:t>Has many cool features including</a:t>
            </a:r>
          </a:p>
          <a:p>
            <a:pPr lvl="1"/>
            <a:r>
              <a:rPr lang="en-IE" dirty="0"/>
              <a:t>Extensible</a:t>
            </a:r>
          </a:p>
          <a:p>
            <a:pPr lvl="1"/>
            <a:r>
              <a:rPr lang="en-IE" dirty="0"/>
              <a:t>Textual</a:t>
            </a:r>
          </a:p>
          <a:p>
            <a:pPr lvl="1"/>
            <a:r>
              <a:rPr lang="en-IE" dirty="0"/>
              <a:t>Kind of human readable and machine readable...</a:t>
            </a:r>
          </a:p>
          <a:p>
            <a:endParaRPr lang="en-IE" dirty="0"/>
          </a:p>
        </p:txBody>
      </p:sp>
    </p:spTree>
    <p:extLst>
      <p:ext uri="{BB962C8B-B14F-4D97-AF65-F5344CB8AC3E}">
        <p14:creationId xmlns:p14="http://schemas.microsoft.com/office/powerpoint/2010/main" val="27826097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XML</a:t>
            </a:r>
          </a:p>
        </p:txBody>
      </p:sp>
      <p:sp>
        <p:nvSpPr>
          <p:cNvPr id="3" name="Content Placeholder 2"/>
          <p:cNvSpPr>
            <a:spLocks noGrp="1"/>
          </p:cNvSpPr>
          <p:nvPr>
            <p:ph sz="quarter" idx="1"/>
          </p:nvPr>
        </p:nvSpPr>
        <p:spPr>
          <a:xfrm>
            <a:off x="1847528" y="3933056"/>
            <a:ext cx="8503920" cy="2165992"/>
          </a:xfrm>
        </p:spPr>
        <p:txBody>
          <a:bodyPr vert="horz" lIns="91440" tIns="45720" rIns="91440" bIns="45720" rtlCol="0" anchor="t">
            <a:normAutofit/>
          </a:bodyPr>
          <a:lstStyle/>
          <a:p>
            <a:r>
              <a:rPr lang="en-IE" dirty="0"/>
              <a:t>Above shows </a:t>
            </a:r>
            <a:r>
              <a:rPr lang="en-US" dirty="0"/>
              <a:t>XML definitions of the Person structure.</a:t>
            </a:r>
          </a:p>
          <a:p>
            <a:pPr lvl="1"/>
            <a:r>
              <a:rPr lang="en-US" dirty="0"/>
              <a:t>As with </a:t>
            </a:r>
            <a:r>
              <a:rPr lang="en-US" dirty="0" err="1"/>
              <a:t>xHTML</a:t>
            </a:r>
            <a:r>
              <a:rPr lang="en-US" dirty="0"/>
              <a:t>, tags enclose character data.</a:t>
            </a:r>
            <a:endParaRPr lang="en-US" dirty="0">
              <a:cs typeface="Calibri"/>
            </a:endParaRPr>
          </a:p>
          <a:p>
            <a:pPr lvl="1"/>
            <a:r>
              <a:rPr lang="en-US" dirty="0"/>
              <a:t>Tags : &lt;name&gt;, &lt;place&gt;,&lt;year&gt;	  data:”Smith”, “London”…</a:t>
            </a:r>
            <a:endParaRPr lang="en-US" dirty="0">
              <a:cs typeface="Calibri"/>
            </a:endParaRPr>
          </a:p>
          <a:p>
            <a:r>
              <a:rPr lang="en-IE" dirty="0"/>
              <a:t>Namespaces provide a means for scoping names</a:t>
            </a:r>
            <a:endParaRPr lang="en-IE" dirty="0">
              <a:cs typeface="Calibri"/>
            </a:endParaRPr>
          </a:p>
          <a:p>
            <a:pPr marL="0" indent="0">
              <a:buNone/>
            </a:pPr>
            <a:endParaRPr lang="en-IE" dirty="0">
              <a:cs typeface="Calibri"/>
            </a:endParaRPr>
          </a:p>
          <a:p>
            <a:pPr lvl="2"/>
            <a:endParaRPr lang="en-US" dirty="0"/>
          </a:p>
          <a:p>
            <a:pPr lvl="1"/>
            <a:endParaRPr lang="en-US" dirty="0"/>
          </a:p>
          <a:p>
            <a:pPr lvl="1"/>
            <a:endParaRPr lang="en-US" dirty="0"/>
          </a:p>
          <a:p>
            <a:pPr lvl="1"/>
            <a:endParaRPr lang="en-US" dirty="0"/>
          </a:p>
          <a:p>
            <a:endParaRPr lang="en-US" dirty="0"/>
          </a:p>
          <a:p>
            <a:endParaRPr lang="en-IE" dirty="0"/>
          </a:p>
        </p:txBody>
      </p:sp>
      <p:sp>
        <p:nvSpPr>
          <p:cNvPr id="5" name="Rectangle 4"/>
          <p:cNvSpPr>
            <a:spLocks/>
          </p:cNvSpPr>
          <p:nvPr/>
        </p:nvSpPr>
        <p:spPr bwMode="auto">
          <a:xfrm>
            <a:off x="6023993" y="1772816"/>
            <a:ext cx="4441377" cy="1785104"/>
          </a:xfrm>
          <a:prstGeom prst="rect">
            <a:avLst/>
          </a:prstGeom>
          <a:noFill/>
          <a:ln w="12700">
            <a:solidFill>
              <a:schemeClr val="tx1">
                <a:lumMod val="95000"/>
                <a:lumOff val="5000"/>
              </a:schemeClr>
            </a:solidFill>
            <a:miter lim="800000"/>
            <a:headEnd/>
            <a:tailEnd/>
          </a:ln>
        </p:spPr>
        <p:txBody>
          <a:bodyPr wrap="square" lIns="0" tIns="0" rIns="40639" bIns="0">
            <a:spAutoFit/>
          </a:bodyPr>
          <a:lstStyle/>
          <a:p>
            <a:pPr marL="39688"/>
            <a:r>
              <a:rPr lang="en-US" sz="1600" dirty="0">
                <a:solidFill>
                  <a:schemeClr val="tx1"/>
                </a:solidFill>
                <a:cs typeface="Times" pitchFamily="60" charset="0"/>
              </a:rPr>
              <a:t>&lt;person </a:t>
            </a:r>
            <a:r>
              <a:rPr lang="en-US" sz="1600" dirty="0" err="1">
                <a:solidFill>
                  <a:schemeClr val="tx1"/>
                </a:solidFill>
                <a:cs typeface="Times" pitchFamily="60" charset="0"/>
              </a:rPr>
              <a:t>pers:id</a:t>
            </a:r>
            <a:r>
              <a:rPr lang="en-US" sz="1600" dirty="0">
                <a:solidFill>
                  <a:schemeClr val="tx1"/>
                </a:solidFill>
                <a:cs typeface="Times" pitchFamily="60" charset="0"/>
              </a:rPr>
              <a:t>="123456789" </a:t>
            </a:r>
            <a:r>
              <a:rPr lang="en-US" sz="1600" dirty="0" err="1">
                <a:solidFill>
                  <a:schemeClr val="tx1"/>
                </a:solidFill>
                <a:cs typeface="Times" pitchFamily="60" charset="0"/>
              </a:rPr>
              <a:t>xmlns:pers</a:t>
            </a:r>
            <a:r>
              <a:rPr lang="en-US" sz="1600" dirty="0">
                <a:solidFill>
                  <a:schemeClr val="tx1"/>
                </a:solidFill>
                <a:cs typeface="Times" pitchFamily="60" charset="0"/>
              </a:rPr>
              <a:t> = "</a:t>
            </a:r>
            <a:r>
              <a:rPr lang="en-US" sz="1600" u="sng" dirty="0">
                <a:solidFill>
                  <a:schemeClr val="tx1"/>
                </a:solidFill>
                <a:cs typeface="Times" pitchFamily="60" charset="0"/>
                <a:hlinkClick r:id="rId2"/>
              </a:rPr>
              <a:t>http://www.cdk5.net/person</a:t>
            </a:r>
            <a:r>
              <a:rPr lang="en-US" sz="1600" dirty="0">
                <a:solidFill>
                  <a:schemeClr val="tx1"/>
                </a:solidFill>
                <a:cs typeface="Times" pitchFamily="60" charset="0"/>
              </a:rPr>
              <a:t>"&gt;</a:t>
            </a:r>
          </a:p>
          <a:p>
            <a:pPr marL="39688">
              <a:spcBef>
                <a:spcPts val="600"/>
              </a:spcBef>
            </a:pPr>
            <a:r>
              <a:rPr lang="en-US" sz="1600" dirty="0">
                <a:solidFill>
                  <a:schemeClr val="tx1"/>
                </a:solidFill>
                <a:cs typeface="Times" pitchFamily="60" charset="0"/>
              </a:rPr>
              <a:t>	&lt;</a:t>
            </a:r>
            <a:r>
              <a:rPr lang="en-US" sz="1600" dirty="0" err="1">
                <a:solidFill>
                  <a:schemeClr val="tx1"/>
                </a:solidFill>
                <a:cs typeface="Times" pitchFamily="60" charset="0"/>
              </a:rPr>
              <a:t>pers:name</a:t>
            </a:r>
            <a:r>
              <a:rPr lang="en-US" sz="1600" dirty="0">
                <a:solidFill>
                  <a:schemeClr val="tx1"/>
                </a:solidFill>
                <a:cs typeface="Times" pitchFamily="60" charset="0"/>
              </a:rPr>
              <a:t>&gt; Smith &lt;/</a:t>
            </a:r>
            <a:r>
              <a:rPr lang="en-US" sz="1600" dirty="0" err="1">
                <a:solidFill>
                  <a:schemeClr val="tx1"/>
                </a:solidFill>
                <a:cs typeface="Times" pitchFamily="60" charset="0"/>
              </a:rPr>
              <a:t>pers:name</a:t>
            </a:r>
            <a:r>
              <a:rPr lang="en-US" sz="1600" dirty="0">
                <a:solidFill>
                  <a:schemeClr val="tx1"/>
                </a:solidFill>
                <a:cs typeface="Times" pitchFamily="60" charset="0"/>
              </a:rPr>
              <a:t>&gt;</a:t>
            </a:r>
          </a:p>
          <a:p>
            <a:pPr marL="39688">
              <a:spcBef>
                <a:spcPts val="600"/>
              </a:spcBef>
            </a:pPr>
            <a:r>
              <a:rPr lang="en-US" sz="1600" dirty="0">
                <a:solidFill>
                  <a:schemeClr val="tx1"/>
                </a:solidFill>
                <a:cs typeface="Times" pitchFamily="60" charset="0"/>
              </a:rPr>
              <a:t>	&lt;</a:t>
            </a:r>
            <a:r>
              <a:rPr lang="en-US" sz="1600" dirty="0" err="1">
                <a:solidFill>
                  <a:schemeClr val="tx1"/>
                </a:solidFill>
                <a:cs typeface="Times" pitchFamily="60" charset="0"/>
              </a:rPr>
              <a:t>pers:place</a:t>
            </a:r>
            <a:r>
              <a:rPr lang="en-US" sz="1600" dirty="0">
                <a:solidFill>
                  <a:schemeClr val="tx1"/>
                </a:solidFill>
                <a:cs typeface="Times" pitchFamily="60" charset="0"/>
              </a:rPr>
              <a:t>&gt; London &lt;/</a:t>
            </a:r>
            <a:r>
              <a:rPr lang="en-US" sz="1600" dirty="0" err="1">
                <a:solidFill>
                  <a:schemeClr val="tx1"/>
                </a:solidFill>
                <a:cs typeface="Times" pitchFamily="60" charset="0"/>
              </a:rPr>
              <a:t>pers:place</a:t>
            </a:r>
            <a:r>
              <a:rPr lang="en-US" sz="1600" dirty="0">
                <a:solidFill>
                  <a:schemeClr val="tx1"/>
                </a:solidFill>
                <a:cs typeface="Times" pitchFamily="60" charset="0"/>
              </a:rPr>
              <a:t> &gt;</a:t>
            </a:r>
          </a:p>
          <a:p>
            <a:pPr marL="39688">
              <a:spcBef>
                <a:spcPts val="600"/>
              </a:spcBef>
            </a:pPr>
            <a:r>
              <a:rPr lang="en-US" sz="1600" dirty="0">
                <a:solidFill>
                  <a:schemeClr val="tx1"/>
                </a:solidFill>
                <a:cs typeface="Times" pitchFamily="60" charset="0"/>
              </a:rPr>
              <a:t>	&lt;</a:t>
            </a:r>
            <a:r>
              <a:rPr lang="en-US" sz="1600" dirty="0" err="1">
                <a:solidFill>
                  <a:schemeClr val="tx1"/>
                </a:solidFill>
                <a:cs typeface="Times" pitchFamily="60" charset="0"/>
              </a:rPr>
              <a:t>pers:year</a:t>
            </a:r>
            <a:r>
              <a:rPr lang="en-US" sz="1600" dirty="0">
                <a:solidFill>
                  <a:schemeClr val="tx1"/>
                </a:solidFill>
                <a:cs typeface="Times" pitchFamily="60" charset="0"/>
              </a:rPr>
              <a:t>&gt; 1984 &lt;/</a:t>
            </a:r>
            <a:r>
              <a:rPr lang="en-US" sz="1600" dirty="0" err="1">
                <a:solidFill>
                  <a:schemeClr val="tx1"/>
                </a:solidFill>
                <a:cs typeface="Times" pitchFamily="60" charset="0"/>
              </a:rPr>
              <a:t>pers:year</a:t>
            </a:r>
            <a:r>
              <a:rPr lang="en-US" sz="1600" dirty="0">
                <a:solidFill>
                  <a:schemeClr val="tx1"/>
                </a:solidFill>
                <a:cs typeface="Times" pitchFamily="60" charset="0"/>
              </a:rPr>
              <a:t>&gt;</a:t>
            </a:r>
          </a:p>
          <a:p>
            <a:pPr marL="39688">
              <a:spcBef>
                <a:spcPts val="600"/>
              </a:spcBef>
            </a:pPr>
            <a:r>
              <a:rPr lang="en-US" sz="1600" dirty="0">
                <a:solidFill>
                  <a:schemeClr val="tx1"/>
                </a:solidFill>
                <a:cs typeface="Times" pitchFamily="60" charset="0"/>
              </a:rPr>
              <a:t>&lt;/person&gt;</a:t>
            </a:r>
          </a:p>
        </p:txBody>
      </p:sp>
      <p:sp>
        <p:nvSpPr>
          <p:cNvPr id="8" name="Rectangle 4"/>
          <p:cNvSpPr>
            <a:spLocks/>
          </p:cNvSpPr>
          <p:nvPr/>
        </p:nvSpPr>
        <p:spPr bwMode="auto">
          <a:xfrm>
            <a:off x="1847528" y="1700808"/>
            <a:ext cx="4176464" cy="1872208"/>
          </a:xfrm>
          <a:prstGeom prst="rect">
            <a:avLst/>
          </a:prstGeom>
          <a:noFill/>
          <a:ln w="12700">
            <a:solidFill>
              <a:schemeClr val="tx1">
                <a:lumMod val="95000"/>
                <a:lumOff val="5000"/>
              </a:schemeClr>
            </a:solidFill>
            <a:miter lim="800000"/>
            <a:headEnd/>
            <a:tailEnd/>
          </a:ln>
        </p:spPr>
        <p:txBody>
          <a:bodyPr lIns="0" tIns="0" rIns="40639" bIns="0"/>
          <a:lstStyle/>
          <a:p>
            <a:pPr marL="39688">
              <a:spcBef>
                <a:spcPts val="600"/>
              </a:spcBef>
            </a:pPr>
            <a:r>
              <a:rPr lang="en-US" sz="1600" dirty="0">
                <a:cs typeface="Times" pitchFamily="60" charset="0"/>
              </a:rPr>
              <a:t>&lt;person id="123456789"&gt;</a:t>
            </a:r>
          </a:p>
          <a:p>
            <a:pPr marL="39688">
              <a:spcBef>
                <a:spcPts val="600"/>
              </a:spcBef>
            </a:pPr>
            <a:r>
              <a:rPr lang="en-US" sz="1600" dirty="0">
                <a:cs typeface="Times" pitchFamily="60" charset="0"/>
              </a:rPr>
              <a:t>		&lt;name&gt;Smith&lt;/name&gt;</a:t>
            </a:r>
          </a:p>
          <a:p>
            <a:pPr marL="39688">
              <a:spcBef>
                <a:spcPts val="600"/>
              </a:spcBef>
            </a:pPr>
            <a:r>
              <a:rPr lang="en-US" sz="1600" dirty="0">
                <a:cs typeface="Times" pitchFamily="60" charset="0"/>
              </a:rPr>
              <a:t>		&lt;place&gt;London&lt;/place&gt;</a:t>
            </a:r>
          </a:p>
          <a:p>
            <a:pPr marL="39688">
              <a:spcBef>
                <a:spcPts val="600"/>
              </a:spcBef>
            </a:pPr>
            <a:r>
              <a:rPr lang="en-US" sz="1600" dirty="0">
                <a:cs typeface="Times" pitchFamily="60" charset="0"/>
              </a:rPr>
              <a:t>		&lt;year&gt;1984&lt;/year&gt;</a:t>
            </a:r>
          </a:p>
          <a:p>
            <a:pPr marL="39688">
              <a:spcBef>
                <a:spcPts val="600"/>
              </a:spcBef>
            </a:pPr>
            <a:r>
              <a:rPr lang="en-US" sz="1600" dirty="0">
                <a:cs typeface="Times" pitchFamily="60" charset="0"/>
              </a:rPr>
              <a:t>		&lt;!-- a comment --&gt;</a:t>
            </a:r>
          </a:p>
          <a:p>
            <a:pPr marL="39688">
              <a:spcBef>
                <a:spcPts val="600"/>
              </a:spcBef>
            </a:pPr>
            <a:r>
              <a:rPr lang="en-US" sz="1600" dirty="0">
                <a:cs typeface="Times" pitchFamily="60" charset="0"/>
              </a:rPr>
              <a:t>&lt;/person &gt;</a:t>
            </a:r>
          </a:p>
        </p:txBody>
      </p:sp>
      <p:sp>
        <p:nvSpPr>
          <p:cNvPr id="9" name="Line Callout 1 8"/>
          <p:cNvSpPr/>
          <p:nvPr/>
        </p:nvSpPr>
        <p:spPr>
          <a:xfrm>
            <a:off x="8328248" y="692696"/>
            <a:ext cx="2160240" cy="432048"/>
          </a:xfrm>
          <a:prstGeom prst="borderCallout1">
            <a:avLst>
              <a:gd name="adj1" fmla="val 122944"/>
              <a:gd name="adj2" fmla="val 47671"/>
              <a:gd name="adj3" fmla="val 265534"/>
              <a:gd name="adj4" fmla="val 43068"/>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sz="1800" dirty="0"/>
              <a:t>namespace</a:t>
            </a:r>
          </a:p>
        </p:txBody>
      </p:sp>
    </p:spTree>
    <p:extLst>
      <p:ext uri="{BB962C8B-B14F-4D97-AF65-F5344CB8AC3E}">
        <p14:creationId xmlns:p14="http://schemas.microsoft.com/office/powerpoint/2010/main" val="21360588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8929" y="629266"/>
            <a:ext cx="3505495" cy="1622321"/>
          </a:xfrm>
        </p:spPr>
        <p:txBody>
          <a:bodyPr>
            <a:normAutofit/>
          </a:bodyPr>
          <a:lstStyle/>
          <a:p>
            <a:r>
              <a:rPr lang="en-IE" dirty="0"/>
              <a:t>JSON</a:t>
            </a:r>
          </a:p>
        </p:txBody>
      </p:sp>
      <p:sp>
        <p:nvSpPr>
          <p:cNvPr id="3" name="Content Placeholder 2"/>
          <p:cNvSpPr>
            <a:spLocks noGrp="1"/>
          </p:cNvSpPr>
          <p:nvPr>
            <p:ph sz="quarter" idx="1"/>
          </p:nvPr>
        </p:nvSpPr>
        <p:spPr>
          <a:xfrm>
            <a:off x="648931" y="2438400"/>
            <a:ext cx="3505494" cy="3785419"/>
          </a:xfrm>
        </p:spPr>
        <p:txBody>
          <a:bodyPr>
            <a:normAutofit/>
          </a:bodyPr>
          <a:lstStyle/>
          <a:p>
            <a:r>
              <a:rPr lang="en-IE" sz="2000"/>
              <a:t>JavaScript Object Notation</a:t>
            </a:r>
          </a:p>
          <a:p>
            <a:r>
              <a:rPr lang="en-IE" sz="2000"/>
              <a:t>Lightweight text-based open standard designed for human readable data interchange.</a:t>
            </a:r>
          </a:p>
          <a:p>
            <a:r>
              <a:rPr lang="en-IE" sz="2000"/>
              <a:t>Can represent simple data structures and associative arrays.</a:t>
            </a:r>
          </a:p>
          <a:p>
            <a:r>
              <a:rPr lang="en-IE" sz="2000"/>
              <a:t>Good for serializing and transmitting structured data across a network</a:t>
            </a:r>
          </a:p>
        </p:txBody>
      </p:sp>
      <p:sp>
        <p:nvSpPr>
          <p:cNvPr id="9" name="Rectangle 8">
            <a:extLst>
              <a:ext uri="{FF2B5EF4-FFF2-40B4-BE49-F238E27FC236}">
                <a16:creationId xmlns:a16="http://schemas.microsoft.com/office/drawing/2014/main" id="{5E39A796-BE83-48B1-B33F-35C4A32AA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9">
            <a:extLst>
              <a:ext uri="{FF2B5EF4-FFF2-40B4-BE49-F238E27FC236}">
                <a16:creationId xmlns:a16="http://schemas.microsoft.com/office/drawing/2014/main" id="{72F84B47-E267-4194-8194-831DB7B55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557784"/>
            <a:ext cx="6584098"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a:extLst>
              <a:ext uri="{FF2B5EF4-FFF2-40B4-BE49-F238E27FC236}">
                <a16:creationId xmlns:a16="http://schemas.microsoft.com/office/drawing/2014/main" id="{B3D44906-F11F-420B-B674-ADEC350069D6}"/>
              </a:ext>
            </a:extLst>
          </p:cNvPr>
          <p:cNvPicPr>
            <a:picLocks noChangeAspect="1"/>
          </p:cNvPicPr>
          <p:nvPr/>
        </p:nvPicPr>
        <p:blipFill>
          <a:blip r:embed="rId2"/>
          <a:stretch>
            <a:fillRect/>
          </a:stretch>
        </p:blipFill>
        <p:spPr>
          <a:xfrm>
            <a:off x="5405862" y="1641698"/>
            <a:ext cx="6019331" cy="3571357"/>
          </a:xfrm>
          <a:prstGeom prst="rect">
            <a:avLst/>
          </a:prstGeom>
          <a:effectLst/>
        </p:spPr>
      </p:pic>
    </p:spTree>
    <p:extLst>
      <p:ext uri="{BB962C8B-B14F-4D97-AF65-F5344CB8AC3E}">
        <p14:creationId xmlns:p14="http://schemas.microsoft.com/office/powerpoint/2010/main" val="17485148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JSON</a:t>
            </a:r>
          </a:p>
        </p:txBody>
      </p:sp>
      <p:sp>
        <p:nvSpPr>
          <p:cNvPr id="3" name="Content Placeholder 2"/>
          <p:cNvSpPr>
            <a:spLocks noGrp="1"/>
          </p:cNvSpPr>
          <p:nvPr>
            <p:ph sz="quarter" idx="1"/>
          </p:nvPr>
        </p:nvSpPr>
        <p:spPr>
          <a:xfrm>
            <a:off x="884245" y="1628921"/>
            <a:ext cx="8503920" cy="4398240"/>
          </a:xfrm>
        </p:spPr>
        <p:txBody>
          <a:bodyPr vert="horz" lIns="91440" tIns="45720" rIns="91440" bIns="45720" rtlCol="0" anchor="t">
            <a:normAutofit/>
          </a:bodyPr>
          <a:lstStyle/>
          <a:p>
            <a:r>
              <a:rPr lang="en-IE" dirty="0"/>
              <a:t>JSON is a data interchange format</a:t>
            </a:r>
            <a:br>
              <a:rPr lang="en-IE" dirty="0">
                <a:cs typeface="Calibri"/>
              </a:rPr>
            </a:br>
            <a:r>
              <a:rPr lang="en-IE" dirty="0"/>
              <a:t>technique</a:t>
            </a:r>
          </a:p>
          <a:p>
            <a:r>
              <a:rPr lang="en-IE" dirty="0"/>
              <a:t>A collection of name/value pairs. </a:t>
            </a:r>
            <a:endParaRPr lang="en-IE" dirty="0">
              <a:cs typeface="Calibri"/>
            </a:endParaRPr>
          </a:p>
          <a:p>
            <a:r>
              <a:rPr lang="en-IE" dirty="0"/>
              <a:t>Application programming interfaces(APIs) exist for most programming languages</a:t>
            </a:r>
            <a:endParaRPr lang="en-IE" dirty="0">
              <a:cs typeface="Calibri"/>
            </a:endParaRPr>
          </a:p>
        </p:txBody>
      </p:sp>
      <p:sp>
        <p:nvSpPr>
          <p:cNvPr id="4" name="TextBox 3"/>
          <p:cNvSpPr txBox="1"/>
          <p:nvPr/>
        </p:nvSpPr>
        <p:spPr>
          <a:xfrm>
            <a:off x="1568101" y="4619292"/>
            <a:ext cx="2784442" cy="2062103"/>
          </a:xfrm>
          <a:prstGeom prst="rect">
            <a:avLst/>
          </a:prstGeom>
          <a:noFill/>
          <a:ln>
            <a:solidFill>
              <a:schemeClr val="accent1"/>
            </a:solidFill>
          </a:ln>
        </p:spPr>
        <p:txBody>
          <a:bodyPr wrap="square" rtlCol="0" anchor="t">
            <a:spAutoFit/>
          </a:bodyPr>
          <a:lstStyle/>
          <a:p>
            <a:r>
              <a:rPr lang="en-IE" sz="1600">
                <a:cs typeface="Calibri"/>
              </a:rPr>
              <a:t>{</a:t>
            </a:r>
            <a:endParaRPr lang="en-US"/>
          </a:p>
          <a:p>
            <a:r>
              <a:rPr lang="en-IE" sz="1600">
                <a:cs typeface="Calibri"/>
              </a:rPr>
              <a:t>  "person": {</a:t>
            </a:r>
            <a:endParaRPr lang="en-IE"/>
          </a:p>
          <a:p>
            <a:r>
              <a:rPr lang="en-IE" sz="1600">
                <a:cs typeface="Calibri"/>
              </a:rPr>
              <a:t>    "id": "123456789",</a:t>
            </a:r>
            <a:endParaRPr lang="en-US"/>
          </a:p>
          <a:p>
            <a:r>
              <a:rPr lang="en-IE" sz="1600">
                <a:cs typeface="Calibri"/>
              </a:rPr>
              <a:t>    "name": "Smith",</a:t>
            </a:r>
            <a:endParaRPr lang="en-US"/>
          </a:p>
          <a:p>
            <a:r>
              <a:rPr lang="en-IE" sz="1600">
                <a:cs typeface="Calibri"/>
              </a:rPr>
              <a:t>    "place": "London",</a:t>
            </a:r>
            <a:endParaRPr lang="en-US"/>
          </a:p>
          <a:p>
            <a:r>
              <a:rPr lang="en-IE" sz="1600">
                <a:cs typeface="Calibri"/>
              </a:rPr>
              <a:t>    "year": "1984"</a:t>
            </a:r>
            <a:endParaRPr lang="en-US"/>
          </a:p>
          <a:p>
            <a:r>
              <a:rPr lang="en-IE" sz="1600">
                <a:cs typeface="Calibri"/>
              </a:rPr>
              <a:t>  }</a:t>
            </a:r>
            <a:endParaRPr lang="en-IE"/>
          </a:p>
          <a:p>
            <a:r>
              <a:rPr lang="en-IE" sz="1600">
                <a:cs typeface="Calibri"/>
              </a:rPr>
              <a:t>}</a:t>
            </a:r>
            <a:endParaRPr lang="en-US"/>
          </a:p>
        </p:txBody>
      </p:sp>
      <p:sp>
        <p:nvSpPr>
          <p:cNvPr id="6" name="TextBox 5">
            <a:extLst>
              <a:ext uri="{FF2B5EF4-FFF2-40B4-BE49-F238E27FC236}">
                <a16:creationId xmlns:a16="http://schemas.microsoft.com/office/drawing/2014/main" id="{5C1DAAB4-5F81-4A21-AC13-86FDE3E43C1D}"/>
              </a:ext>
            </a:extLst>
          </p:cNvPr>
          <p:cNvSpPr txBox="1"/>
          <p:nvPr/>
        </p:nvSpPr>
        <p:spPr>
          <a:xfrm>
            <a:off x="4746352" y="4623057"/>
            <a:ext cx="2521371" cy="661720"/>
          </a:xfrm>
          <a:prstGeom prst="rect">
            <a:avLst/>
          </a:prstGeom>
          <a:noFill/>
          <a:ln>
            <a:solidFill>
              <a:schemeClr val="accent1"/>
            </a:solidFill>
          </a:ln>
        </p:spPr>
        <p:txBody>
          <a:bodyPr wrap="square" rtlCol="0" anchor="t">
            <a:spAutoFit/>
          </a:bodyPr>
          <a:lstStyle/>
          <a:p>
            <a:r>
              <a:rPr lang="en-IE" sz="1600" dirty="0">
                <a:cs typeface="Times" pitchFamily="60" charset="0"/>
              </a:rPr>
              <a:t>{</a:t>
            </a:r>
            <a:r>
              <a:rPr lang="en-IE" sz="1600" dirty="0">
                <a:cs typeface="Calibri"/>
              </a:rPr>
              <a:t> </a:t>
            </a:r>
            <a:r>
              <a:rPr lang="en-IE" sz="1600">
                <a:cs typeface="Times" pitchFamily="60" charset="0"/>
              </a:rPr>
              <a:t>"temperature" : 72.55 }</a:t>
            </a:r>
            <a:endParaRPr lang="en-IE" sz="1600">
              <a:cs typeface="Calibri"/>
            </a:endParaRPr>
          </a:p>
          <a:p>
            <a:pPr marL="39370">
              <a:spcBef>
                <a:spcPts val="600"/>
              </a:spcBef>
            </a:pPr>
            <a:endParaRPr lang="en-IE" sz="1600" dirty="0">
              <a:cs typeface="Calibri"/>
            </a:endParaRPr>
          </a:p>
        </p:txBody>
      </p:sp>
    </p:spTree>
    <p:extLst>
      <p:ext uri="{BB962C8B-B14F-4D97-AF65-F5344CB8AC3E}">
        <p14:creationId xmlns:p14="http://schemas.microsoft.com/office/powerpoint/2010/main" val="36190029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9F4C3-3E13-F07E-89FE-750D86F23469}"/>
              </a:ext>
            </a:extLst>
          </p:cNvPr>
          <p:cNvSpPr>
            <a:spLocks noGrp="1"/>
          </p:cNvSpPr>
          <p:nvPr>
            <p:ph type="title"/>
          </p:nvPr>
        </p:nvSpPr>
        <p:spPr/>
        <p:txBody>
          <a:bodyPr/>
          <a:lstStyle/>
          <a:p>
            <a:r>
              <a:rPr lang="en-IE" dirty="0"/>
              <a:t>HTTPS</a:t>
            </a:r>
          </a:p>
        </p:txBody>
      </p:sp>
      <p:sp>
        <p:nvSpPr>
          <p:cNvPr id="3" name="Content Placeholder 2">
            <a:extLst>
              <a:ext uri="{FF2B5EF4-FFF2-40B4-BE49-F238E27FC236}">
                <a16:creationId xmlns:a16="http://schemas.microsoft.com/office/drawing/2014/main" id="{60D0F506-66E8-9615-9C12-14A14BE99EFC}"/>
              </a:ext>
            </a:extLst>
          </p:cNvPr>
          <p:cNvSpPr>
            <a:spLocks noGrp="1"/>
          </p:cNvSpPr>
          <p:nvPr>
            <p:ph idx="1"/>
          </p:nvPr>
        </p:nvSpPr>
        <p:spPr>
          <a:xfrm>
            <a:off x="838200" y="1825625"/>
            <a:ext cx="6446003" cy="4351338"/>
          </a:xfrm>
        </p:spPr>
        <p:txBody>
          <a:bodyPr>
            <a:normAutofit fontScale="92500" lnSpcReduction="10000"/>
          </a:bodyPr>
          <a:lstStyle/>
          <a:p>
            <a:r>
              <a:rPr lang="en-IE" dirty="0"/>
              <a:t>HTTP is not a secure protocol</a:t>
            </a:r>
          </a:p>
          <a:p>
            <a:pPr lvl="1"/>
            <a:r>
              <a:rPr lang="en-IE" dirty="0"/>
              <a:t>HTTPS (Secure HTTP) should be used for internet communications</a:t>
            </a:r>
          </a:p>
          <a:p>
            <a:r>
              <a:rPr lang="en-IE" dirty="0"/>
              <a:t>Components:</a:t>
            </a:r>
          </a:p>
          <a:p>
            <a:pPr lvl="1"/>
            <a:r>
              <a:rPr lang="en-IE" dirty="0"/>
              <a:t>HTTP</a:t>
            </a:r>
          </a:p>
          <a:p>
            <a:pPr lvl="1"/>
            <a:r>
              <a:rPr lang="en-IE" dirty="0"/>
              <a:t>SSL/TLS: </a:t>
            </a:r>
            <a:r>
              <a:rPr lang="en-GB" dirty="0"/>
              <a:t>Secure Sockets Layer (SSL) or Transport Layer Security (TLS) encrypts the data between the client and server</a:t>
            </a:r>
          </a:p>
          <a:p>
            <a:r>
              <a:rPr lang="en-GB" dirty="0"/>
              <a:t>Features:</a:t>
            </a:r>
          </a:p>
          <a:p>
            <a:pPr marL="742950" lvl="1" indent="-285750">
              <a:buFont typeface="Arial" panose="020B0604020202020204" pitchFamily="34" charset="0"/>
              <a:buChar char="•"/>
            </a:pPr>
            <a:r>
              <a:rPr lang="en-GB" b="1" dirty="0"/>
              <a:t>Data Encryption</a:t>
            </a:r>
            <a:r>
              <a:rPr lang="en-GB" dirty="0"/>
              <a:t>: Protects sensitive information from being intercepted</a:t>
            </a:r>
          </a:p>
          <a:p>
            <a:pPr marL="742950" lvl="1" indent="-285750">
              <a:buFont typeface="Arial" panose="020B0604020202020204" pitchFamily="34" charset="0"/>
              <a:buChar char="•"/>
            </a:pPr>
            <a:r>
              <a:rPr lang="en-GB" b="1" dirty="0"/>
              <a:t>Authentication</a:t>
            </a:r>
            <a:r>
              <a:rPr lang="en-GB" dirty="0"/>
              <a:t>: Verifies the identity of websites, preventing “man-in-the-middle” attacks</a:t>
            </a:r>
          </a:p>
        </p:txBody>
      </p:sp>
      <p:pic>
        <p:nvPicPr>
          <p:cNvPr id="1026" name="Picture 2" descr="Secure vs. Unsecure">
            <a:extLst>
              <a:ext uri="{FF2B5EF4-FFF2-40B4-BE49-F238E27FC236}">
                <a16:creationId xmlns:a16="http://schemas.microsoft.com/office/drawing/2014/main" id="{294A9274-E512-6F76-2686-231802E2C6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27570" y="820521"/>
            <a:ext cx="2859434" cy="238762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FE075AB-B87D-3F97-8E72-BF04586F97D3}"/>
              </a:ext>
            </a:extLst>
          </p:cNvPr>
          <p:cNvPicPr>
            <a:picLocks noChangeAspect="1"/>
          </p:cNvPicPr>
          <p:nvPr/>
        </p:nvPicPr>
        <p:blipFill>
          <a:blip r:embed="rId4"/>
          <a:stretch>
            <a:fillRect/>
          </a:stretch>
        </p:blipFill>
        <p:spPr>
          <a:xfrm>
            <a:off x="7284203" y="4001294"/>
            <a:ext cx="4597636" cy="1492327"/>
          </a:xfrm>
          <a:prstGeom prst="rect">
            <a:avLst/>
          </a:prstGeom>
        </p:spPr>
      </p:pic>
    </p:spTree>
    <p:extLst>
      <p:ext uri="{BB962C8B-B14F-4D97-AF65-F5344CB8AC3E}">
        <p14:creationId xmlns:p14="http://schemas.microsoft.com/office/powerpoint/2010/main" val="3590814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F126EE5-70A3-9187-D8BA-89F528D69CF8}"/>
              </a:ext>
            </a:extLst>
          </p:cNvPr>
          <p:cNvSpPr>
            <a:spLocks noGrp="1"/>
          </p:cNvSpPr>
          <p:nvPr>
            <p:ph type="title"/>
          </p:nvPr>
        </p:nvSpPr>
        <p:spPr>
          <a:xfrm>
            <a:off x="838200" y="609600"/>
            <a:ext cx="3739341" cy="1330839"/>
          </a:xfrm>
        </p:spPr>
        <p:txBody>
          <a:bodyPr>
            <a:normAutofit/>
          </a:bodyPr>
          <a:lstStyle/>
          <a:p>
            <a:r>
              <a:rPr lang="en-IE"/>
              <a:t>HTTP in Python - Flask</a:t>
            </a:r>
          </a:p>
        </p:txBody>
      </p:sp>
      <p:sp>
        <p:nvSpPr>
          <p:cNvPr id="3" name="Content Placeholder 2">
            <a:extLst>
              <a:ext uri="{FF2B5EF4-FFF2-40B4-BE49-F238E27FC236}">
                <a16:creationId xmlns:a16="http://schemas.microsoft.com/office/drawing/2014/main" id="{7FB1E349-629F-D96C-CB85-47F1837BFA55}"/>
              </a:ext>
            </a:extLst>
          </p:cNvPr>
          <p:cNvSpPr>
            <a:spLocks noGrp="1"/>
          </p:cNvSpPr>
          <p:nvPr>
            <p:ph idx="1"/>
          </p:nvPr>
        </p:nvSpPr>
        <p:spPr>
          <a:xfrm>
            <a:off x="862366" y="2194102"/>
            <a:ext cx="3427001" cy="3908586"/>
          </a:xfrm>
        </p:spPr>
        <p:txBody>
          <a:bodyPr>
            <a:normAutofit/>
          </a:bodyPr>
          <a:lstStyle/>
          <a:p>
            <a:r>
              <a:rPr lang="en-GB" sz="2000"/>
              <a:t>Flask is a lightweight web framework for Python</a:t>
            </a:r>
          </a:p>
          <a:p>
            <a:r>
              <a:rPr lang="en-GB" sz="2000"/>
              <a:t>Simple and flexible for web development</a:t>
            </a:r>
          </a:p>
          <a:p>
            <a:r>
              <a:rPr lang="en-GB" sz="2000"/>
              <a:t>Simple and flexible for web development</a:t>
            </a:r>
          </a:p>
          <a:p>
            <a:r>
              <a:rPr lang="en-GB" sz="2000"/>
              <a:t>Good for beginners and for building small to medium-sized web applications/APIs</a:t>
            </a:r>
          </a:p>
          <a:p>
            <a:endParaRPr lang="en-IE" sz="2000"/>
          </a:p>
        </p:txBody>
      </p:sp>
      <p:pic>
        <p:nvPicPr>
          <p:cNvPr id="5" name="Picture 4" descr="A black background with a black square&#10;&#10;Description automatically generated with medium confidence">
            <a:extLst>
              <a:ext uri="{FF2B5EF4-FFF2-40B4-BE49-F238E27FC236}">
                <a16:creationId xmlns:a16="http://schemas.microsoft.com/office/drawing/2014/main" id="{4D46728D-CE19-5769-7A02-57A8B6F265DD}"/>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5445457" y="2232924"/>
            <a:ext cx="6155141" cy="2415893"/>
          </a:xfrm>
          <a:prstGeom prst="rect">
            <a:avLst/>
          </a:prstGeom>
        </p:spPr>
      </p:pic>
      <p:sp>
        <p:nvSpPr>
          <p:cNvPr id="6" name="TextBox 5">
            <a:extLst>
              <a:ext uri="{FF2B5EF4-FFF2-40B4-BE49-F238E27FC236}">
                <a16:creationId xmlns:a16="http://schemas.microsoft.com/office/drawing/2014/main" id="{D49EA14C-C8C3-58E0-9133-A1995E7266FD}"/>
              </a:ext>
            </a:extLst>
          </p:cNvPr>
          <p:cNvSpPr txBox="1"/>
          <p:nvPr/>
        </p:nvSpPr>
        <p:spPr>
          <a:xfrm>
            <a:off x="9293556" y="4448762"/>
            <a:ext cx="2307042" cy="200055"/>
          </a:xfrm>
          <a:prstGeom prst="rect">
            <a:avLst/>
          </a:prstGeom>
          <a:solidFill>
            <a:srgbClr val="000000"/>
          </a:solidFill>
        </p:spPr>
        <p:txBody>
          <a:bodyPr wrap="none" rtlCol="0">
            <a:spAutoFit/>
          </a:bodyPr>
          <a:lstStyle/>
          <a:p>
            <a:pPr algn="r">
              <a:spcAft>
                <a:spcPts val="600"/>
              </a:spcAft>
            </a:pPr>
            <a:r>
              <a:rPr lang="en-IE" sz="700">
                <a:solidFill>
                  <a:srgbClr val="FFFFFF"/>
                </a:solidFill>
                <a:hlinkClick r:id="rId4" tooltip="https://devopedia.org/flask">
                  <a:extLst>
                    <a:ext uri="{A12FA001-AC4F-418D-AE19-62706E023703}">
                      <ahyp:hlinkClr xmlns:ahyp="http://schemas.microsoft.com/office/drawing/2018/hyperlinkcolor" val="tx"/>
                    </a:ext>
                  </a:extLst>
                </a:hlinkClick>
              </a:rPr>
              <a:t>This Photo</a:t>
            </a:r>
            <a:r>
              <a:rPr lang="en-IE" sz="700">
                <a:solidFill>
                  <a:srgbClr val="FFFFFF"/>
                </a:solidFill>
              </a:rPr>
              <a:t> by Unknown Author is licensed under </a:t>
            </a:r>
            <a:r>
              <a:rPr lang="en-IE" sz="700">
                <a:solidFill>
                  <a:srgbClr val="FFFFFF"/>
                </a:solidFill>
                <a:hlinkClick r:id="rId5" tooltip="https://creativecommons.org/licenses/by-sa/3.0/">
                  <a:extLst>
                    <a:ext uri="{A12FA001-AC4F-418D-AE19-62706E023703}">
                      <ahyp:hlinkClr xmlns:ahyp="http://schemas.microsoft.com/office/drawing/2018/hyperlinkcolor" val="tx"/>
                    </a:ext>
                  </a:extLst>
                </a:hlinkClick>
              </a:rPr>
              <a:t>CC BY-SA</a:t>
            </a:r>
            <a:endParaRPr lang="en-IE" sz="700">
              <a:solidFill>
                <a:srgbClr val="FFFFFF"/>
              </a:solidFill>
            </a:endParaRPr>
          </a:p>
        </p:txBody>
      </p:sp>
    </p:spTree>
    <p:extLst>
      <p:ext uri="{BB962C8B-B14F-4D97-AF65-F5344CB8AC3E}">
        <p14:creationId xmlns:p14="http://schemas.microsoft.com/office/powerpoint/2010/main" val="9126806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928C2-7EC6-18B6-FF9C-DF464A4B0F1A}"/>
              </a:ext>
            </a:extLst>
          </p:cNvPr>
          <p:cNvSpPr>
            <a:spLocks noGrp="1"/>
          </p:cNvSpPr>
          <p:nvPr>
            <p:ph type="title"/>
          </p:nvPr>
        </p:nvSpPr>
        <p:spPr/>
        <p:txBody>
          <a:bodyPr/>
          <a:lstStyle/>
          <a:p>
            <a:r>
              <a:rPr lang="en-IE" dirty="0"/>
              <a:t>Flask Example</a:t>
            </a:r>
          </a:p>
        </p:txBody>
      </p:sp>
      <p:sp>
        <p:nvSpPr>
          <p:cNvPr id="3" name="Content Placeholder 2">
            <a:extLst>
              <a:ext uri="{FF2B5EF4-FFF2-40B4-BE49-F238E27FC236}">
                <a16:creationId xmlns:a16="http://schemas.microsoft.com/office/drawing/2014/main" id="{BF5D604E-E057-173D-60E3-9EF0731D1491}"/>
              </a:ext>
            </a:extLst>
          </p:cNvPr>
          <p:cNvSpPr>
            <a:spLocks noGrp="1"/>
          </p:cNvSpPr>
          <p:nvPr>
            <p:ph idx="1"/>
          </p:nvPr>
        </p:nvSpPr>
        <p:spPr/>
        <p:txBody>
          <a:bodyPr/>
          <a:lstStyle/>
          <a:p>
            <a:pPr lvl="1"/>
            <a:endParaRPr lang="en-IE" dirty="0"/>
          </a:p>
        </p:txBody>
      </p:sp>
      <p:pic>
        <p:nvPicPr>
          <p:cNvPr id="5" name="Picture 4">
            <a:extLst>
              <a:ext uri="{FF2B5EF4-FFF2-40B4-BE49-F238E27FC236}">
                <a16:creationId xmlns:a16="http://schemas.microsoft.com/office/drawing/2014/main" id="{8000310C-F04C-0280-FCFA-C019F325BE6C}"/>
              </a:ext>
            </a:extLst>
          </p:cNvPr>
          <p:cNvPicPr>
            <a:picLocks noChangeAspect="1"/>
          </p:cNvPicPr>
          <p:nvPr/>
        </p:nvPicPr>
        <p:blipFill>
          <a:blip r:embed="rId3"/>
          <a:stretch>
            <a:fillRect/>
          </a:stretch>
        </p:blipFill>
        <p:spPr>
          <a:xfrm>
            <a:off x="404226" y="365125"/>
            <a:ext cx="11259362" cy="6127750"/>
          </a:xfrm>
          <a:prstGeom prst="rect">
            <a:avLst/>
          </a:prstGeom>
        </p:spPr>
      </p:pic>
    </p:spTree>
    <p:extLst>
      <p:ext uri="{BB962C8B-B14F-4D97-AF65-F5344CB8AC3E}">
        <p14:creationId xmlns:p14="http://schemas.microsoft.com/office/powerpoint/2010/main" val="10688459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on HTTP</a:t>
            </a:r>
          </a:p>
        </p:txBody>
      </p:sp>
      <p:sp>
        <p:nvSpPr>
          <p:cNvPr id="3" name="Content Placeholder 2"/>
          <p:cNvSpPr>
            <a:spLocks noGrp="1"/>
          </p:cNvSpPr>
          <p:nvPr>
            <p:ph idx="1"/>
          </p:nvPr>
        </p:nvSpPr>
        <p:spPr/>
        <p:txBody>
          <a:bodyPr vert="horz" lIns="91440" tIns="45720" rIns="91440" bIns="45720" rtlCol="0" anchor="t">
            <a:normAutofit/>
          </a:bodyPr>
          <a:lstStyle/>
          <a:p>
            <a:r>
              <a:rPr lang="en-US" dirty="0"/>
              <a:t>For an extensive overview, checkout:</a:t>
            </a:r>
          </a:p>
          <a:p>
            <a:endParaRPr lang="en-US" dirty="0"/>
          </a:p>
          <a:p>
            <a:pPr>
              <a:buNone/>
            </a:pPr>
            <a:r>
              <a:rPr lang="en-US" dirty="0">
                <a:latin typeface="Calibri" charset="0"/>
                <a:hlinkClick r:id="rId3"/>
              </a:rPr>
              <a:t>https://www.ntu.edu.sg/home/ehchua/programming/webprogramming/http_basics.html</a:t>
            </a:r>
            <a:endParaRPr lang="en-US" dirty="0">
              <a:latin typeface="Calibri" charset="0"/>
            </a:endParaRPr>
          </a:p>
          <a:p>
            <a:pPr>
              <a:buNone/>
            </a:pPr>
            <a:endParaRPr lang="en-US" dirty="0">
              <a:cs typeface="Calibri"/>
            </a:endParaRPr>
          </a:p>
          <a:p>
            <a:pPr marL="0" indent="0">
              <a:buNone/>
            </a:pPr>
            <a:endParaRPr lang="en-US" dirty="0">
              <a:cs typeface="Calibri"/>
            </a:endParaRPr>
          </a:p>
        </p:txBody>
      </p:sp>
    </p:spTree>
    <p:extLst>
      <p:ext uri="{BB962C8B-B14F-4D97-AF65-F5344CB8AC3E}">
        <p14:creationId xmlns:p14="http://schemas.microsoft.com/office/powerpoint/2010/main" val="32559541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TM10001114[[fn=Gallery]]</Template>
  <TotalTime>0</TotalTime>
  <Words>1710</Words>
  <Application>Microsoft Office PowerPoint</Application>
  <PresentationFormat>Widescreen</PresentationFormat>
  <Paragraphs>209</Paragraphs>
  <Slides>26</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Arial</vt:lpstr>
      <vt:lpstr>Calibri</vt:lpstr>
      <vt:lpstr>Calibri Light</vt:lpstr>
      <vt:lpstr>Gudea</vt:lpstr>
      <vt:lpstr>sans-serif</vt:lpstr>
      <vt:lpstr>Times</vt:lpstr>
      <vt:lpstr>office theme</vt:lpstr>
      <vt:lpstr>Application Layer: HTTP </vt:lpstr>
      <vt:lpstr>Application Layer</vt:lpstr>
      <vt:lpstr>TCP/IP Protocol Stack</vt:lpstr>
      <vt:lpstr>Web APIs</vt:lpstr>
      <vt:lpstr>What's a Web API</vt:lpstr>
      <vt:lpstr>What’s HTTP</vt:lpstr>
      <vt:lpstr>HTTP request from an application.</vt:lpstr>
      <vt:lpstr>HTTP: The Method/Verb</vt:lpstr>
      <vt:lpstr>HTTP: The URL</vt:lpstr>
      <vt:lpstr>HTTP: The Request</vt:lpstr>
      <vt:lpstr>HTTP: The Response</vt:lpstr>
      <vt:lpstr>HTTP Protocol: Content-Type Header</vt:lpstr>
      <vt:lpstr>HTTP: The URL Query String</vt:lpstr>
      <vt:lpstr>HTTP Methods (“typical uses”)</vt:lpstr>
      <vt:lpstr>HTTP: The Body</vt:lpstr>
      <vt:lpstr>PowerPoint Presentation</vt:lpstr>
      <vt:lpstr>PowerPoint Presentation</vt:lpstr>
      <vt:lpstr>PowerPoint Presentation</vt:lpstr>
      <vt:lpstr>External Data Representations XML</vt:lpstr>
      <vt:lpstr>XML</vt:lpstr>
      <vt:lpstr>JSON</vt:lpstr>
      <vt:lpstr>JSON</vt:lpstr>
      <vt:lpstr>HTTPS</vt:lpstr>
      <vt:lpstr>HTTP in Python - Flask</vt:lpstr>
      <vt:lpstr>Flask Example</vt:lpstr>
      <vt:lpstr>More on HTTP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Walsh</dc:creator>
  <cp:lastModifiedBy>Frank Walsh</cp:lastModifiedBy>
  <cp:revision>697</cp:revision>
  <dcterms:created xsi:type="dcterms:W3CDTF">2013-07-15T20:26:40Z</dcterms:created>
  <dcterms:modified xsi:type="dcterms:W3CDTF">2024-11-11T11:42:05Z</dcterms:modified>
</cp:coreProperties>
</file>