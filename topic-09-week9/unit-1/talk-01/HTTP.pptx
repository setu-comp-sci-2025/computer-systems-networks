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310" r:id="rId3"/>
    <p:sldId id="299" r:id="rId4"/>
    <p:sldId id="276" r:id="rId5"/>
    <p:sldId id="258" r:id="rId6"/>
    <p:sldId id="259" r:id="rId7"/>
    <p:sldId id="261" r:id="rId8"/>
    <p:sldId id="312" r:id="rId9"/>
    <p:sldId id="262" r:id="rId10"/>
    <p:sldId id="263" r:id="rId11"/>
    <p:sldId id="264" r:id="rId12"/>
    <p:sldId id="309" r:id="rId13"/>
    <p:sldId id="267" r:id="rId14"/>
    <p:sldId id="268" r:id="rId15"/>
    <p:sldId id="311" r:id="rId16"/>
    <p:sldId id="316" r:id="rId17"/>
    <p:sldId id="317" r:id="rId18"/>
    <p:sldId id="295" r:id="rId19"/>
    <p:sldId id="297" r:id="rId20"/>
    <p:sldId id="298" r:id="rId21"/>
    <p:sldId id="293" r:id="rId22"/>
    <p:sldId id="292" r:id="rId23"/>
    <p:sldId id="291" r:id="rId24"/>
    <p:sldId id="290" r:id="rId25"/>
    <p:sldId id="313" r:id="rId26"/>
    <p:sldId id="314" r:id="rId27"/>
    <p:sldId id="31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46459E-C2A0-4C12-927D-7418FB1F2B20}" v="2" dt="2020-10-14T08:41:41.8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46" autoAdjust="0"/>
    <p:restoredTop sz="53036" autoAdjust="0"/>
  </p:normalViewPr>
  <p:slideViewPr>
    <p:cSldViewPr snapToGrid="0">
      <p:cViewPr varScale="1">
        <p:scale>
          <a:sx n="58" d="100"/>
          <a:sy n="58" d="100"/>
        </p:scale>
        <p:origin x="1088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B64C14-C56A-49FF-967E-4BD32CA4BE1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79B6791-D309-4D81-9B4C-CDE412987EE3}">
      <dgm:prSet/>
      <dgm:spPr/>
      <dgm:t>
        <a:bodyPr/>
        <a:lstStyle/>
        <a:p>
          <a:r>
            <a:rPr lang="en-US"/>
            <a:t>GET </a:t>
          </a:r>
        </a:p>
      </dgm:t>
    </dgm:pt>
    <dgm:pt modelId="{8B65EF90-89ED-4EB8-B4BE-F9D3E6707D0E}" type="parTrans" cxnId="{7D74F846-0DBE-4EFE-AABD-B21BC4146066}">
      <dgm:prSet/>
      <dgm:spPr/>
      <dgm:t>
        <a:bodyPr/>
        <a:lstStyle/>
        <a:p>
          <a:endParaRPr lang="en-US"/>
        </a:p>
      </dgm:t>
    </dgm:pt>
    <dgm:pt modelId="{3D2420F7-007F-4A2E-A489-CE01B24D9A8A}" type="sibTrans" cxnId="{7D74F846-0DBE-4EFE-AABD-B21BC4146066}">
      <dgm:prSet/>
      <dgm:spPr/>
      <dgm:t>
        <a:bodyPr/>
        <a:lstStyle/>
        <a:p>
          <a:endParaRPr lang="en-US"/>
        </a:p>
      </dgm:t>
    </dgm:pt>
    <dgm:pt modelId="{312231F5-F1BA-4E68-A73A-356C8B5776CA}">
      <dgm:prSet/>
      <dgm:spPr/>
      <dgm:t>
        <a:bodyPr/>
        <a:lstStyle/>
        <a:p>
          <a:r>
            <a:rPr lang="en-US" dirty="0"/>
            <a:t>Request resource without sending data </a:t>
          </a:r>
        </a:p>
      </dgm:t>
    </dgm:pt>
    <dgm:pt modelId="{5145A37C-DE73-4A82-A1F0-45772806F8B4}" type="parTrans" cxnId="{4AABBE16-F074-44D6-94EF-5E77C2B3C16C}">
      <dgm:prSet/>
      <dgm:spPr/>
      <dgm:t>
        <a:bodyPr/>
        <a:lstStyle/>
        <a:p>
          <a:endParaRPr lang="en-US"/>
        </a:p>
      </dgm:t>
    </dgm:pt>
    <dgm:pt modelId="{ADF008E8-8633-44B2-A598-7EFF1FDBEDDC}" type="sibTrans" cxnId="{4AABBE16-F074-44D6-94EF-5E77C2B3C16C}">
      <dgm:prSet/>
      <dgm:spPr/>
      <dgm:t>
        <a:bodyPr/>
        <a:lstStyle/>
        <a:p>
          <a:endParaRPr lang="en-US"/>
        </a:p>
      </dgm:t>
    </dgm:pt>
    <dgm:pt modelId="{2F8CACEA-1CB6-481F-92C9-A5DCE38DFB45}">
      <dgm:prSet/>
      <dgm:spPr/>
      <dgm:t>
        <a:bodyPr/>
        <a:lstStyle/>
        <a:p>
          <a:r>
            <a:rPr lang="en-US" dirty="0"/>
            <a:t>PUT</a:t>
          </a:r>
        </a:p>
      </dgm:t>
    </dgm:pt>
    <dgm:pt modelId="{5331CA3F-6313-4DEA-8E92-78547A15E8DA}" type="parTrans" cxnId="{1B50DE99-DD12-4C28-960A-C11E84E0E995}">
      <dgm:prSet/>
      <dgm:spPr/>
      <dgm:t>
        <a:bodyPr/>
        <a:lstStyle/>
        <a:p>
          <a:endParaRPr lang="en-US"/>
        </a:p>
      </dgm:t>
    </dgm:pt>
    <dgm:pt modelId="{CB918AB9-19FF-437C-83B7-E053AC25FC9C}" type="sibTrans" cxnId="{1B50DE99-DD12-4C28-960A-C11E84E0E995}">
      <dgm:prSet/>
      <dgm:spPr/>
      <dgm:t>
        <a:bodyPr/>
        <a:lstStyle/>
        <a:p>
          <a:endParaRPr lang="en-US"/>
        </a:p>
      </dgm:t>
    </dgm:pt>
    <dgm:pt modelId="{6D741527-8E6B-433F-BF6F-C46398B2B387}">
      <dgm:prSet/>
      <dgm:spPr/>
      <dgm:t>
        <a:bodyPr/>
        <a:lstStyle/>
        <a:p>
          <a:r>
            <a:rPr lang="en-US" dirty="0"/>
            <a:t>Modify/replace resource with data that you are sending </a:t>
          </a:r>
        </a:p>
      </dgm:t>
    </dgm:pt>
    <dgm:pt modelId="{CC371100-8502-416C-837C-5AB7AEC86F38}" type="parTrans" cxnId="{664E6C15-A07F-400F-8A04-CD2D6A178E60}">
      <dgm:prSet/>
      <dgm:spPr/>
      <dgm:t>
        <a:bodyPr/>
        <a:lstStyle/>
        <a:p>
          <a:endParaRPr lang="en-US"/>
        </a:p>
      </dgm:t>
    </dgm:pt>
    <dgm:pt modelId="{C0724200-7EBD-4660-9431-35ACB75F1252}" type="sibTrans" cxnId="{664E6C15-A07F-400F-8A04-CD2D6A178E60}">
      <dgm:prSet/>
      <dgm:spPr/>
      <dgm:t>
        <a:bodyPr/>
        <a:lstStyle/>
        <a:p>
          <a:endParaRPr lang="en-US"/>
        </a:p>
      </dgm:t>
    </dgm:pt>
    <dgm:pt modelId="{6B06BE86-D0B8-45E0-8372-3B10D1653FBC}">
      <dgm:prSet/>
      <dgm:spPr/>
      <dgm:t>
        <a:bodyPr/>
        <a:lstStyle/>
        <a:p>
          <a:r>
            <a:rPr lang="en-US" dirty="0"/>
            <a:t>POST </a:t>
          </a:r>
        </a:p>
      </dgm:t>
    </dgm:pt>
    <dgm:pt modelId="{E92EEED8-5FED-45B4-8992-F81729271F02}" type="parTrans" cxnId="{2EE439DE-5A03-494F-9195-1F9D1F87A6FD}">
      <dgm:prSet/>
      <dgm:spPr/>
      <dgm:t>
        <a:bodyPr/>
        <a:lstStyle/>
        <a:p>
          <a:endParaRPr lang="en-US"/>
        </a:p>
      </dgm:t>
    </dgm:pt>
    <dgm:pt modelId="{95678437-099B-4A6B-908C-0D26DCE6D663}" type="sibTrans" cxnId="{2EE439DE-5A03-494F-9195-1F9D1F87A6FD}">
      <dgm:prSet/>
      <dgm:spPr/>
      <dgm:t>
        <a:bodyPr/>
        <a:lstStyle/>
        <a:p>
          <a:endParaRPr lang="en-US"/>
        </a:p>
      </dgm:t>
    </dgm:pt>
    <dgm:pt modelId="{9852570C-CAC9-4FC7-A0B4-9A668B8A7028}">
      <dgm:prSet/>
      <dgm:spPr/>
      <dgm:t>
        <a:bodyPr/>
        <a:lstStyle/>
        <a:p>
          <a:r>
            <a:rPr lang="en-US" dirty="0"/>
            <a:t>Create new resource with data that you are sending </a:t>
          </a:r>
        </a:p>
      </dgm:t>
    </dgm:pt>
    <dgm:pt modelId="{6982C239-C30C-4FAD-890F-9D4D194DDFFE}" type="parTrans" cxnId="{8AC83D3A-E8A1-4FB5-96E6-1AD7B2166BE5}">
      <dgm:prSet/>
      <dgm:spPr/>
      <dgm:t>
        <a:bodyPr/>
        <a:lstStyle/>
        <a:p>
          <a:endParaRPr lang="en-US"/>
        </a:p>
      </dgm:t>
    </dgm:pt>
    <dgm:pt modelId="{EB07BFC3-A6D5-46A1-87E7-16852EB21503}" type="sibTrans" cxnId="{8AC83D3A-E8A1-4FB5-96E6-1AD7B2166BE5}">
      <dgm:prSet/>
      <dgm:spPr/>
      <dgm:t>
        <a:bodyPr/>
        <a:lstStyle/>
        <a:p>
          <a:endParaRPr lang="en-US"/>
        </a:p>
      </dgm:t>
    </dgm:pt>
    <dgm:pt modelId="{82FC7625-CB57-4856-AE16-31FAB013C55F}">
      <dgm:prSet/>
      <dgm:spPr/>
      <dgm:t>
        <a:bodyPr/>
        <a:lstStyle/>
        <a:p>
          <a:r>
            <a:rPr lang="en-US"/>
            <a:t>DELETE </a:t>
          </a:r>
        </a:p>
      </dgm:t>
    </dgm:pt>
    <dgm:pt modelId="{63D0257B-D292-497F-8B77-4F5E1569E8D7}" type="parTrans" cxnId="{7B4D3196-10A6-417B-B06A-6AB5BF47AE3B}">
      <dgm:prSet/>
      <dgm:spPr/>
      <dgm:t>
        <a:bodyPr/>
        <a:lstStyle/>
        <a:p>
          <a:endParaRPr lang="en-US"/>
        </a:p>
      </dgm:t>
    </dgm:pt>
    <dgm:pt modelId="{6CB056D3-E4FD-4962-BC3C-6E897ACD12BD}" type="sibTrans" cxnId="{7B4D3196-10A6-417B-B06A-6AB5BF47AE3B}">
      <dgm:prSet/>
      <dgm:spPr/>
      <dgm:t>
        <a:bodyPr/>
        <a:lstStyle/>
        <a:p>
          <a:endParaRPr lang="en-US"/>
        </a:p>
      </dgm:t>
    </dgm:pt>
    <dgm:pt modelId="{A7918F34-35B9-4F56-A1BE-D091DE389B39}">
      <dgm:prSet/>
      <dgm:spPr/>
      <dgm:t>
        <a:bodyPr/>
        <a:lstStyle/>
        <a:p>
          <a:r>
            <a:rPr lang="en-US" dirty="0"/>
            <a:t>Delete resource without sending data</a:t>
          </a:r>
        </a:p>
      </dgm:t>
    </dgm:pt>
    <dgm:pt modelId="{BD2BD30C-9817-4885-A471-15BD64E91417}" type="parTrans" cxnId="{759E6A5D-6192-49F6-A450-880928F612E9}">
      <dgm:prSet/>
      <dgm:spPr/>
      <dgm:t>
        <a:bodyPr/>
        <a:lstStyle/>
        <a:p>
          <a:endParaRPr lang="en-US"/>
        </a:p>
      </dgm:t>
    </dgm:pt>
    <dgm:pt modelId="{91916F79-7634-457B-A0DC-8C2C9A738198}" type="sibTrans" cxnId="{759E6A5D-6192-49F6-A450-880928F612E9}">
      <dgm:prSet/>
      <dgm:spPr/>
      <dgm:t>
        <a:bodyPr/>
        <a:lstStyle/>
        <a:p>
          <a:endParaRPr lang="en-US"/>
        </a:p>
      </dgm:t>
    </dgm:pt>
    <dgm:pt modelId="{96544DA7-D5E8-4D7D-A7BE-886B0CF3D9B1}" type="pres">
      <dgm:prSet presAssocID="{E5B64C14-C56A-49FF-967E-4BD32CA4BE13}" presName="linear" presStyleCnt="0">
        <dgm:presLayoutVars>
          <dgm:animLvl val="lvl"/>
          <dgm:resizeHandles val="exact"/>
        </dgm:presLayoutVars>
      </dgm:prSet>
      <dgm:spPr/>
    </dgm:pt>
    <dgm:pt modelId="{8745833D-4890-4436-8E75-FE4D033A9476}" type="pres">
      <dgm:prSet presAssocID="{F79B6791-D309-4D81-9B4C-CDE412987EE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3C7D20C-5D95-4D5E-8044-57FF0AC04F61}" type="pres">
      <dgm:prSet presAssocID="{F79B6791-D309-4D81-9B4C-CDE412987EE3}" presName="childText" presStyleLbl="revTx" presStyleIdx="0" presStyleCnt="4">
        <dgm:presLayoutVars>
          <dgm:bulletEnabled val="1"/>
        </dgm:presLayoutVars>
      </dgm:prSet>
      <dgm:spPr/>
    </dgm:pt>
    <dgm:pt modelId="{20E8EB6B-C90D-4498-BEBB-EA8BB55D15A2}" type="pres">
      <dgm:prSet presAssocID="{2F8CACEA-1CB6-481F-92C9-A5DCE38DFB4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2C3F35C-3878-4B56-A84D-F7F57879FC7A}" type="pres">
      <dgm:prSet presAssocID="{2F8CACEA-1CB6-481F-92C9-A5DCE38DFB45}" presName="childText" presStyleLbl="revTx" presStyleIdx="1" presStyleCnt="4">
        <dgm:presLayoutVars>
          <dgm:bulletEnabled val="1"/>
        </dgm:presLayoutVars>
      </dgm:prSet>
      <dgm:spPr/>
    </dgm:pt>
    <dgm:pt modelId="{918499BD-E891-4028-A260-50A7B4092BD6}" type="pres">
      <dgm:prSet presAssocID="{6B06BE86-D0B8-45E0-8372-3B10D1653FB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2902D75-5B34-4548-9281-CDB622C1E22A}" type="pres">
      <dgm:prSet presAssocID="{6B06BE86-D0B8-45E0-8372-3B10D1653FBC}" presName="childText" presStyleLbl="revTx" presStyleIdx="2" presStyleCnt="4">
        <dgm:presLayoutVars>
          <dgm:bulletEnabled val="1"/>
        </dgm:presLayoutVars>
      </dgm:prSet>
      <dgm:spPr/>
    </dgm:pt>
    <dgm:pt modelId="{8429FA5D-8434-425E-8417-1519FF0DDD60}" type="pres">
      <dgm:prSet presAssocID="{82FC7625-CB57-4856-AE16-31FAB013C55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00881735-8607-4C53-9063-EA6A345F3D2D}" type="pres">
      <dgm:prSet presAssocID="{82FC7625-CB57-4856-AE16-31FAB013C55F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E4966E10-8F7B-4F54-A522-6BE78CC53F4C}" type="presOf" srcId="{82FC7625-CB57-4856-AE16-31FAB013C55F}" destId="{8429FA5D-8434-425E-8417-1519FF0DDD60}" srcOrd="0" destOrd="0" presId="urn:microsoft.com/office/officeart/2005/8/layout/vList2"/>
    <dgm:cxn modelId="{664E6C15-A07F-400F-8A04-CD2D6A178E60}" srcId="{2F8CACEA-1CB6-481F-92C9-A5DCE38DFB45}" destId="{6D741527-8E6B-433F-BF6F-C46398B2B387}" srcOrd="0" destOrd="0" parTransId="{CC371100-8502-416C-837C-5AB7AEC86F38}" sibTransId="{C0724200-7EBD-4660-9431-35ACB75F1252}"/>
    <dgm:cxn modelId="{4AABBE16-F074-44D6-94EF-5E77C2B3C16C}" srcId="{F79B6791-D309-4D81-9B4C-CDE412987EE3}" destId="{312231F5-F1BA-4E68-A73A-356C8B5776CA}" srcOrd="0" destOrd="0" parTransId="{5145A37C-DE73-4A82-A1F0-45772806F8B4}" sibTransId="{ADF008E8-8633-44B2-A598-7EFF1FDBEDDC}"/>
    <dgm:cxn modelId="{23556022-FC8D-4B88-BA6E-BF9726810436}" type="presOf" srcId="{6B06BE86-D0B8-45E0-8372-3B10D1653FBC}" destId="{918499BD-E891-4028-A260-50A7B4092BD6}" srcOrd="0" destOrd="0" presId="urn:microsoft.com/office/officeart/2005/8/layout/vList2"/>
    <dgm:cxn modelId="{B6C1A922-E315-4F6B-870D-55130814C1AE}" type="presOf" srcId="{2F8CACEA-1CB6-481F-92C9-A5DCE38DFB45}" destId="{20E8EB6B-C90D-4498-BEBB-EA8BB55D15A2}" srcOrd="0" destOrd="0" presId="urn:microsoft.com/office/officeart/2005/8/layout/vList2"/>
    <dgm:cxn modelId="{8AC83D3A-E8A1-4FB5-96E6-1AD7B2166BE5}" srcId="{6B06BE86-D0B8-45E0-8372-3B10D1653FBC}" destId="{9852570C-CAC9-4FC7-A0B4-9A668B8A7028}" srcOrd="0" destOrd="0" parTransId="{6982C239-C30C-4FAD-890F-9D4D194DDFFE}" sibTransId="{EB07BFC3-A6D5-46A1-87E7-16852EB21503}"/>
    <dgm:cxn modelId="{759E6A5D-6192-49F6-A450-880928F612E9}" srcId="{82FC7625-CB57-4856-AE16-31FAB013C55F}" destId="{A7918F34-35B9-4F56-A1BE-D091DE389B39}" srcOrd="0" destOrd="0" parTransId="{BD2BD30C-9817-4885-A471-15BD64E91417}" sibTransId="{91916F79-7634-457B-A0DC-8C2C9A738198}"/>
    <dgm:cxn modelId="{6C05F760-6842-4803-8FC8-59A78B82CB17}" type="presOf" srcId="{312231F5-F1BA-4E68-A73A-356C8B5776CA}" destId="{E3C7D20C-5D95-4D5E-8044-57FF0AC04F61}" srcOrd="0" destOrd="0" presId="urn:microsoft.com/office/officeart/2005/8/layout/vList2"/>
    <dgm:cxn modelId="{7D74F846-0DBE-4EFE-AABD-B21BC4146066}" srcId="{E5B64C14-C56A-49FF-967E-4BD32CA4BE13}" destId="{F79B6791-D309-4D81-9B4C-CDE412987EE3}" srcOrd="0" destOrd="0" parTransId="{8B65EF90-89ED-4EB8-B4BE-F9D3E6707D0E}" sibTransId="{3D2420F7-007F-4A2E-A489-CE01B24D9A8A}"/>
    <dgm:cxn modelId="{B1128275-D213-4184-82DD-855DBEC90912}" type="presOf" srcId="{E5B64C14-C56A-49FF-967E-4BD32CA4BE13}" destId="{96544DA7-D5E8-4D7D-A7BE-886B0CF3D9B1}" srcOrd="0" destOrd="0" presId="urn:microsoft.com/office/officeart/2005/8/layout/vList2"/>
    <dgm:cxn modelId="{CB92407E-F076-440C-868E-4A90F93880FA}" type="presOf" srcId="{A7918F34-35B9-4F56-A1BE-D091DE389B39}" destId="{00881735-8607-4C53-9063-EA6A345F3D2D}" srcOrd="0" destOrd="0" presId="urn:microsoft.com/office/officeart/2005/8/layout/vList2"/>
    <dgm:cxn modelId="{B3BFAB89-8171-45EE-A4F2-9023FABE4B87}" type="presOf" srcId="{9852570C-CAC9-4FC7-A0B4-9A668B8A7028}" destId="{42902D75-5B34-4548-9281-CDB622C1E22A}" srcOrd="0" destOrd="0" presId="urn:microsoft.com/office/officeart/2005/8/layout/vList2"/>
    <dgm:cxn modelId="{7B4D3196-10A6-417B-B06A-6AB5BF47AE3B}" srcId="{E5B64C14-C56A-49FF-967E-4BD32CA4BE13}" destId="{82FC7625-CB57-4856-AE16-31FAB013C55F}" srcOrd="3" destOrd="0" parTransId="{63D0257B-D292-497F-8B77-4F5E1569E8D7}" sibTransId="{6CB056D3-E4FD-4962-BC3C-6E897ACD12BD}"/>
    <dgm:cxn modelId="{1B50DE99-DD12-4C28-960A-C11E84E0E995}" srcId="{E5B64C14-C56A-49FF-967E-4BD32CA4BE13}" destId="{2F8CACEA-1CB6-481F-92C9-A5DCE38DFB45}" srcOrd="1" destOrd="0" parTransId="{5331CA3F-6313-4DEA-8E92-78547A15E8DA}" sibTransId="{CB918AB9-19FF-437C-83B7-E053AC25FC9C}"/>
    <dgm:cxn modelId="{20915CA3-B90F-4AC7-86A2-033D82515C04}" type="presOf" srcId="{6D741527-8E6B-433F-BF6F-C46398B2B387}" destId="{E2C3F35C-3878-4B56-A84D-F7F57879FC7A}" srcOrd="0" destOrd="0" presId="urn:microsoft.com/office/officeart/2005/8/layout/vList2"/>
    <dgm:cxn modelId="{972674CD-FB4A-4434-88B2-A03A4F073EA9}" type="presOf" srcId="{F79B6791-D309-4D81-9B4C-CDE412987EE3}" destId="{8745833D-4890-4436-8E75-FE4D033A9476}" srcOrd="0" destOrd="0" presId="urn:microsoft.com/office/officeart/2005/8/layout/vList2"/>
    <dgm:cxn modelId="{2EE439DE-5A03-494F-9195-1F9D1F87A6FD}" srcId="{E5B64C14-C56A-49FF-967E-4BD32CA4BE13}" destId="{6B06BE86-D0B8-45E0-8372-3B10D1653FBC}" srcOrd="2" destOrd="0" parTransId="{E92EEED8-5FED-45B4-8992-F81729271F02}" sibTransId="{95678437-099B-4A6B-908C-0D26DCE6D663}"/>
    <dgm:cxn modelId="{A4F2D615-8ECA-488C-8134-0A4D5C0FF93D}" type="presParOf" srcId="{96544DA7-D5E8-4D7D-A7BE-886B0CF3D9B1}" destId="{8745833D-4890-4436-8E75-FE4D033A9476}" srcOrd="0" destOrd="0" presId="urn:microsoft.com/office/officeart/2005/8/layout/vList2"/>
    <dgm:cxn modelId="{6FD41D4A-4906-40E5-BE5A-F37D4306D709}" type="presParOf" srcId="{96544DA7-D5E8-4D7D-A7BE-886B0CF3D9B1}" destId="{E3C7D20C-5D95-4D5E-8044-57FF0AC04F61}" srcOrd="1" destOrd="0" presId="urn:microsoft.com/office/officeart/2005/8/layout/vList2"/>
    <dgm:cxn modelId="{1EA916E2-1CF7-4432-9D11-88A73CAD1CE9}" type="presParOf" srcId="{96544DA7-D5E8-4D7D-A7BE-886B0CF3D9B1}" destId="{20E8EB6B-C90D-4498-BEBB-EA8BB55D15A2}" srcOrd="2" destOrd="0" presId="urn:microsoft.com/office/officeart/2005/8/layout/vList2"/>
    <dgm:cxn modelId="{C4450F9D-9BC3-4421-9A2F-5F1E25625E43}" type="presParOf" srcId="{96544DA7-D5E8-4D7D-A7BE-886B0CF3D9B1}" destId="{E2C3F35C-3878-4B56-A84D-F7F57879FC7A}" srcOrd="3" destOrd="0" presId="urn:microsoft.com/office/officeart/2005/8/layout/vList2"/>
    <dgm:cxn modelId="{9B01E80E-EB43-4811-85D6-7D2D87238C71}" type="presParOf" srcId="{96544DA7-D5E8-4D7D-A7BE-886B0CF3D9B1}" destId="{918499BD-E891-4028-A260-50A7B4092BD6}" srcOrd="4" destOrd="0" presId="urn:microsoft.com/office/officeart/2005/8/layout/vList2"/>
    <dgm:cxn modelId="{0CF13EA3-6F79-4292-BFCF-3751A7EBE1BD}" type="presParOf" srcId="{96544DA7-D5E8-4D7D-A7BE-886B0CF3D9B1}" destId="{42902D75-5B34-4548-9281-CDB622C1E22A}" srcOrd="5" destOrd="0" presId="urn:microsoft.com/office/officeart/2005/8/layout/vList2"/>
    <dgm:cxn modelId="{34048E77-7B56-417D-BDF6-82981375BD52}" type="presParOf" srcId="{96544DA7-D5E8-4D7D-A7BE-886B0CF3D9B1}" destId="{8429FA5D-8434-425E-8417-1519FF0DDD60}" srcOrd="6" destOrd="0" presId="urn:microsoft.com/office/officeart/2005/8/layout/vList2"/>
    <dgm:cxn modelId="{6A2F3BA3-A9DF-451F-A2B5-1E39CC2A41BB}" type="presParOf" srcId="{96544DA7-D5E8-4D7D-A7BE-886B0CF3D9B1}" destId="{00881735-8607-4C53-9063-EA6A345F3D2D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45833D-4890-4436-8E75-FE4D033A9476}">
      <dsp:nvSpPr>
        <dsp:cNvPr id="0" name=""/>
        <dsp:cNvSpPr/>
      </dsp:nvSpPr>
      <dsp:spPr>
        <a:xfrm>
          <a:off x="0" y="86769"/>
          <a:ext cx="6263640" cy="71954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GET </a:t>
          </a:r>
        </a:p>
      </dsp:txBody>
      <dsp:txXfrm>
        <a:off x="35125" y="121894"/>
        <a:ext cx="6193390" cy="649299"/>
      </dsp:txXfrm>
    </dsp:sp>
    <dsp:sp modelId="{E3C7D20C-5D95-4D5E-8044-57FF0AC04F61}">
      <dsp:nvSpPr>
        <dsp:cNvPr id="0" name=""/>
        <dsp:cNvSpPr/>
      </dsp:nvSpPr>
      <dsp:spPr>
        <a:xfrm>
          <a:off x="0" y="806319"/>
          <a:ext cx="6263640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1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Request resource without sending data </a:t>
          </a:r>
        </a:p>
      </dsp:txBody>
      <dsp:txXfrm>
        <a:off x="0" y="806319"/>
        <a:ext cx="6263640" cy="496800"/>
      </dsp:txXfrm>
    </dsp:sp>
    <dsp:sp modelId="{20E8EB6B-C90D-4498-BEBB-EA8BB55D15A2}">
      <dsp:nvSpPr>
        <dsp:cNvPr id="0" name=""/>
        <dsp:cNvSpPr/>
      </dsp:nvSpPr>
      <dsp:spPr>
        <a:xfrm>
          <a:off x="0" y="1303119"/>
          <a:ext cx="6263640" cy="719549"/>
        </a:xfrm>
        <a:prstGeom prst="roundRect">
          <a:avLst/>
        </a:prstGeom>
        <a:solidFill>
          <a:schemeClr val="accent5">
            <a:hueOff val="-2451115"/>
            <a:satOff val="-3409"/>
            <a:lumOff val="-13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PUT</a:t>
          </a:r>
        </a:p>
      </dsp:txBody>
      <dsp:txXfrm>
        <a:off x="35125" y="1338244"/>
        <a:ext cx="6193390" cy="649299"/>
      </dsp:txXfrm>
    </dsp:sp>
    <dsp:sp modelId="{E2C3F35C-3878-4B56-A84D-F7F57879FC7A}">
      <dsp:nvSpPr>
        <dsp:cNvPr id="0" name=""/>
        <dsp:cNvSpPr/>
      </dsp:nvSpPr>
      <dsp:spPr>
        <a:xfrm>
          <a:off x="0" y="2022669"/>
          <a:ext cx="6263640" cy="729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1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Modify/replace resource with data that you are sending </a:t>
          </a:r>
        </a:p>
      </dsp:txBody>
      <dsp:txXfrm>
        <a:off x="0" y="2022669"/>
        <a:ext cx="6263640" cy="729675"/>
      </dsp:txXfrm>
    </dsp:sp>
    <dsp:sp modelId="{918499BD-E891-4028-A260-50A7B4092BD6}">
      <dsp:nvSpPr>
        <dsp:cNvPr id="0" name=""/>
        <dsp:cNvSpPr/>
      </dsp:nvSpPr>
      <dsp:spPr>
        <a:xfrm>
          <a:off x="0" y="2752343"/>
          <a:ext cx="6263640" cy="719549"/>
        </a:xfrm>
        <a:prstGeom prst="roundRect">
          <a:avLst/>
        </a:prstGeom>
        <a:solidFill>
          <a:schemeClr val="accent5">
            <a:hueOff val="-4902230"/>
            <a:satOff val="-6819"/>
            <a:lumOff val="-26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POST </a:t>
          </a:r>
        </a:p>
      </dsp:txBody>
      <dsp:txXfrm>
        <a:off x="35125" y="2787468"/>
        <a:ext cx="6193390" cy="649299"/>
      </dsp:txXfrm>
    </dsp:sp>
    <dsp:sp modelId="{42902D75-5B34-4548-9281-CDB622C1E22A}">
      <dsp:nvSpPr>
        <dsp:cNvPr id="0" name=""/>
        <dsp:cNvSpPr/>
      </dsp:nvSpPr>
      <dsp:spPr>
        <a:xfrm>
          <a:off x="0" y="3471894"/>
          <a:ext cx="6263640" cy="729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1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Create new resource with data that you are sending </a:t>
          </a:r>
        </a:p>
      </dsp:txBody>
      <dsp:txXfrm>
        <a:off x="0" y="3471894"/>
        <a:ext cx="6263640" cy="729675"/>
      </dsp:txXfrm>
    </dsp:sp>
    <dsp:sp modelId="{8429FA5D-8434-425E-8417-1519FF0DDD60}">
      <dsp:nvSpPr>
        <dsp:cNvPr id="0" name=""/>
        <dsp:cNvSpPr/>
      </dsp:nvSpPr>
      <dsp:spPr>
        <a:xfrm>
          <a:off x="0" y="4201568"/>
          <a:ext cx="6263640" cy="719549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DELETE </a:t>
          </a:r>
        </a:p>
      </dsp:txBody>
      <dsp:txXfrm>
        <a:off x="35125" y="4236693"/>
        <a:ext cx="6193390" cy="649299"/>
      </dsp:txXfrm>
    </dsp:sp>
    <dsp:sp modelId="{00881735-8607-4C53-9063-EA6A345F3D2D}">
      <dsp:nvSpPr>
        <dsp:cNvPr id="0" name=""/>
        <dsp:cNvSpPr/>
      </dsp:nvSpPr>
      <dsp:spPr>
        <a:xfrm>
          <a:off x="0" y="4921118"/>
          <a:ext cx="6263640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1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Delete resource without sending data</a:t>
          </a:r>
        </a:p>
      </dsp:txBody>
      <dsp:txXfrm>
        <a:off x="0" y="4921118"/>
        <a:ext cx="6263640" cy="496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59DCBE-7903-4CC3-BA3A-6346FDFCF31A}" type="datetimeFigureOut">
              <a:rPr lang="en-US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B2BC22-52B8-4A4F-B04B-16740D2D9FF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73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B2BC22-52B8-4A4F-B04B-16740D2D9FF3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247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B2BC22-52B8-4A4F-B04B-16740D2D9FF3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9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B2BC22-52B8-4A4F-B04B-16740D2D9FF3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770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B2BC22-52B8-4A4F-B04B-16740D2D9FF3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699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B2BC22-52B8-4A4F-B04B-16740D2D9FF3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066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B2BC22-52B8-4A4F-B04B-16740D2D9FF3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917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B2BC22-52B8-4A4F-B04B-16740D2D9FF3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823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B2BC22-52B8-4A4F-B04B-16740D2D9FF3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90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B2BC22-52B8-4A4F-B04B-16740D2D9FF3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216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B2BC22-52B8-4A4F-B04B-16740D2D9FF3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870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Enhanced </a:t>
            </a:r>
            <a:r>
              <a:rPr lang="en-GB" b="1" dirty="0" err="1"/>
              <a:t>Security</a:t>
            </a:r>
            <a:r>
              <a:rPr lang="en-GB" dirty="0" err="1"/>
              <a:t>:Protects</a:t>
            </a:r>
            <a:r>
              <a:rPr lang="en-GB" dirty="0"/>
              <a:t> sensitive data (like passwords, credit card numbers) from attackers.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Trust and </a:t>
            </a:r>
            <a:r>
              <a:rPr lang="en-GB" b="1" dirty="0" err="1"/>
              <a:t>Credibility</a:t>
            </a:r>
            <a:r>
              <a:rPr lang="en-GB" dirty="0" err="1"/>
              <a:t>:Builds</a:t>
            </a:r>
            <a:r>
              <a:rPr lang="en-GB" dirty="0"/>
              <a:t> user confidence; HTTPS is recognized as a sign of a trustworthy website.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Many browsers display a lock icon or flag sites as “Not Secure” if they lack HTTPS.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SEO </a:t>
            </a:r>
            <a:r>
              <a:rPr lang="en-GB" b="1" dirty="0" err="1"/>
              <a:t>Benefits</a:t>
            </a:r>
            <a:r>
              <a:rPr lang="en-GB" dirty="0" err="1"/>
              <a:t>:Google</a:t>
            </a:r>
            <a:r>
              <a:rPr lang="en-GB" dirty="0"/>
              <a:t> and other search engines prioritize HTTPS sites in search rankings.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Legal and Compliance </a:t>
            </a:r>
            <a:r>
              <a:rPr lang="en-GB" b="1" dirty="0" err="1"/>
              <a:t>Requirements</a:t>
            </a:r>
            <a:r>
              <a:rPr lang="en-GB" dirty="0" err="1"/>
              <a:t>:Many</a:t>
            </a:r>
            <a:r>
              <a:rPr lang="en-GB" dirty="0"/>
              <a:t> industries require HTTPS for handling personal and financial data.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2BC22-52B8-4A4F-B04B-16740D2D9FF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6035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2BC22-52B8-4A4F-B04B-16740D2D9FF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138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2BC22-52B8-4A4F-B04B-16740D2D9FF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96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Internet_Protocol_Analysis_-_Application_Layer.p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it.i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hyperlink" Target="NUL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c/3.0/" TargetMode="External"/><Relationship Id="rId5" Type="http://schemas.openxmlformats.org/officeDocument/2006/relationships/hyperlink" Target="https://www.pngall.com/application-png" TargetMode="Externa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c/3.0/" TargetMode="External"/><Relationship Id="rId5" Type="http://schemas.openxmlformats.org/officeDocument/2006/relationships/hyperlink" Target="https://www.pngall.com/application-png" TargetMode="Externa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owhere123.co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nowhere123.com/docs/index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owhere123.com/doc/index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lipground.com/png-mime-type.html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yhome.com/heating?status=on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kryptera.se/cure53-granskar-curl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hyperlink" Target="https://creativecommons.org/licenses/by/3.0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dk5.net/person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devopedia.org/flask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0226" y="44662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 Layer:</a:t>
            </a:r>
            <a:br>
              <a:rPr lang="en-US" dirty="0"/>
            </a:br>
            <a:r>
              <a:rPr lang="en-US" dirty="0"/>
              <a:t>HTTP</a:t>
            </a:r>
            <a:br>
              <a:rPr lang="en-US" dirty="0">
                <a:cs typeface="Calibri Light"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0830" y="3141963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Frank Walsh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790" y="3628023"/>
            <a:ext cx="3833297" cy="254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3C5885-0CDF-9D1D-2E30-8166DF909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IE" sz="3600"/>
              <a:t>Application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FEB9A-DD0D-9C45-006D-50DF20B07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r>
              <a:rPr lang="en-GB" sz="1900" dirty="0"/>
              <a:t>The application layer provides the interfaces and protocols needed by users/applications to access the network</a:t>
            </a:r>
          </a:p>
          <a:p>
            <a:pPr lvl="1"/>
            <a:r>
              <a:rPr lang="en-GB" sz="1900" dirty="0"/>
              <a:t>It facilitates the users/network-based applications to use the services of the network.</a:t>
            </a:r>
          </a:p>
          <a:p>
            <a:pPr lvl="1"/>
            <a:r>
              <a:rPr lang="en-GB" sz="1900" dirty="0"/>
              <a:t>Provides services/protocols that support user authentication, naming network devices, formatting messages, and e-mails, transfer of files etc.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A2FEA95D-0AA4-C55B-9DD3-1665F2FFC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295320" y="1833927"/>
            <a:ext cx="6253212" cy="425999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34C4608-760F-3852-AF8A-68ACBF4DCFEE}"/>
              </a:ext>
            </a:extLst>
          </p:cNvPr>
          <p:cNvSpPr txBox="1"/>
          <p:nvPr/>
        </p:nvSpPr>
        <p:spPr>
          <a:xfrm>
            <a:off x="9241489" y="5893871"/>
            <a:ext cx="2307043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s://commons.wikimedia.org/wiki/File:Internet_Protocol_Analysis_-_Application_Layer.p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08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A251C-2F9D-4B1D-B290-BF197A28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TCP/IP Protocol Stack</a:t>
            </a:r>
            <a:endParaRPr lang="en-US" dirty="0"/>
          </a:p>
        </p:txBody>
      </p:sp>
      <p:pic>
        <p:nvPicPr>
          <p:cNvPr id="4" name="Picture 4" descr="A close up of text on a white background&#10;&#10;Description generated with high confidence">
            <a:extLst>
              <a:ext uri="{FF2B5EF4-FFF2-40B4-BE49-F238E27FC236}">
                <a16:creationId xmlns:a16="http://schemas.microsoft.com/office/drawing/2014/main" id="{DE4E761B-72C2-484E-B02E-64CF0FAD5C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1809" y="1926267"/>
            <a:ext cx="6476834" cy="43513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F39D9B-7E28-4D62-8DF0-6ABC5D802F0F}"/>
              </a:ext>
            </a:extLst>
          </p:cNvPr>
          <p:cNvSpPr/>
          <p:nvPr/>
        </p:nvSpPr>
        <p:spPr>
          <a:xfrm>
            <a:off x="8600536" y="2216988"/>
            <a:ext cx="1115683" cy="3968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MQTT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46FD5B3-4C18-46D7-8F0A-AB3BBC1758DB}"/>
              </a:ext>
            </a:extLst>
          </p:cNvPr>
          <p:cNvCxnSpPr/>
          <p:nvPr/>
        </p:nvCxnSpPr>
        <p:spPr>
          <a:xfrm flipH="1">
            <a:off x="6797615" y="2605176"/>
            <a:ext cx="2277373" cy="799382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461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IE"/>
              <a:t>Web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IE" sz="1400" dirty="0"/>
              <a:t>Programmatic interface exposed via the web</a:t>
            </a:r>
          </a:p>
          <a:p>
            <a:r>
              <a:rPr lang="en-IE" sz="1400" dirty="0"/>
              <a:t>Uses open standards typically with request-response messaging.</a:t>
            </a:r>
            <a:endParaRPr lang="en-IE" sz="1400" dirty="0">
              <a:cs typeface="Calibri"/>
            </a:endParaRPr>
          </a:p>
          <a:p>
            <a:pPr lvl="1"/>
            <a:r>
              <a:rPr lang="en-IE" sz="1400" dirty="0"/>
              <a:t>Messages in well known format(e.g. JSON)</a:t>
            </a:r>
            <a:endParaRPr lang="en-IE" sz="1400" dirty="0">
              <a:cs typeface="Calibri"/>
            </a:endParaRPr>
          </a:p>
          <a:p>
            <a:pPr lvl="1"/>
            <a:r>
              <a:rPr lang="en-IE" sz="1400" dirty="0"/>
              <a:t>HTTP as transport</a:t>
            </a:r>
            <a:endParaRPr lang="en-IE" sz="1400" dirty="0">
              <a:cs typeface="Calibri"/>
            </a:endParaRPr>
          </a:p>
          <a:p>
            <a:pPr lvl="1"/>
            <a:r>
              <a:rPr lang="en-IE" sz="1400" dirty="0"/>
              <a:t>URLs</a:t>
            </a:r>
            <a:endParaRPr lang="en-IE" sz="1400" dirty="0">
              <a:cs typeface="Calibri"/>
            </a:endParaRPr>
          </a:p>
          <a:p>
            <a:r>
              <a:rPr lang="en-IE" sz="1400" dirty="0"/>
              <a:t>Example would be Restful web service</a:t>
            </a:r>
          </a:p>
          <a:p>
            <a:r>
              <a:rPr lang="en-IE" sz="1400" dirty="0"/>
              <a:t>Typical use:</a:t>
            </a:r>
            <a:endParaRPr lang="en-IE" sz="1400" dirty="0">
              <a:cs typeface="Calibri"/>
            </a:endParaRPr>
          </a:p>
          <a:p>
            <a:pPr lvl="1"/>
            <a:r>
              <a:rPr lang="en-IE" sz="1400" dirty="0"/>
              <a:t>Expose application functionality via the web</a:t>
            </a:r>
            <a:endParaRPr lang="en-IE" sz="1400" dirty="0">
              <a:cs typeface="Calibri"/>
            </a:endParaRPr>
          </a:p>
          <a:p>
            <a:pPr lvl="1"/>
            <a:r>
              <a:rPr lang="en-IE" sz="1400" dirty="0"/>
              <a:t>Machine to machine communication</a:t>
            </a:r>
            <a:endParaRPr lang="en-IE" sz="1400" dirty="0">
              <a:cs typeface="Calibri"/>
            </a:endParaRPr>
          </a:p>
          <a:p>
            <a:pPr lvl="1"/>
            <a:r>
              <a:rPr lang="en-IE" sz="1400" dirty="0"/>
              <a:t>Distributed systems</a:t>
            </a:r>
            <a:endParaRPr lang="en-IE" sz="1400" dirty="0">
              <a:cs typeface="Calibri"/>
            </a:endParaRPr>
          </a:p>
          <a:p>
            <a:endParaRPr lang="en-IE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F27683DA-F688-4833-B52C-0FB26FCEFE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29" r="-1" b="6050"/>
          <a:stretch/>
        </p:blipFill>
        <p:spPr>
          <a:xfrm>
            <a:off x="5405862" y="893026"/>
            <a:ext cx="6019331" cy="506870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840380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7254" y="525439"/>
            <a:ext cx="3336545" cy="165761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What's a Web API</a:t>
            </a:r>
          </a:p>
        </p:txBody>
      </p:sp>
      <p:pic>
        <p:nvPicPr>
          <p:cNvPr id="6" name="Picture 5" descr="Server Vs Me | Nothing To Po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35" y="375320"/>
            <a:ext cx="3338710" cy="384865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2A5670-0F7B-4199-AEAB-33FBA9CEA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-1"/>
            <a:ext cx="0" cy="4572000"/>
          </a:xfrm>
          <a:prstGeom prst="line">
            <a:avLst/>
          </a:prstGeom>
          <a:ln w="3810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Even though I actually used the Arduino Uno for the development since ..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4705" y="375320"/>
            <a:ext cx="1831615" cy="165761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B1744D-A7DF-4B65-B6E3-DCF12BB2D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2228770"/>
            <a:ext cx="2877035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... computer to the arduino board in this case to control the brightnes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575" y="2424609"/>
            <a:ext cx="1808439" cy="179936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2DD753-EA38-4E86-91FB-05041A44A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67905"/>
            <a:ext cx="7530662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Revivendo un Linksys WRTG4 GL v1 | Entre Redes y Servidores"/>
          <p:cNvPicPr>
            <a:picLocks noGrp="1" noChangeAspect="1"/>
          </p:cNvPicPr>
          <p:nvPr>
            <p:ph sz="half" idx="2"/>
          </p:nvPr>
        </p:nvPicPr>
        <p:blipFill>
          <a:blip r:embed="rId6"/>
          <a:stretch>
            <a:fillRect/>
          </a:stretch>
        </p:blipFill>
        <p:spPr>
          <a:xfrm>
            <a:off x="742913" y="4911833"/>
            <a:ext cx="1540445" cy="1448019"/>
          </a:xfrm>
          <a:prstGeom prst="rect">
            <a:avLst/>
          </a:prstGeom>
        </p:spPr>
      </p:pic>
      <p:pic>
        <p:nvPicPr>
          <p:cNvPr id="7" name="Picture 6" descr="Nest Thermostat Controls And..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8955" y="4911833"/>
            <a:ext cx="1612133" cy="144802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17254" y="2274491"/>
            <a:ext cx="3336546" cy="390247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Typically implements HTTP</a:t>
            </a:r>
          </a:p>
          <a:p>
            <a:pPr lvl="1"/>
            <a:r>
              <a:rPr lang="en-US" sz="2000"/>
              <a:t>processes HTTP requests</a:t>
            </a:r>
          </a:p>
          <a:p>
            <a:r>
              <a:rPr lang="en-US" sz="2000"/>
              <a:t>Usually runs on machine connected to a network</a:t>
            </a:r>
          </a:p>
          <a:p>
            <a:pPr lvl="1"/>
            <a:r>
              <a:rPr lang="en-US" sz="2000"/>
              <a:t>Has an IP address</a:t>
            </a:r>
          </a:p>
          <a:p>
            <a:r>
              <a:rPr lang="en-US" sz="2000"/>
              <a:t>Serves up resources</a:t>
            </a:r>
          </a:p>
          <a:p>
            <a:pPr lvl="1"/>
            <a:r>
              <a:rPr lang="en-US" sz="2000"/>
              <a:t>Ideally in a "restful" manner</a:t>
            </a:r>
          </a:p>
          <a:p>
            <a:r>
              <a:rPr lang="en-US" sz="2000"/>
              <a:t>Many different types of devices can run a web API...</a:t>
            </a:r>
          </a:p>
          <a:p>
            <a:endParaRPr lang="en-US" sz="2000"/>
          </a:p>
          <a:p>
            <a:endParaRPr lang="en-US" sz="200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DA63E78-7704-45EF-B5D3-EADDF5D82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1730262" y="5706812"/>
            <a:ext cx="2286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329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What’s HTTP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8931" y="2438400"/>
            <a:ext cx="3505494" cy="37854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 err="1"/>
              <a:t>HyperText</a:t>
            </a:r>
            <a:r>
              <a:rPr lang="en-US" sz="2000" dirty="0"/>
              <a:t> Transfer Protocol</a:t>
            </a:r>
          </a:p>
          <a:p>
            <a:r>
              <a:rPr lang="en-US" sz="2000" dirty="0"/>
              <a:t>Protocol used in World Wide Web</a:t>
            </a:r>
          </a:p>
          <a:p>
            <a:pPr lvl="1"/>
            <a:r>
              <a:rPr lang="en-US" sz="2000" b="1" dirty="0">
                <a:hlinkClick r:id="rId3"/>
              </a:rPr>
              <a:t>http</a:t>
            </a:r>
            <a:r>
              <a:rPr lang="en-US" sz="2000" dirty="0">
                <a:hlinkClick r:id="rId4" invalidUrl="http://://www.wit.ie"/>
              </a:rPr>
              <a:t>://www.setu.ie</a:t>
            </a:r>
            <a:endParaRPr lang="en-US" sz="2000" dirty="0"/>
          </a:p>
          <a:p>
            <a:r>
              <a:rPr lang="en-US" sz="2000" dirty="0"/>
              <a:t>Your browser communicates using HTTP (HTTP Client)</a:t>
            </a:r>
          </a:p>
          <a:p>
            <a:r>
              <a:rPr lang="en-US" sz="2000" dirty="0"/>
              <a:t>Devices communicate using HTTP</a:t>
            </a:r>
          </a:p>
          <a:p>
            <a:r>
              <a:rPr lang="en-US" sz="2000" dirty="0"/>
              <a:t>Simple, ubiquitous.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5405862" y="1809682"/>
            <a:ext cx="6019331" cy="32353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542533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</a:t>
            </a:r>
            <a:r>
              <a:rPr lang="en-US" dirty="0">
                <a:cs typeface="Calibri Light"/>
              </a:rPr>
              <a:t>request from an application.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700" y="168955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625" y="2387600"/>
            <a:ext cx="9071113" cy="32908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31BDCE8-5CD1-9371-45A7-CEC25D02E7D8}"/>
              </a:ext>
            </a:extLst>
          </p:cNvPr>
          <p:cNvSpPr/>
          <p:nvPr/>
        </p:nvSpPr>
        <p:spPr>
          <a:xfrm>
            <a:off x="1063625" y="2118066"/>
            <a:ext cx="3045278" cy="34943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EE5693-E8A9-5E19-9209-5F610F945A0F}"/>
              </a:ext>
            </a:extLst>
          </p:cNvPr>
          <p:cNvSpPr txBox="1"/>
          <p:nvPr/>
        </p:nvSpPr>
        <p:spPr>
          <a:xfrm>
            <a:off x="966942" y="2364633"/>
            <a:ext cx="3238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1600" dirty="0"/>
              <a:t>(1) </a:t>
            </a:r>
            <a:r>
              <a:rPr lang="en-IE" sz="1600" b="1" dirty="0"/>
              <a:t>URL</a:t>
            </a:r>
            <a:r>
              <a:rPr lang="en-IE" sz="1600" dirty="0"/>
              <a:t> used to create HTTP request </a:t>
            </a:r>
            <a:br>
              <a:rPr lang="en-IE" sz="1600" dirty="0"/>
            </a:br>
            <a:r>
              <a:rPr lang="en-IE" sz="1600" dirty="0"/>
              <a:t>   http://host:port/path/to/resource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4D7758-BC96-222D-1965-607178B1573A}"/>
              </a:ext>
            </a:extLst>
          </p:cNvPr>
          <p:cNvSpPr txBox="1"/>
          <p:nvPr/>
        </p:nvSpPr>
        <p:spPr>
          <a:xfrm>
            <a:off x="4108903" y="2387600"/>
            <a:ext cx="304527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E" sz="1600" dirty="0"/>
              <a:t>(2) App sends a request message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73CBF5-BA63-CFDD-6B96-7F9D68B8E7C3}"/>
              </a:ext>
            </a:extLst>
          </p:cNvPr>
          <p:cNvSpPr txBox="1"/>
          <p:nvPr/>
        </p:nvSpPr>
        <p:spPr>
          <a:xfrm>
            <a:off x="4707341" y="2810908"/>
            <a:ext cx="201186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E" sz="1200" dirty="0"/>
              <a:t>GET /path HTTP 1.1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DA8447-73DF-A5D9-7B47-68A23A1BB348}"/>
              </a:ext>
            </a:extLst>
          </p:cNvPr>
          <p:cNvSpPr txBox="1"/>
          <p:nvPr/>
        </p:nvSpPr>
        <p:spPr>
          <a:xfrm>
            <a:off x="966942" y="4829892"/>
            <a:ext cx="304527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E" sz="1600" dirty="0"/>
              <a:t>(5) App processes response</a:t>
            </a:r>
          </a:p>
        </p:txBody>
      </p:sp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41D34259-B464-F9B6-28D8-64E11F2136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689649" y="2950287"/>
            <a:ext cx="1957820" cy="20488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10535B-278A-A6DF-4A70-68786A44F8F7}"/>
              </a:ext>
            </a:extLst>
          </p:cNvPr>
          <p:cNvSpPr txBox="1"/>
          <p:nvPr/>
        </p:nvSpPr>
        <p:spPr>
          <a:xfrm>
            <a:off x="1552823" y="5699188"/>
            <a:ext cx="1671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900">
                <a:hlinkClick r:id="rId5" tooltip="https://www.pngall.com/application-png"/>
              </a:rPr>
              <a:t>This Photo</a:t>
            </a:r>
            <a:r>
              <a:rPr lang="en-IE" sz="900"/>
              <a:t> by Unknown Author is licensed under </a:t>
            </a:r>
            <a:r>
              <a:rPr lang="en-IE" sz="900">
                <a:hlinkClick r:id="rId6" tooltip="https://creativecommons.org/licenses/by-nc/3.0/"/>
              </a:rPr>
              <a:t>CC BY-NC</a:t>
            </a:r>
            <a:endParaRPr lang="en-IE" sz="900"/>
          </a:p>
        </p:txBody>
      </p:sp>
    </p:spTree>
    <p:extLst>
      <p:ext uri="{BB962C8B-B14F-4D97-AF65-F5344CB8AC3E}">
        <p14:creationId xmlns:p14="http://schemas.microsoft.com/office/powerpoint/2010/main" val="4027138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HTTP: The Method/Verb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700" y="168955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625" y="2387600"/>
            <a:ext cx="9071113" cy="32908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31BDCE8-5CD1-9371-45A7-CEC25D02E7D8}"/>
              </a:ext>
            </a:extLst>
          </p:cNvPr>
          <p:cNvSpPr/>
          <p:nvPr/>
        </p:nvSpPr>
        <p:spPr>
          <a:xfrm>
            <a:off x="1063625" y="2118066"/>
            <a:ext cx="3045278" cy="34943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EE5693-E8A9-5E19-9209-5F610F945A0F}"/>
              </a:ext>
            </a:extLst>
          </p:cNvPr>
          <p:cNvSpPr txBox="1"/>
          <p:nvPr/>
        </p:nvSpPr>
        <p:spPr>
          <a:xfrm>
            <a:off x="966942" y="2364633"/>
            <a:ext cx="3238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1600" dirty="0"/>
              <a:t>(1) URL used to create HTTP request </a:t>
            </a:r>
            <a:br>
              <a:rPr lang="en-IE" sz="1600" dirty="0"/>
            </a:br>
            <a:r>
              <a:rPr lang="en-IE" sz="1600" dirty="0"/>
              <a:t>   http://host:port/path/to/resource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4D7758-BC96-222D-1965-607178B1573A}"/>
              </a:ext>
            </a:extLst>
          </p:cNvPr>
          <p:cNvSpPr txBox="1"/>
          <p:nvPr/>
        </p:nvSpPr>
        <p:spPr>
          <a:xfrm>
            <a:off x="4108903" y="2387600"/>
            <a:ext cx="304527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E" sz="1600" dirty="0"/>
              <a:t>(2) App sends a request message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73CBF5-BA63-CFDD-6B96-7F9D68B8E7C3}"/>
              </a:ext>
            </a:extLst>
          </p:cNvPr>
          <p:cNvSpPr txBox="1"/>
          <p:nvPr/>
        </p:nvSpPr>
        <p:spPr>
          <a:xfrm>
            <a:off x="4707341" y="2810908"/>
            <a:ext cx="201186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E" sz="1200" dirty="0"/>
              <a:t>GET /path HTTP 1.1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DA8447-73DF-A5D9-7B47-68A23A1BB348}"/>
              </a:ext>
            </a:extLst>
          </p:cNvPr>
          <p:cNvSpPr txBox="1"/>
          <p:nvPr/>
        </p:nvSpPr>
        <p:spPr>
          <a:xfrm>
            <a:off x="966942" y="4829892"/>
            <a:ext cx="304527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E" sz="1600" dirty="0"/>
              <a:t>(5) App processes response</a:t>
            </a:r>
          </a:p>
        </p:txBody>
      </p:sp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41D34259-B464-F9B6-28D8-64E11F2136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689649" y="2950287"/>
            <a:ext cx="1957820" cy="20488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10535B-278A-A6DF-4A70-68786A44F8F7}"/>
              </a:ext>
            </a:extLst>
          </p:cNvPr>
          <p:cNvSpPr txBox="1"/>
          <p:nvPr/>
        </p:nvSpPr>
        <p:spPr>
          <a:xfrm>
            <a:off x="1552823" y="5699188"/>
            <a:ext cx="1671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900">
                <a:hlinkClick r:id="rId5" tooltip="https://www.pngall.com/application-png"/>
              </a:rPr>
              <a:t>This Photo</a:t>
            </a:r>
            <a:r>
              <a:rPr lang="en-IE" sz="900"/>
              <a:t> by Unknown Author is licensed under </a:t>
            </a:r>
            <a:r>
              <a:rPr lang="en-IE" sz="900">
                <a:hlinkClick r:id="rId6" tooltip="https://creativecommons.org/licenses/by-nc/3.0/"/>
              </a:rPr>
              <a:t>CC BY-NC</a:t>
            </a:r>
            <a:endParaRPr lang="en-IE" sz="900"/>
          </a:p>
        </p:txBody>
      </p:sp>
      <p:sp>
        <p:nvSpPr>
          <p:cNvPr id="10" name="Callout: Line with Border and Accent Bar 9">
            <a:extLst>
              <a:ext uri="{FF2B5EF4-FFF2-40B4-BE49-F238E27FC236}">
                <a16:creationId xmlns:a16="http://schemas.microsoft.com/office/drawing/2014/main" id="{FC509EFF-6180-48B1-0D5D-7D3D8DC09AE7}"/>
              </a:ext>
            </a:extLst>
          </p:cNvPr>
          <p:cNvSpPr/>
          <p:nvPr/>
        </p:nvSpPr>
        <p:spPr>
          <a:xfrm>
            <a:off x="5702299" y="1843603"/>
            <a:ext cx="1349828" cy="612648"/>
          </a:xfrm>
          <a:prstGeom prst="accentBorderCallout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HTTP method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C1ADCC-03A5-ED9C-01C4-3E67BAA4F4D6}"/>
              </a:ext>
            </a:extLst>
          </p:cNvPr>
          <p:cNvCxnSpPr/>
          <p:nvPr/>
        </p:nvCxnSpPr>
        <p:spPr>
          <a:xfrm flipH="1">
            <a:off x="4920343" y="1946728"/>
            <a:ext cx="682170" cy="94161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7220867-CB76-CFF7-7526-D4BA8C955730}"/>
              </a:ext>
            </a:extLst>
          </p:cNvPr>
          <p:cNvSpPr/>
          <p:nvPr/>
        </p:nvSpPr>
        <p:spPr>
          <a:xfrm>
            <a:off x="4659085" y="2817585"/>
            <a:ext cx="442686" cy="28847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651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HTTP: </a:t>
            </a:r>
            <a:r>
              <a:rPr lang="en-US" b="1" dirty="0"/>
              <a:t>The URL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algn="just"/>
            <a:r>
              <a:rPr lang="en-US" sz="3600" dirty="0">
                <a:latin typeface="Calibri" charset="0"/>
              </a:rPr>
              <a:t>A URL (Uniform Resource Locator) uniquely identifies a resource over the web. </a:t>
            </a:r>
            <a:r>
              <a:rPr lang="en-US" sz="3600" i="1" dirty="0">
                <a:latin typeface="Calibri" charset="0"/>
              </a:rPr>
              <a:t>protocol://hostname:port/path</a:t>
            </a:r>
            <a:endParaRPr lang="en-US" dirty="0">
              <a:latin typeface="Calibri" charset="0"/>
            </a:endParaRPr>
          </a:p>
          <a:p>
            <a:pPr algn="just"/>
            <a:r>
              <a:rPr lang="en-US" sz="3600" dirty="0">
                <a:latin typeface="Calibri" charset="0"/>
              </a:rPr>
              <a:t>There are 4 parts in a URL:</a:t>
            </a:r>
            <a:endParaRPr lang="en-US" dirty="0">
              <a:cs typeface="Calibri"/>
            </a:endParaRPr>
          </a:p>
          <a:p>
            <a:pPr lvl="1" algn="just"/>
            <a:r>
              <a:rPr lang="en-US" sz="3200" b="1" i="1" dirty="0">
                <a:latin typeface="Calibri" charset="0"/>
              </a:rPr>
              <a:t>Protocol</a:t>
            </a:r>
            <a:r>
              <a:rPr lang="en-US" sz="3200" b="1" dirty="0">
                <a:latin typeface="Calibri" charset="0"/>
              </a:rPr>
              <a:t>:</a:t>
            </a:r>
            <a:r>
              <a:rPr lang="en-US" sz="3200" dirty="0">
                <a:latin typeface="Calibri" charset="0"/>
              </a:rPr>
              <a:t> The application-level protocol used by the client and server, e.g., HTTP, FTP, and telnet.</a:t>
            </a:r>
          </a:p>
          <a:p>
            <a:pPr lvl="1" algn="just"/>
            <a:r>
              <a:rPr lang="en-US" sz="3200" b="1" i="1" dirty="0">
                <a:latin typeface="Calibri" charset="0"/>
              </a:rPr>
              <a:t>Hostname</a:t>
            </a:r>
            <a:r>
              <a:rPr lang="en-US" sz="3200" b="1" dirty="0">
                <a:latin typeface="Calibri" charset="0"/>
              </a:rPr>
              <a:t>:</a:t>
            </a:r>
            <a:r>
              <a:rPr lang="en-US" sz="3200" dirty="0">
                <a:latin typeface="Calibri" charset="0"/>
              </a:rPr>
              <a:t> The domain name (e.g., </a:t>
            </a:r>
            <a:r>
              <a:rPr lang="en-US" sz="3200" dirty="0">
                <a:latin typeface="Calibri" charset="0"/>
                <a:hlinkClick r:id="rId3"/>
              </a:rPr>
              <a:t>www.nowhere123.com</a:t>
            </a:r>
            <a:r>
              <a:rPr lang="en-US" sz="3200" dirty="0">
                <a:latin typeface="Calibri" charset="0"/>
              </a:rPr>
              <a:t>) or IP address (e.g., 192.128.1.2) of the server.</a:t>
            </a:r>
            <a:endParaRPr lang="en-US" sz="3200" dirty="0">
              <a:latin typeface="Calibri" charset="0"/>
              <a:cs typeface="Calibri"/>
            </a:endParaRPr>
          </a:p>
          <a:p>
            <a:pPr lvl="1" algn="just"/>
            <a:r>
              <a:rPr lang="en-US" sz="3200" b="1" i="1" dirty="0">
                <a:latin typeface="Calibri" charset="0"/>
              </a:rPr>
              <a:t>Port</a:t>
            </a:r>
            <a:r>
              <a:rPr lang="en-US" sz="3200" b="1" dirty="0">
                <a:latin typeface="Calibri" charset="0"/>
              </a:rPr>
              <a:t>:</a:t>
            </a:r>
            <a:r>
              <a:rPr lang="en-US" sz="3200" dirty="0">
                <a:latin typeface="Calibri" charset="0"/>
              </a:rPr>
              <a:t> The TCP port number that the server is listening for incoming requests from the clients.</a:t>
            </a:r>
          </a:p>
          <a:p>
            <a:pPr lvl="1" algn="just"/>
            <a:r>
              <a:rPr lang="en-US" sz="3200" b="1" i="1" dirty="0">
                <a:latin typeface="Calibri" charset="0"/>
              </a:rPr>
              <a:t>Path-and-file-name</a:t>
            </a:r>
            <a:r>
              <a:rPr lang="en-US" sz="3200" b="1" dirty="0">
                <a:latin typeface="Calibri" charset="0"/>
              </a:rPr>
              <a:t>:</a:t>
            </a:r>
            <a:r>
              <a:rPr lang="en-US" sz="3200" dirty="0">
                <a:latin typeface="Calibri" charset="0"/>
              </a:rPr>
              <a:t> The name and location of the requested resource, under the server document base directory.</a:t>
            </a:r>
          </a:p>
          <a:p>
            <a:pPr algn="just"/>
            <a:r>
              <a:rPr lang="en-US" sz="3600" dirty="0">
                <a:latin typeface="Calibri" charset="0"/>
              </a:rPr>
              <a:t>Example, for </a:t>
            </a:r>
            <a:r>
              <a:rPr lang="en-US" sz="3600" dirty="0">
                <a:latin typeface="Calibri" charset="0"/>
                <a:hlinkClick r:id="rId4"/>
              </a:rPr>
              <a:t>http://www.nowhere123.com/docs/index.html</a:t>
            </a:r>
            <a:r>
              <a:rPr lang="en-US" sz="3600" dirty="0">
                <a:latin typeface="Calibri" charset="0"/>
              </a:rPr>
              <a:t> </a:t>
            </a:r>
          </a:p>
          <a:p>
            <a:pPr lvl="1" algn="just"/>
            <a:r>
              <a:rPr lang="en-US" sz="3200" dirty="0">
                <a:latin typeface="Calibri" charset="0"/>
                <a:cs typeface="Calibri"/>
              </a:rPr>
              <a:t>the communication protocol is HTTP</a:t>
            </a:r>
          </a:p>
          <a:p>
            <a:pPr lvl="1" algn="just"/>
            <a:r>
              <a:rPr lang="en-US" sz="3200" dirty="0">
                <a:latin typeface="Calibri" charset="0"/>
                <a:cs typeface="Calibri"/>
              </a:rPr>
              <a:t>he host is </a:t>
            </a:r>
            <a:r>
              <a:rPr lang="en-US" sz="3200" dirty="0">
                <a:latin typeface="Calibri" charset="0"/>
                <a:cs typeface="Calibri"/>
                <a:hlinkClick r:id="rId3"/>
              </a:rPr>
              <a:t>www.nowhere123.com</a:t>
            </a:r>
            <a:r>
              <a:rPr lang="en-US" sz="3200" dirty="0">
                <a:latin typeface="Calibri" charset="0"/>
                <a:cs typeface="Calibri"/>
              </a:rPr>
              <a:t>. </a:t>
            </a:r>
          </a:p>
          <a:p>
            <a:pPr lvl="1" algn="just"/>
            <a:r>
              <a:rPr lang="en-US" sz="3200" dirty="0">
                <a:latin typeface="Calibri" charset="0"/>
                <a:cs typeface="Calibri"/>
              </a:rPr>
              <a:t>The port number was not specified, and takes default number, which is TCP port 80 for HTTP. </a:t>
            </a:r>
          </a:p>
          <a:p>
            <a:pPr lvl="1" algn="just"/>
            <a:r>
              <a:rPr lang="en-US" sz="3200" dirty="0">
                <a:latin typeface="Calibri" charset="0"/>
                <a:cs typeface="Calibri"/>
              </a:rPr>
              <a:t>The path for the resource to be located is "/docs/index.html".</a:t>
            </a:r>
          </a:p>
          <a:p>
            <a:pPr marL="0" indent="0" algn="just">
              <a:buNone/>
            </a:pPr>
            <a:endParaRPr lang="en-US" dirty="0">
              <a:latin typeface="Calibri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122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127" y="346540"/>
            <a:ext cx="10515600" cy="1325563"/>
          </a:xfrm>
        </p:spPr>
        <p:txBody>
          <a:bodyPr/>
          <a:lstStyle/>
          <a:p>
            <a:r>
              <a:rPr lang="en-US" dirty="0"/>
              <a:t>HTTP: </a:t>
            </a:r>
            <a:r>
              <a:rPr lang="en-US" b="1" dirty="0"/>
              <a:t>The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907" y="171411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" charset="0"/>
              </a:rPr>
              <a:t>HTTP clients (e.g. a browser or Python module) translates a URL into a request message according to the specified protocol; and sends the request message to the server.</a:t>
            </a:r>
          </a:p>
          <a:p>
            <a:r>
              <a:rPr lang="en-US" dirty="0">
                <a:latin typeface="Calibri" charset="0"/>
              </a:rPr>
              <a:t>For example, the client translated the URL  </a:t>
            </a:r>
            <a:r>
              <a:rPr lang="en-US" dirty="0">
                <a:latin typeface="Calibri" charset="0"/>
                <a:hlinkClick r:id="rId3"/>
              </a:rPr>
              <a:t>http://www.nowhere123.com/doc/index.html</a:t>
            </a:r>
            <a:r>
              <a:rPr lang="en-US" dirty="0">
                <a:latin typeface="Calibri" charset="0"/>
              </a:rPr>
              <a:t> into the following request message:</a:t>
            </a:r>
            <a:br>
              <a:rPr lang="en-US" b="1" dirty="0">
                <a:latin typeface="Calibri" charset="0"/>
              </a:rPr>
            </a:br>
            <a:br>
              <a:rPr lang="en-US" b="1" dirty="0">
                <a:latin typeface="Calibri" charset="0"/>
              </a:rPr>
            </a:br>
            <a:endParaRPr lang="en-US" dirty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6430" y="4288079"/>
            <a:ext cx="7426712" cy="2031325"/>
          </a:xfrm>
          <a:prstGeom prst="rect">
            <a:avLst/>
          </a:prstGeom>
          <a:solidFill>
            <a:schemeClr val="bg2"/>
          </a:solidFill>
        </p:spPr>
        <p:txBody>
          <a:bodyPr rtlCol="0">
            <a:spAutoFit/>
          </a:bodyPr>
          <a:lstStyle/>
          <a:p>
            <a:r>
              <a:rPr lang="en-US" dirty="0">
                <a:latin typeface="Calibri" charset="0"/>
              </a:rPr>
              <a:t>GET /docs/index.html HTTP/1.1 </a:t>
            </a:r>
            <a:br>
              <a:rPr lang="en-US" dirty="0">
                <a:latin typeface="Calibri" charset="0"/>
              </a:rPr>
            </a:br>
            <a:r>
              <a:rPr lang="en-US" dirty="0">
                <a:latin typeface="Calibri" charset="0"/>
              </a:rPr>
              <a:t>Host: www.nowhere123.com</a:t>
            </a:r>
            <a:r>
              <a:rPr lang="en-US" dirty="0">
                <a:latin typeface="Arial" charset="0"/>
              </a:rPr>
              <a:t> 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Accept: image/gif, image/jpeg, */* 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Accept-Language: </a:t>
            </a:r>
            <a:r>
              <a:rPr lang="en-US" dirty="0" err="1">
                <a:latin typeface="Arial" charset="0"/>
              </a:rPr>
              <a:t>en</a:t>
            </a:r>
            <a:r>
              <a:rPr lang="en-US" dirty="0">
                <a:latin typeface="Arial" charset="0"/>
              </a:rPr>
              <a:t>-us 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Accept-Encoding: </a:t>
            </a:r>
            <a:r>
              <a:rPr lang="en-US" dirty="0" err="1">
                <a:latin typeface="Arial" charset="0"/>
              </a:rPr>
              <a:t>gzip</a:t>
            </a:r>
            <a:r>
              <a:rPr lang="en-US" dirty="0">
                <a:latin typeface="Arial" charset="0"/>
              </a:rPr>
              <a:t>, deflate 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User-Agent: Mozilla/4.0 (compatible; MSIE 6.0; Windows NT 5.1) 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(blank line)</a:t>
            </a:r>
          </a:p>
        </p:txBody>
      </p:sp>
    </p:spTree>
    <p:extLst>
      <p:ext uri="{BB962C8B-B14F-4D97-AF65-F5344CB8AC3E}">
        <p14:creationId xmlns:p14="http://schemas.microsoft.com/office/powerpoint/2010/main" val="2374561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HTTP: </a:t>
            </a:r>
            <a:r>
              <a:rPr lang="en-US" b="1" dirty="0"/>
              <a:t>The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5176" y="1360991"/>
            <a:ext cx="10515600" cy="2529973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algn="just"/>
            <a:r>
              <a:rPr lang="en-US" dirty="0">
                <a:latin typeface="Arial"/>
              </a:rPr>
              <a:t>When this request message reaches the server, the server can take either one of these actions: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>
                <a:latin typeface="Arial"/>
              </a:rPr>
              <a:t>The server interprets the request received, maps the request into a file under the server's document directory, and returns the file requested to the client.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>
                <a:latin typeface="Arial"/>
              </a:rPr>
              <a:t>The server interprets the request received, maps the request into a program kept in the server, executes the program, and returns the output of the program to the client.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>
                <a:latin typeface="Arial"/>
              </a:rPr>
              <a:t>The request cannot be satisfied, the server returns an error message.</a:t>
            </a:r>
            <a:endParaRPr lang="en-US" b="1" dirty="0">
              <a:latin typeface="Calibri" charset="0"/>
            </a:endParaRPr>
          </a:p>
          <a:p>
            <a:pPr marL="0" indent="0" algn="just">
              <a:buNone/>
            </a:pPr>
            <a:r>
              <a:rPr lang="en-US" dirty="0">
                <a:latin typeface="Arial"/>
              </a:rPr>
              <a:t>An example of the HTTP response message is below:</a:t>
            </a:r>
          </a:p>
          <a:p>
            <a:pPr marL="0" indent="0" algn="just">
              <a:buNone/>
            </a:pPr>
            <a:endParaRPr lang="en-US" b="1" dirty="0">
              <a:latin typeface="Calibri" charset="0"/>
            </a:endParaRPr>
          </a:p>
          <a:p>
            <a:pPr marL="0" indent="0">
              <a:buNone/>
            </a:pPr>
            <a:endParaRPr lang="en-US" b="1" dirty="0">
              <a:latin typeface="Calibri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42444" y="4207357"/>
            <a:ext cx="6683297" cy="2585323"/>
          </a:xfrm>
          <a:prstGeom prst="rect">
            <a:avLst/>
          </a:prstGeom>
          <a:solidFill>
            <a:schemeClr val="bg2"/>
          </a:solidFill>
        </p:spPr>
        <p:txBody>
          <a:bodyPr rtlCol="0">
            <a:spAutoFit/>
          </a:bodyPr>
          <a:lstStyle/>
          <a:p>
            <a:r>
              <a:rPr lang="en-US" b="1" dirty="0">
                <a:latin typeface="Arial"/>
              </a:rPr>
              <a:t>HTTP/1.1 200 OK</a:t>
            </a:r>
            <a:r>
              <a:rPr lang="en-US" dirty="0">
                <a:latin typeface="Arial"/>
              </a:rPr>
              <a:t> </a:t>
            </a:r>
          </a:p>
          <a:p>
            <a:r>
              <a:rPr lang="en-US" dirty="0">
                <a:latin typeface="Arial"/>
              </a:rPr>
              <a:t>Date: Sun, 18 Oct 2009 08:56:53 GMT </a:t>
            </a:r>
          </a:p>
          <a:p>
            <a:r>
              <a:rPr lang="en-US" dirty="0">
                <a:latin typeface="Arial"/>
              </a:rPr>
              <a:t>Server: Apache/2.2.14 (Win32) </a:t>
            </a:r>
          </a:p>
          <a:p>
            <a:r>
              <a:rPr lang="en-US" dirty="0">
                <a:latin typeface="Arial"/>
              </a:rPr>
              <a:t>Last-Modified: Sat, 20 Nov 2004 07:16:26 GMT </a:t>
            </a:r>
          </a:p>
          <a:p>
            <a:r>
              <a:rPr lang="en-US" dirty="0">
                <a:latin typeface="Arial"/>
              </a:rPr>
              <a:t>Content-Length: 44 </a:t>
            </a:r>
          </a:p>
          <a:p>
            <a:r>
              <a:rPr lang="en-US" dirty="0">
                <a:latin typeface="Arial"/>
              </a:rPr>
              <a:t>Connection: close </a:t>
            </a:r>
          </a:p>
          <a:p>
            <a:r>
              <a:rPr lang="en-US" b="1" dirty="0">
                <a:latin typeface="Arial"/>
              </a:rPr>
              <a:t>Content-Type: text/html</a:t>
            </a:r>
          </a:p>
          <a:p>
            <a:br>
              <a:rPr lang="en-US" b="1" dirty="0">
                <a:latin typeface="Arial"/>
              </a:rPr>
            </a:br>
            <a:r>
              <a:rPr lang="en-US" dirty="0">
                <a:latin typeface="Arial"/>
              </a:rPr>
              <a:t> </a:t>
            </a:r>
            <a:r>
              <a:rPr lang="en-US" b="1" dirty="0">
                <a:latin typeface="Arial"/>
              </a:rPr>
              <a:t>&lt;html&gt;&lt;body&gt;&lt;h1&gt;It works!&lt;/h1&gt;&lt;/body&gt;&lt;/html&gt;</a:t>
            </a:r>
            <a:r>
              <a:rPr lang="en-US" dirty="0">
                <a:latin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39994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7CA643-5971-4B09-B9F3-1E18BA7B2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E" sz="4200"/>
              <a:t>HTTP Protocol: </a:t>
            </a:r>
            <a:r>
              <a:rPr lang="en-IE" sz="4200" b="1"/>
              <a:t>Content-Type Header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31408-505F-427F-AC27-C2FF67A7B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GB" sz="2000"/>
              <a:t>The Content-Type tells the client what the content type of the returned content.</a:t>
            </a:r>
          </a:p>
          <a:p>
            <a:r>
              <a:rPr lang="en-GB" sz="2000"/>
              <a:t>Also known as “MIME” ,”media type”, "content type") 	</a:t>
            </a:r>
          </a:p>
          <a:p>
            <a:pPr lvl="1"/>
            <a:r>
              <a:rPr lang="en-GB" sz="2000"/>
              <a:t>a video file might be </a:t>
            </a:r>
            <a:r>
              <a:rPr lang="en-GB" sz="2000" b="1"/>
              <a:t>audio/mpeg</a:t>
            </a:r>
            <a:r>
              <a:rPr lang="en-GB" sz="2000"/>
              <a:t>, or an image file </a:t>
            </a:r>
            <a:r>
              <a:rPr lang="en-GB" sz="2000" b="1"/>
              <a:t>image/png</a:t>
            </a:r>
            <a:r>
              <a:rPr lang="en-GB" sz="2000"/>
              <a:t>).</a:t>
            </a:r>
          </a:p>
          <a:p>
            <a:r>
              <a:rPr lang="en-GB" sz="2000"/>
              <a:t>The Internet Assigned Numbers Authority (IANA) is the official authority for the standardization and publication of these classifications.</a:t>
            </a:r>
          </a:p>
          <a:p>
            <a:endParaRPr lang="en-IE" sz="2000"/>
          </a:p>
        </p:txBody>
      </p:sp>
      <p:pic>
        <p:nvPicPr>
          <p:cNvPr id="6" name="Picture 5" descr="Icon&#10;&#10;Description automatically generated with medium confidence">
            <a:extLst>
              <a:ext uri="{FF2B5EF4-FFF2-40B4-BE49-F238E27FC236}">
                <a16:creationId xmlns:a16="http://schemas.microsoft.com/office/drawing/2014/main" id="{5381429E-38CC-468F-9D77-1F71F75099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1049" r="26618" b="-2"/>
          <a:stretch/>
        </p:blipFill>
        <p:spPr>
          <a:xfrm>
            <a:off x="6099048" y="1403730"/>
            <a:ext cx="5458968" cy="405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942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HTTP: </a:t>
            </a:r>
            <a:r>
              <a:rPr lang="en-US" b="1" dirty="0"/>
              <a:t>The URL Query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" charset="0"/>
              </a:rPr>
              <a:t>Query string used to include data in a URL. For example</a:t>
            </a:r>
          </a:p>
          <a:p>
            <a:endParaRPr lang="en-US" dirty="0">
              <a:latin typeface="Calibri" charset="0"/>
            </a:endParaRPr>
          </a:p>
          <a:p>
            <a:pPr marL="0" indent="0">
              <a:buNone/>
            </a:pPr>
            <a:r>
              <a:rPr lang="en-US" dirty="0">
                <a:latin typeface="Calibri" charset="0"/>
                <a:hlinkClick r:id="rId3"/>
              </a:rPr>
              <a:t>https://www.myhome.com/heating?key=jkfgjsdkdfhg</a:t>
            </a:r>
            <a:endParaRPr lang="en-US" dirty="0">
              <a:latin typeface="Calibri" charset="0"/>
              <a:cs typeface="Calibri"/>
              <a:hlinkClick r:id="rId3"/>
            </a:endParaRPr>
          </a:p>
          <a:p>
            <a:pPr marL="0" indent="0">
              <a:buNone/>
            </a:pPr>
            <a:endParaRPr lang="en-US" dirty="0">
              <a:latin typeface="Calibri" charset="0"/>
            </a:endParaRPr>
          </a:p>
          <a:p>
            <a:r>
              <a:rPr lang="en-US" dirty="0">
                <a:solidFill>
                  <a:srgbClr val="252525"/>
                </a:solidFill>
                <a:latin typeface="sans-serif" charset="0"/>
              </a:rPr>
              <a:t>The server can use the query string to execute logic associated with that resource. For example, check if the key is valid</a:t>
            </a:r>
          </a:p>
          <a:p>
            <a:r>
              <a:rPr lang="en-US" dirty="0">
                <a:solidFill>
                  <a:srgbClr val="252525"/>
                </a:solidFill>
                <a:latin typeface="sans-serif" charset="0"/>
              </a:rPr>
              <a:t>Remember </a:t>
            </a:r>
            <a:r>
              <a:rPr lang="en-US" dirty="0" err="1">
                <a:solidFill>
                  <a:srgbClr val="252525"/>
                </a:solidFill>
                <a:latin typeface="sans-serif" charset="0"/>
              </a:rPr>
              <a:t>OpenWeather</a:t>
            </a:r>
            <a:r>
              <a:rPr lang="en-US" dirty="0">
                <a:solidFill>
                  <a:srgbClr val="252525"/>
                </a:solidFill>
                <a:latin typeface="sans-serif" charset="0"/>
              </a:rPr>
              <a:t> API…</a:t>
            </a:r>
          </a:p>
        </p:txBody>
      </p:sp>
      <p:sp>
        <p:nvSpPr>
          <p:cNvPr id="5" name="Line Callout 2 4"/>
          <p:cNvSpPr/>
          <p:nvPr/>
        </p:nvSpPr>
        <p:spPr>
          <a:xfrm>
            <a:off x="7304119" y="2308952"/>
            <a:ext cx="914400" cy="612648"/>
          </a:xfrm>
          <a:prstGeom prst="borderCallout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Query String</a:t>
            </a:r>
          </a:p>
        </p:txBody>
      </p:sp>
    </p:spTree>
    <p:extLst>
      <p:ext uri="{BB962C8B-B14F-4D97-AF65-F5344CB8AC3E}">
        <p14:creationId xmlns:p14="http://schemas.microsoft.com/office/powerpoint/2010/main" val="3322941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41" y="620392"/>
            <a:ext cx="3808268" cy="5504688"/>
          </a:xfrm>
        </p:spPr>
        <p:txBody>
          <a:bodyPr>
            <a:normAutofit/>
          </a:bodyPr>
          <a:lstStyle/>
          <a:p>
            <a:r>
              <a:rPr lang="en-US" sz="6000" dirty="0"/>
              <a:t>HTTP Methods</a:t>
            </a:r>
            <a:br>
              <a:rPr lang="en-US" sz="6000" dirty="0"/>
            </a:br>
            <a:r>
              <a:rPr lang="en-US" sz="6000" dirty="0"/>
              <a:t>(“typical uses”)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84EFE8-C53A-44C4-B289-D1B42CF69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32938" y="-6032938"/>
            <a:ext cx="126124" cy="12192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70749E37-1630-41EE-888C-0DCEAAC63C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0150095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80584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8AFFB-FCC7-4286-D768-85397AF66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HTTP: The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7E05A-BF28-BDE0-5157-BB90E8455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b="1"/>
            </a:pPr>
            <a:r>
              <a:rPr lang="en-GB" b="0" i="0" dirty="0"/>
              <a:t>An optional </a:t>
            </a:r>
            <a:r>
              <a:rPr lang="en-GB" b="0" i="1" dirty="0"/>
              <a:t>body</a:t>
            </a:r>
            <a:r>
              <a:rPr lang="en-GB" b="0" i="0" dirty="0"/>
              <a:t> containing data associated with the message.</a:t>
            </a:r>
            <a:endParaRPr lang="en-US" dirty="0"/>
          </a:p>
          <a:p>
            <a:pPr lvl="0">
              <a:defRPr b="1"/>
            </a:pPr>
            <a:r>
              <a:rPr lang="en-GB" dirty="0"/>
              <a:t>For a HTTP request, the body can contain:</a:t>
            </a:r>
            <a:endParaRPr lang="en-US" dirty="0"/>
          </a:p>
          <a:p>
            <a:pPr lvl="1"/>
            <a:r>
              <a:rPr lang="en-GB" b="0" i="0" dirty="0"/>
              <a:t>content of an HTML form</a:t>
            </a:r>
            <a:endParaRPr lang="en-US" dirty="0"/>
          </a:p>
          <a:p>
            <a:pPr lvl="1"/>
            <a:r>
              <a:rPr lang="en-GB" b="1" dirty="0"/>
              <a:t>c</a:t>
            </a:r>
            <a:r>
              <a:rPr lang="en-GB" b="1" i="0" dirty="0"/>
              <a:t>ommands for a device </a:t>
            </a:r>
            <a:endParaRPr lang="en-US" b="1" dirty="0"/>
          </a:p>
          <a:p>
            <a:pPr lvl="0">
              <a:defRPr b="1"/>
            </a:pPr>
            <a:r>
              <a:rPr lang="en-GB" dirty="0"/>
              <a:t>For a HTTP response, the body can be:</a:t>
            </a:r>
            <a:endParaRPr lang="en-US" dirty="0"/>
          </a:p>
          <a:p>
            <a:pPr lvl="1"/>
            <a:r>
              <a:rPr lang="en-GB" dirty="0"/>
              <a:t>data</a:t>
            </a:r>
            <a:r>
              <a:rPr lang="en-GB" b="0" i="0" dirty="0"/>
              <a:t> associated with a response. </a:t>
            </a:r>
            <a:endParaRPr lang="en-US" dirty="0"/>
          </a:p>
          <a:p>
            <a:pPr lvl="0">
              <a:defRPr b="1"/>
            </a:pPr>
            <a:r>
              <a:rPr lang="en-GB" b="0" i="0" dirty="0"/>
              <a:t>The presence of the body and its format is specified by the start-line and HTTP headers.</a:t>
            </a:r>
            <a:endParaRPr lang="en-US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663070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black text">
            <a:extLst>
              <a:ext uri="{FF2B5EF4-FFF2-40B4-BE49-F238E27FC236}">
                <a16:creationId xmlns:a16="http://schemas.microsoft.com/office/drawing/2014/main" id="{EFF9B69B-7BD9-C66D-FE48-F245A7D132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37981"/>
          <a:stretch>
            <a:fillRect/>
          </a:stretch>
        </p:blipFill>
        <p:spPr>
          <a:xfrm>
            <a:off x="7639893" y="1179759"/>
            <a:ext cx="4340645" cy="26989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F82293-C6B8-DEB6-6021-40B2476A6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cURL</a:t>
            </a:r>
            <a:r>
              <a:rPr lang="en-IE" dirty="0"/>
              <a:t> - Client for URLs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1973A-19E8-C873-E37D-DA55C36F2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10041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A command-line tool for transferring data using HTTP, HTTPS, and many other protocols.</a:t>
            </a:r>
          </a:p>
          <a:p>
            <a:r>
              <a:rPr lang="en-GB" dirty="0"/>
              <a:t>Lets you talk directly to web APIs or servers.</a:t>
            </a:r>
          </a:p>
          <a:p>
            <a:r>
              <a:rPr lang="en-GB" dirty="0"/>
              <a:t>Works from any terminal - no browser required.</a:t>
            </a:r>
          </a:p>
          <a:p>
            <a:r>
              <a:rPr lang="en-GB" dirty="0"/>
              <a:t>Great for testing IoT devices, REST APIs, and web services.</a:t>
            </a:r>
          </a:p>
          <a:p>
            <a:r>
              <a:rPr lang="en-GB" dirty="0"/>
              <a:t>Send GET, POST, PUT, DELETE requests.</a:t>
            </a:r>
            <a:br>
              <a:rPr lang="en-GB" dirty="0"/>
            </a:br>
            <a:r>
              <a:rPr lang="en-GB" dirty="0"/>
              <a:t>Example: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3E0361-813A-23E6-B468-D5FB4B570C67}"/>
              </a:ext>
            </a:extLst>
          </p:cNvPr>
          <p:cNvSpPr txBox="1"/>
          <p:nvPr/>
        </p:nvSpPr>
        <p:spPr>
          <a:xfrm>
            <a:off x="9394325" y="6377459"/>
            <a:ext cx="97523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900" dirty="0">
                <a:hlinkClick r:id="rId3" tooltip="https://kryptera.se/cure53-granskar-curl/"/>
              </a:rPr>
              <a:t>This Photo</a:t>
            </a:r>
            <a:r>
              <a:rPr lang="en-IE" sz="900" dirty="0"/>
              <a:t> by Unknown Author is licensed under </a:t>
            </a:r>
            <a:r>
              <a:rPr lang="en-IE" sz="900" dirty="0">
                <a:hlinkClick r:id="rId4" tooltip="https://creativecommons.org/licenses/by/3.0/"/>
              </a:rPr>
              <a:t>CC BY</a:t>
            </a:r>
            <a:endParaRPr lang="en-IE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BE77FC-8827-F70C-F733-C614FB3C4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412" y="5200083"/>
            <a:ext cx="9141260" cy="95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905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2EF21-7FA0-2198-748B-05343E767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cURL</a:t>
            </a:r>
            <a:r>
              <a:rPr lang="en-IE" dirty="0"/>
              <a:t> Options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BB090A-46CD-F91E-CA8A-7DCC21C6F9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870359"/>
              </p:ext>
            </p:extLst>
          </p:nvPr>
        </p:nvGraphicFramePr>
        <p:xfrm>
          <a:off x="838200" y="1473518"/>
          <a:ext cx="10515600" cy="31089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8138111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039788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299416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/>
                        <a:t>Option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373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>
                          <a:latin typeface="Courier New" panose="02070309020205020404" pitchFamily="49" charset="0"/>
                        </a:rPr>
                        <a:t>-X</a:t>
                      </a:r>
                      <a:endParaRPr lang="en-I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Specify method (GET, POST, PUT, DELETE)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>
                          <a:latin typeface="Courier New" panose="02070309020205020404" pitchFamily="49" charset="0"/>
                        </a:rPr>
                        <a:t>-X PUT</a:t>
                      </a:r>
                      <a:endParaRPr lang="en-I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467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>
                          <a:latin typeface="Courier New" panose="02070309020205020404" pitchFamily="49" charset="0"/>
                        </a:rPr>
                        <a:t>-H</a:t>
                      </a:r>
                      <a:endParaRPr lang="en-I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/>
                        <a:t>Add HTTP header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dirty="0">
                          <a:latin typeface="Courier New" panose="02070309020205020404" pitchFamily="49" charset="0"/>
                        </a:rPr>
                        <a:t>-H "Content-Type: application/</a:t>
                      </a:r>
                      <a:r>
                        <a:rPr lang="en-IE" dirty="0" err="1">
                          <a:latin typeface="Courier New" panose="02070309020205020404" pitchFamily="49" charset="0"/>
                        </a:rPr>
                        <a:t>json</a:t>
                      </a:r>
                      <a:r>
                        <a:rPr lang="en-IE" dirty="0">
                          <a:latin typeface="Courier New" panose="02070309020205020404" pitchFamily="49" charset="0"/>
                        </a:rPr>
                        <a:t>"</a:t>
                      </a:r>
                      <a:endParaRPr lang="en-IE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562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>
                          <a:latin typeface="Courier New" panose="02070309020205020404" pitchFamily="49" charset="0"/>
                        </a:rPr>
                        <a:t>-d</a:t>
                      </a:r>
                      <a:endParaRPr lang="en-I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Send data in the request body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>
                          <a:latin typeface="Courier New" panose="02070309020205020404" pitchFamily="49" charset="0"/>
                        </a:rPr>
                        <a:t>-d '{"state":"on"}'</a:t>
                      </a:r>
                      <a:endParaRPr lang="en-I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0746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dirty="0"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en-IE" dirty="0" err="1">
                          <a:latin typeface="Courier New" panose="02070309020205020404" pitchFamily="49" charset="0"/>
                        </a:rPr>
                        <a:t>i</a:t>
                      </a:r>
                      <a:endParaRPr lang="en-IE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/>
                        <a:t>Show response headers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>
                          <a:latin typeface="Courier New" panose="02070309020205020404" pitchFamily="49" charset="0"/>
                        </a:rPr>
                        <a:t>-i</a:t>
                      </a:r>
                      <a:endParaRPr lang="en-I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484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>
                          <a:latin typeface="Courier New" panose="02070309020205020404" pitchFamily="49" charset="0"/>
                        </a:rPr>
                        <a:t>-v</a:t>
                      </a:r>
                      <a:endParaRPr lang="en-I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/>
                        <a:t>Verbose output (debug)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dirty="0">
                          <a:latin typeface="Courier New" panose="02070309020205020404" pitchFamily="49" charset="0"/>
                        </a:rPr>
                        <a:t>-v</a:t>
                      </a:r>
                      <a:endParaRPr lang="en-IE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565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dirty="0">
                          <a:latin typeface="Courier New" panose="02070309020205020404" pitchFamily="49" charset="0"/>
                        </a:rPr>
                        <a:t>-o</a:t>
                      </a:r>
                      <a:endParaRPr lang="en-IE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/>
                        <a:t>Save output to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dirty="0">
                          <a:latin typeface="Courier New" panose="02070309020205020404" pitchFamily="49" charset="0"/>
                        </a:rPr>
                        <a:t>-o </a:t>
                      </a:r>
                      <a:r>
                        <a:rPr lang="en-IE" dirty="0" err="1">
                          <a:latin typeface="Courier New" panose="02070309020205020404" pitchFamily="49" charset="0"/>
                        </a:rPr>
                        <a:t>result.json</a:t>
                      </a:r>
                      <a:endParaRPr lang="en-IE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09462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68D80F1-9EDB-2C56-6B50-198E6F8E87E4}"/>
              </a:ext>
            </a:extLst>
          </p:cNvPr>
          <p:cNvSpPr txBox="1"/>
          <p:nvPr/>
        </p:nvSpPr>
        <p:spPr>
          <a:xfrm>
            <a:off x="749147" y="4990641"/>
            <a:ext cx="1117110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Example: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Curl.exe -X PUT https://api.example.com/light/1  </a:t>
            </a:r>
            <a:b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-H "Content-Type: application/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   -d '{"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state":"off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"}'</a:t>
            </a:r>
            <a:endParaRPr lang="en-I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908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device&#10;&#10;Description generated with very high confidence">
            <a:extLst>
              <a:ext uri="{FF2B5EF4-FFF2-40B4-BE49-F238E27FC236}">
                <a16:creationId xmlns:a16="http://schemas.microsoft.com/office/drawing/2014/main" id="{FDC7C3FD-30C2-4FE7-8B0E-783BB8308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311" y="3245188"/>
            <a:ext cx="1353901" cy="1390640"/>
          </a:xfrm>
          <a:prstGeom prst="rect">
            <a:avLst/>
          </a:prstGeom>
        </p:spPr>
      </p:pic>
      <p:pic>
        <p:nvPicPr>
          <p:cNvPr id="3" name="Picture 2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51015C5D-FE6B-4B41-BB71-196E38A81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625" y="3370087"/>
            <a:ext cx="770618" cy="1123042"/>
          </a:xfrm>
          <a:prstGeom prst="rect">
            <a:avLst/>
          </a:prstGeom>
        </p:spPr>
      </p:pic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C94A3CFF-9B7C-4141-91A1-D61B8E109DB7}"/>
              </a:ext>
            </a:extLst>
          </p:cNvPr>
          <p:cNvSpPr/>
          <p:nvPr/>
        </p:nvSpPr>
        <p:spPr>
          <a:xfrm>
            <a:off x="2463800" y="2433246"/>
            <a:ext cx="1848756" cy="812220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cs typeface="Calibri"/>
              </a:rPr>
              <a:t>PUT </a:t>
            </a:r>
            <a:r>
              <a:rPr lang="en-IE" sz="1400" b="0" i="0" dirty="0">
                <a:solidFill>
                  <a:srgbClr val="303030"/>
                </a:solidFill>
                <a:effectLst/>
                <a:latin typeface="Gudea"/>
              </a:rPr>
              <a:t>{“</a:t>
            </a:r>
            <a:r>
              <a:rPr lang="en-IE" sz="1400" b="0" i="0" dirty="0" err="1">
                <a:solidFill>
                  <a:srgbClr val="303030"/>
                </a:solidFill>
                <a:effectLst/>
                <a:latin typeface="Gudea"/>
              </a:rPr>
              <a:t>state”:”on</a:t>
            </a:r>
            <a:r>
              <a:rPr lang="en-IE" sz="1400" b="0" i="0" dirty="0">
                <a:solidFill>
                  <a:srgbClr val="303030"/>
                </a:solidFill>
                <a:effectLst/>
                <a:latin typeface="Gudea"/>
              </a:rPr>
              <a:t>”}</a:t>
            </a:r>
            <a:r>
              <a:rPr lang="en-US" sz="1400" dirty="0">
                <a:cs typeface="Calibri"/>
              </a:rPr>
              <a:t> to the resource at /device/123/power</a:t>
            </a:r>
            <a:endParaRPr lang="en-US" sz="1050" dirty="0">
              <a:cs typeface="Calibri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07B9C9B-9F4A-41FF-B0C9-B4B4B334A1F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HTTP API for IOT Example</a:t>
            </a:r>
          </a:p>
        </p:txBody>
      </p:sp>
      <p:pic>
        <p:nvPicPr>
          <p:cNvPr id="12" name="Picture 13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04CBD9E2-BF5C-4657-807A-7E4D5C7A9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688" y="2079171"/>
            <a:ext cx="807411" cy="136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156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device&#10;&#10;Description generated with very high confidence">
            <a:extLst>
              <a:ext uri="{FF2B5EF4-FFF2-40B4-BE49-F238E27FC236}">
                <a16:creationId xmlns:a16="http://schemas.microsoft.com/office/drawing/2014/main" id="{FDC7C3FD-30C2-4FE7-8B0E-783BB8308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311" y="3245188"/>
            <a:ext cx="1353901" cy="1390640"/>
          </a:xfrm>
          <a:prstGeom prst="rect">
            <a:avLst/>
          </a:prstGeom>
        </p:spPr>
      </p:pic>
      <p:pic>
        <p:nvPicPr>
          <p:cNvPr id="3" name="Picture 2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51015C5D-FE6B-4B41-BB71-196E38A81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625" y="3370087"/>
            <a:ext cx="770618" cy="1123042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C083CDA4-9943-48EE-A92E-9951ECE15D74}"/>
              </a:ext>
            </a:extLst>
          </p:cNvPr>
          <p:cNvSpPr/>
          <p:nvPr/>
        </p:nvSpPr>
        <p:spPr>
          <a:xfrm>
            <a:off x="3556652" y="3721898"/>
            <a:ext cx="2584050" cy="2306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20880-DE66-4D4A-A5A2-1AD1D60D0C89}"/>
              </a:ext>
            </a:extLst>
          </p:cNvPr>
          <p:cNvSpPr txBox="1"/>
          <p:nvPr/>
        </p:nvSpPr>
        <p:spPr>
          <a:xfrm>
            <a:off x="3581400" y="3463471"/>
            <a:ext cx="2743200" cy="369332"/>
          </a:xfrm>
          <a:prstGeom prst="rect">
            <a:avLst/>
          </a:prstGeom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HTTP Request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43D99-5F4E-4219-84A8-5A6D09117FAD}"/>
              </a:ext>
            </a:extLst>
          </p:cNvPr>
          <p:cNvSpPr txBox="1"/>
          <p:nvPr/>
        </p:nvSpPr>
        <p:spPr>
          <a:xfrm>
            <a:off x="3962399" y="3907971"/>
            <a:ext cx="1917699" cy="738664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 </a:t>
            </a:r>
            <a:r>
              <a:rPr lang="en-US" sz="1200" dirty="0"/>
              <a:t>PUT</a:t>
            </a:r>
            <a:r>
              <a:rPr lang="en-US" sz="1200" dirty="0">
                <a:cs typeface="Calibri"/>
              </a:rPr>
              <a:t> /device/123/power</a:t>
            </a:r>
            <a:br>
              <a:rPr lang="en-US" sz="1200" dirty="0">
                <a:cs typeface="Calibri"/>
              </a:rPr>
            </a:br>
            <a:r>
              <a:rPr lang="en-IE" sz="1200" b="0" i="0" dirty="0">
                <a:solidFill>
                  <a:srgbClr val="303030"/>
                </a:solidFill>
                <a:effectLst/>
                <a:latin typeface="Gudea"/>
              </a:rPr>
              <a:t>{“</a:t>
            </a:r>
            <a:r>
              <a:rPr lang="en-IE" sz="1200" b="0" i="0" dirty="0" err="1">
                <a:solidFill>
                  <a:srgbClr val="303030"/>
                </a:solidFill>
                <a:effectLst/>
                <a:latin typeface="Gudea"/>
              </a:rPr>
              <a:t>state”:”on</a:t>
            </a:r>
            <a:r>
              <a:rPr lang="en-IE" sz="1200" b="0" i="0" dirty="0">
                <a:solidFill>
                  <a:srgbClr val="303030"/>
                </a:solidFill>
                <a:effectLst/>
                <a:latin typeface="Gudea"/>
              </a:rPr>
              <a:t>”}</a:t>
            </a:r>
            <a:endParaRPr lang="en-US" sz="1200" dirty="0">
              <a:cs typeface="Calibri"/>
            </a:endParaRPr>
          </a:p>
          <a:p>
            <a:pPr algn="ctr"/>
            <a:r>
              <a:rPr lang="en-US" sz="1200" dirty="0">
                <a:cs typeface="Calibri"/>
              </a:rPr>
              <a:t>…....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07B9C9B-9F4A-41FF-B0C9-B4B4B334A1F7}"/>
              </a:ext>
            </a:extLst>
          </p:cNvPr>
          <p:cNvSpPr txBox="1">
            <a:spLocks/>
          </p:cNvSpPr>
          <p:nvPr/>
        </p:nvSpPr>
        <p:spPr>
          <a:xfrm>
            <a:off x="883557" y="401411"/>
            <a:ext cx="10515600" cy="1325563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HTTP Put</a:t>
            </a:r>
          </a:p>
        </p:txBody>
      </p:sp>
      <p:pic>
        <p:nvPicPr>
          <p:cNvPr id="12" name="Picture 13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B7BD4D9E-4D45-420A-9ECB-5D30FD64D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616" y="1988458"/>
            <a:ext cx="843697" cy="1429658"/>
          </a:xfrm>
          <a:prstGeom prst="rect">
            <a:avLst/>
          </a:prstGeom>
        </p:spPr>
      </p:pic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8369C3EF-9467-44B6-A1BE-7497186D7D1D}"/>
              </a:ext>
            </a:extLst>
          </p:cNvPr>
          <p:cNvSpPr/>
          <p:nvPr/>
        </p:nvSpPr>
        <p:spPr>
          <a:xfrm>
            <a:off x="6228442" y="2433245"/>
            <a:ext cx="1848756" cy="812220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cs typeface="Calibri"/>
              </a:rPr>
              <a:t>Pass request to resource at </a:t>
            </a:r>
            <a:r>
              <a:rPr lang="en-US" sz="1400" b="1" dirty="0">
                <a:cs typeface="Calibri"/>
              </a:rPr>
              <a:t>/device/123</a:t>
            </a:r>
            <a:r>
              <a:rPr lang="en-US" sz="1400" dirty="0">
                <a:cs typeface="Calibri"/>
              </a:rPr>
              <a:t> (it's actually a program)</a:t>
            </a:r>
            <a:endParaRPr lang="en-US" sz="105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7969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device&#10;&#10;Description generated with very high confidence">
            <a:extLst>
              <a:ext uri="{FF2B5EF4-FFF2-40B4-BE49-F238E27FC236}">
                <a16:creationId xmlns:a16="http://schemas.microsoft.com/office/drawing/2014/main" id="{FDC7C3FD-30C2-4FE7-8B0E-783BB8308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311" y="3245188"/>
            <a:ext cx="1353901" cy="1390640"/>
          </a:xfrm>
          <a:prstGeom prst="rect">
            <a:avLst/>
          </a:prstGeom>
        </p:spPr>
      </p:pic>
      <p:pic>
        <p:nvPicPr>
          <p:cNvPr id="3" name="Picture 2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51015C5D-FE6B-4B41-BB71-196E38A81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625" y="3370087"/>
            <a:ext cx="770618" cy="1123042"/>
          </a:xfrm>
          <a:prstGeom prst="rect">
            <a:avLst/>
          </a:prstGeom>
        </p:spPr>
      </p:pic>
      <p:sp>
        <p:nvSpPr>
          <p:cNvPr id="7" name="Arrow: Left 6">
            <a:extLst>
              <a:ext uri="{FF2B5EF4-FFF2-40B4-BE49-F238E27FC236}">
                <a16:creationId xmlns:a16="http://schemas.microsoft.com/office/drawing/2014/main" id="{EAF6439E-6043-4937-B03C-CC139A02990B}"/>
              </a:ext>
            </a:extLst>
          </p:cNvPr>
          <p:cNvSpPr/>
          <p:nvPr/>
        </p:nvSpPr>
        <p:spPr>
          <a:xfrm>
            <a:off x="3611082" y="3721897"/>
            <a:ext cx="2520550" cy="21249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4619FB-A9E0-460B-ACD4-9F5DFFF49AE2}"/>
              </a:ext>
            </a:extLst>
          </p:cNvPr>
          <p:cNvSpPr txBox="1"/>
          <p:nvPr/>
        </p:nvSpPr>
        <p:spPr>
          <a:xfrm>
            <a:off x="3454399" y="3427184"/>
            <a:ext cx="2743200" cy="369332"/>
          </a:xfrm>
          <a:prstGeom prst="rect">
            <a:avLst/>
          </a:prstGeom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HTTP Response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D1317E-EE50-45D7-B093-C9B2224F790A}"/>
              </a:ext>
            </a:extLst>
          </p:cNvPr>
          <p:cNvSpPr txBox="1"/>
          <p:nvPr/>
        </p:nvSpPr>
        <p:spPr>
          <a:xfrm>
            <a:off x="4034969" y="3944256"/>
            <a:ext cx="1854199" cy="738664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cs typeface="Calibri"/>
              </a:rPr>
              <a:t>200 OK</a:t>
            </a:r>
          </a:p>
          <a:p>
            <a:pPr algn="ctr"/>
            <a:r>
              <a:rPr lang="en-US" sz="1400" dirty="0"/>
              <a:t>{"</a:t>
            </a:r>
            <a:r>
              <a:rPr lang="en-US" sz="1400" dirty="0" err="1"/>
              <a:t>status":"on</a:t>
            </a:r>
            <a:r>
              <a:rPr lang="en-US" sz="1400" dirty="0"/>
              <a:t>", "</a:t>
            </a:r>
            <a:r>
              <a:rPr lang="en-US" sz="1400" dirty="0" err="1"/>
              <a:t>colour</a:t>
            </a:r>
            <a:r>
              <a:rPr lang="en-US" sz="1400" dirty="0"/>
              <a:t>":"white"}</a:t>
            </a:r>
            <a:endParaRPr lang="en-US" sz="1400" dirty="0">
              <a:cs typeface="Calibri"/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C94A3CFF-9B7C-4141-91A1-D61B8E109DB7}"/>
              </a:ext>
            </a:extLst>
          </p:cNvPr>
          <p:cNvSpPr/>
          <p:nvPr/>
        </p:nvSpPr>
        <p:spPr>
          <a:xfrm>
            <a:off x="2463800" y="2669103"/>
            <a:ext cx="1422399" cy="576363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cs typeface="Calibri"/>
              </a:rPr>
              <a:t>Display "Light is on"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07B9C9B-9F4A-41FF-B0C9-B4B4B334A1F7}"/>
              </a:ext>
            </a:extLst>
          </p:cNvPr>
          <p:cNvSpPr txBox="1">
            <a:spLocks/>
          </p:cNvSpPr>
          <p:nvPr/>
        </p:nvSpPr>
        <p:spPr>
          <a:xfrm>
            <a:off x="629557" y="392339"/>
            <a:ext cx="10515600" cy="1325563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HTTP Put</a:t>
            </a:r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CBB1AB9D-F100-4B0D-AB94-FC56AD6791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1614" y="1717765"/>
            <a:ext cx="1455058" cy="158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853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113" y="347033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en-IE" dirty="0"/>
              <a:t>External Data Representations</a:t>
            </a:r>
            <a:br>
              <a:rPr lang="en-IE" dirty="0">
                <a:cs typeface="Calibri Light"/>
              </a:rPr>
            </a:br>
            <a:r>
              <a:rPr lang="en-IE" dirty="0"/>
              <a:t>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IE" dirty="0" err="1"/>
              <a:t>eXtensible</a:t>
            </a:r>
            <a:r>
              <a:rPr lang="en-IE" dirty="0"/>
              <a:t> </a:t>
            </a:r>
            <a:r>
              <a:rPr lang="en-IE" dirty="0" err="1"/>
              <a:t>Markup</a:t>
            </a:r>
            <a:r>
              <a:rPr lang="en-IE" dirty="0"/>
              <a:t> Language(XML)</a:t>
            </a:r>
          </a:p>
          <a:p>
            <a:r>
              <a:rPr lang="en-IE" dirty="0"/>
              <a:t>Same heritage as HTML(but XML is NOT HTML)</a:t>
            </a:r>
          </a:p>
          <a:p>
            <a:r>
              <a:rPr lang="en-IE" dirty="0"/>
              <a:t>XML data items are tagged with ‘</a:t>
            </a:r>
            <a:r>
              <a:rPr lang="en-IE" dirty="0" err="1"/>
              <a:t>markup</a:t>
            </a:r>
            <a:r>
              <a:rPr lang="en-IE" dirty="0"/>
              <a:t>’ strings</a:t>
            </a:r>
          </a:p>
          <a:p>
            <a:pPr lvl="1"/>
            <a:r>
              <a:rPr lang="en-IE" sz="2300" dirty="0"/>
              <a:t>used to describe the logical structure of the data</a:t>
            </a:r>
          </a:p>
          <a:p>
            <a:r>
              <a:rPr lang="en-IE" dirty="0"/>
              <a:t>XML has many uses. For now we confine ourselves to external data representations</a:t>
            </a:r>
            <a:endParaRPr lang="en-IE" dirty="0">
              <a:cs typeface="Calibri"/>
            </a:endParaRPr>
          </a:p>
          <a:p>
            <a:r>
              <a:rPr lang="en-IE" dirty="0"/>
              <a:t>Has many cool features including</a:t>
            </a:r>
          </a:p>
          <a:p>
            <a:pPr lvl="1"/>
            <a:r>
              <a:rPr lang="en-IE" dirty="0"/>
              <a:t>Extensible</a:t>
            </a:r>
          </a:p>
          <a:p>
            <a:pPr lvl="1"/>
            <a:r>
              <a:rPr lang="en-IE" dirty="0"/>
              <a:t>Textual</a:t>
            </a:r>
          </a:p>
          <a:p>
            <a:pPr lvl="1"/>
            <a:r>
              <a:rPr lang="en-IE" dirty="0"/>
              <a:t>Kind of human readable and machine readable...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826097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47528" y="3933056"/>
            <a:ext cx="8503920" cy="21659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E" dirty="0"/>
              <a:t>Above shows </a:t>
            </a:r>
            <a:r>
              <a:rPr lang="en-US" dirty="0"/>
              <a:t>XML definitions of the Person structure.</a:t>
            </a:r>
          </a:p>
          <a:p>
            <a:pPr lvl="1"/>
            <a:r>
              <a:rPr lang="en-US" dirty="0"/>
              <a:t>As with </a:t>
            </a:r>
            <a:r>
              <a:rPr lang="en-US" dirty="0" err="1"/>
              <a:t>xHTML</a:t>
            </a:r>
            <a:r>
              <a:rPr lang="en-US" dirty="0"/>
              <a:t>, tags enclose character data.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Tags : &lt;name&gt;, &lt;place&gt;,&lt;year&gt;	  data:”Smith”, “London”…</a:t>
            </a:r>
            <a:endParaRPr lang="en-US" dirty="0">
              <a:cs typeface="Calibri"/>
            </a:endParaRPr>
          </a:p>
          <a:p>
            <a:r>
              <a:rPr lang="en-IE" dirty="0"/>
              <a:t>Namespaces provide a means for scoping names</a:t>
            </a:r>
            <a:endParaRPr lang="en-IE" dirty="0">
              <a:cs typeface="Calibri"/>
            </a:endParaRPr>
          </a:p>
          <a:p>
            <a:pPr marL="0" indent="0">
              <a:buNone/>
            </a:pPr>
            <a:endParaRPr lang="en-IE" dirty="0">
              <a:cs typeface="Calibri"/>
            </a:endParaRP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IE" dirty="0"/>
          </a:p>
        </p:txBody>
      </p:sp>
      <p:sp>
        <p:nvSpPr>
          <p:cNvPr id="5" name="Rectangle 4"/>
          <p:cNvSpPr>
            <a:spLocks/>
          </p:cNvSpPr>
          <p:nvPr/>
        </p:nvSpPr>
        <p:spPr bwMode="auto">
          <a:xfrm>
            <a:off x="6023993" y="1772816"/>
            <a:ext cx="4441377" cy="1785104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</p:spPr>
        <p:txBody>
          <a:bodyPr wrap="square" lIns="0" tIns="0" rIns="40639" bIns="0">
            <a:spAutoFit/>
          </a:bodyPr>
          <a:lstStyle/>
          <a:p>
            <a:pPr marL="39688"/>
            <a:r>
              <a:rPr lang="en-US" sz="1600" dirty="0">
                <a:solidFill>
                  <a:schemeClr val="tx1"/>
                </a:solidFill>
                <a:cs typeface="Times" pitchFamily="60" charset="0"/>
              </a:rPr>
              <a:t>&lt;person </a:t>
            </a:r>
            <a:r>
              <a:rPr lang="en-US" sz="1600" dirty="0" err="1">
                <a:solidFill>
                  <a:schemeClr val="tx1"/>
                </a:solidFill>
                <a:cs typeface="Times" pitchFamily="60" charset="0"/>
              </a:rPr>
              <a:t>pers:id</a:t>
            </a:r>
            <a:r>
              <a:rPr lang="en-US" sz="1600" dirty="0">
                <a:solidFill>
                  <a:schemeClr val="tx1"/>
                </a:solidFill>
                <a:cs typeface="Times" pitchFamily="60" charset="0"/>
              </a:rPr>
              <a:t>="123456789" </a:t>
            </a:r>
            <a:r>
              <a:rPr lang="en-US" sz="1600" dirty="0" err="1">
                <a:solidFill>
                  <a:schemeClr val="tx1"/>
                </a:solidFill>
                <a:cs typeface="Times" pitchFamily="60" charset="0"/>
              </a:rPr>
              <a:t>xmlns:pers</a:t>
            </a:r>
            <a:r>
              <a:rPr lang="en-US" sz="1600" dirty="0">
                <a:solidFill>
                  <a:schemeClr val="tx1"/>
                </a:solidFill>
                <a:cs typeface="Times" pitchFamily="60" charset="0"/>
              </a:rPr>
              <a:t> = "</a:t>
            </a:r>
            <a:r>
              <a:rPr lang="en-US" sz="1600" u="sng" dirty="0">
                <a:solidFill>
                  <a:schemeClr val="tx1"/>
                </a:solidFill>
                <a:cs typeface="Times" pitchFamily="60" charset="0"/>
                <a:hlinkClick r:id="rId2"/>
              </a:rPr>
              <a:t>http://www.cdk5.net/person</a:t>
            </a:r>
            <a:r>
              <a:rPr lang="en-US" sz="1600" dirty="0">
                <a:solidFill>
                  <a:schemeClr val="tx1"/>
                </a:solidFill>
                <a:cs typeface="Times" pitchFamily="60" charset="0"/>
              </a:rPr>
              <a:t>"&gt;</a:t>
            </a:r>
          </a:p>
          <a:p>
            <a:pPr marL="39688">
              <a:spcBef>
                <a:spcPts val="600"/>
              </a:spcBef>
            </a:pPr>
            <a:r>
              <a:rPr lang="en-US" sz="1600" dirty="0">
                <a:solidFill>
                  <a:schemeClr val="tx1"/>
                </a:solidFill>
                <a:cs typeface="Times" pitchFamily="60" charset="0"/>
              </a:rPr>
              <a:t>	&lt;</a:t>
            </a:r>
            <a:r>
              <a:rPr lang="en-US" sz="1600" dirty="0" err="1">
                <a:solidFill>
                  <a:schemeClr val="tx1"/>
                </a:solidFill>
                <a:cs typeface="Times" pitchFamily="60" charset="0"/>
              </a:rPr>
              <a:t>pers:name</a:t>
            </a:r>
            <a:r>
              <a:rPr lang="en-US" sz="1600" dirty="0">
                <a:solidFill>
                  <a:schemeClr val="tx1"/>
                </a:solidFill>
                <a:cs typeface="Times" pitchFamily="60" charset="0"/>
              </a:rPr>
              <a:t>&gt; Smith &lt;/</a:t>
            </a:r>
            <a:r>
              <a:rPr lang="en-US" sz="1600" dirty="0" err="1">
                <a:solidFill>
                  <a:schemeClr val="tx1"/>
                </a:solidFill>
                <a:cs typeface="Times" pitchFamily="60" charset="0"/>
              </a:rPr>
              <a:t>pers:name</a:t>
            </a:r>
            <a:r>
              <a:rPr lang="en-US" sz="1600" dirty="0">
                <a:solidFill>
                  <a:schemeClr val="tx1"/>
                </a:solidFill>
                <a:cs typeface="Times" pitchFamily="60" charset="0"/>
              </a:rPr>
              <a:t>&gt;</a:t>
            </a:r>
          </a:p>
          <a:p>
            <a:pPr marL="39688">
              <a:spcBef>
                <a:spcPts val="600"/>
              </a:spcBef>
            </a:pPr>
            <a:r>
              <a:rPr lang="en-US" sz="1600" dirty="0">
                <a:solidFill>
                  <a:schemeClr val="tx1"/>
                </a:solidFill>
                <a:cs typeface="Times" pitchFamily="60" charset="0"/>
              </a:rPr>
              <a:t>	&lt;</a:t>
            </a:r>
            <a:r>
              <a:rPr lang="en-US" sz="1600" dirty="0" err="1">
                <a:solidFill>
                  <a:schemeClr val="tx1"/>
                </a:solidFill>
                <a:cs typeface="Times" pitchFamily="60" charset="0"/>
              </a:rPr>
              <a:t>pers:place</a:t>
            </a:r>
            <a:r>
              <a:rPr lang="en-US" sz="1600" dirty="0">
                <a:solidFill>
                  <a:schemeClr val="tx1"/>
                </a:solidFill>
                <a:cs typeface="Times" pitchFamily="60" charset="0"/>
              </a:rPr>
              <a:t>&gt; London &lt;/</a:t>
            </a:r>
            <a:r>
              <a:rPr lang="en-US" sz="1600" dirty="0" err="1">
                <a:solidFill>
                  <a:schemeClr val="tx1"/>
                </a:solidFill>
                <a:cs typeface="Times" pitchFamily="60" charset="0"/>
              </a:rPr>
              <a:t>pers:place</a:t>
            </a:r>
            <a:r>
              <a:rPr lang="en-US" sz="1600" dirty="0">
                <a:solidFill>
                  <a:schemeClr val="tx1"/>
                </a:solidFill>
                <a:cs typeface="Times" pitchFamily="60" charset="0"/>
              </a:rPr>
              <a:t> &gt;</a:t>
            </a:r>
          </a:p>
          <a:p>
            <a:pPr marL="39688">
              <a:spcBef>
                <a:spcPts val="600"/>
              </a:spcBef>
            </a:pPr>
            <a:r>
              <a:rPr lang="en-US" sz="1600" dirty="0">
                <a:solidFill>
                  <a:schemeClr val="tx1"/>
                </a:solidFill>
                <a:cs typeface="Times" pitchFamily="60" charset="0"/>
              </a:rPr>
              <a:t>	&lt;</a:t>
            </a:r>
            <a:r>
              <a:rPr lang="en-US" sz="1600" dirty="0" err="1">
                <a:solidFill>
                  <a:schemeClr val="tx1"/>
                </a:solidFill>
                <a:cs typeface="Times" pitchFamily="60" charset="0"/>
              </a:rPr>
              <a:t>pers:year</a:t>
            </a:r>
            <a:r>
              <a:rPr lang="en-US" sz="1600" dirty="0">
                <a:solidFill>
                  <a:schemeClr val="tx1"/>
                </a:solidFill>
                <a:cs typeface="Times" pitchFamily="60" charset="0"/>
              </a:rPr>
              <a:t>&gt; 1984 &lt;/</a:t>
            </a:r>
            <a:r>
              <a:rPr lang="en-US" sz="1600" dirty="0" err="1">
                <a:solidFill>
                  <a:schemeClr val="tx1"/>
                </a:solidFill>
                <a:cs typeface="Times" pitchFamily="60" charset="0"/>
              </a:rPr>
              <a:t>pers:year</a:t>
            </a:r>
            <a:r>
              <a:rPr lang="en-US" sz="1600" dirty="0">
                <a:solidFill>
                  <a:schemeClr val="tx1"/>
                </a:solidFill>
                <a:cs typeface="Times" pitchFamily="60" charset="0"/>
              </a:rPr>
              <a:t>&gt;</a:t>
            </a:r>
          </a:p>
          <a:p>
            <a:pPr marL="39688">
              <a:spcBef>
                <a:spcPts val="600"/>
              </a:spcBef>
            </a:pPr>
            <a:r>
              <a:rPr lang="en-US" sz="1600" dirty="0">
                <a:solidFill>
                  <a:schemeClr val="tx1"/>
                </a:solidFill>
                <a:cs typeface="Times" pitchFamily="60" charset="0"/>
              </a:rPr>
              <a:t>&lt;/person&gt;</a:t>
            </a:r>
          </a:p>
        </p:txBody>
      </p:sp>
      <p:sp>
        <p:nvSpPr>
          <p:cNvPr id="8" name="Rectangle 4"/>
          <p:cNvSpPr>
            <a:spLocks/>
          </p:cNvSpPr>
          <p:nvPr/>
        </p:nvSpPr>
        <p:spPr bwMode="auto">
          <a:xfrm>
            <a:off x="1847528" y="1700808"/>
            <a:ext cx="4176464" cy="1872208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</p:spPr>
        <p:txBody>
          <a:bodyPr lIns="0" tIns="0" rIns="40639" bIns="0"/>
          <a:lstStyle/>
          <a:p>
            <a:pPr marL="39688">
              <a:spcBef>
                <a:spcPts val="600"/>
              </a:spcBef>
            </a:pPr>
            <a:r>
              <a:rPr lang="en-US" sz="1600" dirty="0">
                <a:cs typeface="Times" pitchFamily="60" charset="0"/>
              </a:rPr>
              <a:t>&lt;person id="123456789"&gt;</a:t>
            </a:r>
          </a:p>
          <a:p>
            <a:pPr marL="39688">
              <a:spcBef>
                <a:spcPts val="600"/>
              </a:spcBef>
            </a:pPr>
            <a:r>
              <a:rPr lang="en-US" sz="1600" dirty="0">
                <a:cs typeface="Times" pitchFamily="60" charset="0"/>
              </a:rPr>
              <a:t>		&lt;name&gt;Smith&lt;/name&gt;</a:t>
            </a:r>
          </a:p>
          <a:p>
            <a:pPr marL="39688">
              <a:spcBef>
                <a:spcPts val="600"/>
              </a:spcBef>
            </a:pPr>
            <a:r>
              <a:rPr lang="en-US" sz="1600" dirty="0">
                <a:cs typeface="Times" pitchFamily="60" charset="0"/>
              </a:rPr>
              <a:t>		&lt;place&gt;London&lt;/place&gt;</a:t>
            </a:r>
          </a:p>
          <a:p>
            <a:pPr marL="39688">
              <a:spcBef>
                <a:spcPts val="600"/>
              </a:spcBef>
            </a:pPr>
            <a:r>
              <a:rPr lang="en-US" sz="1600" dirty="0">
                <a:cs typeface="Times" pitchFamily="60" charset="0"/>
              </a:rPr>
              <a:t>		&lt;year&gt;1984&lt;/year&gt;</a:t>
            </a:r>
          </a:p>
          <a:p>
            <a:pPr marL="39688">
              <a:spcBef>
                <a:spcPts val="600"/>
              </a:spcBef>
            </a:pPr>
            <a:r>
              <a:rPr lang="en-US" sz="1600" dirty="0">
                <a:cs typeface="Times" pitchFamily="60" charset="0"/>
              </a:rPr>
              <a:t>		&lt;!-- a comment --&gt;</a:t>
            </a:r>
          </a:p>
          <a:p>
            <a:pPr marL="39688">
              <a:spcBef>
                <a:spcPts val="600"/>
              </a:spcBef>
            </a:pPr>
            <a:r>
              <a:rPr lang="en-US" sz="1600" dirty="0">
                <a:cs typeface="Times" pitchFamily="60" charset="0"/>
              </a:rPr>
              <a:t>&lt;/person &gt;</a:t>
            </a:r>
          </a:p>
        </p:txBody>
      </p:sp>
      <p:sp>
        <p:nvSpPr>
          <p:cNvPr id="9" name="Line Callout 1 8"/>
          <p:cNvSpPr/>
          <p:nvPr/>
        </p:nvSpPr>
        <p:spPr>
          <a:xfrm>
            <a:off x="8328248" y="692696"/>
            <a:ext cx="2160240" cy="432048"/>
          </a:xfrm>
          <a:prstGeom prst="borderCallout1">
            <a:avLst>
              <a:gd name="adj1" fmla="val 122944"/>
              <a:gd name="adj2" fmla="val 47671"/>
              <a:gd name="adj3" fmla="val 265534"/>
              <a:gd name="adj4" fmla="val 4306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800" dirty="0"/>
              <a:t>namespace</a:t>
            </a:r>
          </a:p>
        </p:txBody>
      </p:sp>
    </p:spTree>
    <p:extLst>
      <p:ext uri="{BB962C8B-B14F-4D97-AF65-F5344CB8AC3E}">
        <p14:creationId xmlns:p14="http://schemas.microsoft.com/office/powerpoint/2010/main" val="21360588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IE" dirty="0"/>
              <a:t>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IE" sz="2000"/>
              <a:t>JavaScript Object Notation</a:t>
            </a:r>
          </a:p>
          <a:p>
            <a:r>
              <a:rPr lang="en-IE" sz="2000"/>
              <a:t>Lightweight text-based open standard designed for human readable data interchange.</a:t>
            </a:r>
          </a:p>
          <a:p>
            <a:r>
              <a:rPr lang="en-IE" sz="2000"/>
              <a:t>Can represent simple data structures and associative arrays.</a:t>
            </a:r>
          </a:p>
          <a:p>
            <a:r>
              <a:rPr lang="en-IE" sz="2000"/>
              <a:t>Good for serializing and transmitting structured data across a network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3D44906-F11F-420B-B674-ADEC35006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62" y="1641698"/>
            <a:ext cx="6019331" cy="357135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7485148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84245" y="1628921"/>
            <a:ext cx="8503920" cy="43982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E" dirty="0"/>
              <a:t>JSON is a data interchange format</a:t>
            </a:r>
            <a:br>
              <a:rPr lang="en-IE" dirty="0">
                <a:cs typeface="Calibri"/>
              </a:rPr>
            </a:br>
            <a:r>
              <a:rPr lang="en-IE" dirty="0"/>
              <a:t>technique</a:t>
            </a:r>
          </a:p>
          <a:p>
            <a:r>
              <a:rPr lang="en-IE" dirty="0"/>
              <a:t>A collection of name/value pairs. </a:t>
            </a:r>
            <a:endParaRPr lang="en-IE" dirty="0">
              <a:cs typeface="Calibri"/>
            </a:endParaRPr>
          </a:p>
          <a:p>
            <a:r>
              <a:rPr lang="en-IE" dirty="0"/>
              <a:t>Application programming interfaces(APIs) exist for most programming languages</a:t>
            </a:r>
            <a:endParaRPr lang="en-IE" dirty="0"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68101" y="4619292"/>
            <a:ext cx="2784442" cy="206210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r>
              <a:rPr lang="en-IE" sz="1600">
                <a:cs typeface="Calibri"/>
              </a:rPr>
              <a:t>{</a:t>
            </a:r>
            <a:endParaRPr lang="en-US"/>
          </a:p>
          <a:p>
            <a:r>
              <a:rPr lang="en-IE" sz="1600">
                <a:cs typeface="Calibri"/>
              </a:rPr>
              <a:t>  "person": {</a:t>
            </a:r>
            <a:endParaRPr lang="en-IE"/>
          </a:p>
          <a:p>
            <a:r>
              <a:rPr lang="en-IE" sz="1600">
                <a:cs typeface="Calibri"/>
              </a:rPr>
              <a:t>    "id": "123456789",</a:t>
            </a:r>
            <a:endParaRPr lang="en-US"/>
          </a:p>
          <a:p>
            <a:r>
              <a:rPr lang="en-IE" sz="1600">
                <a:cs typeface="Calibri"/>
              </a:rPr>
              <a:t>    "name": "Smith",</a:t>
            </a:r>
            <a:endParaRPr lang="en-US"/>
          </a:p>
          <a:p>
            <a:r>
              <a:rPr lang="en-IE" sz="1600">
                <a:cs typeface="Calibri"/>
              </a:rPr>
              <a:t>    "place": "London",</a:t>
            </a:r>
            <a:endParaRPr lang="en-US"/>
          </a:p>
          <a:p>
            <a:r>
              <a:rPr lang="en-IE" sz="1600">
                <a:cs typeface="Calibri"/>
              </a:rPr>
              <a:t>    "year": "1984"</a:t>
            </a:r>
            <a:endParaRPr lang="en-US"/>
          </a:p>
          <a:p>
            <a:r>
              <a:rPr lang="en-IE" sz="1600">
                <a:cs typeface="Calibri"/>
              </a:rPr>
              <a:t>  }</a:t>
            </a:r>
            <a:endParaRPr lang="en-IE"/>
          </a:p>
          <a:p>
            <a:r>
              <a:rPr lang="en-IE" sz="1600">
                <a:cs typeface="Calibri"/>
              </a:rPr>
              <a:t>}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1DAAB4-5F81-4A21-AC13-86FDE3E43C1D}"/>
              </a:ext>
            </a:extLst>
          </p:cNvPr>
          <p:cNvSpPr txBox="1"/>
          <p:nvPr/>
        </p:nvSpPr>
        <p:spPr>
          <a:xfrm>
            <a:off x="4746352" y="4623057"/>
            <a:ext cx="2521371" cy="6617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r>
              <a:rPr lang="en-IE" sz="1600" dirty="0">
                <a:cs typeface="Times" pitchFamily="60" charset="0"/>
              </a:rPr>
              <a:t>{</a:t>
            </a:r>
            <a:r>
              <a:rPr lang="en-IE" sz="1600" dirty="0">
                <a:cs typeface="Calibri"/>
              </a:rPr>
              <a:t> </a:t>
            </a:r>
            <a:r>
              <a:rPr lang="en-IE" sz="1600">
                <a:cs typeface="Times" pitchFamily="60" charset="0"/>
              </a:rPr>
              <a:t>"temperature" : 72.55 }</a:t>
            </a:r>
            <a:endParaRPr lang="en-IE" sz="1600">
              <a:cs typeface="Calibri"/>
            </a:endParaRPr>
          </a:p>
          <a:p>
            <a:pPr marL="39370">
              <a:spcBef>
                <a:spcPts val="600"/>
              </a:spcBef>
            </a:pPr>
            <a:endParaRPr lang="en-IE" sz="16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90029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9F4C3-3E13-F07E-89FE-750D86F23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HTTPS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0F506-66E8-9615-9C12-14A14BE99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46003" cy="4351338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HTTP is not a secure protocol</a:t>
            </a:r>
          </a:p>
          <a:p>
            <a:pPr lvl="1"/>
            <a:r>
              <a:rPr lang="en-IE" dirty="0"/>
              <a:t>HTTPS (Secure HTTP) should be used for internet communications</a:t>
            </a:r>
          </a:p>
          <a:p>
            <a:r>
              <a:rPr lang="en-IE" dirty="0"/>
              <a:t>Components:</a:t>
            </a:r>
          </a:p>
          <a:p>
            <a:pPr lvl="1"/>
            <a:r>
              <a:rPr lang="en-IE" dirty="0"/>
              <a:t>HTTP</a:t>
            </a:r>
          </a:p>
          <a:p>
            <a:pPr lvl="1"/>
            <a:r>
              <a:rPr lang="en-IE" dirty="0"/>
              <a:t>SSL/TLS: </a:t>
            </a:r>
            <a:r>
              <a:rPr lang="en-GB" dirty="0"/>
              <a:t>Secure Sockets Layer (SSL) or Transport Layer Security (TLS) encrypts the data between the client and server</a:t>
            </a:r>
          </a:p>
          <a:p>
            <a:r>
              <a:rPr lang="en-GB" dirty="0"/>
              <a:t>Features: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Data Encryption</a:t>
            </a:r>
            <a:r>
              <a:rPr lang="en-GB" dirty="0"/>
              <a:t>: Protects sensitive information from being intercepted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Authentication</a:t>
            </a:r>
            <a:r>
              <a:rPr lang="en-GB" dirty="0"/>
              <a:t>: Verifies the identity of websites, preventing “man-in-the-middle” attacks</a:t>
            </a:r>
          </a:p>
        </p:txBody>
      </p:sp>
      <p:pic>
        <p:nvPicPr>
          <p:cNvPr id="1026" name="Picture 2" descr="Secure vs. Unsecure">
            <a:extLst>
              <a:ext uri="{FF2B5EF4-FFF2-40B4-BE49-F238E27FC236}">
                <a16:creationId xmlns:a16="http://schemas.microsoft.com/office/drawing/2014/main" id="{294A9274-E512-6F76-2686-231802E2C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570" y="820521"/>
            <a:ext cx="2859434" cy="2387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E075AB-B87D-3F97-8E72-BF04586F9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203" y="4001294"/>
            <a:ext cx="4597636" cy="149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149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126EE5-70A3-9187-D8BA-89F528D69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IE"/>
              <a:t>HTTP in Python - Flask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1E349-629F-D96C-CB85-47F1837BF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r>
              <a:rPr lang="en-GB" sz="2000"/>
              <a:t>Flask is a lightweight web framework for Python</a:t>
            </a:r>
          </a:p>
          <a:p>
            <a:r>
              <a:rPr lang="en-GB" sz="2000"/>
              <a:t>Simple and flexible for web development</a:t>
            </a:r>
          </a:p>
          <a:p>
            <a:r>
              <a:rPr lang="en-GB" sz="2000"/>
              <a:t>Simple and flexible for web development</a:t>
            </a:r>
          </a:p>
          <a:p>
            <a:r>
              <a:rPr lang="en-GB" sz="2000"/>
              <a:t>Good for beginners and for building small to medium-sized web applications/APIs</a:t>
            </a:r>
          </a:p>
          <a:p>
            <a:endParaRPr lang="en-IE" sz="2000"/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D46728D-CE19-5769-7A02-57A8B6F26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445457" y="2232924"/>
            <a:ext cx="6155141" cy="24158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9EA14C-C8C3-58E0-9133-A1995E7266FD}"/>
              </a:ext>
            </a:extLst>
          </p:cNvPr>
          <p:cNvSpPr txBox="1"/>
          <p:nvPr/>
        </p:nvSpPr>
        <p:spPr>
          <a:xfrm>
            <a:off x="9293556" y="4448762"/>
            <a:ext cx="23070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4" tooltip="https://devopedia.org/flas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5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6806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928C2-7EC6-18B6-FF9C-DF464A4B0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Flask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D604E-E057-173D-60E3-9EF0731D1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00310C-F04C-0280-FCFA-C019F325B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26" y="365125"/>
            <a:ext cx="11259362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845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0</TotalTime>
  <Words>1865</Words>
  <Application>Microsoft Office PowerPoint</Application>
  <PresentationFormat>Widescreen</PresentationFormat>
  <Paragraphs>235</Paragraphs>
  <Slides>27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Calibri Light</vt:lpstr>
      <vt:lpstr>Courier New</vt:lpstr>
      <vt:lpstr>Gudea</vt:lpstr>
      <vt:lpstr>sans-serif</vt:lpstr>
      <vt:lpstr>Times</vt:lpstr>
      <vt:lpstr>office theme</vt:lpstr>
      <vt:lpstr>Application Layer: HTTP </vt:lpstr>
      <vt:lpstr>Application Layer</vt:lpstr>
      <vt:lpstr>TCP/IP Protocol Stack</vt:lpstr>
      <vt:lpstr>Web APIs</vt:lpstr>
      <vt:lpstr>What's a Web API</vt:lpstr>
      <vt:lpstr>What’s HTTP</vt:lpstr>
      <vt:lpstr>HTTP request from an application.</vt:lpstr>
      <vt:lpstr>HTTP: The Method/Verb</vt:lpstr>
      <vt:lpstr>HTTP: The URL</vt:lpstr>
      <vt:lpstr>HTTP: The Request</vt:lpstr>
      <vt:lpstr>HTTP: The Response</vt:lpstr>
      <vt:lpstr>HTTP Protocol: Content-Type Header</vt:lpstr>
      <vt:lpstr>HTTP: The URL Query String</vt:lpstr>
      <vt:lpstr>HTTP Methods (“typical uses”)</vt:lpstr>
      <vt:lpstr>HTTP: The Body</vt:lpstr>
      <vt:lpstr>cURL - Client for URLs</vt:lpstr>
      <vt:lpstr>cURL Options</vt:lpstr>
      <vt:lpstr>PowerPoint Presentation</vt:lpstr>
      <vt:lpstr>PowerPoint Presentation</vt:lpstr>
      <vt:lpstr>PowerPoint Presentation</vt:lpstr>
      <vt:lpstr>External Data Representations XML</vt:lpstr>
      <vt:lpstr>XML</vt:lpstr>
      <vt:lpstr>JSON</vt:lpstr>
      <vt:lpstr>JSON</vt:lpstr>
      <vt:lpstr>HTTPS</vt:lpstr>
      <vt:lpstr>HTTP in Python - Flask</vt:lpstr>
      <vt:lpstr>Flask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Walsh</dc:creator>
  <cp:lastModifiedBy>Frank Walsh</cp:lastModifiedBy>
  <cp:revision>700</cp:revision>
  <dcterms:created xsi:type="dcterms:W3CDTF">2013-07-15T20:26:40Z</dcterms:created>
  <dcterms:modified xsi:type="dcterms:W3CDTF">2026-04-13T08:12:43Z</dcterms:modified>
</cp:coreProperties>
</file>