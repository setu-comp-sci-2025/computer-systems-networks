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371" r:id="rId2"/>
    <p:sldId id="1131" r:id="rId3"/>
    <p:sldId id="1132" r:id="rId4"/>
    <p:sldId id="259" r:id="rId5"/>
    <p:sldId id="260" r:id="rId6"/>
    <p:sldId id="1134" r:id="rId7"/>
    <p:sldId id="1136" r:id="rId8"/>
    <p:sldId id="1137" r:id="rId9"/>
    <p:sldId id="1138" r:id="rId10"/>
    <p:sldId id="1139" r:id="rId11"/>
    <p:sldId id="1140" r:id="rId12"/>
    <p:sldId id="1141" r:id="rId13"/>
    <p:sldId id="1142" r:id="rId14"/>
    <p:sldId id="1143" r:id="rId15"/>
    <p:sldId id="1146" r:id="rId16"/>
    <p:sldId id="1130" r:id="rId17"/>
    <p:sldId id="1135" r:id="rId18"/>
    <p:sldId id="996" r:id="rId19"/>
    <p:sldId id="1095" r:id="rId20"/>
    <p:sldId id="1096" r:id="rId21"/>
    <p:sldId id="1097" r:id="rId22"/>
    <p:sldId id="1102" r:id="rId23"/>
    <p:sldId id="1099" r:id="rId24"/>
    <p:sldId id="1100" r:id="rId25"/>
    <p:sldId id="1105" r:id="rId26"/>
    <p:sldId id="1101" r:id="rId27"/>
    <p:sldId id="1128" r:id="rId28"/>
    <p:sldId id="1127" r:id="rId29"/>
    <p:sldId id="1129" r:id="rId30"/>
    <p:sldId id="1145" r:id="rId31"/>
    <p:sldId id="114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6135" autoAdjust="0"/>
  </p:normalViewPr>
  <p:slideViewPr>
    <p:cSldViewPr snapToGrid="0">
      <p:cViewPr varScale="1">
        <p:scale>
          <a:sx n="86" d="100"/>
          <a:sy n="86" d="100"/>
        </p:scale>
        <p:origin x="7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057AB-2EF4-4F91-A474-48A0D60D0BF4}" type="datetimeFigureOut">
              <a:rPr lang="en-IE" smtClean="0"/>
              <a:t>03/10/2023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650DC-A9E6-4029-8E34-5572DB096263}" type="slidenum">
              <a:rPr lang="en-IE" smtClean="0"/>
              <a:t>‹#›</a:t>
            </a:fld>
            <a:endParaRPr lang="en-IE"/>
          </a:p>
        </p:txBody>
      </p:sp>
    </p:spTree>
    <p:extLst>
      <p:ext uri="{BB962C8B-B14F-4D97-AF65-F5344CB8AC3E}">
        <p14:creationId xmlns:p14="http://schemas.microsoft.com/office/powerpoint/2010/main" val="1982728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Computer_network"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en.wikipedia.org/wiki/Local_area_network"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124"/>
                </a:solidFill>
                <a:effectLst/>
                <a:latin typeface="arial" panose="020B0604020202020204" pitchFamily="34" charset="0"/>
              </a:rPr>
              <a:t> (HTTP) is an application-layer protocol for transmitting hypermedia documents, such as HTML..</a:t>
            </a:r>
            <a:endParaRPr lang="en-GB" b="0" i="0" dirty="0">
              <a:solidFill>
                <a:srgbClr val="000000"/>
              </a:solidFill>
              <a:effectLst/>
              <a:latin typeface="arial" panose="020B0604020202020204" pitchFamily="34" charset="0"/>
            </a:endParaRPr>
          </a:p>
          <a:p>
            <a:endParaRPr lang="en-GB" b="0" i="0" dirty="0">
              <a:solidFill>
                <a:srgbClr val="000000"/>
              </a:solidFill>
              <a:effectLst/>
              <a:latin typeface="arial" panose="020B0604020202020204" pitchFamily="34" charset="0"/>
            </a:endParaRPr>
          </a:p>
          <a:p>
            <a:r>
              <a:rPr lang="en-GB" b="0" i="0" dirty="0">
                <a:solidFill>
                  <a:srgbClr val="000000"/>
                </a:solidFill>
                <a:effectLst/>
                <a:latin typeface="arial" panose="020B0604020202020204" pitchFamily="34" charset="0"/>
              </a:rPr>
              <a:t>(TCP) As each application creates a stream data to be sent to a remote application, this data must be prepared to be sent across the media in manageable pieces. The Transport layer protocols describe services that segment this data from the Application layer. This includes the encapsulation required on each piece of data. Each piece of application data requires headers to be added at the Transport layer to indicate to which communication it is associated.</a:t>
            </a:r>
          </a:p>
          <a:p>
            <a:endParaRPr lang="en-GB" b="0" i="0" dirty="0">
              <a:solidFill>
                <a:srgbClr val="000000"/>
              </a:solidFill>
              <a:effectLst/>
              <a:latin typeface="arial" panose="020B0604020202020204" pitchFamily="34" charset="0"/>
            </a:endParaRPr>
          </a:p>
          <a:p>
            <a:r>
              <a:rPr lang="en-GB" b="0" i="0" dirty="0">
                <a:solidFill>
                  <a:srgbClr val="000000"/>
                </a:solidFill>
                <a:effectLst/>
                <a:latin typeface="arial" panose="020B0604020202020204" pitchFamily="34" charset="0"/>
              </a:rPr>
              <a:t>(IP): </a:t>
            </a:r>
            <a:r>
              <a:rPr lang="en-GB" b="1" i="0" dirty="0">
                <a:solidFill>
                  <a:srgbClr val="202124"/>
                </a:solidFill>
                <a:effectLst/>
                <a:latin typeface="arial" panose="020B0604020202020204" pitchFamily="34" charset="0"/>
              </a:rPr>
              <a:t>for routing and addressing packets of data</a:t>
            </a:r>
            <a:r>
              <a:rPr lang="en-GB" b="0" i="0" dirty="0">
                <a:solidFill>
                  <a:srgbClr val="202124"/>
                </a:solidFill>
                <a:effectLst/>
                <a:latin typeface="arial" panose="020B0604020202020204" pitchFamily="34" charset="0"/>
              </a:rPr>
              <a:t> so that they can travel across networks and arrive at the correct destination</a:t>
            </a:r>
          </a:p>
          <a:p>
            <a:endParaRPr lang="en-GB" b="0" i="0" dirty="0">
              <a:solidFill>
                <a:srgbClr val="202124"/>
              </a:solidFill>
              <a:effectLst/>
              <a:latin typeface="arial" panose="020B0604020202020204" pitchFamily="34" charset="0"/>
            </a:endParaRPr>
          </a:p>
          <a:p>
            <a:r>
              <a:rPr lang="en-GB" b="0" i="0" dirty="0">
                <a:solidFill>
                  <a:srgbClr val="202124"/>
                </a:solidFill>
                <a:effectLst/>
                <a:latin typeface="arial" panose="020B0604020202020204" pitchFamily="34" charset="0"/>
              </a:rPr>
              <a:t>(Ethernet): </a:t>
            </a:r>
            <a:r>
              <a:rPr lang="en-GB" b="0" i="0" dirty="0">
                <a:solidFill>
                  <a:srgbClr val="202122"/>
                </a:solidFill>
                <a:effectLst/>
                <a:latin typeface="Arial" panose="020B0604020202020204" pitchFamily="34" charset="0"/>
              </a:rPr>
              <a:t>family of wired </a:t>
            </a:r>
            <a:r>
              <a:rPr lang="en-GB" b="0" i="0" u="none" strike="noStrike" dirty="0">
                <a:solidFill>
                  <a:srgbClr val="0645AD"/>
                </a:solidFill>
                <a:effectLst/>
                <a:latin typeface="Arial" panose="020B0604020202020204" pitchFamily="34" charset="0"/>
                <a:hlinkClick r:id="rId3" tooltip="Computer network"/>
              </a:rPr>
              <a:t>computer networking</a:t>
            </a:r>
            <a:r>
              <a:rPr lang="en-GB" b="0" i="0" dirty="0">
                <a:solidFill>
                  <a:srgbClr val="202122"/>
                </a:solidFill>
                <a:effectLst/>
                <a:latin typeface="Arial" panose="020B0604020202020204" pitchFamily="34" charset="0"/>
              </a:rPr>
              <a:t> technologies commonly used in </a:t>
            </a:r>
            <a:r>
              <a:rPr lang="en-GB" b="0" i="0" u="sng" dirty="0">
                <a:solidFill>
                  <a:srgbClr val="0645AD"/>
                </a:solidFill>
                <a:effectLst/>
                <a:latin typeface="Arial" panose="020B0604020202020204" pitchFamily="34" charset="0"/>
                <a:hlinkClick r:id="rId4"/>
              </a:rPr>
              <a:t>local area networks</a:t>
            </a:r>
            <a:r>
              <a:rPr lang="en-GB" b="0" i="0" u="sng" dirty="0">
                <a:solidFill>
                  <a:srgbClr val="0645AD"/>
                </a:solidFill>
                <a:effectLst/>
                <a:latin typeface="Arial" panose="020B0604020202020204" pitchFamily="34" charset="0"/>
              </a:rPr>
              <a:t>. Used for delivering frames from </a:t>
            </a:r>
            <a:r>
              <a:rPr lang="en-US" sz="1200" dirty="0"/>
              <a:t>one network interface card (NIC) to another NIC on the same network</a:t>
            </a:r>
            <a:endParaRPr lang="en-GB" b="1" i="0" dirty="0">
              <a:solidFill>
                <a:srgbClr val="202124"/>
              </a:solidFill>
              <a:effectLst/>
              <a:latin typeface="arial" panose="020B0604020202020204" pitchFamily="34" charset="0"/>
            </a:endParaRPr>
          </a:p>
          <a:p>
            <a:endParaRPr lang="en-GB" b="0" i="0" dirty="0">
              <a:solidFill>
                <a:srgbClr val="202124"/>
              </a:solidFill>
              <a:effectLst/>
              <a:latin typeface="arial" panose="020B0604020202020204" pitchFamily="34" charset="0"/>
            </a:endParaRPr>
          </a:p>
          <a:p>
            <a:r>
              <a:rPr lang="en-GB" b="0" i="0" dirty="0">
                <a:solidFill>
                  <a:srgbClr val="202124"/>
                </a:solidFill>
                <a:effectLst/>
                <a:latin typeface="arial" panose="020B0604020202020204" pitchFamily="34" charset="0"/>
              </a:rPr>
              <a:t>Layering the communications process means </a:t>
            </a:r>
            <a:r>
              <a:rPr lang="en-GB" b="1" i="0" dirty="0">
                <a:solidFill>
                  <a:srgbClr val="202124"/>
                </a:solidFill>
                <a:effectLst/>
                <a:latin typeface="arial" panose="020B0604020202020204" pitchFamily="34" charset="0"/>
              </a:rPr>
              <a:t>breaking down the communication process into smaller and easier to handle interdependent categories</a:t>
            </a:r>
            <a:r>
              <a:rPr lang="en-GB" b="0" i="0" dirty="0">
                <a:solidFill>
                  <a:srgbClr val="202124"/>
                </a:solidFill>
                <a:effectLst/>
                <a:latin typeface="arial" panose="020B0604020202020204" pitchFamily="34" charset="0"/>
              </a:rPr>
              <a:t>, with each solving an important and somehow distinct aspect of the data exchange process.</a:t>
            </a:r>
          </a:p>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6</a:t>
            </a:fld>
            <a:endParaRPr lang="en-IE"/>
          </a:p>
        </p:txBody>
      </p:sp>
    </p:spTree>
    <p:extLst>
      <p:ext uri="{BB962C8B-B14F-4D97-AF65-F5344CB8AC3E}">
        <p14:creationId xmlns:p14="http://schemas.microsoft.com/office/powerpoint/2010/main" val="334694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IE" dirty="0"/>
          </a:p>
        </p:txBody>
      </p:sp>
      <p:sp>
        <p:nvSpPr>
          <p:cNvPr id="4" name="Slide Number Placeholder 3"/>
          <p:cNvSpPr>
            <a:spLocks noGrp="1"/>
          </p:cNvSpPr>
          <p:nvPr>
            <p:ph type="sldNum" sz="quarter" idx="5"/>
          </p:nvPr>
        </p:nvSpPr>
        <p:spPr/>
        <p:txBody>
          <a:bodyPr/>
          <a:lstStyle/>
          <a:p>
            <a:fld id="{00E90341-E123-41B7-9138-DC1D29E0C6A4}" type="slidenum">
              <a:rPr lang="en-US" smtClean="0"/>
              <a:t>9</a:t>
            </a:fld>
            <a:endParaRPr lang="en-US"/>
          </a:p>
        </p:txBody>
      </p:sp>
    </p:spTree>
    <p:extLst>
      <p:ext uri="{BB962C8B-B14F-4D97-AF65-F5344CB8AC3E}">
        <p14:creationId xmlns:p14="http://schemas.microsoft.com/office/powerpoint/2010/main" val="1356506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slide, working up from the bottom…</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10</a:t>
            </a:fld>
            <a:endParaRPr lang="en-IE"/>
          </a:p>
        </p:txBody>
      </p:sp>
    </p:spTree>
    <p:extLst>
      <p:ext uri="{BB962C8B-B14F-4D97-AF65-F5344CB8AC3E}">
        <p14:creationId xmlns:p14="http://schemas.microsoft.com/office/powerpoint/2010/main" val="2134304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11</a:t>
            </a:fld>
            <a:endParaRPr lang="en-IE"/>
          </a:p>
        </p:txBody>
      </p:sp>
    </p:spTree>
    <p:extLst>
      <p:ext uri="{BB962C8B-B14F-4D97-AF65-F5344CB8AC3E}">
        <p14:creationId xmlns:p14="http://schemas.microsoft.com/office/powerpoint/2010/main" val="1271984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13</a:t>
            </a:fld>
            <a:endParaRPr lang="en-IE"/>
          </a:p>
        </p:txBody>
      </p:sp>
    </p:spTree>
    <p:extLst>
      <p:ext uri="{BB962C8B-B14F-4D97-AF65-F5344CB8AC3E}">
        <p14:creationId xmlns:p14="http://schemas.microsoft.com/office/powerpoint/2010/main" val="1829382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arial" panose="020B0604020202020204" pitchFamily="34" charset="0"/>
              </a:rPr>
              <a:t>As each application creates a stream data to be sent to a remote application, this data must be prepared to be sent across the media in manageable pieces. The Transport layer protocols describe services that segment this data from the Application layer. This includes the encapsulation required on each piece of data. Each piece of application data requires headers to be added at the Transport layer to indicate to which communication it is associated.</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14</a:t>
            </a:fld>
            <a:endParaRPr lang="en-IE"/>
          </a:p>
        </p:txBody>
      </p:sp>
    </p:spTree>
    <p:extLst>
      <p:ext uri="{BB962C8B-B14F-4D97-AF65-F5344CB8AC3E}">
        <p14:creationId xmlns:p14="http://schemas.microsoft.com/office/powerpoint/2010/main" val="3330147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peruser.com/questions/1076255/what-layer-of-the-tcp-ip-do-mac-addresses-and-ip-addresses-belong-to"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mmons.wikimedia.org/wiki/File:IEEE_logo.svg"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commons.wikimedia.org/wiki/File:IETF_Logo.svg"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creativecommons.org/licenses/by-sa/3.0/" TargetMode="External"/><Relationship Id="rId4" Type="http://schemas.openxmlformats.org/officeDocument/2006/relationships/hyperlink" Target="http://networkengineering.stackexchange.com/questions/25592/osi-model-encapsula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en.wikibooks.org/wiki/Communication_Networks/NAT_and_PAT_Protocol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tackoverflow.com/questions/4756039/how-to-change-the-port-of-tomcat-from-8080-to-80"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atareao.es/tutoriales/configurar-un-servicio-ftp/" TargetMode="External"/><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versity.org/wiki/Web_Science/Part1:_Foundations_of_the_web/Internet_vs_World_Wide_Web/Summary_of_the_internet_architecture" TargetMode="External"/><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creativecommons.org/licenses/by-sa/3.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4119"/>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36">
            <a:extLst>
              <a:ext uri="{FF2B5EF4-FFF2-40B4-BE49-F238E27FC236}">
                <a16:creationId xmlns:a16="http://schemas.microsoft.com/office/drawing/2014/main" id="{5D095D3E-C464-41D5-87FA-07742698A7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8" name="Color">
              <a:extLst>
                <a:ext uri="{FF2B5EF4-FFF2-40B4-BE49-F238E27FC236}">
                  <a16:creationId xmlns:a16="http://schemas.microsoft.com/office/drawing/2014/main" id="{7722DCE9-76F1-42AC-AC0A-487CFB087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Color">
              <a:extLst>
                <a:ext uri="{FF2B5EF4-FFF2-40B4-BE49-F238E27FC236}">
                  <a16:creationId xmlns:a16="http://schemas.microsoft.com/office/drawing/2014/main" id="{B29A5FA1-D0E7-448B-AB7D-032F01D5B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5" name="Color">
            <a:extLst>
              <a:ext uri="{FF2B5EF4-FFF2-40B4-BE49-F238E27FC236}">
                <a16:creationId xmlns:a16="http://schemas.microsoft.com/office/drawing/2014/main" id="{C58F402F-FDB5-409B-8818-B6FCE06E5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diagram of a computer application&#10;&#10;Description automatically generated">
            <a:extLst>
              <a:ext uri="{FF2B5EF4-FFF2-40B4-BE49-F238E27FC236}">
                <a16:creationId xmlns:a16="http://schemas.microsoft.com/office/drawing/2014/main" id="{1E043F80-B6CB-1FFE-DF77-2D9B502B604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747307" y="655112"/>
            <a:ext cx="6711526" cy="5537009"/>
          </a:xfrm>
          <a:prstGeom prst="rect">
            <a:avLst/>
          </a:prstGeom>
        </p:spPr>
      </p:pic>
      <p:grpSp>
        <p:nvGrpSpPr>
          <p:cNvPr id="43" name="Group 42">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4" name="Freeform: Shape 43">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ctrTitle"/>
          </p:nvPr>
        </p:nvSpPr>
        <p:spPr>
          <a:xfrm>
            <a:off x="1012644" y="842332"/>
            <a:ext cx="3585114" cy="2782056"/>
          </a:xfrm>
        </p:spPr>
        <p:txBody>
          <a:bodyPr anchor="b">
            <a:normAutofit/>
          </a:bodyPr>
          <a:lstStyle/>
          <a:p>
            <a:pPr algn="l"/>
            <a:r>
              <a:rPr lang="en-US" sz="4800">
                <a:solidFill>
                  <a:schemeClr val="tx2"/>
                </a:solidFill>
                <a:cs typeface="Calibri Light"/>
              </a:rPr>
              <a:t>TCP/IP Model and Protocols</a:t>
            </a:r>
          </a:p>
        </p:txBody>
      </p:sp>
      <p:sp>
        <p:nvSpPr>
          <p:cNvPr id="3" name="Subtitle 2"/>
          <p:cNvSpPr>
            <a:spLocks noGrp="1"/>
          </p:cNvSpPr>
          <p:nvPr>
            <p:ph type="subTitle" idx="1"/>
          </p:nvPr>
        </p:nvSpPr>
        <p:spPr>
          <a:xfrm>
            <a:off x="1012643" y="3604221"/>
            <a:ext cx="3585113" cy="2411448"/>
          </a:xfrm>
        </p:spPr>
        <p:txBody>
          <a:bodyPr vert="horz" lIns="91440" tIns="45720" rIns="91440" bIns="45720" rtlCol="0" anchor="t">
            <a:normAutofit/>
          </a:bodyPr>
          <a:lstStyle/>
          <a:p>
            <a:pPr algn="l"/>
            <a:r>
              <a:rPr lang="en-US">
                <a:solidFill>
                  <a:schemeClr val="tx2"/>
                </a:solidFill>
              </a:rPr>
              <a:t>Frank Walsh</a:t>
            </a:r>
          </a:p>
          <a:p>
            <a:pPr algn="l"/>
            <a:r>
              <a:rPr lang="en-US">
                <a:solidFill>
                  <a:schemeClr val="tx2"/>
                </a:solidFill>
              </a:rPr>
              <a:t>Sept 2023</a:t>
            </a:r>
          </a:p>
        </p:txBody>
      </p:sp>
      <p:sp>
        <p:nvSpPr>
          <p:cNvPr id="6" name="TextBox 5">
            <a:extLst>
              <a:ext uri="{FF2B5EF4-FFF2-40B4-BE49-F238E27FC236}">
                <a16:creationId xmlns:a16="http://schemas.microsoft.com/office/drawing/2014/main" id="{82C7AAC4-5B40-B439-0A7D-FDE1D9E203A1}"/>
              </a:ext>
            </a:extLst>
          </p:cNvPr>
          <p:cNvSpPr txBox="1"/>
          <p:nvPr/>
        </p:nvSpPr>
        <p:spPr>
          <a:xfrm>
            <a:off x="9151791" y="5992066"/>
            <a:ext cx="2307042" cy="200055"/>
          </a:xfrm>
          <a:prstGeom prst="rect">
            <a:avLst/>
          </a:prstGeom>
          <a:solidFill>
            <a:srgbClr val="000000"/>
          </a:solidFill>
          <a:ln>
            <a:noFill/>
          </a:ln>
        </p:spPr>
        <p:txBody>
          <a:bodyPr wrap="none" rtlCol="0" anchor="ctr">
            <a:spAutoFit/>
          </a:bodyPr>
          <a:lstStyle/>
          <a:p>
            <a:pPr algn="r">
              <a:spcAft>
                <a:spcPts val="600"/>
              </a:spcAft>
            </a:pPr>
            <a:r>
              <a:rPr lang="en-IE" sz="700">
                <a:solidFill>
                  <a:srgbClr val="FFFFFF"/>
                </a:solidFill>
                <a:hlinkClick r:id="rId3" tooltip="http://superuser.com/questions/1076255/what-layer-of-the-tcp-ip-do-mac-addresses-and-ip-addresses-belong-to">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267948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9E7C26D-B6FE-4C41-9472-F9B2A4BEB931}"/>
              </a:ext>
            </a:extLst>
          </p:cNvPr>
          <p:cNvPicPr>
            <a:picLocks noChangeAspect="1"/>
          </p:cNvPicPr>
          <p:nvPr/>
        </p:nvPicPr>
        <p:blipFill rotWithShape="1">
          <a:blip r:embed="rId2"/>
          <a:srcRect r="2080" b="-2"/>
          <a:stretch/>
        </p:blipFill>
        <p:spPr>
          <a:xfrm>
            <a:off x="6090613" y="640082"/>
            <a:ext cx="5461724" cy="5577837"/>
          </a:xfrm>
          <a:prstGeom prst="rect">
            <a:avLst/>
          </a:prstGeom>
          <a:effectLst/>
        </p:spPr>
      </p:pic>
      <p:sp>
        <p:nvSpPr>
          <p:cNvPr id="2" name="Title 1">
            <a:extLst>
              <a:ext uri="{FF2B5EF4-FFF2-40B4-BE49-F238E27FC236}">
                <a16:creationId xmlns:a16="http://schemas.microsoft.com/office/drawing/2014/main" id="{83E69E85-8863-4976-A4BB-6C92FF81BA88}"/>
              </a:ext>
            </a:extLst>
          </p:cNvPr>
          <p:cNvSpPr>
            <a:spLocks noGrp="1"/>
          </p:cNvSpPr>
          <p:nvPr>
            <p:ph type="title"/>
          </p:nvPr>
        </p:nvSpPr>
        <p:spPr>
          <a:xfrm>
            <a:off x="648929" y="629266"/>
            <a:ext cx="5127031" cy="1676603"/>
          </a:xfrm>
        </p:spPr>
        <p:txBody>
          <a:bodyPr>
            <a:normAutofit/>
          </a:bodyPr>
          <a:lstStyle/>
          <a:p>
            <a:r>
              <a:rPr lang="en-US" dirty="0">
                <a:cs typeface="Calibri Light"/>
              </a:rPr>
              <a:t>Agenda</a:t>
            </a:r>
            <a:endParaRPr lang="en-US" dirty="0"/>
          </a:p>
        </p:txBody>
      </p:sp>
      <p:sp>
        <p:nvSpPr>
          <p:cNvPr id="3" name="Content Placeholder 2">
            <a:extLst>
              <a:ext uri="{FF2B5EF4-FFF2-40B4-BE49-F238E27FC236}">
                <a16:creationId xmlns:a16="http://schemas.microsoft.com/office/drawing/2014/main" id="{CF466A4B-95AE-44FA-97A0-F1314D93D5EA}"/>
              </a:ext>
            </a:extLst>
          </p:cNvPr>
          <p:cNvSpPr>
            <a:spLocks noGrp="1"/>
          </p:cNvSpPr>
          <p:nvPr>
            <p:ph idx="1"/>
          </p:nvPr>
        </p:nvSpPr>
        <p:spPr>
          <a:xfrm>
            <a:off x="648930" y="2438400"/>
            <a:ext cx="5127029" cy="3785419"/>
          </a:xfrm>
        </p:spPr>
        <p:txBody>
          <a:bodyPr vert="horz" lIns="91440" tIns="45720" rIns="91440" bIns="45720" rtlCol="0" anchor="t">
            <a:normAutofit/>
          </a:bodyPr>
          <a:lstStyle/>
          <a:p>
            <a:r>
              <a:rPr lang="en-US" dirty="0">
                <a:cs typeface="Calibri"/>
              </a:rPr>
              <a:t>What’s a protocol suite/stack</a:t>
            </a:r>
            <a:endParaRPr lang="en-US" dirty="0"/>
          </a:p>
          <a:p>
            <a:r>
              <a:rPr lang="en-US" dirty="0">
                <a:cs typeface="Calibri"/>
              </a:rPr>
              <a:t>TCP/IP and the benefits of “Layered Model”</a:t>
            </a:r>
          </a:p>
          <a:p>
            <a:r>
              <a:rPr lang="en-US" dirty="0">
                <a:cs typeface="Calibri"/>
              </a:rPr>
              <a:t>Data Encapsulation</a:t>
            </a:r>
            <a:endParaRPr lang="en-US" sz="2800" dirty="0">
              <a:cs typeface="Calibri"/>
            </a:endParaRPr>
          </a:p>
          <a:p>
            <a:r>
              <a:rPr lang="en-US" dirty="0">
                <a:cs typeface="Calibri"/>
              </a:rPr>
              <a:t>Accessing resources/data on a network</a:t>
            </a:r>
          </a:p>
          <a:p>
            <a:r>
              <a:rPr lang="en-US" dirty="0">
                <a:cs typeface="Calibri"/>
              </a:rPr>
              <a:t>Logical addresses and Data Link (physical) addresses</a:t>
            </a:r>
          </a:p>
          <a:p>
            <a:endParaRPr lang="en-US" dirty="0">
              <a:cs typeface="Calibri"/>
            </a:endParaRPr>
          </a:p>
        </p:txBody>
      </p:sp>
    </p:spTree>
    <p:extLst>
      <p:ext uri="{BB962C8B-B14F-4D97-AF65-F5344CB8AC3E}">
        <p14:creationId xmlns:p14="http://schemas.microsoft.com/office/powerpoint/2010/main" val="407494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C38EC89-37CC-40B2-B3A0-4F0A050C142F}"/>
              </a:ext>
            </a:extLst>
          </p:cNvPr>
          <p:cNvSpPr>
            <a:spLocks noGrp="1"/>
          </p:cNvSpPr>
          <p:nvPr>
            <p:ph type="title"/>
          </p:nvPr>
        </p:nvSpPr>
        <p:spPr>
          <a:xfrm>
            <a:off x="1137034" y="609597"/>
            <a:ext cx="9392421" cy="1330841"/>
          </a:xfrm>
        </p:spPr>
        <p:txBody>
          <a:bodyPr>
            <a:normAutofit/>
          </a:bodyPr>
          <a:lstStyle/>
          <a:p>
            <a:r>
              <a:rPr lang="en-US">
                <a:cs typeface="Calibri Light"/>
              </a:rPr>
              <a:t>Computer Network Protocols</a:t>
            </a:r>
            <a:endParaRPr lang="en-US" dirty="0"/>
          </a:p>
        </p:txBody>
      </p:sp>
      <p:sp>
        <p:nvSpPr>
          <p:cNvPr id="3" name="Content Placeholder 2">
            <a:extLst>
              <a:ext uri="{FF2B5EF4-FFF2-40B4-BE49-F238E27FC236}">
                <a16:creationId xmlns:a16="http://schemas.microsoft.com/office/drawing/2014/main" id="{C1CE17A5-38F1-48C5-8AEF-1E8815D49159}"/>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dirty="0">
                <a:cs typeface="Calibri"/>
              </a:rPr>
              <a:t>An agreed convention for communication between devices</a:t>
            </a:r>
          </a:p>
          <a:p>
            <a:r>
              <a:rPr lang="en-US" sz="2000" dirty="0">
                <a:cs typeface="Calibri"/>
              </a:rPr>
              <a:t>Formally defined and unambiguous</a:t>
            </a:r>
          </a:p>
          <a:p>
            <a:r>
              <a:rPr lang="en-US" sz="2000" dirty="0">
                <a:cs typeface="Calibri"/>
              </a:rPr>
              <a:t>Network Protocols define </a:t>
            </a:r>
            <a:r>
              <a:rPr lang="en-GB" sz="2000" dirty="0">
                <a:cs typeface="Calibri"/>
              </a:rPr>
              <a:t>the methods and data formats that devices send and receive the data. </a:t>
            </a:r>
          </a:p>
          <a:p>
            <a:r>
              <a:rPr lang="en-GB" sz="2000" dirty="0">
                <a:cs typeface="Calibri"/>
              </a:rPr>
              <a:t>. </a:t>
            </a:r>
            <a:endParaRPr lang="en-US" sz="2000" dirty="0">
              <a:cs typeface="Calibri"/>
            </a:endParaRPr>
          </a:p>
        </p:txBody>
      </p:sp>
      <p:pic>
        <p:nvPicPr>
          <p:cNvPr id="7" name="Picture 7" descr="A picture containing object&#10;&#10;Description generated with high confidence">
            <a:extLst>
              <a:ext uri="{FF2B5EF4-FFF2-40B4-BE49-F238E27FC236}">
                <a16:creationId xmlns:a16="http://schemas.microsoft.com/office/drawing/2014/main" id="{12C3D8FE-E257-4020-B65F-C0A39342CE4D}"/>
              </a:ext>
            </a:extLst>
          </p:cNvPr>
          <p:cNvPicPr>
            <a:picLocks noChangeAspect="1"/>
          </p:cNvPicPr>
          <p:nvPr/>
        </p:nvPicPr>
        <p:blipFill>
          <a:blip r:embed="rId2"/>
          <a:stretch>
            <a:fillRect/>
          </a:stretch>
        </p:blipFill>
        <p:spPr>
          <a:xfrm>
            <a:off x="6719367" y="2452737"/>
            <a:ext cx="4788505" cy="3220269"/>
          </a:xfrm>
          <a:prstGeom prst="rect">
            <a:avLst/>
          </a:prstGeom>
        </p:spPr>
      </p:pic>
      <p:sp>
        <p:nvSpPr>
          <p:cNvPr id="24"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9153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3">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B134D5-E710-4044-94BA-FF8F1846EFB0}"/>
              </a:ext>
            </a:extLst>
          </p:cNvPr>
          <p:cNvSpPr>
            <a:spLocks noGrp="1"/>
          </p:cNvSpPr>
          <p:nvPr>
            <p:ph type="title"/>
          </p:nvPr>
        </p:nvSpPr>
        <p:spPr>
          <a:xfrm>
            <a:off x="438913" y="859536"/>
            <a:ext cx="4832802" cy="1243584"/>
          </a:xfrm>
        </p:spPr>
        <p:txBody>
          <a:bodyPr>
            <a:normAutofit/>
          </a:bodyPr>
          <a:lstStyle/>
          <a:p>
            <a:r>
              <a:rPr lang="en-US" sz="3400">
                <a:cs typeface="Calibri Light"/>
              </a:rPr>
              <a:t>Protocol Suites &amp; Standards</a:t>
            </a:r>
            <a:endParaRPr lang="en-US" sz="3400"/>
          </a:p>
        </p:txBody>
      </p:sp>
      <p:sp>
        <p:nvSpPr>
          <p:cNvPr id="20" name="Rectangle 19">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79726B0-4FE6-4D35-89EF-677397CDCBDA}"/>
              </a:ext>
            </a:extLst>
          </p:cNvPr>
          <p:cNvSpPr>
            <a:spLocks noGrp="1"/>
          </p:cNvSpPr>
          <p:nvPr>
            <p:ph idx="1"/>
          </p:nvPr>
        </p:nvSpPr>
        <p:spPr>
          <a:xfrm>
            <a:off x="438912" y="2512611"/>
            <a:ext cx="4832803" cy="3664351"/>
          </a:xfrm>
        </p:spPr>
        <p:txBody>
          <a:bodyPr vert="horz" lIns="91440" tIns="45720" rIns="91440" bIns="45720" rtlCol="0">
            <a:normAutofit lnSpcReduction="10000"/>
          </a:bodyPr>
          <a:lstStyle/>
          <a:p>
            <a:r>
              <a:rPr lang="en-US" sz="1800" dirty="0">
                <a:cs typeface="Calibri"/>
              </a:rPr>
              <a:t>A Protocol Suite is a group of protocols designed to work together</a:t>
            </a:r>
          </a:p>
          <a:p>
            <a:r>
              <a:rPr lang="en-US" sz="1800" dirty="0">
                <a:cs typeface="Calibri"/>
              </a:rPr>
              <a:t>Typically use open, widely used protocols.</a:t>
            </a:r>
          </a:p>
          <a:p>
            <a:pPr lvl="1"/>
            <a:r>
              <a:rPr lang="en-US" sz="1800" dirty="0">
                <a:cs typeface="Calibri"/>
              </a:rPr>
              <a:t>Example: </a:t>
            </a:r>
            <a:r>
              <a:rPr lang="en-US" sz="1800" dirty="0" err="1">
                <a:cs typeface="Calibri"/>
              </a:rPr>
              <a:t>Wifi</a:t>
            </a:r>
            <a:r>
              <a:rPr lang="en-US" sz="1800" dirty="0">
                <a:cs typeface="Calibri"/>
              </a:rPr>
              <a:t>, HTTP, FTP, TCP, IP...</a:t>
            </a:r>
          </a:p>
          <a:p>
            <a:r>
              <a:rPr lang="en-US" sz="1800" dirty="0">
                <a:cs typeface="Calibri"/>
              </a:rPr>
              <a:t>Protocol Standards established by Institute of Electrical and Electronics Engineers (IEEE) or the Internet Engineering Task Force (IETF) </a:t>
            </a:r>
          </a:p>
          <a:p>
            <a:r>
              <a:rPr lang="en-US" sz="1800" dirty="0">
                <a:cs typeface="Calibri"/>
              </a:rPr>
              <a:t>Protocol suites based on open standards ensures that products from different manufacturers can work together for efficient communications</a:t>
            </a:r>
          </a:p>
          <a:p>
            <a:pPr lvl="1"/>
            <a:r>
              <a:rPr lang="en-GB" sz="1400" dirty="0">
                <a:cs typeface="Calibri"/>
              </a:rPr>
              <a:t>An iPhone can connect to and access the same website that an android or laptop can</a:t>
            </a:r>
            <a:endParaRPr lang="en-US" sz="1400" dirty="0">
              <a:cs typeface="Calibri"/>
            </a:endParaRPr>
          </a:p>
          <a:p>
            <a:pPr marL="0" indent="0">
              <a:buNone/>
            </a:pPr>
            <a:endParaRPr lang="en-US" sz="1800" dirty="0">
              <a:cs typeface="Calibri"/>
            </a:endParaRPr>
          </a:p>
        </p:txBody>
      </p:sp>
      <p:pic>
        <p:nvPicPr>
          <p:cNvPr id="5" name="Picture 4" descr="Text&#10;&#10;Description automatically generated">
            <a:extLst>
              <a:ext uri="{FF2B5EF4-FFF2-40B4-BE49-F238E27FC236}">
                <a16:creationId xmlns:a16="http://schemas.microsoft.com/office/drawing/2014/main" id="{56C4EB34-2DE3-486E-A60E-360995789FBD}"/>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46827" y="517600"/>
            <a:ext cx="4876800" cy="2743200"/>
          </a:xfrm>
          <a:prstGeom prst="rect">
            <a:avLst/>
          </a:prstGeom>
        </p:spPr>
      </p:pic>
      <p:pic>
        <p:nvPicPr>
          <p:cNvPr id="8" name="Picture 7" descr="A picture containing text, clock&#10;&#10;Description automatically generated">
            <a:extLst>
              <a:ext uri="{FF2B5EF4-FFF2-40B4-BE49-F238E27FC236}">
                <a16:creationId xmlns:a16="http://schemas.microsoft.com/office/drawing/2014/main" id="{1C69CACA-C98C-4653-A602-A1B7189E899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621490" y="3429000"/>
            <a:ext cx="5127475" cy="2743200"/>
          </a:xfrm>
          <a:prstGeom prst="rect">
            <a:avLst/>
          </a:prstGeom>
        </p:spPr>
      </p:pic>
      <p:sp>
        <p:nvSpPr>
          <p:cNvPr id="9" name="TextBox 8">
            <a:extLst>
              <a:ext uri="{FF2B5EF4-FFF2-40B4-BE49-F238E27FC236}">
                <a16:creationId xmlns:a16="http://schemas.microsoft.com/office/drawing/2014/main" id="{444286B9-40FA-4A23-9D06-5E6A0F751361}"/>
              </a:ext>
            </a:extLst>
          </p:cNvPr>
          <p:cNvSpPr txBox="1"/>
          <p:nvPr/>
        </p:nvSpPr>
        <p:spPr>
          <a:xfrm>
            <a:off x="7569580" y="6415072"/>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5" tooltip="https://commons.wikimedia.org/wiki/File:IETF_Logo.svg">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Tree>
    <p:extLst>
      <p:ext uri="{BB962C8B-B14F-4D97-AF65-F5344CB8AC3E}">
        <p14:creationId xmlns:p14="http://schemas.microsoft.com/office/powerpoint/2010/main" val="29580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A489C-ACEE-4A51-A3A4-5DAB619DF06A}"/>
              </a:ext>
            </a:extLst>
          </p:cNvPr>
          <p:cNvSpPr>
            <a:spLocks noGrp="1"/>
          </p:cNvSpPr>
          <p:nvPr>
            <p:ph type="title"/>
          </p:nvPr>
        </p:nvSpPr>
        <p:spPr>
          <a:xfrm>
            <a:off x="841249" y="539578"/>
            <a:ext cx="5981278" cy="1684638"/>
          </a:xfrm>
        </p:spPr>
        <p:txBody>
          <a:bodyPr>
            <a:normAutofit/>
          </a:bodyPr>
          <a:lstStyle/>
          <a:p>
            <a:r>
              <a:rPr lang="en-US" sz="4000">
                <a:cs typeface="Calibri Light"/>
              </a:rPr>
              <a:t>TCP/IP Protocol Suite</a:t>
            </a:r>
            <a:endParaRPr lang="en-US" sz="4000"/>
          </a:p>
        </p:txBody>
      </p:sp>
      <p:sp>
        <p:nvSpPr>
          <p:cNvPr id="3" name="Content Placeholder 2">
            <a:extLst>
              <a:ext uri="{FF2B5EF4-FFF2-40B4-BE49-F238E27FC236}">
                <a16:creationId xmlns:a16="http://schemas.microsoft.com/office/drawing/2014/main" id="{6E58E86A-8B72-4707-B13A-8FB9C3F3BA16}"/>
              </a:ext>
            </a:extLst>
          </p:cNvPr>
          <p:cNvSpPr>
            <a:spLocks noGrp="1"/>
          </p:cNvSpPr>
          <p:nvPr>
            <p:ph idx="1"/>
          </p:nvPr>
        </p:nvSpPr>
        <p:spPr>
          <a:xfrm>
            <a:off x="838201" y="2409568"/>
            <a:ext cx="5981278" cy="3690551"/>
          </a:xfrm>
        </p:spPr>
        <p:txBody>
          <a:bodyPr vert="horz" lIns="91440" tIns="45720" rIns="91440" bIns="45720" rtlCol="0">
            <a:normAutofit/>
          </a:bodyPr>
          <a:lstStyle/>
          <a:p>
            <a:r>
              <a:rPr lang="en-US" sz="2000" dirty="0">
                <a:cs typeface="Calibri"/>
              </a:rPr>
              <a:t>Often referred to as TCP/IP, TCPIP, or just IP</a:t>
            </a:r>
          </a:p>
          <a:p>
            <a:r>
              <a:rPr lang="en-US" sz="2000" dirty="0">
                <a:cs typeface="Calibri"/>
              </a:rPr>
              <a:t>A whole suite of protocols, including TCP, IP, UDP, ARP, DNS, HTTP, ICMP and many more acronyms!</a:t>
            </a:r>
          </a:p>
          <a:p>
            <a:r>
              <a:rPr lang="en-US" sz="2000" dirty="0">
                <a:cs typeface="Calibri"/>
              </a:rPr>
              <a:t>TCP originally developed by the US Department of Defense for wartime comms.</a:t>
            </a:r>
          </a:p>
          <a:p>
            <a:pPr lvl="1"/>
            <a:r>
              <a:rPr lang="en-US" sz="2000" dirty="0">
                <a:cs typeface="Calibri"/>
              </a:rPr>
              <a:t>Remember ARPA from last lecture!</a:t>
            </a:r>
          </a:p>
          <a:p>
            <a:r>
              <a:rPr lang="en-US" sz="2000" dirty="0">
                <a:cs typeface="Calibri"/>
              </a:rPr>
              <a:t>TCP/IP is now the “standard” protocol suite for the internet</a:t>
            </a:r>
            <a:endParaRPr lang="en-US" sz="2000" dirty="0"/>
          </a:p>
        </p:txBody>
      </p:sp>
      <p:pic>
        <p:nvPicPr>
          <p:cNvPr id="15" name="Picture 4" descr="A close up of a logo&#10;&#10;Description generated with very high confidence">
            <a:extLst>
              <a:ext uri="{FF2B5EF4-FFF2-40B4-BE49-F238E27FC236}">
                <a16:creationId xmlns:a16="http://schemas.microsoft.com/office/drawing/2014/main" id="{A82F7516-A8D2-4EDD-9F3F-ABAF09369AA9}"/>
              </a:ext>
            </a:extLst>
          </p:cNvPr>
          <p:cNvPicPr>
            <a:picLocks noChangeAspect="1"/>
          </p:cNvPicPr>
          <p:nvPr/>
        </p:nvPicPr>
        <p:blipFill>
          <a:blip r:embed="rId2"/>
          <a:stretch>
            <a:fillRect/>
          </a:stretch>
        </p:blipFill>
        <p:spPr>
          <a:xfrm>
            <a:off x="7352970" y="168876"/>
            <a:ext cx="4479982" cy="2631989"/>
          </a:xfrm>
          <a:prstGeom prst="rect">
            <a:avLst/>
          </a:prstGeom>
        </p:spPr>
      </p:pic>
      <p:pic>
        <p:nvPicPr>
          <p:cNvPr id="5" name="Picture 4" descr="A close up of text on a white background&#10;&#10;Description generated with high confidence">
            <a:extLst>
              <a:ext uri="{FF2B5EF4-FFF2-40B4-BE49-F238E27FC236}">
                <a16:creationId xmlns:a16="http://schemas.microsoft.com/office/drawing/2014/main" id="{9742ED67-0EE0-4F6B-ADB0-9122CCEDF562}"/>
              </a:ext>
            </a:extLst>
          </p:cNvPr>
          <p:cNvPicPr>
            <a:picLocks noChangeAspect="1"/>
          </p:cNvPicPr>
          <p:nvPr/>
        </p:nvPicPr>
        <p:blipFill>
          <a:blip r:embed="rId3"/>
          <a:stretch>
            <a:fillRect/>
          </a:stretch>
        </p:blipFill>
        <p:spPr>
          <a:xfrm>
            <a:off x="7259418" y="3260124"/>
            <a:ext cx="4667086" cy="3138616"/>
          </a:xfrm>
          <a:prstGeom prst="rect">
            <a:avLst/>
          </a:prstGeom>
        </p:spPr>
      </p:pic>
    </p:spTree>
    <p:extLst>
      <p:ext uri="{BB962C8B-B14F-4D97-AF65-F5344CB8AC3E}">
        <p14:creationId xmlns:p14="http://schemas.microsoft.com/office/powerpoint/2010/main" val="199670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A093-C837-4306-B2CF-B82847E40DDD}"/>
              </a:ext>
            </a:extLst>
          </p:cNvPr>
          <p:cNvSpPr>
            <a:spLocks noGrp="1"/>
          </p:cNvSpPr>
          <p:nvPr>
            <p:ph type="title"/>
          </p:nvPr>
        </p:nvSpPr>
        <p:spPr/>
        <p:txBody>
          <a:bodyPr/>
          <a:lstStyle/>
          <a:p>
            <a:r>
              <a:rPr lang="en-US">
                <a:cs typeface="Calibri Light"/>
              </a:rPr>
              <a:t>Example: Layered Model Network Comms</a:t>
            </a:r>
            <a:endParaRPr lang="en-US"/>
          </a:p>
        </p:txBody>
      </p:sp>
      <p:pic>
        <p:nvPicPr>
          <p:cNvPr id="4" name="Picture 4">
            <a:extLst>
              <a:ext uri="{FF2B5EF4-FFF2-40B4-BE49-F238E27FC236}">
                <a16:creationId xmlns:a16="http://schemas.microsoft.com/office/drawing/2014/main" id="{B855F37C-A427-4321-8B64-B7AF997861D8}"/>
              </a:ext>
            </a:extLst>
          </p:cNvPr>
          <p:cNvPicPr>
            <a:picLocks noGrp="1" noChangeAspect="1"/>
          </p:cNvPicPr>
          <p:nvPr>
            <p:ph idx="1"/>
          </p:nvPr>
        </p:nvPicPr>
        <p:blipFill>
          <a:blip r:embed="rId3"/>
          <a:stretch>
            <a:fillRect/>
          </a:stretch>
        </p:blipFill>
        <p:spPr>
          <a:xfrm>
            <a:off x="847973" y="2105346"/>
            <a:ext cx="2528814" cy="2210022"/>
          </a:xfrm>
          <a:prstGeom prst="rect">
            <a:avLst/>
          </a:prstGeom>
        </p:spPr>
      </p:pic>
      <p:sp>
        <p:nvSpPr>
          <p:cNvPr id="6" name="TextBox 5">
            <a:extLst>
              <a:ext uri="{FF2B5EF4-FFF2-40B4-BE49-F238E27FC236}">
                <a16:creationId xmlns:a16="http://schemas.microsoft.com/office/drawing/2014/main" id="{AE695EBF-CDC0-4540-B2BF-CC743E81F720}"/>
              </a:ext>
            </a:extLst>
          </p:cNvPr>
          <p:cNvSpPr txBox="1"/>
          <p:nvPr/>
        </p:nvSpPr>
        <p:spPr>
          <a:xfrm>
            <a:off x="673260" y="1632994"/>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Web Server</a:t>
            </a:r>
            <a:endParaRPr lang="en-US">
              <a:cs typeface="Calibri"/>
            </a:endParaRPr>
          </a:p>
        </p:txBody>
      </p:sp>
      <p:pic>
        <p:nvPicPr>
          <p:cNvPr id="7" name="Picture 7" descr="A screenshot of a cell phone&#10;&#10;Description generated with very high confidence">
            <a:extLst>
              <a:ext uri="{FF2B5EF4-FFF2-40B4-BE49-F238E27FC236}">
                <a16:creationId xmlns:a16="http://schemas.microsoft.com/office/drawing/2014/main" id="{D3F942EE-9D69-443E-890C-D132CEE58E90}"/>
              </a:ext>
            </a:extLst>
          </p:cNvPr>
          <p:cNvPicPr>
            <a:picLocks noChangeAspect="1"/>
          </p:cNvPicPr>
          <p:nvPr/>
        </p:nvPicPr>
        <p:blipFill>
          <a:blip r:embed="rId4"/>
          <a:stretch>
            <a:fillRect/>
          </a:stretch>
        </p:blipFill>
        <p:spPr>
          <a:xfrm>
            <a:off x="4367515" y="1512991"/>
            <a:ext cx="5289629" cy="2867458"/>
          </a:xfrm>
          <a:prstGeom prst="rect">
            <a:avLst/>
          </a:prstGeom>
        </p:spPr>
      </p:pic>
      <p:sp>
        <p:nvSpPr>
          <p:cNvPr id="9" name="Left Brace 8">
            <a:extLst>
              <a:ext uri="{FF2B5EF4-FFF2-40B4-BE49-F238E27FC236}">
                <a16:creationId xmlns:a16="http://schemas.microsoft.com/office/drawing/2014/main" id="{EACD298C-FE89-47D0-A8E6-CF1AA6EDD8BE}"/>
              </a:ext>
            </a:extLst>
          </p:cNvPr>
          <p:cNvSpPr/>
          <p:nvPr/>
        </p:nvSpPr>
        <p:spPr>
          <a:xfrm>
            <a:off x="3597237" y="1905964"/>
            <a:ext cx="666662" cy="241910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8F5707D4-6290-413D-8EE1-5564116E1ADD}"/>
              </a:ext>
            </a:extLst>
          </p:cNvPr>
          <p:cNvSpPr/>
          <p:nvPr/>
        </p:nvSpPr>
        <p:spPr>
          <a:xfrm>
            <a:off x="9834622" y="1848091"/>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Application</a:t>
            </a:r>
            <a:endParaRPr lang="en-US" dirty="0"/>
          </a:p>
        </p:txBody>
      </p:sp>
      <p:sp>
        <p:nvSpPr>
          <p:cNvPr id="11" name="Rectangle 10">
            <a:extLst>
              <a:ext uri="{FF2B5EF4-FFF2-40B4-BE49-F238E27FC236}">
                <a16:creationId xmlns:a16="http://schemas.microsoft.com/office/drawing/2014/main" id="{6FA29F07-5587-4BBB-8089-D21B07A10A6D}"/>
              </a:ext>
            </a:extLst>
          </p:cNvPr>
          <p:cNvSpPr/>
          <p:nvPr/>
        </p:nvSpPr>
        <p:spPr>
          <a:xfrm>
            <a:off x="9834621" y="2484698"/>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Transport</a:t>
            </a:r>
            <a:endParaRPr lang="en-US" dirty="0"/>
          </a:p>
        </p:txBody>
      </p:sp>
      <p:sp>
        <p:nvSpPr>
          <p:cNvPr id="12" name="Rectangle 11">
            <a:extLst>
              <a:ext uri="{FF2B5EF4-FFF2-40B4-BE49-F238E27FC236}">
                <a16:creationId xmlns:a16="http://schemas.microsoft.com/office/drawing/2014/main" id="{329DDD51-A37A-43F2-9441-86A052C38C64}"/>
              </a:ext>
            </a:extLst>
          </p:cNvPr>
          <p:cNvSpPr/>
          <p:nvPr/>
        </p:nvSpPr>
        <p:spPr>
          <a:xfrm>
            <a:off x="9834622" y="3121306"/>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Network/</a:t>
            </a:r>
            <a:br>
              <a:rPr lang="en-US" dirty="0">
                <a:cs typeface="Calibri"/>
              </a:rPr>
            </a:br>
            <a:r>
              <a:rPr lang="en-US" dirty="0">
                <a:cs typeface="Calibri"/>
              </a:rPr>
              <a:t>Internet</a:t>
            </a:r>
            <a:endParaRPr lang="en-US" dirty="0"/>
          </a:p>
        </p:txBody>
      </p:sp>
      <p:sp>
        <p:nvSpPr>
          <p:cNvPr id="13" name="Rectangle 12">
            <a:extLst>
              <a:ext uri="{FF2B5EF4-FFF2-40B4-BE49-F238E27FC236}">
                <a16:creationId xmlns:a16="http://schemas.microsoft.com/office/drawing/2014/main" id="{E113B173-3E54-4173-AECE-B8D3DD55145A}"/>
              </a:ext>
            </a:extLst>
          </p:cNvPr>
          <p:cNvSpPr/>
          <p:nvPr/>
        </p:nvSpPr>
        <p:spPr>
          <a:xfrm>
            <a:off x="9834621" y="3757913"/>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Data Link/ Physical</a:t>
            </a:r>
            <a:endParaRPr lang="en-US" dirty="0"/>
          </a:p>
        </p:txBody>
      </p:sp>
      <p:sp>
        <p:nvSpPr>
          <p:cNvPr id="14" name="TextBox 13">
            <a:extLst>
              <a:ext uri="{FF2B5EF4-FFF2-40B4-BE49-F238E27FC236}">
                <a16:creationId xmlns:a16="http://schemas.microsoft.com/office/drawing/2014/main" id="{3B05180C-DA66-4BF7-B153-C590609935D7}"/>
              </a:ext>
            </a:extLst>
          </p:cNvPr>
          <p:cNvSpPr txBox="1"/>
          <p:nvPr/>
        </p:nvSpPr>
        <p:spPr>
          <a:xfrm>
            <a:off x="9084197" y="1440083"/>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Layers</a:t>
            </a:r>
          </a:p>
        </p:txBody>
      </p:sp>
      <p:sp>
        <p:nvSpPr>
          <p:cNvPr id="3" name="TextBox 2">
            <a:extLst>
              <a:ext uri="{FF2B5EF4-FFF2-40B4-BE49-F238E27FC236}">
                <a16:creationId xmlns:a16="http://schemas.microsoft.com/office/drawing/2014/main" id="{02D3E33D-BE95-4A09-9480-818693B740EC}"/>
              </a:ext>
            </a:extLst>
          </p:cNvPr>
          <p:cNvSpPr txBox="1"/>
          <p:nvPr/>
        </p:nvSpPr>
        <p:spPr>
          <a:xfrm>
            <a:off x="846881" y="4391627"/>
            <a:ext cx="2743200" cy="2308324"/>
          </a:xfrm>
          <a:prstGeom prst="rect">
            <a:avLst/>
          </a:prstGeom>
          <a:solidFill>
            <a:schemeClr val="bg2">
              <a:lumMod val="90000"/>
            </a:scheme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Benefits of Layered Model:</a:t>
            </a:r>
          </a:p>
          <a:p>
            <a:pPr marL="285750" indent="-285750">
              <a:buFont typeface="Arial"/>
              <a:buChar char="•"/>
            </a:pPr>
            <a:r>
              <a:rPr lang="en-US"/>
              <a:t>assists in protocol design</a:t>
            </a:r>
            <a:endParaRPr lang="en-US">
              <a:cs typeface="Calibri"/>
            </a:endParaRPr>
          </a:p>
          <a:p>
            <a:pPr marL="285750" indent="-285750">
              <a:buFont typeface="Arial"/>
              <a:buChar char="•"/>
            </a:pPr>
            <a:r>
              <a:rPr lang="en-US"/>
              <a:t>fosters competition</a:t>
            </a:r>
            <a:endParaRPr lang="en-US">
              <a:cs typeface="Calibri"/>
            </a:endParaRPr>
          </a:p>
          <a:p>
            <a:pPr marL="285750" indent="-285750">
              <a:buFont typeface="Arial"/>
              <a:buChar char="•"/>
            </a:pPr>
            <a:r>
              <a:rPr lang="en-US"/>
              <a:t>changes in one layer do not affect other layers</a:t>
            </a:r>
            <a:endParaRPr lang="en-US">
              <a:cs typeface="Calibri"/>
            </a:endParaRPr>
          </a:p>
          <a:p>
            <a:pPr marL="285750" indent="-285750">
              <a:buFont typeface="Arial"/>
              <a:buChar char="•"/>
            </a:pPr>
            <a:r>
              <a:rPr lang="en-US"/>
              <a:t>provides a common language </a:t>
            </a:r>
            <a:endParaRPr lang="en-US">
              <a:cs typeface="Calibri"/>
            </a:endParaRPr>
          </a:p>
        </p:txBody>
      </p:sp>
      <p:sp>
        <p:nvSpPr>
          <p:cNvPr id="5" name="TextBox 4">
            <a:extLst>
              <a:ext uri="{FF2B5EF4-FFF2-40B4-BE49-F238E27FC236}">
                <a16:creationId xmlns:a16="http://schemas.microsoft.com/office/drawing/2014/main" id="{CFE0BD52-AECA-4A7B-9F3F-DEA24B7409EC}"/>
              </a:ext>
            </a:extLst>
          </p:cNvPr>
          <p:cNvSpPr txBox="1"/>
          <p:nvPr/>
        </p:nvSpPr>
        <p:spPr>
          <a:xfrm>
            <a:off x="4279969" y="4744844"/>
            <a:ext cx="6175828" cy="1200329"/>
          </a:xfrm>
          <a:prstGeom prst="rect">
            <a:avLst/>
          </a:prstGeom>
          <a:noFill/>
        </p:spPr>
        <p:txBody>
          <a:bodyPr wrap="square" rtlCol="0">
            <a:spAutoFit/>
          </a:bodyPr>
          <a:lstStyle/>
          <a:p>
            <a:r>
              <a:rPr lang="en-GB" b="1" dirty="0"/>
              <a:t>The Layered approach breaks down the communication process into smaller and easier to handle interdependent categories, with each solving an important and distinct aspect of the data exchange process.</a:t>
            </a:r>
            <a:endParaRPr lang="en-IE" b="1" dirty="0"/>
          </a:p>
        </p:txBody>
      </p:sp>
    </p:spTree>
    <p:extLst>
      <p:ext uri="{BB962C8B-B14F-4D97-AF65-F5344CB8AC3E}">
        <p14:creationId xmlns:p14="http://schemas.microsoft.com/office/powerpoint/2010/main" val="358364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p:bldP spid="3"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6B11-C1F7-4667-A6F6-00AAF008DF4F}"/>
              </a:ext>
            </a:extLst>
          </p:cNvPr>
          <p:cNvSpPr>
            <a:spLocks noGrp="1"/>
          </p:cNvSpPr>
          <p:nvPr>
            <p:ph type="title"/>
          </p:nvPr>
        </p:nvSpPr>
        <p:spPr>
          <a:xfrm>
            <a:off x="648929" y="629266"/>
            <a:ext cx="5127031" cy="1676603"/>
          </a:xfrm>
        </p:spPr>
        <p:txBody>
          <a:bodyPr>
            <a:normAutofit/>
          </a:bodyPr>
          <a:lstStyle/>
          <a:p>
            <a:r>
              <a:rPr lang="en-US" b="1" dirty="0">
                <a:cs typeface="Calibri Light"/>
              </a:rPr>
              <a:t>OSI Model</a:t>
            </a:r>
          </a:p>
        </p:txBody>
      </p:sp>
      <p:sp>
        <p:nvSpPr>
          <p:cNvPr id="3" name="Content Placeholder 2">
            <a:extLst>
              <a:ext uri="{FF2B5EF4-FFF2-40B4-BE49-F238E27FC236}">
                <a16:creationId xmlns:a16="http://schemas.microsoft.com/office/drawing/2014/main" id="{993E33DD-E471-4854-AC01-0653A0453225}"/>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000" dirty="0">
                <a:cs typeface="Calibri"/>
              </a:rPr>
              <a:t>Open Systems Interconnection(OSI) introduced by the International Organization for Standardization (ISO) in 1984 </a:t>
            </a:r>
          </a:p>
          <a:p>
            <a:r>
              <a:rPr lang="en-US" sz="2000" dirty="0">
                <a:cs typeface="Calibri"/>
              </a:rPr>
              <a:t>Provide a reference model to make sure products of different vendors would interoperate in networks. </a:t>
            </a:r>
          </a:p>
          <a:p>
            <a:r>
              <a:rPr lang="en-US" sz="2000" dirty="0">
                <a:cs typeface="Calibri"/>
              </a:rPr>
              <a:t>A layer in the OSI model communicates with three other layers: </a:t>
            </a:r>
          </a:p>
          <a:p>
            <a:pPr lvl="1"/>
            <a:r>
              <a:rPr lang="en-US" sz="2000" dirty="0">
                <a:cs typeface="Calibri"/>
              </a:rPr>
              <a:t>the layer above it, the layer below it, and the same layer at its communication partner.</a:t>
            </a:r>
          </a:p>
        </p:txBody>
      </p:sp>
      <p:pic>
        <p:nvPicPr>
          <p:cNvPr id="4" name="Picture 4" descr="A close up of a logo&#10;&#10;Description generated with very high confidence">
            <a:extLst>
              <a:ext uri="{FF2B5EF4-FFF2-40B4-BE49-F238E27FC236}">
                <a16:creationId xmlns:a16="http://schemas.microsoft.com/office/drawing/2014/main" id="{F7A28498-2E2A-42A9-8A44-B188A6F677B4}"/>
              </a:ext>
            </a:extLst>
          </p:cNvPr>
          <p:cNvPicPr>
            <a:picLocks noChangeAspect="1"/>
          </p:cNvPicPr>
          <p:nvPr/>
        </p:nvPicPr>
        <p:blipFill rotWithShape="1">
          <a:blip r:embed="rId2"/>
          <a:srcRect t="2774"/>
          <a:stretch/>
        </p:blipFill>
        <p:spPr>
          <a:xfrm>
            <a:off x="6090612" y="10"/>
            <a:ext cx="6101387" cy="6857990"/>
          </a:xfrm>
          <a:prstGeom prst="rect">
            <a:avLst/>
          </a:prstGeom>
          <a:effectLst/>
        </p:spPr>
      </p:pic>
      <p:sp>
        <p:nvSpPr>
          <p:cNvPr id="6" name="TextBox 5">
            <a:extLst>
              <a:ext uri="{FF2B5EF4-FFF2-40B4-BE49-F238E27FC236}">
                <a16:creationId xmlns:a16="http://schemas.microsoft.com/office/drawing/2014/main" id="{3807EB44-6FF9-4B80-8541-A8E83DC6C5D3}"/>
              </a:ext>
            </a:extLst>
          </p:cNvPr>
          <p:cNvSpPr txBox="1"/>
          <p:nvPr/>
        </p:nvSpPr>
        <p:spPr>
          <a:xfrm>
            <a:off x="-2662517" y="6252881"/>
            <a:ext cx="12075458" cy="2154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a:t>Image Source: https://upload.wikimedia.org/wikipedia/commons/thumb/4/47/Osi-model-jb.svg/2000px-Osi-model-jb.svg.png</a:t>
            </a:r>
          </a:p>
        </p:txBody>
      </p:sp>
    </p:spTree>
    <p:extLst>
      <p:ext uri="{BB962C8B-B14F-4D97-AF65-F5344CB8AC3E}">
        <p14:creationId xmlns:p14="http://schemas.microsoft.com/office/powerpoint/2010/main" val="256212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83D3-9304-4942-96DC-93F904F4C677}"/>
              </a:ext>
            </a:extLst>
          </p:cNvPr>
          <p:cNvSpPr>
            <a:spLocks noGrp="1"/>
          </p:cNvSpPr>
          <p:nvPr>
            <p:ph type="title"/>
          </p:nvPr>
        </p:nvSpPr>
        <p:spPr>
          <a:xfrm>
            <a:off x="648929" y="629266"/>
            <a:ext cx="3651467" cy="1676603"/>
          </a:xfrm>
        </p:spPr>
        <p:txBody>
          <a:bodyPr>
            <a:normAutofit/>
          </a:bodyPr>
          <a:lstStyle/>
          <a:p>
            <a:r>
              <a:rPr lang="en-US">
                <a:cs typeface="Calibri Light"/>
              </a:rPr>
              <a:t>OSI vs TCP/IP</a:t>
            </a:r>
            <a:endParaRPr lang="en-US"/>
          </a:p>
        </p:txBody>
      </p:sp>
      <p:sp>
        <p:nvSpPr>
          <p:cNvPr id="10" name="Content Placeholder 8">
            <a:extLst>
              <a:ext uri="{FF2B5EF4-FFF2-40B4-BE49-F238E27FC236}">
                <a16:creationId xmlns:a16="http://schemas.microsoft.com/office/drawing/2014/main" id="{AE7E7699-E235-4EEB-981D-B8DA818F700F}"/>
              </a:ext>
            </a:extLst>
          </p:cNvPr>
          <p:cNvSpPr>
            <a:spLocks noGrp="1"/>
          </p:cNvSpPr>
          <p:nvPr>
            <p:ph idx="1"/>
          </p:nvPr>
        </p:nvSpPr>
        <p:spPr>
          <a:xfrm>
            <a:off x="648931" y="2438400"/>
            <a:ext cx="3651466" cy="3785419"/>
          </a:xfrm>
        </p:spPr>
        <p:txBody>
          <a:bodyPr vert="horz" lIns="91440" tIns="45720" rIns="91440" bIns="45720" rtlCol="0">
            <a:normAutofit/>
          </a:bodyPr>
          <a:lstStyle/>
          <a:p>
            <a:r>
              <a:rPr lang="en-US" sz="1800" dirty="0">
                <a:cs typeface="Calibri"/>
              </a:rPr>
              <a:t>TCP/IP model combines the presentation and session layer into its application layer.</a:t>
            </a:r>
          </a:p>
          <a:p>
            <a:r>
              <a:rPr lang="en-US" sz="1800" dirty="0">
                <a:cs typeface="Calibri"/>
              </a:rPr>
              <a:t>TCP/IP combines the OSI data link and physical layers into the host-to-network/network access layer</a:t>
            </a:r>
          </a:p>
          <a:p>
            <a:r>
              <a:rPr lang="en-US" sz="1800" dirty="0">
                <a:cs typeface="Calibri"/>
              </a:rPr>
              <a:t>Internet developed on around TCP/IP protocols.</a:t>
            </a:r>
          </a:p>
          <a:p>
            <a:pPr lvl="1"/>
            <a:r>
              <a:rPr lang="en-US" sz="1800" dirty="0">
                <a:cs typeface="Calibri"/>
              </a:rPr>
              <a:t>Thus very popular.... Networks are not usually built on the OSI model, even though the OSI model is used as a guide.</a:t>
            </a:r>
          </a:p>
        </p:txBody>
      </p:sp>
      <p:pic>
        <p:nvPicPr>
          <p:cNvPr id="12" name="Picture 4">
            <a:extLst>
              <a:ext uri="{FF2B5EF4-FFF2-40B4-BE49-F238E27FC236}">
                <a16:creationId xmlns:a16="http://schemas.microsoft.com/office/drawing/2014/main" id="{ED4EA54E-EA80-4FA7-A33C-45E844BC7535}"/>
              </a:ext>
            </a:extLst>
          </p:cNvPr>
          <p:cNvPicPr>
            <a:picLocks noChangeAspect="1"/>
          </p:cNvPicPr>
          <p:nvPr/>
        </p:nvPicPr>
        <p:blipFill rotWithShape="1">
          <a:blip r:embed="rId2"/>
          <a:srcRect t="1306" r="-1" b="-1"/>
          <a:stretch/>
        </p:blipFill>
        <p:spPr>
          <a:xfrm>
            <a:off x="4639056" y="10"/>
            <a:ext cx="7552944" cy="6857990"/>
          </a:xfrm>
          <a:prstGeom prst="rect">
            <a:avLst/>
          </a:prstGeom>
          <a:effectLst/>
        </p:spPr>
      </p:pic>
      <p:sp>
        <p:nvSpPr>
          <p:cNvPr id="3" name="TextBox 2">
            <a:extLst>
              <a:ext uri="{FF2B5EF4-FFF2-40B4-BE49-F238E27FC236}">
                <a16:creationId xmlns:a16="http://schemas.microsoft.com/office/drawing/2014/main" id="{AF119A25-8C57-4F1F-8BB6-98B69CD6B3EE}"/>
              </a:ext>
            </a:extLst>
          </p:cNvPr>
          <p:cNvSpPr txBox="1"/>
          <p:nvPr/>
        </p:nvSpPr>
        <p:spPr>
          <a:xfrm>
            <a:off x="9124245" y="5654840"/>
            <a:ext cx="2736451" cy="461665"/>
          </a:xfrm>
          <a:prstGeom prst="rect">
            <a:avLst/>
          </a:prstGeom>
          <a:solidFill>
            <a:schemeClr val="accent2">
              <a:lumMod val="75000"/>
            </a:schemeClr>
          </a:solidFill>
        </p:spPr>
        <p:txBody>
          <a:bodyPr wrap="square" rtlCol="0">
            <a:spAutoFit/>
          </a:bodyPr>
          <a:lstStyle/>
          <a:p>
            <a:r>
              <a:rPr lang="en-IE" sz="2400" b="1" dirty="0"/>
              <a:t>(Data Link/Physical)</a:t>
            </a:r>
          </a:p>
        </p:txBody>
      </p:sp>
    </p:spTree>
    <p:extLst>
      <p:ext uri="{BB962C8B-B14F-4D97-AF65-F5344CB8AC3E}">
        <p14:creationId xmlns:p14="http://schemas.microsoft.com/office/powerpoint/2010/main" val="114088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Effect transition="in" filter="fade">
                                      <p:cBhvr>
                                        <p:cTn id="2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3FD969-BE08-4C6B-BEAF-4BA340B2FB8C}"/>
              </a:ext>
            </a:extLst>
          </p:cNvPr>
          <p:cNvSpPr/>
          <p:nvPr/>
        </p:nvSpPr>
        <p:spPr>
          <a:xfrm>
            <a:off x="1202233" y="4679250"/>
            <a:ext cx="3637741"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8" name="Rectangle 17">
            <a:extLst>
              <a:ext uri="{FF2B5EF4-FFF2-40B4-BE49-F238E27FC236}">
                <a16:creationId xmlns:a16="http://schemas.microsoft.com/office/drawing/2014/main" id="{6D3ACEE6-0A24-4D4B-AB07-7DCD91048267}"/>
              </a:ext>
            </a:extLst>
          </p:cNvPr>
          <p:cNvSpPr/>
          <p:nvPr/>
        </p:nvSpPr>
        <p:spPr>
          <a:xfrm>
            <a:off x="2384611" y="4016187"/>
            <a:ext cx="2330823"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14" name="Rectangle 13">
            <a:extLst>
              <a:ext uri="{FF2B5EF4-FFF2-40B4-BE49-F238E27FC236}">
                <a16:creationId xmlns:a16="http://schemas.microsoft.com/office/drawing/2014/main" id="{FF4C2AF4-DEB0-41E2-A34F-9C0B8E82231E}"/>
              </a:ext>
            </a:extLst>
          </p:cNvPr>
          <p:cNvSpPr/>
          <p:nvPr/>
        </p:nvSpPr>
        <p:spPr>
          <a:xfrm>
            <a:off x="3621741" y="3433480"/>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2" name="Title 1">
            <a:extLst>
              <a:ext uri="{FF2B5EF4-FFF2-40B4-BE49-F238E27FC236}">
                <a16:creationId xmlns:a16="http://schemas.microsoft.com/office/drawing/2014/main" id="{5FE7EB14-6A8D-4F1B-AA9A-D7708100239A}"/>
              </a:ext>
            </a:extLst>
          </p:cNvPr>
          <p:cNvSpPr>
            <a:spLocks noGrp="1"/>
          </p:cNvSpPr>
          <p:nvPr>
            <p:ph type="title"/>
          </p:nvPr>
        </p:nvSpPr>
        <p:spPr>
          <a:xfrm>
            <a:off x="562206" y="65983"/>
            <a:ext cx="10515600" cy="1325563"/>
          </a:xfrm>
        </p:spPr>
        <p:txBody>
          <a:bodyPr/>
          <a:lstStyle/>
          <a:p>
            <a:r>
              <a:rPr lang="en-US" dirty="0">
                <a:cs typeface="Calibri Light"/>
              </a:rPr>
              <a:t>Comms in TCP/IP: Data Encapsulation</a:t>
            </a:r>
            <a:endParaRPr lang="en-US" dirty="0"/>
          </a:p>
        </p:txBody>
      </p:sp>
      <p:pic>
        <p:nvPicPr>
          <p:cNvPr id="3" name="Picture 3">
            <a:extLst>
              <a:ext uri="{FF2B5EF4-FFF2-40B4-BE49-F238E27FC236}">
                <a16:creationId xmlns:a16="http://schemas.microsoft.com/office/drawing/2014/main" id="{85B3A3A1-4890-4427-918E-0FB75F87D4E0}"/>
              </a:ext>
            </a:extLst>
          </p:cNvPr>
          <p:cNvPicPr>
            <a:picLocks noChangeAspect="1"/>
          </p:cNvPicPr>
          <p:nvPr/>
        </p:nvPicPr>
        <p:blipFill>
          <a:blip r:embed="rId3"/>
          <a:stretch>
            <a:fillRect/>
          </a:stretch>
        </p:blipFill>
        <p:spPr>
          <a:xfrm>
            <a:off x="838200" y="1599237"/>
            <a:ext cx="1720770" cy="1315653"/>
          </a:xfrm>
          <a:prstGeom prst="rect">
            <a:avLst/>
          </a:prstGeom>
        </p:spPr>
      </p:pic>
      <p:pic>
        <p:nvPicPr>
          <p:cNvPr id="5" name="Picture 5">
            <a:extLst>
              <a:ext uri="{FF2B5EF4-FFF2-40B4-BE49-F238E27FC236}">
                <a16:creationId xmlns:a16="http://schemas.microsoft.com/office/drawing/2014/main" id="{39248399-F8BB-496D-A7EB-1CCFDAAA7CB8}"/>
              </a:ext>
            </a:extLst>
          </p:cNvPr>
          <p:cNvPicPr>
            <a:picLocks noChangeAspect="1"/>
          </p:cNvPicPr>
          <p:nvPr/>
        </p:nvPicPr>
        <p:blipFill>
          <a:blip r:embed="rId4"/>
          <a:stretch>
            <a:fillRect/>
          </a:stretch>
        </p:blipFill>
        <p:spPr>
          <a:xfrm>
            <a:off x="3063204" y="1557349"/>
            <a:ext cx="515074" cy="656834"/>
          </a:xfrm>
          <a:prstGeom prst="rect">
            <a:avLst/>
          </a:prstGeom>
        </p:spPr>
      </p:pic>
      <p:sp>
        <p:nvSpPr>
          <p:cNvPr id="7" name="Rectangle 6">
            <a:extLst>
              <a:ext uri="{FF2B5EF4-FFF2-40B4-BE49-F238E27FC236}">
                <a16:creationId xmlns:a16="http://schemas.microsoft.com/office/drawing/2014/main" id="{C28F8F72-C237-4265-A8D2-55B400EAB527}"/>
              </a:ext>
            </a:extLst>
          </p:cNvPr>
          <p:cNvSpPr/>
          <p:nvPr/>
        </p:nvSpPr>
        <p:spPr>
          <a:xfrm>
            <a:off x="3121305" y="2600445"/>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6" name="Rectangle 5">
            <a:extLst>
              <a:ext uri="{FF2B5EF4-FFF2-40B4-BE49-F238E27FC236}">
                <a16:creationId xmlns:a16="http://schemas.microsoft.com/office/drawing/2014/main" id="{0D9C6F93-DA3D-4920-A04C-DBC52383C68B}"/>
              </a:ext>
            </a:extLst>
          </p:cNvPr>
          <p:cNvSpPr/>
          <p:nvPr/>
        </p:nvSpPr>
        <p:spPr>
          <a:xfrm>
            <a:off x="4066570" y="2600444"/>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8" name="Rectangle 7">
            <a:extLst>
              <a:ext uri="{FF2B5EF4-FFF2-40B4-BE49-F238E27FC236}">
                <a16:creationId xmlns:a16="http://schemas.microsoft.com/office/drawing/2014/main" id="{B7B0166B-3CEB-4F4D-8F84-B3F1A6B4A77A}"/>
              </a:ext>
            </a:extLst>
          </p:cNvPr>
          <p:cNvSpPr/>
          <p:nvPr/>
        </p:nvSpPr>
        <p:spPr>
          <a:xfrm>
            <a:off x="4963609" y="2600445"/>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0" name="Rectangle 9">
            <a:extLst>
              <a:ext uri="{FF2B5EF4-FFF2-40B4-BE49-F238E27FC236}">
                <a16:creationId xmlns:a16="http://schemas.microsoft.com/office/drawing/2014/main" id="{1BFA3CF2-20B3-44EC-8F20-8CD10A3C9C6C}"/>
              </a:ext>
            </a:extLst>
          </p:cNvPr>
          <p:cNvSpPr/>
          <p:nvPr/>
        </p:nvSpPr>
        <p:spPr>
          <a:xfrm>
            <a:off x="3712976" y="3461057"/>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3" name="Rectangle 12">
            <a:extLst>
              <a:ext uri="{FF2B5EF4-FFF2-40B4-BE49-F238E27FC236}">
                <a16:creationId xmlns:a16="http://schemas.microsoft.com/office/drawing/2014/main" id="{AA3F3F1D-D623-4A7A-8F86-3E07433E937F}"/>
              </a:ext>
            </a:extLst>
          </p:cNvPr>
          <p:cNvSpPr/>
          <p:nvPr/>
        </p:nvSpPr>
        <p:spPr>
          <a:xfrm>
            <a:off x="2456329" y="3433480"/>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cs typeface="Calibri"/>
              </a:rPr>
              <a:t>Segment Header</a:t>
            </a:r>
          </a:p>
        </p:txBody>
      </p:sp>
      <p:sp>
        <p:nvSpPr>
          <p:cNvPr id="15" name="Rectangle 14">
            <a:extLst>
              <a:ext uri="{FF2B5EF4-FFF2-40B4-BE49-F238E27FC236}">
                <a16:creationId xmlns:a16="http://schemas.microsoft.com/office/drawing/2014/main" id="{2AA5FA9B-B76D-40A7-8388-77767813B008}"/>
              </a:ext>
            </a:extLst>
          </p:cNvPr>
          <p:cNvSpPr/>
          <p:nvPr/>
        </p:nvSpPr>
        <p:spPr>
          <a:xfrm>
            <a:off x="3603811" y="4069974"/>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16" name="Rectangle 15">
            <a:extLst>
              <a:ext uri="{FF2B5EF4-FFF2-40B4-BE49-F238E27FC236}">
                <a16:creationId xmlns:a16="http://schemas.microsoft.com/office/drawing/2014/main" id="{603B5123-1A9C-4710-BD76-9D8D11ACB3E2}"/>
              </a:ext>
            </a:extLst>
          </p:cNvPr>
          <p:cNvSpPr/>
          <p:nvPr/>
        </p:nvSpPr>
        <p:spPr>
          <a:xfrm>
            <a:off x="3695046" y="4097551"/>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7" name="Rectangle 16">
            <a:extLst>
              <a:ext uri="{FF2B5EF4-FFF2-40B4-BE49-F238E27FC236}">
                <a16:creationId xmlns:a16="http://schemas.microsoft.com/office/drawing/2014/main" id="{47EC0D39-A25B-4DEC-8AF6-7FBD5FB01EC9}"/>
              </a:ext>
            </a:extLst>
          </p:cNvPr>
          <p:cNvSpPr/>
          <p:nvPr/>
        </p:nvSpPr>
        <p:spPr>
          <a:xfrm>
            <a:off x="2438399" y="4069974"/>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cs typeface="Calibri"/>
              </a:rPr>
              <a:t>Segment Header</a:t>
            </a:r>
          </a:p>
        </p:txBody>
      </p:sp>
      <p:sp>
        <p:nvSpPr>
          <p:cNvPr id="19" name="Rectangle 18">
            <a:extLst>
              <a:ext uri="{FF2B5EF4-FFF2-40B4-BE49-F238E27FC236}">
                <a16:creationId xmlns:a16="http://schemas.microsoft.com/office/drawing/2014/main" id="{E55D11F3-81B2-42A0-882C-5E997D948CCE}"/>
              </a:ext>
            </a:extLst>
          </p:cNvPr>
          <p:cNvSpPr/>
          <p:nvPr/>
        </p:nvSpPr>
        <p:spPr>
          <a:xfrm>
            <a:off x="1237128" y="4016187"/>
            <a:ext cx="1147482"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000000"/>
                </a:solidFill>
                <a:cs typeface="Calibri"/>
              </a:rPr>
              <a:t>Network Header</a:t>
            </a:r>
            <a:endParaRPr lang="en-US" sz="1100" b="1">
              <a:solidFill>
                <a:srgbClr val="000000"/>
              </a:solidFill>
            </a:endParaRPr>
          </a:p>
        </p:txBody>
      </p:sp>
      <p:sp>
        <p:nvSpPr>
          <p:cNvPr id="20" name="Rectangle 19">
            <a:extLst>
              <a:ext uri="{FF2B5EF4-FFF2-40B4-BE49-F238E27FC236}">
                <a16:creationId xmlns:a16="http://schemas.microsoft.com/office/drawing/2014/main" id="{51F2AC5E-50DB-4F4F-B9F7-211BC35271A7}"/>
              </a:ext>
            </a:extLst>
          </p:cNvPr>
          <p:cNvSpPr/>
          <p:nvPr/>
        </p:nvSpPr>
        <p:spPr>
          <a:xfrm>
            <a:off x="2402541" y="4710832"/>
            <a:ext cx="2330823"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21" name="Rectangle 20">
            <a:extLst>
              <a:ext uri="{FF2B5EF4-FFF2-40B4-BE49-F238E27FC236}">
                <a16:creationId xmlns:a16="http://schemas.microsoft.com/office/drawing/2014/main" id="{A0B614CC-C2B8-434F-BA12-C74927C54821}"/>
              </a:ext>
            </a:extLst>
          </p:cNvPr>
          <p:cNvSpPr/>
          <p:nvPr/>
        </p:nvSpPr>
        <p:spPr>
          <a:xfrm>
            <a:off x="3621741" y="4764619"/>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22" name="Rectangle 21">
            <a:extLst>
              <a:ext uri="{FF2B5EF4-FFF2-40B4-BE49-F238E27FC236}">
                <a16:creationId xmlns:a16="http://schemas.microsoft.com/office/drawing/2014/main" id="{ED8732ED-12A1-45C7-8FB7-151B36AF7003}"/>
              </a:ext>
            </a:extLst>
          </p:cNvPr>
          <p:cNvSpPr/>
          <p:nvPr/>
        </p:nvSpPr>
        <p:spPr>
          <a:xfrm>
            <a:off x="3712976" y="4792196"/>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23" name="Rectangle 22">
            <a:extLst>
              <a:ext uri="{FF2B5EF4-FFF2-40B4-BE49-F238E27FC236}">
                <a16:creationId xmlns:a16="http://schemas.microsoft.com/office/drawing/2014/main" id="{468FF6EB-1EBD-4D70-9499-4E6F88A77915}"/>
              </a:ext>
            </a:extLst>
          </p:cNvPr>
          <p:cNvSpPr/>
          <p:nvPr/>
        </p:nvSpPr>
        <p:spPr>
          <a:xfrm>
            <a:off x="2456329" y="4764619"/>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cs typeface="Calibri"/>
              </a:rPr>
              <a:t>Segment Header</a:t>
            </a:r>
          </a:p>
        </p:txBody>
      </p:sp>
      <p:sp>
        <p:nvSpPr>
          <p:cNvPr id="24" name="Rectangle 23">
            <a:extLst>
              <a:ext uri="{FF2B5EF4-FFF2-40B4-BE49-F238E27FC236}">
                <a16:creationId xmlns:a16="http://schemas.microsoft.com/office/drawing/2014/main" id="{58F1FBE3-F39A-44B2-AE22-1BB6BB0004CE}"/>
              </a:ext>
            </a:extLst>
          </p:cNvPr>
          <p:cNvSpPr/>
          <p:nvPr/>
        </p:nvSpPr>
        <p:spPr>
          <a:xfrm>
            <a:off x="1255058" y="4710832"/>
            <a:ext cx="1147482"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000000"/>
                </a:solidFill>
                <a:cs typeface="Calibri"/>
              </a:rPr>
              <a:t>Network Header</a:t>
            </a:r>
            <a:endParaRPr lang="en-US" sz="1100" b="1">
              <a:solidFill>
                <a:srgbClr val="000000"/>
              </a:solidFill>
            </a:endParaRPr>
          </a:p>
        </p:txBody>
      </p:sp>
      <p:sp>
        <p:nvSpPr>
          <p:cNvPr id="25" name="Rectangle 24">
            <a:extLst>
              <a:ext uri="{FF2B5EF4-FFF2-40B4-BE49-F238E27FC236}">
                <a16:creationId xmlns:a16="http://schemas.microsoft.com/office/drawing/2014/main" id="{F41B2BEC-8302-40AA-BCF3-4D6758A3E378}"/>
              </a:ext>
            </a:extLst>
          </p:cNvPr>
          <p:cNvSpPr/>
          <p:nvPr/>
        </p:nvSpPr>
        <p:spPr>
          <a:xfrm>
            <a:off x="222200" y="4679249"/>
            <a:ext cx="980032"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100" b="1" dirty="0">
                <a:solidFill>
                  <a:schemeClr val="tx1"/>
                </a:solidFill>
              </a:rPr>
              <a:t>Frame Header</a:t>
            </a:r>
          </a:p>
        </p:txBody>
      </p:sp>
      <p:sp>
        <p:nvSpPr>
          <p:cNvPr id="26" name="Rectangle 25">
            <a:extLst>
              <a:ext uri="{FF2B5EF4-FFF2-40B4-BE49-F238E27FC236}">
                <a16:creationId xmlns:a16="http://schemas.microsoft.com/office/drawing/2014/main" id="{15C2F2EB-69EC-4DAE-9FA7-1E8094DEED41}"/>
              </a:ext>
            </a:extLst>
          </p:cNvPr>
          <p:cNvSpPr/>
          <p:nvPr/>
        </p:nvSpPr>
        <p:spPr>
          <a:xfrm>
            <a:off x="4839974" y="4679249"/>
            <a:ext cx="980032"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100" b="1" dirty="0">
                <a:solidFill>
                  <a:schemeClr val="tx1"/>
                </a:solidFill>
              </a:rPr>
              <a:t>Frame Trailer</a:t>
            </a:r>
          </a:p>
        </p:txBody>
      </p:sp>
      <p:sp>
        <p:nvSpPr>
          <p:cNvPr id="9" name="TextBox 8">
            <a:extLst>
              <a:ext uri="{FF2B5EF4-FFF2-40B4-BE49-F238E27FC236}">
                <a16:creationId xmlns:a16="http://schemas.microsoft.com/office/drawing/2014/main" id="{D43854EF-BC22-43CE-86D2-057504E73E09}"/>
              </a:ext>
            </a:extLst>
          </p:cNvPr>
          <p:cNvSpPr txBox="1"/>
          <p:nvPr/>
        </p:nvSpPr>
        <p:spPr>
          <a:xfrm>
            <a:off x="3791303" y="1767769"/>
            <a:ext cx="1083566" cy="369332"/>
          </a:xfrm>
          <a:prstGeom prst="rect">
            <a:avLst/>
          </a:prstGeom>
          <a:noFill/>
        </p:spPr>
        <p:txBody>
          <a:bodyPr wrap="none" rtlCol="0">
            <a:spAutoFit/>
          </a:bodyPr>
          <a:lstStyle/>
          <a:p>
            <a:r>
              <a:rPr lang="en-IE" b="1" dirty="0"/>
              <a:t>Large File</a:t>
            </a:r>
          </a:p>
        </p:txBody>
      </p:sp>
      <p:sp>
        <p:nvSpPr>
          <p:cNvPr id="11" name="Arrow: Down 10">
            <a:extLst>
              <a:ext uri="{FF2B5EF4-FFF2-40B4-BE49-F238E27FC236}">
                <a16:creationId xmlns:a16="http://schemas.microsoft.com/office/drawing/2014/main" id="{B9A904A8-E9F0-4A39-B6AD-A9F5588E0945}"/>
              </a:ext>
            </a:extLst>
          </p:cNvPr>
          <p:cNvSpPr/>
          <p:nvPr/>
        </p:nvSpPr>
        <p:spPr>
          <a:xfrm>
            <a:off x="4066570" y="2214183"/>
            <a:ext cx="515074" cy="2777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27" name="Picture 4">
            <a:extLst>
              <a:ext uri="{FF2B5EF4-FFF2-40B4-BE49-F238E27FC236}">
                <a16:creationId xmlns:a16="http://schemas.microsoft.com/office/drawing/2014/main" id="{8439E343-6213-4FF0-9978-30949CA13880}"/>
              </a:ext>
            </a:extLst>
          </p:cNvPr>
          <p:cNvPicPr>
            <a:picLocks noChangeAspect="1"/>
          </p:cNvPicPr>
          <p:nvPr/>
        </p:nvPicPr>
        <p:blipFill rotWithShape="1">
          <a:blip r:embed="rId5"/>
          <a:srcRect l="53570" t="1306" r="-2" b="-1"/>
          <a:stretch/>
        </p:blipFill>
        <p:spPr>
          <a:xfrm>
            <a:off x="8094185" y="935492"/>
            <a:ext cx="2592616" cy="4890102"/>
          </a:xfrm>
          <a:prstGeom prst="rect">
            <a:avLst/>
          </a:prstGeom>
          <a:effectLst/>
        </p:spPr>
      </p:pic>
      <p:sp>
        <p:nvSpPr>
          <p:cNvPr id="28" name="Arrow: Down 27">
            <a:extLst>
              <a:ext uri="{FF2B5EF4-FFF2-40B4-BE49-F238E27FC236}">
                <a16:creationId xmlns:a16="http://schemas.microsoft.com/office/drawing/2014/main" id="{53BC3490-EE42-4DC7-88E4-170B836AF666}"/>
              </a:ext>
            </a:extLst>
          </p:cNvPr>
          <p:cNvSpPr/>
          <p:nvPr/>
        </p:nvSpPr>
        <p:spPr>
          <a:xfrm>
            <a:off x="3791303" y="3835846"/>
            <a:ext cx="259612" cy="102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9" name="Arrow: Down 28">
            <a:extLst>
              <a:ext uri="{FF2B5EF4-FFF2-40B4-BE49-F238E27FC236}">
                <a16:creationId xmlns:a16="http://schemas.microsoft.com/office/drawing/2014/main" id="{6203A307-8E82-4427-9A04-B4042F835EF1}"/>
              </a:ext>
            </a:extLst>
          </p:cNvPr>
          <p:cNvSpPr/>
          <p:nvPr/>
        </p:nvSpPr>
        <p:spPr>
          <a:xfrm>
            <a:off x="3776150" y="4523194"/>
            <a:ext cx="259612" cy="102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0" name="Arrow: Down 29">
            <a:extLst>
              <a:ext uri="{FF2B5EF4-FFF2-40B4-BE49-F238E27FC236}">
                <a16:creationId xmlns:a16="http://schemas.microsoft.com/office/drawing/2014/main" id="{AC308A82-0B02-4D4D-9B42-3FA3233B117A}"/>
              </a:ext>
            </a:extLst>
          </p:cNvPr>
          <p:cNvSpPr/>
          <p:nvPr/>
        </p:nvSpPr>
        <p:spPr>
          <a:xfrm rot="19400197">
            <a:off x="3698328" y="2964710"/>
            <a:ext cx="274830" cy="4374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2" name="TextBox 11">
            <a:extLst>
              <a:ext uri="{FF2B5EF4-FFF2-40B4-BE49-F238E27FC236}">
                <a16:creationId xmlns:a16="http://schemas.microsoft.com/office/drawing/2014/main" id="{4AB0FE71-C691-4C10-976C-CB5D98070002}"/>
              </a:ext>
            </a:extLst>
          </p:cNvPr>
          <p:cNvSpPr txBox="1"/>
          <p:nvPr/>
        </p:nvSpPr>
        <p:spPr>
          <a:xfrm>
            <a:off x="6325094" y="3477457"/>
            <a:ext cx="2688171" cy="400110"/>
          </a:xfrm>
          <a:prstGeom prst="rect">
            <a:avLst/>
          </a:prstGeom>
          <a:noFill/>
        </p:spPr>
        <p:txBody>
          <a:bodyPr wrap="square" rtlCol="0">
            <a:spAutoFit/>
          </a:bodyPr>
          <a:lstStyle/>
          <a:p>
            <a:r>
              <a:rPr lang="en-IE" sz="2000" b="1" dirty="0"/>
              <a:t>TCP Segment</a:t>
            </a:r>
          </a:p>
        </p:txBody>
      </p:sp>
      <p:sp>
        <p:nvSpPr>
          <p:cNvPr id="31" name="TextBox 30">
            <a:extLst>
              <a:ext uri="{FF2B5EF4-FFF2-40B4-BE49-F238E27FC236}">
                <a16:creationId xmlns:a16="http://schemas.microsoft.com/office/drawing/2014/main" id="{89CFD57B-C932-4233-9D54-95BF8D6989FE}"/>
              </a:ext>
            </a:extLst>
          </p:cNvPr>
          <p:cNvSpPr txBox="1"/>
          <p:nvPr/>
        </p:nvSpPr>
        <p:spPr>
          <a:xfrm>
            <a:off x="6325094" y="2539285"/>
            <a:ext cx="2592616" cy="400110"/>
          </a:xfrm>
          <a:prstGeom prst="rect">
            <a:avLst/>
          </a:prstGeom>
          <a:noFill/>
        </p:spPr>
        <p:txBody>
          <a:bodyPr wrap="square" rtlCol="0">
            <a:spAutoFit/>
          </a:bodyPr>
          <a:lstStyle/>
          <a:p>
            <a:r>
              <a:rPr lang="en-IE" sz="2000" b="1" dirty="0"/>
              <a:t>User Data</a:t>
            </a:r>
          </a:p>
        </p:txBody>
      </p:sp>
      <p:sp>
        <p:nvSpPr>
          <p:cNvPr id="32" name="TextBox 31">
            <a:extLst>
              <a:ext uri="{FF2B5EF4-FFF2-40B4-BE49-F238E27FC236}">
                <a16:creationId xmlns:a16="http://schemas.microsoft.com/office/drawing/2014/main" id="{77890EE5-C031-4424-B590-EAD7CE8FB5C0}"/>
              </a:ext>
            </a:extLst>
          </p:cNvPr>
          <p:cNvSpPr txBox="1"/>
          <p:nvPr/>
        </p:nvSpPr>
        <p:spPr>
          <a:xfrm>
            <a:off x="6338026" y="4108494"/>
            <a:ext cx="2688171" cy="400110"/>
          </a:xfrm>
          <a:prstGeom prst="rect">
            <a:avLst/>
          </a:prstGeom>
          <a:noFill/>
        </p:spPr>
        <p:txBody>
          <a:bodyPr wrap="square" rtlCol="0">
            <a:spAutoFit/>
          </a:bodyPr>
          <a:lstStyle/>
          <a:p>
            <a:r>
              <a:rPr lang="en-IE" sz="2000" b="1" dirty="0"/>
              <a:t>IP Packet</a:t>
            </a:r>
          </a:p>
        </p:txBody>
      </p:sp>
      <p:sp>
        <p:nvSpPr>
          <p:cNvPr id="33" name="TextBox 32">
            <a:extLst>
              <a:ext uri="{FF2B5EF4-FFF2-40B4-BE49-F238E27FC236}">
                <a16:creationId xmlns:a16="http://schemas.microsoft.com/office/drawing/2014/main" id="{C0EB22F3-2888-4101-BF5B-2B85E5F205CC}"/>
              </a:ext>
            </a:extLst>
          </p:cNvPr>
          <p:cNvSpPr txBox="1"/>
          <p:nvPr/>
        </p:nvSpPr>
        <p:spPr>
          <a:xfrm>
            <a:off x="6331381" y="4779483"/>
            <a:ext cx="2688171" cy="400110"/>
          </a:xfrm>
          <a:prstGeom prst="rect">
            <a:avLst/>
          </a:prstGeom>
          <a:noFill/>
        </p:spPr>
        <p:txBody>
          <a:bodyPr wrap="square" rtlCol="0">
            <a:spAutoFit/>
          </a:bodyPr>
          <a:lstStyle/>
          <a:p>
            <a:r>
              <a:rPr lang="en-IE" sz="2000" b="1" dirty="0"/>
              <a:t>Ethernet Frame</a:t>
            </a:r>
          </a:p>
        </p:txBody>
      </p:sp>
      <p:sp>
        <p:nvSpPr>
          <p:cNvPr id="34" name="TextBox 33">
            <a:extLst>
              <a:ext uri="{FF2B5EF4-FFF2-40B4-BE49-F238E27FC236}">
                <a16:creationId xmlns:a16="http://schemas.microsoft.com/office/drawing/2014/main" id="{E3174E0C-B9D2-4C16-B0DC-1F45FE528134}"/>
              </a:ext>
            </a:extLst>
          </p:cNvPr>
          <p:cNvSpPr txBox="1"/>
          <p:nvPr/>
        </p:nvSpPr>
        <p:spPr>
          <a:xfrm>
            <a:off x="222200" y="5891134"/>
            <a:ext cx="6823177" cy="369332"/>
          </a:xfrm>
          <a:prstGeom prst="rect">
            <a:avLst/>
          </a:prstGeom>
          <a:noFill/>
        </p:spPr>
        <p:txBody>
          <a:bodyPr wrap="square" rtlCol="0">
            <a:spAutoFit/>
          </a:bodyPr>
          <a:lstStyle/>
          <a:p>
            <a:r>
              <a:rPr lang="en-IE" dirty="0"/>
              <a:t>010001010101010011111010100111011011100101010101110….</a:t>
            </a:r>
          </a:p>
        </p:txBody>
      </p:sp>
      <p:sp>
        <p:nvSpPr>
          <p:cNvPr id="35" name="Arrow: Down 34">
            <a:extLst>
              <a:ext uri="{FF2B5EF4-FFF2-40B4-BE49-F238E27FC236}">
                <a16:creationId xmlns:a16="http://schemas.microsoft.com/office/drawing/2014/main" id="{E76DADD9-5DAD-4966-9A60-AA46FA9961D7}"/>
              </a:ext>
            </a:extLst>
          </p:cNvPr>
          <p:cNvSpPr/>
          <p:nvPr/>
        </p:nvSpPr>
        <p:spPr>
          <a:xfrm>
            <a:off x="3435434" y="5454509"/>
            <a:ext cx="277542" cy="416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TextBox 35">
            <a:extLst>
              <a:ext uri="{FF2B5EF4-FFF2-40B4-BE49-F238E27FC236}">
                <a16:creationId xmlns:a16="http://schemas.microsoft.com/office/drawing/2014/main" id="{0F2EFFEC-7D6B-4F61-9538-616BBDD46740}"/>
              </a:ext>
            </a:extLst>
          </p:cNvPr>
          <p:cNvSpPr txBox="1"/>
          <p:nvPr/>
        </p:nvSpPr>
        <p:spPr>
          <a:xfrm>
            <a:off x="8379934" y="4964167"/>
            <a:ext cx="2133830" cy="369332"/>
          </a:xfrm>
          <a:prstGeom prst="rect">
            <a:avLst/>
          </a:prstGeom>
          <a:solidFill>
            <a:schemeClr val="accent2">
              <a:lumMod val="75000"/>
            </a:schemeClr>
          </a:solidFill>
        </p:spPr>
        <p:txBody>
          <a:bodyPr wrap="square" rtlCol="0">
            <a:spAutoFit/>
          </a:bodyPr>
          <a:lstStyle/>
          <a:p>
            <a:r>
              <a:rPr lang="en-IE" b="1" dirty="0"/>
              <a:t>(Data Link/Physical)</a:t>
            </a:r>
          </a:p>
        </p:txBody>
      </p:sp>
    </p:spTree>
    <p:extLst>
      <p:ext uri="{BB962C8B-B14F-4D97-AF65-F5344CB8AC3E}">
        <p14:creationId xmlns:p14="http://schemas.microsoft.com/office/powerpoint/2010/main" val="377491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500"/>
                                        <p:tgtEl>
                                          <p:spTgt spid="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500"/>
                                        <p:tgtEl>
                                          <p:spTgt spid="2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00"/>
                                        <p:tgtEl>
                                          <p:spTgt spid="2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500"/>
                                        <p:tgtEl>
                                          <p:spTgt spid="2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500"/>
                                        <p:tgtEl>
                                          <p:spTgt spid="29"/>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12"/>
                                        </p:tgtEl>
                                        <p:attrNameLst>
                                          <p:attrName>style.visibility</p:attrName>
                                        </p:attrNameLst>
                                      </p:cBhvr>
                                      <p:to>
                                        <p:strVal val="visible"/>
                                      </p:to>
                                    </p:set>
                                    <p:animEffect transition="in" filter="fade">
                                      <p:cBhvr>
                                        <p:cTn id="104" dur="500"/>
                                        <p:tgtEl>
                                          <p:spTgt spid="1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500"/>
                                        <p:tgtEl>
                                          <p:spTgt spid="3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fade">
                                      <p:cBhvr>
                                        <p:cTn id="113" dur="500"/>
                                        <p:tgtEl>
                                          <p:spTgt spid="3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fade">
                                      <p:cBhvr>
                                        <p:cTn id="116" dur="500"/>
                                        <p:tgtEl>
                                          <p:spTgt spid="35"/>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14" grpId="0" animBg="1"/>
      <p:bldP spid="7" grpId="0" animBg="1"/>
      <p:bldP spid="6" grpId="0" animBg="1"/>
      <p:bldP spid="8" grpId="0" animBg="1"/>
      <p:bldP spid="10" grpId="0" animBg="1"/>
      <p:bldP spid="13"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9" grpId="0"/>
      <p:bldP spid="11" grpId="0" animBg="1"/>
      <p:bldP spid="28" grpId="0" animBg="1"/>
      <p:bldP spid="29" grpId="0" animBg="1"/>
      <p:bldP spid="30" grpId="0" animBg="1"/>
      <p:bldP spid="12" grpId="0"/>
      <p:bldP spid="31" grpId="0"/>
      <p:bldP spid="32" grpId="0"/>
      <p:bldP spid="33" grpId="0"/>
      <p:bldP spid="34" grpId="0"/>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0CE81-14A8-46F3-88A5-AFC20F74560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IE" sz="2200">
                <a:solidFill>
                  <a:srgbClr val="FFFFFF"/>
                </a:solidFill>
              </a:rPr>
              <a:t>Data Encapsulation: Protocol Data Units (PDUs)</a:t>
            </a:r>
          </a:p>
        </p:txBody>
      </p:sp>
      <p:pic>
        <p:nvPicPr>
          <p:cNvPr id="3" name="Picture 3" descr="A screenshot of a cell phone&#10;&#10;Description generated with very high confidence">
            <a:extLst>
              <a:ext uri="{FF2B5EF4-FFF2-40B4-BE49-F238E27FC236}">
                <a16:creationId xmlns:a16="http://schemas.microsoft.com/office/drawing/2014/main" id="{52B21C24-C2FD-49E6-8127-CBC9C12B85B0}"/>
              </a:ext>
            </a:extLst>
          </p:cNvPr>
          <p:cNvPicPr>
            <a:picLocks noChangeAspect="1"/>
          </p:cNvPicPr>
          <p:nvPr/>
        </p:nvPicPr>
        <p:blipFill>
          <a:blip r:embed="rId3"/>
          <a:stretch>
            <a:fillRect/>
          </a:stretch>
        </p:blipFill>
        <p:spPr>
          <a:xfrm>
            <a:off x="3492261" y="688580"/>
            <a:ext cx="8194614" cy="5491827"/>
          </a:xfrm>
          <a:prstGeom prst="rect">
            <a:avLst/>
          </a:prstGeom>
        </p:spPr>
      </p:pic>
      <p:sp>
        <p:nvSpPr>
          <p:cNvPr id="5" name="TextBox 4">
            <a:extLst>
              <a:ext uri="{FF2B5EF4-FFF2-40B4-BE49-F238E27FC236}">
                <a16:creationId xmlns:a16="http://schemas.microsoft.com/office/drawing/2014/main" id="{ADFC7863-AFDE-4552-A9A6-90BD7A75DD63}"/>
              </a:ext>
            </a:extLst>
          </p:cNvPr>
          <p:cNvSpPr txBox="1"/>
          <p:nvPr/>
        </p:nvSpPr>
        <p:spPr>
          <a:xfrm>
            <a:off x="4724400" y="6298720"/>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Image: </a:t>
            </a:r>
            <a:r>
              <a:rPr lang="en-US" dirty="0">
                <a:cs typeface="Calibri"/>
              </a:rPr>
              <a:t>cisco.com</a:t>
            </a:r>
            <a:endParaRPr lang="en-US" dirty="0"/>
          </a:p>
        </p:txBody>
      </p:sp>
    </p:spTree>
    <p:extLst>
      <p:ext uri="{BB962C8B-B14F-4D97-AF65-F5344CB8AC3E}">
        <p14:creationId xmlns:p14="http://schemas.microsoft.com/office/powerpoint/2010/main" val="3234384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A9A4-6FB2-49A5-BAF3-4B027CB0309B}"/>
              </a:ext>
            </a:extLst>
          </p:cNvPr>
          <p:cNvSpPr>
            <a:spLocks noGrp="1"/>
          </p:cNvSpPr>
          <p:nvPr>
            <p:ph type="title"/>
          </p:nvPr>
        </p:nvSpPr>
        <p:spPr>
          <a:xfrm>
            <a:off x="1584725" y="23828"/>
            <a:ext cx="7374616" cy="1781175"/>
          </a:xfrm>
        </p:spPr>
        <p:txBody>
          <a:bodyPr>
            <a:normAutofit/>
          </a:bodyPr>
          <a:lstStyle/>
          <a:p>
            <a:r>
              <a:rPr lang="en-IE" sz="3000" dirty="0"/>
              <a:t>TCP/IP Layers - Data Link/Physical </a:t>
            </a:r>
            <a:endParaRPr lang="en-IE" sz="3000" b="1" dirty="0">
              <a:cs typeface="Calibri Light"/>
            </a:endParaRPr>
          </a:p>
        </p:txBody>
      </p:sp>
      <p:sp>
        <p:nvSpPr>
          <p:cNvPr id="3" name="Content Placeholder 2">
            <a:extLst>
              <a:ext uri="{FF2B5EF4-FFF2-40B4-BE49-F238E27FC236}">
                <a16:creationId xmlns:a16="http://schemas.microsoft.com/office/drawing/2014/main" id="{35C4274F-3D0C-4782-93FE-40EEFF706614}"/>
              </a:ext>
            </a:extLst>
          </p:cNvPr>
          <p:cNvSpPr>
            <a:spLocks noGrp="1"/>
          </p:cNvSpPr>
          <p:nvPr>
            <p:ph idx="1"/>
          </p:nvPr>
        </p:nvSpPr>
        <p:spPr>
          <a:xfrm>
            <a:off x="608069" y="1805003"/>
            <a:ext cx="3189644" cy="3844948"/>
          </a:xfrm>
        </p:spPr>
        <p:txBody>
          <a:bodyPr>
            <a:normAutofit fontScale="85000" lnSpcReduction="10000"/>
          </a:bodyPr>
          <a:lstStyle/>
          <a:p>
            <a:endParaRPr lang="en-IE" sz="1600" dirty="0"/>
          </a:p>
          <a:p>
            <a:r>
              <a:rPr lang="en-GB" sz="2000" dirty="0"/>
              <a:t>Defines how data is sent physically through the network, including how it's framed and how devices are addressed.</a:t>
            </a:r>
            <a:endParaRPr lang="en-IE" sz="2000" dirty="0"/>
          </a:p>
          <a:p>
            <a:r>
              <a:rPr lang="en-IE" sz="2000" dirty="0"/>
              <a:t>Data Link Layer protocols </a:t>
            </a:r>
            <a:r>
              <a:rPr lang="en-GB" sz="2000" dirty="0"/>
              <a:t>transfer data between nodes on a network segment across the physical layer.</a:t>
            </a:r>
            <a:endParaRPr lang="en-IE" sz="2000" dirty="0"/>
          </a:p>
          <a:p>
            <a:r>
              <a:rPr lang="en-IE" sz="2000" dirty="0"/>
              <a:t>Supported by many physical layer implementations</a:t>
            </a:r>
          </a:p>
          <a:p>
            <a:pPr lvl="1"/>
            <a:r>
              <a:rPr lang="en-IE" sz="2000" dirty="0"/>
              <a:t>Wireless/wired</a:t>
            </a:r>
          </a:p>
          <a:p>
            <a:r>
              <a:rPr lang="en-IE" sz="2000" dirty="0"/>
              <a:t>PDU is the </a:t>
            </a:r>
            <a:r>
              <a:rPr lang="en-IE" sz="2000" b="1" dirty="0"/>
              <a:t>frame</a:t>
            </a:r>
            <a:br>
              <a:rPr lang="en-IE" sz="2000" b="1" dirty="0"/>
            </a:br>
            <a:br>
              <a:rPr lang="en-IE" sz="1600" b="1" dirty="0"/>
            </a:br>
            <a:endParaRPr lang="en-IE" sz="1600" b="1" dirty="0"/>
          </a:p>
          <a:p>
            <a:endParaRPr lang="en-IE" sz="1600" b="1" dirty="0"/>
          </a:p>
          <a:p>
            <a:endParaRPr lang="en-IE" sz="1600" dirty="0"/>
          </a:p>
          <a:p>
            <a:endParaRPr lang="en-IE" sz="1600" dirty="0"/>
          </a:p>
        </p:txBody>
      </p:sp>
      <p:pic>
        <p:nvPicPr>
          <p:cNvPr id="5" name="Picture 4" descr="A screenshot of a cell phone&#10;&#10;Description generated with very high confidence">
            <a:extLst>
              <a:ext uri="{FF2B5EF4-FFF2-40B4-BE49-F238E27FC236}">
                <a16:creationId xmlns:a16="http://schemas.microsoft.com/office/drawing/2014/main" id="{B315A6C2-EBD7-4EA5-914B-C5AEFCE5517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58628" y="1895931"/>
            <a:ext cx="6903723" cy="2005668"/>
          </a:xfrm>
          <a:prstGeom prst="rect">
            <a:avLst/>
          </a:prstGeom>
        </p:spPr>
      </p:pic>
      <p:sp>
        <p:nvSpPr>
          <p:cNvPr id="6" name="TextBox 5">
            <a:extLst>
              <a:ext uri="{FF2B5EF4-FFF2-40B4-BE49-F238E27FC236}">
                <a16:creationId xmlns:a16="http://schemas.microsoft.com/office/drawing/2014/main" id="{BBCF63CE-7545-44A3-8217-49183FC6DF84}"/>
              </a:ext>
            </a:extLst>
          </p:cNvPr>
          <p:cNvSpPr txBox="1"/>
          <p:nvPr/>
        </p:nvSpPr>
        <p:spPr>
          <a:xfrm>
            <a:off x="6652299" y="6378632"/>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4" tooltip="http://networkengineering.stackexchange.com/questions/25592/osi-model-encapsulation">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
        <p:nvSpPr>
          <p:cNvPr id="7" name="Callout: Line 6">
            <a:extLst>
              <a:ext uri="{FF2B5EF4-FFF2-40B4-BE49-F238E27FC236}">
                <a16:creationId xmlns:a16="http://schemas.microsoft.com/office/drawing/2014/main" id="{D02168E2-06B0-48D2-BDB4-5A0ED32C5B40}"/>
              </a:ext>
            </a:extLst>
          </p:cNvPr>
          <p:cNvSpPr/>
          <p:nvPr/>
        </p:nvSpPr>
        <p:spPr>
          <a:xfrm>
            <a:off x="4059932" y="3992529"/>
            <a:ext cx="2063537" cy="1516009"/>
          </a:xfrm>
          <a:prstGeom prst="borderCallout1">
            <a:avLst>
              <a:gd name="adj1" fmla="val -6600"/>
              <a:gd name="adj2" fmla="val 57039"/>
              <a:gd name="adj3" fmla="val -86359"/>
              <a:gd name="adj4" fmla="val 850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Sequence of alternating 1s and 0s for synchronisation</a:t>
            </a:r>
          </a:p>
        </p:txBody>
      </p:sp>
      <p:sp>
        <p:nvSpPr>
          <p:cNvPr id="10" name="Callout: Line 9">
            <a:extLst>
              <a:ext uri="{FF2B5EF4-FFF2-40B4-BE49-F238E27FC236}">
                <a16:creationId xmlns:a16="http://schemas.microsoft.com/office/drawing/2014/main" id="{773588E6-2525-48FD-A9E0-A260203BCBB8}"/>
              </a:ext>
            </a:extLst>
          </p:cNvPr>
          <p:cNvSpPr/>
          <p:nvPr/>
        </p:nvSpPr>
        <p:spPr>
          <a:xfrm>
            <a:off x="6385688" y="3992529"/>
            <a:ext cx="2063537" cy="1516009"/>
          </a:xfrm>
          <a:prstGeom prst="borderCallout1">
            <a:avLst>
              <a:gd name="adj1" fmla="val -6600"/>
              <a:gd name="adj2" fmla="val 57039"/>
              <a:gd name="adj3" fmla="val -81562"/>
              <a:gd name="adj4" fmla="val 376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Unique 6 octet (48 bit)  address. “hardware” or “physical” address</a:t>
            </a:r>
          </a:p>
        </p:txBody>
      </p:sp>
      <p:sp>
        <p:nvSpPr>
          <p:cNvPr id="12" name="Callout: Line 11">
            <a:extLst>
              <a:ext uri="{FF2B5EF4-FFF2-40B4-BE49-F238E27FC236}">
                <a16:creationId xmlns:a16="http://schemas.microsoft.com/office/drawing/2014/main" id="{6B879CBB-6094-44E6-8E77-A01518D154BB}"/>
              </a:ext>
            </a:extLst>
          </p:cNvPr>
          <p:cNvSpPr/>
          <p:nvPr/>
        </p:nvSpPr>
        <p:spPr>
          <a:xfrm>
            <a:off x="9872745" y="3992528"/>
            <a:ext cx="2063537" cy="2249246"/>
          </a:xfrm>
          <a:prstGeom prst="borderCallout1">
            <a:avLst>
              <a:gd name="adj1" fmla="val -6600"/>
              <a:gd name="adj2" fmla="val 57039"/>
              <a:gd name="adj3" fmla="val -56561"/>
              <a:gd name="adj4" fmla="val 484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Value used to check accidental changes to raw data. Calculated at both ends using data. Received value should match calculated value…</a:t>
            </a:r>
          </a:p>
        </p:txBody>
      </p:sp>
      <p:pic>
        <p:nvPicPr>
          <p:cNvPr id="11" name="Picture 10">
            <a:extLst>
              <a:ext uri="{FF2B5EF4-FFF2-40B4-BE49-F238E27FC236}">
                <a16:creationId xmlns:a16="http://schemas.microsoft.com/office/drawing/2014/main" id="{DD301A74-073C-6AAB-1BB2-0C7372CBB86C}"/>
              </a:ext>
            </a:extLst>
          </p:cNvPr>
          <p:cNvPicPr>
            <a:picLocks noChangeAspect="1"/>
          </p:cNvPicPr>
          <p:nvPr/>
        </p:nvPicPr>
        <p:blipFill>
          <a:blip r:embed="rId6"/>
          <a:stretch>
            <a:fillRect/>
          </a:stretch>
        </p:blipFill>
        <p:spPr>
          <a:xfrm>
            <a:off x="8024937" y="373889"/>
            <a:ext cx="1096762" cy="975573"/>
          </a:xfrm>
          <a:prstGeom prst="rect">
            <a:avLst/>
          </a:prstGeom>
        </p:spPr>
      </p:pic>
    </p:spTree>
    <p:extLst>
      <p:ext uri="{BB962C8B-B14F-4D97-AF65-F5344CB8AC3E}">
        <p14:creationId xmlns:p14="http://schemas.microsoft.com/office/powerpoint/2010/main" val="396192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0"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0573F-595E-45B8-BC77-A54AC8F17DC7}"/>
              </a:ext>
            </a:extLst>
          </p:cNvPr>
          <p:cNvSpPr>
            <a:spLocks noGrp="1"/>
          </p:cNvSpPr>
          <p:nvPr>
            <p:ph type="title"/>
          </p:nvPr>
        </p:nvSpPr>
        <p:spPr/>
        <p:txBody>
          <a:bodyPr/>
          <a:lstStyle/>
          <a:p>
            <a:r>
              <a:rPr lang="en-IE" dirty="0"/>
              <a:t>TCP/IP Layers - Internet/Network Layer</a:t>
            </a:r>
          </a:p>
        </p:txBody>
      </p:sp>
      <p:sp>
        <p:nvSpPr>
          <p:cNvPr id="3" name="Content Placeholder 2">
            <a:extLst>
              <a:ext uri="{FF2B5EF4-FFF2-40B4-BE49-F238E27FC236}">
                <a16:creationId xmlns:a16="http://schemas.microsoft.com/office/drawing/2014/main" id="{87365537-01DD-47F5-AFEF-2800034996FF}"/>
              </a:ext>
            </a:extLst>
          </p:cNvPr>
          <p:cNvSpPr>
            <a:spLocks noGrp="1"/>
          </p:cNvSpPr>
          <p:nvPr>
            <p:ph idx="1"/>
          </p:nvPr>
        </p:nvSpPr>
        <p:spPr>
          <a:xfrm>
            <a:off x="838200" y="1296574"/>
            <a:ext cx="10515600" cy="4351338"/>
          </a:xfrm>
        </p:spPr>
        <p:txBody>
          <a:bodyPr vert="horz" lIns="91440" tIns="45720" rIns="91440" bIns="45720" rtlCol="0" anchor="t">
            <a:normAutofit/>
          </a:bodyPr>
          <a:lstStyle/>
          <a:p>
            <a:r>
              <a:rPr lang="en-IE" dirty="0"/>
              <a:t>Internet/Network layer protocols primary function is to move data from one network to another network</a:t>
            </a:r>
          </a:p>
          <a:p>
            <a:r>
              <a:rPr lang="en-IE" dirty="0"/>
              <a:t>Network addresses(IP Addresses) must have a mechanism to locate hosts on different networks</a:t>
            </a:r>
            <a:endParaRPr lang="en-IE" dirty="0">
              <a:cs typeface="Calibri"/>
            </a:endParaRPr>
          </a:p>
          <a:p>
            <a:r>
              <a:rPr lang="en-IE" dirty="0"/>
              <a:t>Intermediary network devices such as routers, decapsulate frames to read destination host address contained in the packet header.</a:t>
            </a:r>
          </a:p>
          <a:p>
            <a:r>
              <a:rPr lang="en-IE" dirty="0"/>
              <a:t>Routers use the network portion of this address to determine which path to use to reach its destination.</a:t>
            </a:r>
            <a:endParaRPr lang="en-IE" dirty="0">
              <a:cs typeface="Calibri"/>
            </a:endParaRPr>
          </a:p>
        </p:txBody>
      </p:sp>
      <p:sp>
        <p:nvSpPr>
          <p:cNvPr id="4" name="Rectangle 3">
            <a:extLst>
              <a:ext uri="{FF2B5EF4-FFF2-40B4-BE49-F238E27FC236}">
                <a16:creationId xmlns:a16="http://schemas.microsoft.com/office/drawing/2014/main" id="{3B93BBE1-DC0D-457C-8E71-0BF411911497}"/>
              </a:ext>
            </a:extLst>
          </p:cNvPr>
          <p:cNvSpPr/>
          <p:nvPr/>
        </p:nvSpPr>
        <p:spPr>
          <a:xfrm>
            <a:off x="1961322" y="5424004"/>
            <a:ext cx="2438400" cy="88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Destination IP Address</a:t>
            </a:r>
          </a:p>
        </p:txBody>
      </p:sp>
      <p:sp>
        <p:nvSpPr>
          <p:cNvPr id="5" name="Rectangle 4">
            <a:extLst>
              <a:ext uri="{FF2B5EF4-FFF2-40B4-BE49-F238E27FC236}">
                <a16:creationId xmlns:a16="http://schemas.microsoft.com/office/drawing/2014/main" id="{C31581AC-E6E5-46A4-B0F7-5E6F8D63C177}"/>
              </a:ext>
            </a:extLst>
          </p:cNvPr>
          <p:cNvSpPr/>
          <p:nvPr/>
        </p:nvSpPr>
        <p:spPr>
          <a:xfrm>
            <a:off x="4399722" y="5424004"/>
            <a:ext cx="2438400" cy="88789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Source IP Address</a:t>
            </a:r>
          </a:p>
        </p:txBody>
      </p:sp>
      <p:sp>
        <p:nvSpPr>
          <p:cNvPr id="6" name="Rectangle 5">
            <a:extLst>
              <a:ext uri="{FF2B5EF4-FFF2-40B4-BE49-F238E27FC236}">
                <a16:creationId xmlns:a16="http://schemas.microsoft.com/office/drawing/2014/main" id="{7772C207-5531-43C5-B9B5-3DCE11E71E9F}"/>
              </a:ext>
            </a:extLst>
          </p:cNvPr>
          <p:cNvSpPr/>
          <p:nvPr/>
        </p:nvSpPr>
        <p:spPr>
          <a:xfrm>
            <a:off x="6838122" y="5424004"/>
            <a:ext cx="1881808" cy="88789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E" dirty="0"/>
              <a:t>Data</a:t>
            </a:r>
          </a:p>
        </p:txBody>
      </p:sp>
      <p:sp>
        <p:nvSpPr>
          <p:cNvPr id="7" name="Rectangle 6">
            <a:extLst>
              <a:ext uri="{FF2B5EF4-FFF2-40B4-BE49-F238E27FC236}">
                <a16:creationId xmlns:a16="http://schemas.microsoft.com/office/drawing/2014/main" id="{D01897BE-DA02-40C1-B345-6E73584D267D}"/>
              </a:ext>
            </a:extLst>
          </p:cNvPr>
          <p:cNvSpPr/>
          <p:nvPr/>
        </p:nvSpPr>
        <p:spPr>
          <a:xfrm>
            <a:off x="1961322" y="6003732"/>
            <a:ext cx="1159566" cy="315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Network</a:t>
            </a:r>
          </a:p>
        </p:txBody>
      </p:sp>
      <p:sp>
        <p:nvSpPr>
          <p:cNvPr id="8" name="Rectangle 7">
            <a:extLst>
              <a:ext uri="{FF2B5EF4-FFF2-40B4-BE49-F238E27FC236}">
                <a16:creationId xmlns:a16="http://schemas.microsoft.com/office/drawing/2014/main" id="{E34089B7-F340-49EF-A8A8-815B97A672C8}"/>
              </a:ext>
            </a:extLst>
          </p:cNvPr>
          <p:cNvSpPr/>
          <p:nvPr/>
        </p:nvSpPr>
        <p:spPr>
          <a:xfrm>
            <a:off x="3120887" y="6003732"/>
            <a:ext cx="1278834" cy="315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Device</a:t>
            </a:r>
          </a:p>
        </p:txBody>
      </p:sp>
      <p:sp>
        <p:nvSpPr>
          <p:cNvPr id="9" name="Rectangle 8">
            <a:extLst>
              <a:ext uri="{FF2B5EF4-FFF2-40B4-BE49-F238E27FC236}">
                <a16:creationId xmlns:a16="http://schemas.microsoft.com/office/drawing/2014/main" id="{573C7563-C86E-431A-9B7D-3357941B4A6A}"/>
              </a:ext>
            </a:extLst>
          </p:cNvPr>
          <p:cNvSpPr/>
          <p:nvPr/>
        </p:nvSpPr>
        <p:spPr>
          <a:xfrm>
            <a:off x="4399721" y="6003732"/>
            <a:ext cx="1159566" cy="3159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Network</a:t>
            </a:r>
          </a:p>
        </p:txBody>
      </p:sp>
      <p:sp>
        <p:nvSpPr>
          <p:cNvPr id="10" name="Rectangle 9">
            <a:extLst>
              <a:ext uri="{FF2B5EF4-FFF2-40B4-BE49-F238E27FC236}">
                <a16:creationId xmlns:a16="http://schemas.microsoft.com/office/drawing/2014/main" id="{32EF611F-3F3C-4996-BA08-04FB0223905C}"/>
              </a:ext>
            </a:extLst>
          </p:cNvPr>
          <p:cNvSpPr/>
          <p:nvPr/>
        </p:nvSpPr>
        <p:spPr>
          <a:xfrm>
            <a:off x="5559286" y="6003732"/>
            <a:ext cx="1278834" cy="3159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Device</a:t>
            </a:r>
          </a:p>
        </p:txBody>
      </p:sp>
      <p:sp>
        <p:nvSpPr>
          <p:cNvPr id="11" name="TextBox 10">
            <a:extLst>
              <a:ext uri="{FF2B5EF4-FFF2-40B4-BE49-F238E27FC236}">
                <a16:creationId xmlns:a16="http://schemas.microsoft.com/office/drawing/2014/main" id="{E51B319C-D60F-4DFC-9CEA-3AC8014D54D8}"/>
              </a:ext>
            </a:extLst>
          </p:cNvPr>
          <p:cNvSpPr txBox="1"/>
          <p:nvPr/>
        </p:nvSpPr>
        <p:spPr>
          <a:xfrm>
            <a:off x="1868557" y="4923426"/>
            <a:ext cx="1910844" cy="369332"/>
          </a:xfrm>
          <a:prstGeom prst="rect">
            <a:avLst/>
          </a:prstGeom>
          <a:noFill/>
        </p:spPr>
        <p:txBody>
          <a:bodyPr wrap="none" rtlCol="0">
            <a:spAutoFit/>
          </a:bodyPr>
          <a:lstStyle/>
          <a:p>
            <a:r>
              <a:rPr lang="en-IE" dirty="0"/>
              <a:t>IP/Network Packet</a:t>
            </a:r>
          </a:p>
        </p:txBody>
      </p:sp>
    </p:spTree>
    <p:extLst>
      <p:ext uri="{BB962C8B-B14F-4D97-AF65-F5344CB8AC3E}">
        <p14:creationId xmlns:p14="http://schemas.microsoft.com/office/powerpoint/2010/main" val="82581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86362-415D-4DDA-87FA-57EC58A1BBD5}"/>
              </a:ext>
            </a:extLst>
          </p:cNvPr>
          <p:cNvSpPr>
            <a:spLocks noGrp="1"/>
          </p:cNvSpPr>
          <p:nvPr>
            <p:ph type="title"/>
          </p:nvPr>
        </p:nvSpPr>
        <p:spPr>
          <a:xfrm>
            <a:off x="838199" y="365125"/>
            <a:ext cx="10876613" cy="1325563"/>
          </a:xfrm>
        </p:spPr>
        <p:txBody>
          <a:bodyPr/>
          <a:lstStyle/>
          <a:p>
            <a:r>
              <a:rPr lang="en-IE" dirty="0"/>
              <a:t>TCP/IP Layers – Internet/Network IP Addresses</a:t>
            </a:r>
          </a:p>
        </p:txBody>
      </p:sp>
      <p:sp>
        <p:nvSpPr>
          <p:cNvPr id="3" name="Content Placeholder 2">
            <a:extLst>
              <a:ext uri="{FF2B5EF4-FFF2-40B4-BE49-F238E27FC236}">
                <a16:creationId xmlns:a16="http://schemas.microsoft.com/office/drawing/2014/main" id="{09C656A0-7AE3-4353-887D-708CC53A0692}"/>
              </a:ext>
            </a:extLst>
          </p:cNvPr>
          <p:cNvSpPr>
            <a:spLocks noGrp="1"/>
          </p:cNvSpPr>
          <p:nvPr>
            <p:ph idx="1"/>
          </p:nvPr>
        </p:nvSpPr>
        <p:spPr>
          <a:xfrm>
            <a:off x="981635" y="1469004"/>
            <a:ext cx="9614647" cy="2298139"/>
          </a:xfrm>
        </p:spPr>
        <p:txBody>
          <a:bodyPr>
            <a:normAutofit fontScale="77500" lnSpcReduction="20000"/>
          </a:bodyPr>
          <a:lstStyle/>
          <a:p>
            <a:r>
              <a:rPr lang="en-IE" dirty="0"/>
              <a:t>IP addresses are “logical”</a:t>
            </a:r>
          </a:p>
          <a:p>
            <a:pPr lvl="1"/>
            <a:r>
              <a:rPr lang="en-IE" dirty="0"/>
              <a:t>Can be assigned to a device</a:t>
            </a:r>
          </a:p>
          <a:p>
            <a:r>
              <a:rPr lang="en-IE" dirty="0"/>
              <a:t>Includes network identification and Host identification</a:t>
            </a:r>
          </a:p>
          <a:p>
            <a:r>
              <a:rPr lang="en-IE" dirty="0"/>
              <a:t>Each device on a network must have a unique IP address</a:t>
            </a:r>
          </a:p>
          <a:p>
            <a:r>
              <a:rPr lang="en-IE" dirty="0"/>
              <a:t>Public IP addresses for the internet assigned by a central authority (IANA)</a:t>
            </a:r>
          </a:p>
          <a:p>
            <a:r>
              <a:rPr lang="en-IE" dirty="0"/>
              <a:t>Private IP addresses are reserve for internal use behind routers/Network address translation(NAT) devices.</a:t>
            </a:r>
          </a:p>
        </p:txBody>
      </p:sp>
      <p:pic>
        <p:nvPicPr>
          <p:cNvPr id="7" name="Picture 6" descr="A screenshot of a cell phone&#10;&#10;Description generated with high confidence">
            <a:extLst>
              <a:ext uri="{FF2B5EF4-FFF2-40B4-BE49-F238E27FC236}">
                <a16:creationId xmlns:a16="http://schemas.microsoft.com/office/drawing/2014/main" id="{6E1A4666-BA2E-4C54-AEF0-92B0C5DD27B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156852" y="3901058"/>
            <a:ext cx="6336366" cy="2496385"/>
          </a:xfrm>
          <a:prstGeom prst="rect">
            <a:avLst/>
          </a:prstGeom>
        </p:spPr>
      </p:pic>
      <p:sp>
        <p:nvSpPr>
          <p:cNvPr id="8" name="TextBox 7">
            <a:extLst>
              <a:ext uri="{FF2B5EF4-FFF2-40B4-BE49-F238E27FC236}">
                <a16:creationId xmlns:a16="http://schemas.microsoft.com/office/drawing/2014/main" id="{F1148494-513F-4B3B-98B1-B14B4553762D}"/>
              </a:ext>
            </a:extLst>
          </p:cNvPr>
          <p:cNvSpPr txBox="1"/>
          <p:nvPr/>
        </p:nvSpPr>
        <p:spPr>
          <a:xfrm>
            <a:off x="4021511" y="6531358"/>
            <a:ext cx="7591425" cy="230832"/>
          </a:xfrm>
          <a:prstGeom prst="rect">
            <a:avLst/>
          </a:prstGeom>
          <a:noFill/>
        </p:spPr>
        <p:txBody>
          <a:bodyPr wrap="square" rtlCol="0">
            <a:spAutoFit/>
          </a:bodyPr>
          <a:lstStyle/>
          <a:p>
            <a:r>
              <a:rPr lang="en-IE" sz="900">
                <a:hlinkClick r:id="rId4" tooltip="https://en.wikibooks.org/wiki/Communication_Networks/NAT_and_PAT_Protocols"/>
              </a:rPr>
              <a:t>This Photo</a:t>
            </a:r>
            <a:r>
              <a:rPr lang="en-IE" sz="900"/>
              <a:t> by Unknown Author is licensed under </a:t>
            </a:r>
            <a:r>
              <a:rPr lang="en-IE" sz="900">
                <a:hlinkClick r:id="rId5" tooltip="https://creativecommons.org/licenses/by-sa/3.0/"/>
              </a:rPr>
              <a:t>CC BY-SA</a:t>
            </a:r>
            <a:endParaRPr lang="en-IE" sz="900"/>
          </a:p>
        </p:txBody>
      </p:sp>
    </p:spTree>
    <p:extLst>
      <p:ext uri="{BB962C8B-B14F-4D97-AF65-F5344CB8AC3E}">
        <p14:creationId xmlns:p14="http://schemas.microsoft.com/office/powerpoint/2010/main" val="380568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2CA93-B41C-4CAD-8376-C509A5E4A82B}"/>
              </a:ext>
            </a:extLst>
          </p:cNvPr>
          <p:cNvSpPr>
            <a:spLocks noGrp="1"/>
          </p:cNvSpPr>
          <p:nvPr>
            <p:ph type="title"/>
          </p:nvPr>
        </p:nvSpPr>
        <p:spPr>
          <a:xfrm>
            <a:off x="742615" y="398220"/>
            <a:ext cx="10417561" cy="1454051"/>
          </a:xfrm>
        </p:spPr>
        <p:txBody>
          <a:bodyPr>
            <a:normAutofit/>
          </a:bodyPr>
          <a:lstStyle/>
          <a:p>
            <a:r>
              <a:rPr lang="en-IE" dirty="0">
                <a:solidFill>
                  <a:srgbClr val="000000"/>
                </a:solidFill>
              </a:rPr>
              <a:t>TCP/IP Layers - Transport Layer </a:t>
            </a:r>
          </a:p>
        </p:txBody>
      </p:sp>
      <p:pic>
        <p:nvPicPr>
          <p:cNvPr id="5" name="Picture 4" descr="A screenshot of a cell phone&#10;&#10;Description generated with very high confidence">
            <a:extLst>
              <a:ext uri="{FF2B5EF4-FFF2-40B4-BE49-F238E27FC236}">
                <a16:creationId xmlns:a16="http://schemas.microsoft.com/office/drawing/2014/main" id="{62D4EB8E-E9D5-4537-A146-D943ED1709F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29349" y="2321107"/>
            <a:ext cx="3661831" cy="2235984"/>
          </a:xfrm>
          <a:prstGeom prst="rect">
            <a:avLst/>
          </a:prstGeom>
        </p:spPr>
      </p:pic>
      <p:sp>
        <p:nvSpPr>
          <p:cNvPr id="3" name="Content Placeholder 2">
            <a:extLst>
              <a:ext uri="{FF2B5EF4-FFF2-40B4-BE49-F238E27FC236}">
                <a16:creationId xmlns:a16="http://schemas.microsoft.com/office/drawing/2014/main" id="{2E03A937-C31D-4F3D-AB9A-F24B069552FA}"/>
              </a:ext>
            </a:extLst>
          </p:cNvPr>
          <p:cNvSpPr>
            <a:spLocks noGrp="1"/>
          </p:cNvSpPr>
          <p:nvPr>
            <p:ph idx="1"/>
          </p:nvPr>
        </p:nvSpPr>
        <p:spPr>
          <a:xfrm>
            <a:off x="6090574" y="2421682"/>
            <a:ext cx="4977578" cy="3639289"/>
          </a:xfrm>
        </p:spPr>
        <p:txBody>
          <a:bodyPr anchor="ctr">
            <a:normAutofit fontScale="92500" lnSpcReduction="20000"/>
          </a:bodyPr>
          <a:lstStyle/>
          <a:p>
            <a:r>
              <a:rPr lang="en-GB" sz="2000" dirty="0">
                <a:solidFill>
                  <a:srgbClr val="000000"/>
                </a:solidFill>
              </a:rPr>
              <a:t>Transport layer protocols describe services that segment data from the Application layer. </a:t>
            </a:r>
            <a:endParaRPr lang="en-IE" sz="2000" dirty="0">
              <a:solidFill>
                <a:srgbClr val="000000"/>
              </a:solidFill>
            </a:endParaRPr>
          </a:p>
          <a:p>
            <a:r>
              <a:rPr lang="en-IE" sz="2000" dirty="0">
                <a:solidFill>
                  <a:srgbClr val="000000"/>
                </a:solidFill>
              </a:rPr>
              <a:t>How does a computer with one network interface differentiate between different services?</a:t>
            </a:r>
          </a:p>
          <a:p>
            <a:pPr lvl="1"/>
            <a:r>
              <a:rPr lang="en-IE" sz="1600" dirty="0">
                <a:solidFill>
                  <a:srgbClr val="000000"/>
                </a:solidFill>
              </a:rPr>
              <a:t>Port Numbers are used in the transport layer to represent applications or services</a:t>
            </a:r>
          </a:p>
          <a:p>
            <a:r>
              <a:rPr lang="en-IE" sz="2000" dirty="0">
                <a:solidFill>
                  <a:srgbClr val="000000"/>
                </a:solidFill>
              </a:rPr>
              <a:t>When a device receives data, the port number is used to determine which app or process is the correct destination</a:t>
            </a:r>
          </a:p>
          <a:p>
            <a:r>
              <a:rPr lang="en-IE" sz="2000" dirty="0">
                <a:solidFill>
                  <a:srgbClr val="000000"/>
                </a:solidFill>
              </a:rPr>
              <a:t>There are generally accepted port numbers:</a:t>
            </a:r>
          </a:p>
          <a:p>
            <a:pPr lvl="1"/>
            <a:r>
              <a:rPr lang="en-IE" sz="2000" dirty="0">
                <a:solidFill>
                  <a:srgbClr val="000000"/>
                </a:solidFill>
              </a:rPr>
              <a:t>What’s the port for SSH service?</a:t>
            </a:r>
          </a:p>
          <a:p>
            <a:pPr lvl="1"/>
            <a:r>
              <a:rPr lang="en-IE" sz="2000" dirty="0">
                <a:solidFill>
                  <a:srgbClr val="000000"/>
                </a:solidFill>
              </a:rPr>
              <a:t>HTTP service?</a:t>
            </a:r>
          </a:p>
          <a:p>
            <a:pPr lvl="1"/>
            <a:r>
              <a:rPr lang="en-IE" sz="2000" dirty="0">
                <a:solidFill>
                  <a:srgbClr val="000000"/>
                </a:solidFill>
                <a:cs typeface="Calibri"/>
              </a:rPr>
              <a:t>FTP service?</a:t>
            </a:r>
          </a:p>
        </p:txBody>
      </p:sp>
      <p:sp>
        <p:nvSpPr>
          <p:cNvPr id="6" name="TextBox 5">
            <a:extLst>
              <a:ext uri="{FF2B5EF4-FFF2-40B4-BE49-F238E27FC236}">
                <a16:creationId xmlns:a16="http://schemas.microsoft.com/office/drawing/2014/main" id="{8D9CDE34-311D-426A-8B73-77E6C0EE38C8}"/>
              </a:ext>
            </a:extLst>
          </p:cNvPr>
          <p:cNvSpPr txBox="1"/>
          <p:nvPr/>
        </p:nvSpPr>
        <p:spPr>
          <a:xfrm>
            <a:off x="1784138" y="4357036"/>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tackoverflow.com/questions/4756039/how-to-change-the-port-of-tomcat-from-8080-to-80">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424082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4AB4AD-3CE9-6A49-927B-9EF27F293439}"/>
              </a:ext>
            </a:extLst>
          </p:cNvPr>
          <p:cNvSpPr>
            <a:spLocks noGrp="1"/>
          </p:cNvSpPr>
          <p:nvPr>
            <p:ph type="title"/>
          </p:nvPr>
        </p:nvSpPr>
        <p:spPr>
          <a:xfrm>
            <a:off x="630936" y="639520"/>
            <a:ext cx="3429000" cy="1719072"/>
          </a:xfrm>
        </p:spPr>
        <p:txBody>
          <a:bodyPr anchor="b">
            <a:normAutofit/>
          </a:bodyPr>
          <a:lstStyle/>
          <a:p>
            <a:r>
              <a:rPr lang="en-IE" sz="3800"/>
              <a:t>TCP/IP Layers – Application Layer</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BE850C-5D90-5E47-CD7C-551242DBD55C}"/>
              </a:ext>
            </a:extLst>
          </p:cNvPr>
          <p:cNvSpPr>
            <a:spLocks noGrp="1"/>
          </p:cNvSpPr>
          <p:nvPr>
            <p:ph idx="1"/>
          </p:nvPr>
        </p:nvSpPr>
        <p:spPr>
          <a:xfrm>
            <a:off x="630936" y="2807208"/>
            <a:ext cx="3429000" cy="3410712"/>
          </a:xfrm>
        </p:spPr>
        <p:txBody>
          <a:bodyPr anchor="t">
            <a:normAutofit/>
          </a:bodyPr>
          <a:lstStyle/>
          <a:p>
            <a:r>
              <a:rPr lang="en-GB" sz="2000"/>
              <a:t> Represents high-level data exchange between applications</a:t>
            </a:r>
          </a:p>
          <a:p>
            <a:r>
              <a:rPr lang="en-GB" sz="2000">
                <a:latin typeface="Söhne"/>
              </a:rPr>
              <a:t>A</a:t>
            </a:r>
            <a:r>
              <a:rPr lang="en-GB" sz="2000" b="0" i="0">
                <a:effectLst/>
                <a:latin typeface="Söhne"/>
              </a:rPr>
              <a:t>pplication services, data formatting, encryption, and dialog control</a:t>
            </a:r>
            <a:r>
              <a:rPr lang="en-GB" sz="2000">
                <a:latin typeface="Söhne"/>
              </a:rPr>
              <a:t> can happen at Application layer</a:t>
            </a:r>
            <a:endParaRPr lang="en-GB" sz="2000" b="0" i="0">
              <a:effectLst/>
              <a:latin typeface="Söhne"/>
            </a:endParaRPr>
          </a:p>
          <a:p>
            <a:r>
              <a:rPr lang="en-GB" sz="2000" b="0" i="0">
                <a:effectLst/>
                <a:latin typeface="Söhne"/>
              </a:rPr>
              <a:t>User interfaces and application-level processes reside here.</a:t>
            </a:r>
            <a:endParaRPr lang="en-IE" sz="2000"/>
          </a:p>
        </p:txBody>
      </p:sp>
      <p:pic>
        <p:nvPicPr>
          <p:cNvPr id="5" name="Picture 4" descr="A few laptops connected to a cloud&#10;&#10;Description automatically generated">
            <a:extLst>
              <a:ext uri="{FF2B5EF4-FFF2-40B4-BE49-F238E27FC236}">
                <a16:creationId xmlns:a16="http://schemas.microsoft.com/office/drawing/2014/main" id="{4DC2177D-5DFD-FB22-DB9F-5D777BD4E19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54296" y="1703070"/>
            <a:ext cx="6903720" cy="3451860"/>
          </a:xfrm>
          <a:prstGeom prst="rect">
            <a:avLst/>
          </a:prstGeom>
        </p:spPr>
      </p:pic>
      <p:sp>
        <p:nvSpPr>
          <p:cNvPr id="6" name="TextBox 5">
            <a:extLst>
              <a:ext uri="{FF2B5EF4-FFF2-40B4-BE49-F238E27FC236}">
                <a16:creationId xmlns:a16="http://schemas.microsoft.com/office/drawing/2014/main" id="{9F736140-D954-9E52-C459-1149491495BE}"/>
              </a:ext>
            </a:extLst>
          </p:cNvPr>
          <p:cNvSpPr txBox="1"/>
          <p:nvPr/>
        </p:nvSpPr>
        <p:spPr>
          <a:xfrm>
            <a:off x="9371200" y="4954875"/>
            <a:ext cx="2186816"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atareao.es/tutoriales/configurar-un-servicio-ftp/">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IE" sz="700">
              <a:solidFill>
                <a:srgbClr val="FFFFFF"/>
              </a:solidFill>
            </a:endParaRPr>
          </a:p>
        </p:txBody>
      </p:sp>
    </p:spTree>
    <p:extLst>
      <p:ext uri="{BB962C8B-B14F-4D97-AF65-F5344CB8AC3E}">
        <p14:creationId xmlns:p14="http://schemas.microsoft.com/office/powerpoint/2010/main" val="1871702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58237-DCD4-4449-A771-6A872D5FA07F}"/>
              </a:ext>
            </a:extLst>
          </p:cNvPr>
          <p:cNvSpPr>
            <a:spLocks noGrp="1"/>
          </p:cNvSpPr>
          <p:nvPr>
            <p:ph type="title"/>
          </p:nvPr>
        </p:nvSpPr>
        <p:spPr/>
        <p:txBody>
          <a:bodyPr/>
          <a:lstStyle/>
          <a:p>
            <a:r>
              <a:rPr lang="en-IE" dirty="0"/>
              <a:t>Accessing Resources on a Network</a:t>
            </a:r>
          </a:p>
        </p:txBody>
      </p:sp>
      <p:sp>
        <p:nvSpPr>
          <p:cNvPr id="3" name="Text Placeholder 2">
            <a:extLst>
              <a:ext uri="{FF2B5EF4-FFF2-40B4-BE49-F238E27FC236}">
                <a16:creationId xmlns:a16="http://schemas.microsoft.com/office/drawing/2014/main" id="{4312A091-77A3-4D53-B53B-13FE1D7270BB}"/>
              </a:ext>
            </a:extLst>
          </p:cNvPr>
          <p:cNvSpPr>
            <a:spLocks noGrp="1"/>
          </p:cNvSpPr>
          <p:nvPr>
            <p:ph type="body" idx="1"/>
          </p:nvPr>
        </p:nvSpPr>
        <p:spPr/>
        <p:txBody>
          <a:bodyPr/>
          <a:lstStyle/>
          <a:p>
            <a:r>
              <a:rPr lang="en-IE" dirty="0"/>
              <a:t>Using TCP/IP protocol stack</a:t>
            </a:r>
          </a:p>
        </p:txBody>
      </p:sp>
    </p:spTree>
    <p:extLst>
      <p:ext uri="{BB962C8B-B14F-4D97-AF65-F5344CB8AC3E}">
        <p14:creationId xmlns:p14="http://schemas.microsoft.com/office/powerpoint/2010/main" val="3169051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1E56B-5CB7-4396-B39E-4936467D6030}"/>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4200" dirty="0">
                <a:solidFill>
                  <a:srgbClr val="FFFFFF"/>
                </a:solidFill>
              </a:rPr>
              <a:t>Example of Layered Model: Accessing Web Page…</a:t>
            </a:r>
          </a:p>
        </p:txBody>
      </p:sp>
      <p:cxnSp>
        <p:nvCxnSpPr>
          <p:cNvPr id="16"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8" name="Content Placeholder 7" descr="A screenshot of a video game&#10;&#10;Description automatically generated">
            <a:extLst>
              <a:ext uri="{FF2B5EF4-FFF2-40B4-BE49-F238E27FC236}">
                <a16:creationId xmlns:a16="http://schemas.microsoft.com/office/drawing/2014/main" id="{5A188954-622A-40D1-B1CF-E51FE85C01E9}"/>
              </a:ext>
            </a:extLst>
          </p:cNvPr>
          <p:cNvPicPr>
            <a:picLocks noGrp="1" noChangeAspect="1"/>
          </p:cNvPicPr>
          <p:nvPr>
            <p:ph idx="1"/>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4798"/>
          <a:stretch/>
        </p:blipFill>
        <p:spPr>
          <a:xfrm>
            <a:off x="331567" y="3641193"/>
            <a:ext cx="5455917" cy="1568886"/>
          </a:xfrm>
          <a:prstGeom prst="rect">
            <a:avLst/>
          </a:prstGeom>
        </p:spPr>
      </p:pic>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0E27357-1469-4FCE-B2AB-F4E96A4DF99C}"/>
              </a:ext>
            </a:extLst>
          </p:cNvPr>
          <p:cNvSpPr txBox="1"/>
          <p:nvPr/>
        </p:nvSpPr>
        <p:spPr>
          <a:xfrm>
            <a:off x="4844784" y="6526587"/>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3" tooltip="https://en.wikiversity.org/wiki/Web_Science/Part1:_Foundations_of_the_web/Internet_vs_World_Wide_Web/Summary_of_the_internet_architecture">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
        <p:nvSpPr>
          <p:cNvPr id="5" name="TextBox 4">
            <a:extLst>
              <a:ext uri="{FF2B5EF4-FFF2-40B4-BE49-F238E27FC236}">
                <a16:creationId xmlns:a16="http://schemas.microsoft.com/office/drawing/2014/main" id="{EAA613FC-1BD8-44BF-8867-39F9234F2DEE}"/>
              </a:ext>
            </a:extLst>
          </p:cNvPr>
          <p:cNvSpPr txBox="1"/>
          <p:nvPr/>
        </p:nvSpPr>
        <p:spPr>
          <a:xfrm>
            <a:off x="8127999" y="3081281"/>
            <a:ext cx="1723549" cy="369332"/>
          </a:xfrm>
          <a:prstGeom prst="rect">
            <a:avLst/>
          </a:prstGeom>
          <a:noFill/>
        </p:spPr>
        <p:txBody>
          <a:bodyPr wrap="none" rtlCol="0">
            <a:spAutoFit/>
          </a:bodyPr>
          <a:lstStyle/>
          <a:p>
            <a:r>
              <a:rPr lang="en-IE" dirty="0"/>
              <a:t>Logical Topology</a:t>
            </a:r>
          </a:p>
        </p:txBody>
      </p:sp>
      <p:sp>
        <p:nvSpPr>
          <p:cNvPr id="11" name="TextBox 10">
            <a:extLst>
              <a:ext uri="{FF2B5EF4-FFF2-40B4-BE49-F238E27FC236}">
                <a16:creationId xmlns:a16="http://schemas.microsoft.com/office/drawing/2014/main" id="{FD12CB37-89E1-4D2C-8B1E-2122ECFD4E78}"/>
              </a:ext>
            </a:extLst>
          </p:cNvPr>
          <p:cNvSpPr txBox="1"/>
          <p:nvPr/>
        </p:nvSpPr>
        <p:spPr>
          <a:xfrm>
            <a:off x="2421075" y="2975428"/>
            <a:ext cx="1581972" cy="369332"/>
          </a:xfrm>
          <a:prstGeom prst="rect">
            <a:avLst/>
          </a:prstGeom>
          <a:noFill/>
        </p:spPr>
        <p:txBody>
          <a:bodyPr wrap="none" rtlCol="0">
            <a:spAutoFit/>
          </a:bodyPr>
          <a:lstStyle/>
          <a:p>
            <a:r>
              <a:rPr lang="en-IE" dirty="0"/>
              <a:t>Layered Model</a:t>
            </a:r>
          </a:p>
        </p:txBody>
      </p:sp>
      <p:pic>
        <p:nvPicPr>
          <p:cNvPr id="7" name="Picture 6">
            <a:extLst>
              <a:ext uri="{FF2B5EF4-FFF2-40B4-BE49-F238E27FC236}">
                <a16:creationId xmlns:a16="http://schemas.microsoft.com/office/drawing/2014/main" id="{E812F37B-AA92-4B9D-9F75-BCD0615FDA33}"/>
              </a:ext>
            </a:extLst>
          </p:cNvPr>
          <p:cNvPicPr>
            <a:picLocks noChangeAspect="1"/>
          </p:cNvPicPr>
          <p:nvPr/>
        </p:nvPicPr>
        <p:blipFill>
          <a:blip r:embed="rId5"/>
          <a:stretch>
            <a:fillRect/>
          </a:stretch>
        </p:blipFill>
        <p:spPr>
          <a:xfrm>
            <a:off x="6681785" y="3795139"/>
            <a:ext cx="5256666" cy="1414940"/>
          </a:xfrm>
          <a:prstGeom prst="rect">
            <a:avLst/>
          </a:prstGeom>
        </p:spPr>
      </p:pic>
      <p:sp>
        <p:nvSpPr>
          <p:cNvPr id="10" name="TextBox 9">
            <a:extLst>
              <a:ext uri="{FF2B5EF4-FFF2-40B4-BE49-F238E27FC236}">
                <a16:creationId xmlns:a16="http://schemas.microsoft.com/office/drawing/2014/main" id="{5C18817C-1E81-4546-8259-E51DCF67071E}"/>
              </a:ext>
            </a:extLst>
          </p:cNvPr>
          <p:cNvSpPr txBox="1"/>
          <p:nvPr/>
        </p:nvSpPr>
        <p:spPr>
          <a:xfrm>
            <a:off x="1031889" y="5186419"/>
            <a:ext cx="857927" cy="246221"/>
          </a:xfrm>
          <a:prstGeom prst="rect">
            <a:avLst/>
          </a:prstGeom>
          <a:noFill/>
        </p:spPr>
        <p:txBody>
          <a:bodyPr wrap="none" rtlCol="0">
            <a:spAutoFit/>
          </a:bodyPr>
          <a:lstStyle/>
          <a:p>
            <a:r>
              <a:rPr lang="en-IE" sz="1000" dirty="0" err="1"/>
              <a:t>Compsys</a:t>
            </a:r>
            <a:r>
              <a:rPr lang="en-IE" sz="1000" dirty="0"/>
              <a:t> VM</a:t>
            </a:r>
          </a:p>
        </p:txBody>
      </p:sp>
      <p:sp>
        <p:nvSpPr>
          <p:cNvPr id="15" name="TextBox 14">
            <a:extLst>
              <a:ext uri="{FF2B5EF4-FFF2-40B4-BE49-F238E27FC236}">
                <a16:creationId xmlns:a16="http://schemas.microsoft.com/office/drawing/2014/main" id="{1816ED8A-0385-41D3-8BAE-5A339A8D0188}"/>
              </a:ext>
            </a:extLst>
          </p:cNvPr>
          <p:cNvSpPr txBox="1"/>
          <p:nvPr/>
        </p:nvSpPr>
        <p:spPr>
          <a:xfrm>
            <a:off x="2230078" y="5192538"/>
            <a:ext cx="606256" cy="246221"/>
          </a:xfrm>
          <a:prstGeom prst="rect">
            <a:avLst/>
          </a:prstGeom>
          <a:noFill/>
        </p:spPr>
        <p:txBody>
          <a:bodyPr wrap="none" rtlCol="0">
            <a:spAutoFit/>
          </a:bodyPr>
          <a:lstStyle/>
          <a:p>
            <a:r>
              <a:rPr lang="en-IE" sz="1000" dirty="0"/>
              <a:t>Router1</a:t>
            </a:r>
          </a:p>
        </p:txBody>
      </p:sp>
      <p:sp>
        <p:nvSpPr>
          <p:cNvPr id="17" name="TextBox 16">
            <a:extLst>
              <a:ext uri="{FF2B5EF4-FFF2-40B4-BE49-F238E27FC236}">
                <a16:creationId xmlns:a16="http://schemas.microsoft.com/office/drawing/2014/main" id="{EAF41687-7DF5-4D6D-A99B-14B27DAA55D8}"/>
              </a:ext>
            </a:extLst>
          </p:cNvPr>
          <p:cNvSpPr txBox="1"/>
          <p:nvPr/>
        </p:nvSpPr>
        <p:spPr>
          <a:xfrm>
            <a:off x="3263133" y="5180462"/>
            <a:ext cx="606256" cy="246221"/>
          </a:xfrm>
          <a:prstGeom prst="rect">
            <a:avLst/>
          </a:prstGeom>
          <a:noFill/>
        </p:spPr>
        <p:txBody>
          <a:bodyPr wrap="none" rtlCol="0">
            <a:spAutoFit/>
          </a:bodyPr>
          <a:lstStyle/>
          <a:p>
            <a:r>
              <a:rPr lang="en-IE" sz="1000" dirty="0"/>
              <a:t>Router2</a:t>
            </a:r>
          </a:p>
        </p:txBody>
      </p:sp>
      <p:sp>
        <p:nvSpPr>
          <p:cNvPr id="19" name="TextBox 18">
            <a:extLst>
              <a:ext uri="{FF2B5EF4-FFF2-40B4-BE49-F238E27FC236}">
                <a16:creationId xmlns:a16="http://schemas.microsoft.com/office/drawing/2014/main" id="{EF93536C-9E34-44BD-8706-EC50BD8CBE4D}"/>
              </a:ext>
            </a:extLst>
          </p:cNvPr>
          <p:cNvSpPr txBox="1"/>
          <p:nvPr/>
        </p:nvSpPr>
        <p:spPr>
          <a:xfrm>
            <a:off x="4234381" y="5176624"/>
            <a:ext cx="931665" cy="246221"/>
          </a:xfrm>
          <a:prstGeom prst="rect">
            <a:avLst/>
          </a:prstGeom>
          <a:noFill/>
        </p:spPr>
        <p:txBody>
          <a:bodyPr wrap="none" rtlCol="0">
            <a:spAutoFit/>
          </a:bodyPr>
          <a:lstStyle/>
          <a:p>
            <a:r>
              <a:rPr lang="en-IE" sz="1000" dirty="0" err="1"/>
              <a:t>MyWebServer</a:t>
            </a:r>
            <a:endParaRPr lang="en-IE" sz="1000" dirty="0"/>
          </a:p>
        </p:txBody>
      </p:sp>
      <p:sp>
        <p:nvSpPr>
          <p:cNvPr id="3" name="TextBox 2">
            <a:extLst>
              <a:ext uri="{FF2B5EF4-FFF2-40B4-BE49-F238E27FC236}">
                <a16:creationId xmlns:a16="http://schemas.microsoft.com/office/drawing/2014/main" id="{6F1C0E84-B995-46F9-9A91-9200F9C093E3}"/>
              </a:ext>
            </a:extLst>
          </p:cNvPr>
          <p:cNvSpPr txBox="1"/>
          <p:nvPr/>
        </p:nvSpPr>
        <p:spPr>
          <a:xfrm>
            <a:off x="7707085" y="6055123"/>
            <a:ext cx="3764941" cy="369332"/>
          </a:xfrm>
          <a:prstGeom prst="rect">
            <a:avLst/>
          </a:prstGeom>
          <a:noFill/>
        </p:spPr>
        <p:txBody>
          <a:bodyPr wrap="none" rtlCol="0">
            <a:spAutoFit/>
          </a:bodyPr>
          <a:lstStyle/>
          <a:p>
            <a:r>
              <a:rPr lang="en-GB" dirty="0"/>
              <a:t>Packet Tracer Example File on Website</a:t>
            </a:r>
            <a:endParaRPr lang="en-IE" dirty="0"/>
          </a:p>
        </p:txBody>
      </p:sp>
      <p:sp>
        <p:nvSpPr>
          <p:cNvPr id="4" name="Arrow: Up 3">
            <a:extLst>
              <a:ext uri="{FF2B5EF4-FFF2-40B4-BE49-F238E27FC236}">
                <a16:creationId xmlns:a16="http://schemas.microsoft.com/office/drawing/2014/main" id="{3FB37927-D677-4B18-9858-697845F512FD}"/>
              </a:ext>
            </a:extLst>
          </p:cNvPr>
          <p:cNvSpPr/>
          <p:nvPr/>
        </p:nvSpPr>
        <p:spPr>
          <a:xfrm>
            <a:off x="9209314" y="5186419"/>
            <a:ext cx="870856" cy="5176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421275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65739" y="-45395"/>
            <a:ext cx="12192000" cy="1010068"/>
          </a:xfrm>
        </p:spPr>
        <p:txBody>
          <a:bodyPr>
            <a:normAutofit fontScale="90000"/>
          </a:bodyPr>
          <a:lstStyle/>
          <a:p>
            <a:br>
              <a:rPr lang="en-US" altLang="en-US" dirty="0"/>
            </a:br>
            <a:r>
              <a:rPr lang="en-US" altLang="en-US" dirty="0"/>
              <a:t>Network Addressing</a:t>
            </a:r>
            <a:endParaRPr lang="en-CA" altLang="en-US" dirty="0"/>
          </a:p>
        </p:txBody>
      </p:sp>
      <p:sp>
        <p:nvSpPr>
          <p:cNvPr id="13315" name="Content Placeholder 2"/>
          <p:cNvSpPr>
            <a:spLocks noGrp="1"/>
          </p:cNvSpPr>
          <p:nvPr>
            <p:ph idx="1"/>
          </p:nvPr>
        </p:nvSpPr>
        <p:spPr>
          <a:xfrm>
            <a:off x="568375" y="1110871"/>
            <a:ext cx="11260519" cy="2989391"/>
          </a:xfrm>
        </p:spPr>
        <p:txBody>
          <a:bodyPr/>
          <a:lstStyle/>
          <a:p>
            <a:r>
              <a:rPr lang="en-US" sz="2133" dirty="0"/>
              <a:t>The data link and network layers use addressing to deliver data from source to destination.</a:t>
            </a:r>
          </a:p>
          <a:p>
            <a:r>
              <a:rPr lang="en-US" sz="2133" b="1" dirty="0"/>
              <a:t>Network layer source and destination addresses</a:t>
            </a:r>
            <a:r>
              <a:rPr lang="en-US" sz="2133" dirty="0"/>
              <a:t> - Responsible for delivering the IP packet from original source to the final destination. </a:t>
            </a:r>
          </a:p>
          <a:p>
            <a:r>
              <a:rPr lang="en-US" sz="2133" b="1" dirty="0"/>
              <a:t>Data link layer source and destination addresses </a:t>
            </a:r>
            <a:r>
              <a:rPr lang="en-US" sz="2133"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47" y="4246461"/>
            <a:ext cx="9105900" cy="222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010068"/>
          </a:xfrm>
        </p:spPr>
        <p:txBody>
          <a:bodyPr>
            <a:normAutofit/>
          </a:bodyPr>
          <a:lstStyle/>
          <a:p>
            <a:r>
              <a:rPr lang="en-US" altLang="en-US" dirty="0"/>
              <a:t> Network Layer: Logical Address</a:t>
            </a:r>
            <a:endParaRPr lang="en-CA" altLang="en-US" dirty="0"/>
          </a:p>
        </p:txBody>
      </p:sp>
      <p:sp>
        <p:nvSpPr>
          <p:cNvPr id="13315" name="Content Placeholder 2"/>
          <p:cNvSpPr>
            <a:spLocks noGrp="1"/>
          </p:cNvSpPr>
          <p:nvPr>
            <p:ph idx="1"/>
          </p:nvPr>
        </p:nvSpPr>
        <p:spPr>
          <a:xfrm>
            <a:off x="132669" y="1383993"/>
            <a:ext cx="5069936" cy="4610100"/>
          </a:xfrm>
        </p:spPr>
        <p:txBody>
          <a:bodyPr/>
          <a:lstStyle/>
          <a:p>
            <a:pPr marL="0" indent="0">
              <a:buNone/>
            </a:pPr>
            <a:r>
              <a:rPr lang="en-US" sz="2133" dirty="0"/>
              <a:t>The IP packet contains two IP addresses:</a:t>
            </a:r>
          </a:p>
          <a:p>
            <a:pPr lvl="1"/>
            <a:r>
              <a:rPr lang="en-US" sz="2133" b="1" dirty="0"/>
              <a:t>Source IP address</a:t>
            </a:r>
            <a:r>
              <a:rPr lang="en-US" sz="2133" dirty="0"/>
              <a:t> - The IP address of the sending device,  original source of the packet.</a:t>
            </a:r>
          </a:p>
          <a:p>
            <a:pPr lvl="1"/>
            <a:r>
              <a:rPr lang="en-US" sz="2133" b="1" dirty="0"/>
              <a:t>Destination IP address</a:t>
            </a:r>
            <a:r>
              <a:rPr lang="en-US" sz="2133" dirty="0"/>
              <a:t> - The IP address of the receiving device, final destination of the packet.</a:t>
            </a:r>
          </a:p>
          <a:p>
            <a:pPr marL="0" indent="0">
              <a:buNone/>
            </a:pPr>
            <a:r>
              <a:rPr lang="en-US" sz="2133" dirty="0"/>
              <a:t>These addresses may be on the same network or on different networks.</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632" y="1643816"/>
            <a:ext cx="6507619" cy="35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10068"/>
          </a:xfrm>
        </p:spPr>
        <p:txBody>
          <a:bodyPr>
            <a:normAutofit/>
          </a:bodyPr>
          <a:lstStyle/>
          <a:p>
            <a:r>
              <a:rPr lang="en-US" altLang="en-US" dirty="0"/>
              <a:t>Network Layer: Logical Address (Cont.)</a:t>
            </a:r>
            <a:endParaRPr lang="en-CA" altLang="en-US" dirty="0"/>
          </a:p>
        </p:txBody>
      </p:sp>
      <p:sp>
        <p:nvSpPr>
          <p:cNvPr id="13315" name="Content Placeholder 2"/>
          <p:cNvSpPr>
            <a:spLocks noGrp="1"/>
          </p:cNvSpPr>
          <p:nvPr>
            <p:ph idx="1"/>
          </p:nvPr>
        </p:nvSpPr>
        <p:spPr>
          <a:xfrm>
            <a:off x="133351" y="1181099"/>
            <a:ext cx="5737381" cy="5429021"/>
          </a:xfrm>
        </p:spPr>
        <p:txBody>
          <a:bodyPr/>
          <a:lstStyle/>
          <a:p>
            <a:pPr marL="0" indent="0">
              <a:buNone/>
            </a:pPr>
            <a:r>
              <a:rPr lang="en-US" sz="2133" dirty="0"/>
              <a:t>An IP address contains two parts:</a:t>
            </a:r>
          </a:p>
          <a:p>
            <a:pPr>
              <a:buFont typeface="Arial" panose="020B0604020202020204" pitchFamily="34" charset="0"/>
              <a:buChar char="•"/>
            </a:pPr>
            <a:r>
              <a:rPr lang="en-US" sz="2133" b="1" dirty="0"/>
              <a:t>Network portion </a:t>
            </a:r>
          </a:p>
          <a:p>
            <a:pPr lvl="1"/>
            <a:r>
              <a:rPr lang="en-US" sz="1800" dirty="0"/>
              <a:t>The left-most part of the address indicates the network which the IP address is a member.</a:t>
            </a:r>
          </a:p>
          <a:p>
            <a:pPr lvl="1"/>
            <a:r>
              <a:rPr lang="en-US" sz="2000" dirty="0"/>
              <a:t>Each network will have the same network portion.</a:t>
            </a:r>
          </a:p>
          <a:p>
            <a:pPr>
              <a:buFont typeface="Arial" panose="020B0604020202020204" pitchFamily="34" charset="0"/>
              <a:buChar char="•"/>
            </a:pPr>
            <a:r>
              <a:rPr lang="en-US" sz="2133" b="1" dirty="0"/>
              <a:t>Host portion</a:t>
            </a:r>
            <a:endParaRPr lang="en-US" sz="2133" dirty="0"/>
          </a:p>
          <a:p>
            <a:pPr lvl="1"/>
            <a:r>
              <a:rPr lang="en-US" sz="2000" dirty="0"/>
              <a:t>The remaining part of the address identifies a specific device within the network. </a:t>
            </a:r>
          </a:p>
          <a:p>
            <a:pPr lvl="1"/>
            <a:r>
              <a:rPr lang="en-US" sz="20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083" y="1649476"/>
            <a:ext cx="6187917" cy="35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93324"/>
          </a:xfrm>
        </p:spPr>
        <p:txBody>
          <a:bodyPr>
            <a:normAutofit/>
          </a:bodyPr>
          <a:lstStyle/>
          <a:p>
            <a:r>
              <a:rPr lang="en-US" altLang="en-US" dirty="0"/>
              <a:t>Devices on the Same Network</a:t>
            </a:r>
            <a:endParaRPr lang="en-CA" altLang="en-US" dirty="0"/>
          </a:p>
        </p:txBody>
      </p:sp>
      <p:sp>
        <p:nvSpPr>
          <p:cNvPr id="13315" name="Content Placeholder 2"/>
          <p:cNvSpPr>
            <a:spLocks noGrp="1"/>
          </p:cNvSpPr>
          <p:nvPr>
            <p:ph idx="1"/>
          </p:nvPr>
        </p:nvSpPr>
        <p:spPr>
          <a:xfrm>
            <a:off x="236208" y="1580083"/>
            <a:ext cx="5051889" cy="4580413"/>
          </a:xfrm>
        </p:spPr>
        <p:txBody>
          <a:bodyPr/>
          <a:lstStyle/>
          <a:p>
            <a:pPr marL="0" indent="0">
              <a:buNone/>
            </a:pPr>
            <a:r>
              <a:rPr lang="en-US" sz="2133" dirty="0"/>
              <a:t>When devices are on the same network the source and destination will have the same number in network portion of the address.</a:t>
            </a:r>
          </a:p>
          <a:p>
            <a:pPr lvl="1"/>
            <a:r>
              <a:rPr lang="en-US" sz="2133" dirty="0"/>
              <a:t>PC1 – </a:t>
            </a:r>
            <a:r>
              <a:rPr lang="en-US" sz="2133" u="sng" dirty="0">
                <a:solidFill>
                  <a:schemeClr val="accent6"/>
                </a:solidFill>
              </a:rPr>
              <a:t>192.168.1</a:t>
            </a:r>
            <a:r>
              <a:rPr lang="en-US" sz="2133" dirty="0"/>
              <a:t>.110</a:t>
            </a:r>
          </a:p>
          <a:p>
            <a:pPr lvl="1"/>
            <a:r>
              <a:rPr lang="en-US" sz="2133" dirty="0"/>
              <a:t>FTP Server – </a:t>
            </a:r>
            <a:r>
              <a:rPr lang="en-US" sz="2133" u="sng" dirty="0">
                <a:solidFill>
                  <a:schemeClr val="accent6"/>
                </a:solidFill>
              </a:rPr>
              <a:t>192.168.1</a:t>
            </a:r>
            <a:r>
              <a:rPr lang="en-US" sz="2133"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8305" y="1303325"/>
            <a:ext cx="6191011" cy="3974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93324"/>
          </a:xfrm>
        </p:spPr>
        <p:txBody>
          <a:bodyPr>
            <a:normAutofit/>
          </a:bodyPr>
          <a:lstStyle/>
          <a:p>
            <a:r>
              <a:rPr lang="en-US" altLang="en-US" dirty="0"/>
              <a:t> Data Link Layer Addresses: Same IP Network</a:t>
            </a:r>
            <a:endParaRPr lang="en-CA" altLang="en-US" dirty="0"/>
          </a:p>
        </p:txBody>
      </p:sp>
      <p:sp>
        <p:nvSpPr>
          <p:cNvPr id="13315" name="Content Placeholder 2"/>
          <p:cNvSpPr>
            <a:spLocks noGrp="1"/>
          </p:cNvSpPr>
          <p:nvPr>
            <p:ph idx="1"/>
          </p:nvPr>
        </p:nvSpPr>
        <p:spPr>
          <a:xfrm>
            <a:off x="152401" y="1148516"/>
            <a:ext cx="5372100" cy="4580413"/>
          </a:xfrm>
        </p:spPr>
        <p:txBody>
          <a:bodyPr/>
          <a:lstStyle/>
          <a:p>
            <a:pPr marL="0" indent="0">
              <a:buNone/>
            </a:pPr>
            <a:r>
              <a:rPr lang="en-US" sz="2133" dirty="0"/>
              <a:t>When devices are on the same Ethernet network the data link frame will use the actual MAC address of the destination.</a:t>
            </a:r>
          </a:p>
          <a:p>
            <a:pPr marL="0" indent="0">
              <a:buNone/>
            </a:pPr>
            <a:r>
              <a:rPr lang="en-CA" altLang="en-US" sz="2133" dirty="0"/>
              <a:t>MAC addresses are embedded into the Ethernet Adapters and are local addressing.</a:t>
            </a:r>
          </a:p>
          <a:p>
            <a:pPr>
              <a:buFont typeface="Arial" panose="020B0604020202020204" pitchFamily="34" charset="0"/>
              <a:buChar char="•"/>
            </a:pPr>
            <a:r>
              <a:rPr lang="en-CA" altLang="en-US" sz="2133" dirty="0"/>
              <a:t>The Source MAC address will be that of the sending device.</a:t>
            </a:r>
          </a:p>
          <a:p>
            <a:pPr>
              <a:buFont typeface="Arial" panose="020B0604020202020204" pitchFamily="34" charset="0"/>
              <a:buChar char="•"/>
            </a:pPr>
            <a:r>
              <a:rPr lang="en-CA" altLang="en-US" sz="2133" dirty="0"/>
              <a:t>The Destination MAC address will always be on the same network as the source, even if the ultimate destination is on a remote Network.</a:t>
            </a:r>
          </a:p>
        </p:txBody>
      </p:sp>
      <p:pic>
        <p:nvPicPr>
          <p:cNvPr id="2" name="Picture 1"/>
          <p:cNvPicPr>
            <a:picLocks noChangeAspect="1"/>
          </p:cNvPicPr>
          <p:nvPr/>
        </p:nvPicPr>
        <p:blipFill>
          <a:blip r:embed="rId3"/>
          <a:stretch>
            <a:fillRect/>
          </a:stretch>
        </p:blipFill>
        <p:spPr>
          <a:xfrm>
            <a:off x="5865921" y="1148515"/>
            <a:ext cx="5963924" cy="3911821"/>
          </a:xfrm>
          <a:prstGeom prst="rect">
            <a:avLst/>
          </a:prstGeom>
        </p:spPr>
      </p:pic>
    </p:spTree>
    <p:extLst>
      <p:ext uri="{BB962C8B-B14F-4D97-AF65-F5344CB8AC3E}">
        <p14:creationId xmlns:p14="http://schemas.microsoft.com/office/powerpoint/2010/main" val="1711889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093324"/>
          </a:xfrm>
        </p:spPr>
        <p:txBody>
          <a:bodyPr>
            <a:normAutofit/>
          </a:bodyPr>
          <a:lstStyle/>
          <a:p>
            <a:r>
              <a:rPr lang="en-US" altLang="en-US" dirty="0"/>
              <a:t>Devices on a Remote Network</a:t>
            </a:r>
            <a:endParaRPr lang="en-CA" altLang="en-US" dirty="0"/>
          </a:p>
        </p:txBody>
      </p:sp>
      <p:sp>
        <p:nvSpPr>
          <p:cNvPr id="13315" name="Content Placeholder 2"/>
          <p:cNvSpPr>
            <a:spLocks noGrp="1"/>
          </p:cNvSpPr>
          <p:nvPr>
            <p:ph idx="1"/>
          </p:nvPr>
        </p:nvSpPr>
        <p:spPr>
          <a:xfrm>
            <a:off x="152401" y="1148516"/>
            <a:ext cx="5150384" cy="4790168"/>
          </a:xfrm>
        </p:spPr>
        <p:txBody>
          <a:bodyPr/>
          <a:lstStyle/>
          <a:p>
            <a:pPr marL="0" indent="0">
              <a:buNone/>
            </a:pPr>
            <a:r>
              <a:rPr lang="en-US" altLang="en-US" sz="2133" dirty="0"/>
              <a:t>When the source and destination have a different network portion, this means they are on different networks.</a:t>
            </a:r>
          </a:p>
          <a:p>
            <a:pPr lvl="1"/>
            <a:r>
              <a:rPr lang="en-US" altLang="en-US" sz="2133" dirty="0"/>
              <a:t>PC1 – 192.168.1</a:t>
            </a:r>
          </a:p>
          <a:p>
            <a:pPr lvl="1"/>
            <a:r>
              <a:rPr lang="en-US" altLang="en-US" sz="2133"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5524501" y="1383134"/>
            <a:ext cx="6512711" cy="4320933"/>
          </a:xfrm>
          <a:prstGeom prst="rect">
            <a:avLst/>
          </a:prstGeom>
        </p:spPr>
      </p:pic>
    </p:spTree>
    <p:extLst>
      <p:ext uri="{BB962C8B-B14F-4D97-AF65-F5344CB8AC3E}">
        <p14:creationId xmlns:p14="http://schemas.microsoft.com/office/powerpoint/2010/main" val="1152864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2"/>
            <a:ext cx="12192000" cy="991725"/>
          </a:xfrm>
        </p:spPr>
        <p:txBody>
          <a:bodyPr>
            <a:normAutofit fontScale="90000"/>
          </a:bodyPr>
          <a:lstStyle/>
          <a:p>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52400" y="1276886"/>
            <a:ext cx="5382031" cy="5201484"/>
          </a:xfrm>
        </p:spPr>
        <p:txBody>
          <a:bodyPr>
            <a:normAutofit fontScale="85000" lnSpcReduction="20000"/>
          </a:bodyPr>
          <a:lstStyle/>
          <a:p>
            <a:pPr marL="0" indent="0">
              <a:buNone/>
            </a:pPr>
            <a:r>
              <a:rPr lang="en-US" dirty="0"/>
              <a:t>When the final destination is remote, Network Layer(Layer 3) will provide Data Link Layer(Layer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4433" y="1584960"/>
            <a:ext cx="6505167" cy="4413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327943"/>
          </a:xfrm>
        </p:spPr>
        <p:txBody>
          <a:bodyPr>
            <a:normAutofit fontScale="90000"/>
          </a:bodyPr>
          <a:lstStyle/>
          <a:p>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52401" y="1487424"/>
            <a:ext cx="5246915" cy="4843603"/>
          </a:xfrm>
        </p:spPr>
        <p:txBody>
          <a:bodyPr>
            <a:normAutofit lnSpcReduction="10000"/>
          </a:bodyPr>
          <a:lstStyle/>
          <a:p>
            <a:pPr>
              <a:buFont typeface="Arial" panose="020B0604020202020204" pitchFamily="34" charset="0"/>
              <a:buChar char="•"/>
            </a:pPr>
            <a:r>
              <a:rPr lang="en-US" altLang="en-US" sz="2133" dirty="0"/>
              <a:t>The data link addressing is local addressing so it will have a source and destination for each link.</a:t>
            </a:r>
          </a:p>
          <a:p>
            <a:pPr>
              <a:buFont typeface="Arial" panose="020B0604020202020204" pitchFamily="34" charset="0"/>
              <a:buChar char="•"/>
            </a:pPr>
            <a:r>
              <a:rPr lang="en-US" altLang="en-US" sz="2133" dirty="0"/>
              <a:t>The MAC addressing for the first segment is :</a:t>
            </a:r>
          </a:p>
          <a:p>
            <a:pPr lvl="1"/>
            <a:r>
              <a:rPr lang="en-US" altLang="en-US" sz="2133" dirty="0"/>
              <a:t>Source –  AA-AA-AA-AA-AA-AA (PC1) Sends the frame.</a:t>
            </a:r>
          </a:p>
          <a:p>
            <a:pPr lvl="1"/>
            <a:r>
              <a:rPr lang="en-US" altLang="en-US" sz="2133"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079" y="1166036"/>
            <a:ext cx="5621117" cy="3596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998720" cy="1148515"/>
          </a:xfrm>
        </p:spPr>
        <p:txBody>
          <a:bodyPr>
            <a:normAutofit fontScale="90000"/>
          </a:bodyPr>
          <a:lstStyle/>
          <a:p>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215901" y="1148517"/>
            <a:ext cx="11341100" cy="2235339"/>
          </a:xfrm>
        </p:spPr>
        <p:txBody>
          <a:bodyPr/>
          <a:lstStyle/>
          <a:p>
            <a:pPr>
              <a:buFont typeface="Arial" panose="020B0604020202020204" pitchFamily="34" charset="0"/>
              <a:buChar char="•"/>
            </a:pPr>
            <a:r>
              <a:rPr lang="en-US" altLang="en-US" sz="2133"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2133" dirty="0"/>
              <a:t>The MAC addressing for the first segment is:</a:t>
            </a:r>
          </a:p>
          <a:p>
            <a:pPr lvl="1"/>
            <a:r>
              <a:rPr lang="en-US" altLang="en-US" sz="2133" dirty="0"/>
              <a:t>Source –  (PC1 NIC) sends frame</a:t>
            </a:r>
          </a:p>
          <a:p>
            <a:pPr lvl="1"/>
            <a:r>
              <a:rPr lang="en-US" altLang="en-US" sz="2133"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7789" y="3429001"/>
            <a:ext cx="5961049" cy="2886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5956299" cy="1148515"/>
          </a:xfrm>
        </p:spPr>
        <p:txBody>
          <a:bodyPr>
            <a:normAutofit fontScale="90000"/>
          </a:bodyPr>
          <a:lstStyle/>
          <a:p>
            <a:r>
              <a:rPr lang="en-US" altLang="en-US" dirty="0"/>
              <a:t>Data Link Addresses (Cont.)</a:t>
            </a:r>
            <a:endParaRPr lang="en-CA" altLang="en-US" dirty="0"/>
          </a:p>
        </p:txBody>
      </p:sp>
      <p:sp>
        <p:nvSpPr>
          <p:cNvPr id="13315" name="Content Placeholder 2"/>
          <p:cNvSpPr>
            <a:spLocks noGrp="1"/>
          </p:cNvSpPr>
          <p:nvPr>
            <p:ph idx="1"/>
          </p:nvPr>
        </p:nvSpPr>
        <p:spPr>
          <a:xfrm>
            <a:off x="1661190" y="1371261"/>
            <a:ext cx="10998200" cy="1531184"/>
          </a:xfrm>
        </p:spPr>
        <p:txBody>
          <a:bodyPr/>
          <a:lstStyle/>
          <a:p>
            <a:pPr marL="0" indent="0">
              <a:buNone/>
            </a:pPr>
            <a:r>
              <a:rPr lang="en-US" altLang="en-US" sz="2133" dirty="0"/>
              <a:t>The MAC addressing for the second hop is:</a:t>
            </a:r>
          </a:p>
          <a:p>
            <a:pPr lvl="1"/>
            <a:r>
              <a:rPr lang="en-US" altLang="en-US" sz="2133" dirty="0"/>
              <a:t>Source –  (First Router- exit interface) sends frame</a:t>
            </a:r>
          </a:p>
          <a:p>
            <a:pPr lvl="1"/>
            <a:r>
              <a:rPr lang="en-US" altLang="en-US" sz="2133"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3390" y="2773339"/>
            <a:ext cx="6965221" cy="31303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5689599" cy="1148515"/>
          </a:xfrm>
        </p:spPr>
        <p:txBody>
          <a:bodyPr>
            <a:normAutofit fontScale="90000"/>
          </a:bodyPr>
          <a:lstStyle/>
          <a:p>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821699" y="1511874"/>
            <a:ext cx="10388599" cy="1607384"/>
          </a:xfrm>
        </p:spPr>
        <p:txBody>
          <a:bodyPr/>
          <a:lstStyle/>
          <a:p>
            <a:pPr marL="0" indent="0">
              <a:buNone/>
            </a:pPr>
            <a:r>
              <a:rPr lang="en-US" altLang="en-US" sz="2133" dirty="0"/>
              <a:t>The MAC addressing for the last segment is:</a:t>
            </a:r>
          </a:p>
          <a:p>
            <a:pPr lvl="1"/>
            <a:r>
              <a:rPr lang="en-US" altLang="en-US" sz="2133" dirty="0"/>
              <a:t>Source –  (Second Router- exit interface) sends frame</a:t>
            </a:r>
          </a:p>
          <a:p>
            <a:pPr lvl="1"/>
            <a:r>
              <a:rPr lang="en-US" altLang="en-US" sz="2133"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828" y="2849543"/>
            <a:ext cx="6902344" cy="3039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6108699" cy="1148515"/>
          </a:xfrm>
        </p:spPr>
        <p:txBody>
          <a:bodyPr>
            <a:normAutofit fontScale="90000"/>
          </a:bodyPr>
          <a:lstStyle/>
          <a:p>
            <a:r>
              <a:rPr lang="en-US" altLang="en-US" sz="2133"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66701" y="1110417"/>
            <a:ext cx="11493500" cy="1607384"/>
          </a:xfrm>
        </p:spPr>
        <p:txBody>
          <a:bodyPr/>
          <a:lstStyle/>
          <a:p>
            <a:pPr>
              <a:buFont typeface="Arial" panose="020B0604020202020204" pitchFamily="34" charset="0"/>
              <a:buChar char="•"/>
            </a:pPr>
            <a:r>
              <a:rPr lang="en-US" altLang="en-US" sz="2133"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2133"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548" y="2909504"/>
            <a:ext cx="6962305" cy="3039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D9534-4DB7-4E08-BED9-F340E0C5F820}"/>
              </a:ext>
            </a:extLst>
          </p:cNvPr>
          <p:cNvSpPr>
            <a:spLocks noGrp="1"/>
          </p:cNvSpPr>
          <p:nvPr>
            <p:ph type="title"/>
          </p:nvPr>
        </p:nvSpPr>
        <p:spPr/>
        <p:txBody>
          <a:bodyPr/>
          <a:lstStyle/>
          <a:p>
            <a:r>
              <a:rPr lang="en-IE" dirty="0"/>
              <a:t>Quiz</a:t>
            </a:r>
          </a:p>
        </p:txBody>
      </p:sp>
      <p:sp>
        <p:nvSpPr>
          <p:cNvPr id="3" name="TextBox 2">
            <a:extLst>
              <a:ext uri="{FF2B5EF4-FFF2-40B4-BE49-F238E27FC236}">
                <a16:creationId xmlns:a16="http://schemas.microsoft.com/office/drawing/2014/main" id="{0BA1AFFB-F492-49ED-9144-3F5E3AF4055D}"/>
              </a:ext>
            </a:extLst>
          </p:cNvPr>
          <p:cNvSpPr txBox="1"/>
          <p:nvPr/>
        </p:nvSpPr>
        <p:spPr>
          <a:xfrm>
            <a:off x="1494971" y="1937657"/>
            <a:ext cx="10130972" cy="3416320"/>
          </a:xfrm>
          <a:prstGeom prst="rect">
            <a:avLst/>
          </a:prstGeom>
          <a:noFill/>
        </p:spPr>
        <p:txBody>
          <a:bodyPr wrap="square" rtlCol="0">
            <a:spAutoFit/>
          </a:bodyPr>
          <a:lstStyle/>
          <a:p>
            <a:r>
              <a:rPr lang="en-IE" dirty="0"/>
              <a:t>Which of the following devices operate primarily at the Data Link Layer(OSI Layer 2) </a:t>
            </a:r>
          </a:p>
          <a:p>
            <a:pPr marL="342900" indent="-342900">
              <a:buAutoNum type="arabicPeriod"/>
            </a:pPr>
            <a:r>
              <a:rPr lang="en-IE" dirty="0"/>
              <a:t>Router</a:t>
            </a:r>
          </a:p>
          <a:p>
            <a:pPr marL="342900" indent="-342900">
              <a:buAutoNum type="arabicPeriod"/>
            </a:pPr>
            <a:r>
              <a:rPr lang="en-IE" dirty="0"/>
              <a:t>Web Server</a:t>
            </a:r>
          </a:p>
          <a:p>
            <a:pPr marL="342900" indent="-342900">
              <a:buAutoNum type="arabicPeriod"/>
            </a:pPr>
            <a:r>
              <a:rPr lang="en-IE" dirty="0"/>
              <a:t>Switch</a:t>
            </a:r>
          </a:p>
          <a:p>
            <a:pPr marL="342900" indent="-342900">
              <a:buAutoNum type="arabicPeriod"/>
            </a:pPr>
            <a:r>
              <a:rPr lang="en-IE" dirty="0"/>
              <a:t>Laptop</a:t>
            </a:r>
          </a:p>
          <a:p>
            <a:pPr marL="342900" indent="-342900">
              <a:buAutoNum type="arabicPeriod"/>
            </a:pPr>
            <a:endParaRPr lang="en-IE" dirty="0"/>
          </a:p>
          <a:p>
            <a:r>
              <a:rPr lang="en-IE" dirty="0"/>
              <a:t>Which of the following statements are True for communication between different networks (</a:t>
            </a:r>
            <a:r>
              <a:rPr lang="en-IE" dirty="0" err="1"/>
              <a:t>ie</a:t>
            </a:r>
            <a:r>
              <a:rPr lang="en-IE" dirty="0"/>
              <a:t> across the internet)</a:t>
            </a:r>
          </a:p>
          <a:p>
            <a:pPr marL="342900" indent="-342900">
              <a:buAutoNum type="arabicPeriod"/>
            </a:pPr>
            <a:r>
              <a:rPr lang="en-IE" dirty="0"/>
              <a:t>The source and destination MAC addresses will remain the same from link to link</a:t>
            </a:r>
          </a:p>
          <a:p>
            <a:pPr marL="342900" indent="-342900">
              <a:buAutoNum type="arabicPeriod"/>
            </a:pPr>
            <a:r>
              <a:rPr lang="en-IE" dirty="0"/>
              <a:t>The destination IP address will change from link to link.</a:t>
            </a:r>
          </a:p>
          <a:p>
            <a:pPr marL="342900" indent="-342900">
              <a:buAutoNum type="arabicPeriod"/>
            </a:pPr>
            <a:r>
              <a:rPr lang="en-IE" dirty="0"/>
              <a:t>The source and destination MAC address will change from link to link/hop to hop</a:t>
            </a:r>
          </a:p>
          <a:p>
            <a:pPr marL="342900" indent="-342900">
              <a:buAutoNum type="arabicPeriod"/>
            </a:pPr>
            <a:r>
              <a:rPr lang="en-IE" dirty="0"/>
              <a:t>The destination IP address will remain the same across all links.</a:t>
            </a:r>
          </a:p>
        </p:txBody>
      </p:sp>
    </p:spTree>
    <p:extLst>
      <p:ext uri="{BB962C8B-B14F-4D97-AF65-F5344CB8AC3E}">
        <p14:creationId xmlns:p14="http://schemas.microsoft.com/office/powerpoint/2010/main" val="2276252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9794B-52EF-47A7-A1FD-45CFE999D0A5}"/>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Break</a:t>
            </a:r>
          </a:p>
        </p:txBody>
      </p:sp>
      <p:sp>
        <p:nvSpPr>
          <p:cNvPr id="3" name="Text Placeholder 2">
            <a:extLst>
              <a:ext uri="{FF2B5EF4-FFF2-40B4-BE49-F238E27FC236}">
                <a16:creationId xmlns:a16="http://schemas.microsoft.com/office/drawing/2014/main" id="{E646C239-1EC8-4DEB-A872-65FB975A7D2B}"/>
              </a:ext>
            </a:extLst>
          </p:cNvPr>
          <p:cNvSpPr>
            <a:spLocks noGrp="1"/>
          </p:cNvSpPr>
          <p:nvPr>
            <p:ph type="body" idx="1"/>
          </p:nvPr>
        </p:nvSpPr>
        <p:spPr>
          <a:xfrm>
            <a:off x="6590966" y="3428999"/>
            <a:ext cx="4805691" cy="838831"/>
          </a:xfrm>
        </p:spPr>
        <p:txBody>
          <a:bodyPr vert="horz" lIns="91440" tIns="45720" rIns="91440" bIns="45720" rtlCol="0" anchor="b">
            <a:normAutofit/>
          </a:bodyPr>
          <a:lstStyle/>
          <a:p>
            <a:endParaRPr lang="en-US" sz="2000" kern="1200">
              <a:solidFill>
                <a:schemeClr val="tx2"/>
              </a:solidFill>
              <a:latin typeface="+mn-lt"/>
              <a:ea typeface="+mn-ea"/>
              <a:cs typeface="+mn-cs"/>
            </a:endParaRPr>
          </a:p>
        </p:txBody>
      </p:sp>
      <p:pic>
        <p:nvPicPr>
          <p:cNvPr id="7" name="Graphic 6" descr="Coffee">
            <a:extLst>
              <a:ext uri="{FF2B5EF4-FFF2-40B4-BE49-F238E27FC236}">
                <a16:creationId xmlns:a16="http://schemas.microsoft.com/office/drawing/2014/main" id="{6CA2355C-BE38-F74F-4DF0-5B00C13EE9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601824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4482</TotalTime>
  <Words>2511</Words>
  <Application>Microsoft Office PowerPoint</Application>
  <PresentationFormat>Widescreen</PresentationFormat>
  <Paragraphs>280</Paragraphs>
  <Slides>31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Arial</vt:lpstr>
      <vt:lpstr>Calibri</vt:lpstr>
      <vt:lpstr>Calibri Light</vt:lpstr>
      <vt:lpstr>Söhne</vt:lpstr>
      <vt:lpstr>office theme</vt:lpstr>
      <vt:lpstr>TCP/IP Model and Protocols</vt:lpstr>
      <vt:lpstr>Agenda</vt:lpstr>
      <vt:lpstr>Computer Network Protocols</vt:lpstr>
      <vt:lpstr>Protocol Suites &amp; Standards</vt:lpstr>
      <vt:lpstr>TCP/IP Protocol Suite</vt:lpstr>
      <vt:lpstr>Example: Layered Model Network Comms</vt:lpstr>
      <vt:lpstr>OSI Model</vt:lpstr>
      <vt:lpstr>OSI vs TCP/IP</vt:lpstr>
      <vt:lpstr>Comms in TCP/IP: Data Encapsulation</vt:lpstr>
      <vt:lpstr>Data Encapsulation: Protocol Data Units (PDUs)</vt:lpstr>
      <vt:lpstr>TCP/IP Layers - Data Link/Physical </vt:lpstr>
      <vt:lpstr>TCP/IP Layers - Internet/Network Layer</vt:lpstr>
      <vt:lpstr>TCP/IP Layers – Internet/Network IP Addresses</vt:lpstr>
      <vt:lpstr>TCP/IP Layers - Transport Layer </vt:lpstr>
      <vt:lpstr>TCP/IP Layers – Application Layer</vt:lpstr>
      <vt:lpstr>Accessing Resources on a Network</vt:lpstr>
      <vt:lpstr>Example of Layered Model: Accessing Web Page…</vt:lpstr>
      <vt:lpstr> Network Addressing</vt:lpstr>
      <vt:lpstr> Network Layer: Logical Address</vt:lpstr>
      <vt:lpstr>Network Layer: Logical Address (Cont.)</vt:lpstr>
      <vt:lpstr>Devices on the Same Network</vt:lpstr>
      <vt:lpstr> Data Link Layer Addresses: Same IP Network</vt:lpstr>
      <vt:lpstr>Devices on a Remote Network</vt:lpstr>
      <vt:lpstr>Role of the Data Link Layer Addresses: Different IP Networks</vt:lpstr>
      <vt:lpstr> Role of the Data Link Layer Addresses: Different IP Networks (Cont.)</vt:lpstr>
      <vt:lpstr> Data Link Addresses</vt:lpstr>
      <vt:lpstr>Data Link Addresses (Cont.)</vt:lpstr>
      <vt:lpstr> Data Link Addresses (Cont.)</vt:lpstr>
      <vt:lpstr>Data Access Data Link Addresses (Cont.)</vt:lpstr>
      <vt:lpstr>Quiz</vt:lpstr>
      <vt:lpstr>Break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Physical/Data Link  Layer</dc:title>
  <dc:creator>Frank X Walsh</dc:creator>
  <cp:lastModifiedBy>Frank X Walsh</cp:lastModifiedBy>
  <cp:revision>32</cp:revision>
  <dcterms:created xsi:type="dcterms:W3CDTF">2020-09-22T09:30:17Z</dcterms:created>
  <dcterms:modified xsi:type="dcterms:W3CDTF">2023-10-04T09:05:38Z</dcterms:modified>
</cp:coreProperties>
</file>