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1133" r:id="rId4"/>
    <p:sldId id="1134" r:id="rId5"/>
    <p:sldId id="1135" r:id="rId6"/>
    <p:sldId id="280" r:id="rId7"/>
    <p:sldId id="258" r:id="rId8"/>
    <p:sldId id="268" r:id="rId9"/>
    <p:sldId id="261" r:id="rId10"/>
    <p:sldId id="269" r:id="rId11"/>
    <p:sldId id="262" r:id="rId12"/>
    <p:sldId id="267" r:id="rId13"/>
    <p:sldId id="270" r:id="rId14"/>
    <p:sldId id="263" r:id="rId15"/>
    <p:sldId id="264" r:id="rId16"/>
    <p:sldId id="265" r:id="rId17"/>
    <p:sldId id="272" r:id="rId18"/>
    <p:sldId id="271" r:id="rId19"/>
    <p:sldId id="1142" r:id="rId20"/>
    <p:sldId id="282" r:id="rId21"/>
    <p:sldId id="1136" r:id="rId22"/>
    <p:sldId id="278" r:id="rId23"/>
    <p:sldId id="1137" r:id="rId24"/>
    <p:sldId id="279" r:id="rId25"/>
    <p:sldId id="273" r:id="rId26"/>
    <p:sldId id="1138" r:id="rId27"/>
    <p:sldId id="1139" r:id="rId28"/>
    <p:sldId id="1140" r:id="rId29"/>
    <p:sldId id="1141" r:id="rId30"/>
    <p:sldId id="274" r:id="rId31"/>
    <p:sldId id="296" r:id="rId32"/>
    <p:sldId id="297" r:id="rId33"/>
    <p:sldId id="346" r:id="rId34"/>
    <p:sldId id="354" r:id="rId35"/>
    <p:sldId id="319" r:id="rId36"/>
    <p:sldId id="26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4" autoAdjust="0"/>
    <p:restoredTop sz="73002" autoAdjust="0"/>
  </p:normalViewPr>
  <p:slideViewPr>
    <p:cSldViewPr snapToGrid="0">
      <p:cViewPr>
        <p:scale>
          <a:sx n="75" d="100"/>
          <a:sy n="75" d="100"/>
        </p:scale>
        <p:origin x="1956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5CF98E-2868-400E-8E35-9BD44E87C30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AFC35BD4-D378-4E73-BFDA-ED4052FC87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TCP/IP Protocol Stack</a:t>
          </a:r>
          <a:endParaRPr lang="en-US"/>
        </a:p>
      </dgm:t>
    </dgm:pt>
    <dgm:pt modelId="{0F1BA7CA-D85C-4FA3-8780-B328DB2EDEF8}" type="parTrans" cxnId="{B56A3BAD-538A-451A-A5BA-3317124ED54E}">
      <dgm:prSet/>
      <dgm:spPr/>
      <dgm:t>
        <a:bodyPr/>
        <a:lstStyle/>
        <a:p>
          <a:endParaRPr lang="en-US"/>
        </a:p>
      </dgm:t>
    </dgm:pt>
    <dgm:pt modelId="{69E3FF88-ABC0-4F91-A65A-C3F1B433C589}" type="sibTrans" cxnId="{B56A3BAD-538A-451A-A5BA-3317124ED54E}">
      <dgm:prSet/>
      <dgm:spPr/>
      <dgm:t>
        <a:bodyPr/>
        <a:lstStyle/>
        <a:p>
          <a:endParaRPr lang="en-US"/>
        </a:p>
      </dgm:t>
    </dgm:pt>
    <dgm:pt modelId="{0E012AE7-9887-4F50-AA77-65F19425AB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Link Layer/Ethernet</a:t>
          </a:r>
        </a:p>
      </dgm:t>
    </dgm:pt>
    <dgm:pt modelId="{46583D98-A333-42AE-AA07-F5814E0A2B2C}" type="parTrans" cxnId="{BE7C430D-7F6A-4327-A17F-AFCDC1F392C3}">
      <dgm:prSet/>
      <dgm:spPr/>
      <dgm:t>
        <a:bodyPr/>
        <a:lstStyle/>
        <a:p>
          <a:endParaRPr lang="en-US"/>
        </a:p>
      </dgm:t>
    </dgm:pt>
    <dgm:pt modelId="{26826FF3-BEBE-4A4B-8741-D41B93376CE7}" type="sibTrans" cxnId="{BE7C430D-7F6A-4327-A17F-AFCDC1F392C3}">
      <dgm:prSet/>
      <dgm:spPr/>
      <dgm:t>
        <a:bodyPr/>
        <a:lstStyle/>
        <a:p>
          <a:endParaRPr lang="en-US"/>
        </a:p>
      </dgm:t>
    </dgm:pt>
    <dgm:pt modelId="{F4BF3AEE-EE54-4D82-B4A8-2066969660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 IP Networks</a:t>
          </a:r>
          <a:endParaRPr lang="en-US" dirty="0"/>
        </a:p>
      </dgm:t>
    </dgm:pt>
    <dgm:pt modelId="{F5FA2890-E675-48A6-9F49-9E8B64335D89}" type="parTrans" cxnId="{0190E6F3-1B65-4746-9909-765C7EA17F1A}">
      <dgm:prSet/>
      <dgm:spPr/>
      <dgm:t>
        <a:bodyPr/>
        <a:lstStyle/>
        <a:p>
          <a:endParaRPr lang="en-US"/>
        </a:p>
      </dgm:t>
    </dgm:pt>
    <dgm:pt modelId="{27451BBC-97FC-4235-99B0-0C958BE3EB94}" type="sibTrans" cxnId="{0190E6F3-1B65-4746-9909-765C7EA17F1A}">
      <dgm:prSet/>
      <dgm:spPr/>
      <dgm:t>
        <a:bodyPr/>
        <a:lstStyle/>
        <a:p>
          <a:endParaRPr lang="en-US"/>
        </a:p>
      </dgm:t>
    </dgm:pt>
    <dgm:pt modelId="{CB8E6B04-C328-454B-83F3-7264BEF3598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TCP</a:t>
          </a:r>
          <a:endParaRPr lang="en-US"/>
        </a:p>
      </dgm:t>
    </dgm:pt>
    <dgm:pt modelId="{0A7D5C31-FFF6-42E1-B586-878720946CDC}" type="parTrans" cxnId="{1B504930-DFA5-41BF-8C50-7FDBBAC8BE74}">
      <dgm:prSet/>
      <dgm:spPr/>
      <dgm:t>
        <a:bodyPr/>
        <a:lstStyle/>
        <a:p>
          <a:endParaRPr lang="en-US"/>
        </a:p>
      </dgm:t>
    </dgm:pt>
    <dgm:pt modelId="{2C207AAF-BF17-48AD-8DE2-2F1693A4BA32}" type="sibTrans" cxnId="{1B504930-DFA5-41BF-8C50-7FDBBAC8BE74}">
      <dgm:prSet/>
      <dgm:spPr/>
      <dgm:t>
        <a:bodyPr/>
        <a:lstStyle/>
        <a:p>
          <a:endParaRPr lang="en-US"/>
        </a:p>
      </dgm:t>
    </dgm:pt>
    <dgm:pt modelId="{A4ADD112-3916-4F62-8DE1-E349DAA4D07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Application Layer Protocols</a:t>
          </a:r>
          <a:endParaRPr lang="en-US"/>
        </a:p>
      </dgm:t>
    </dgm:pt>
    <dgm:pt modelId="{1C1C683C-500C-4957-A2B5-3C7CDF64B35E}" type="parTrans" cxnId="{402B807F-BB82-4C5D-95CE-9073CEB15DCE}">
      <dgm:prSet/>
      <dgm:spPr/>
      <dgm:t>
        <a:bodyPr/>
        <a:lstStyle/>
        <a:p>
          <a:endParaRPr lang="en-US"/>
        </a:p>
      </dgm:t>
    </dgm:pt>
    <dgm:pt modelId="{41A75908-3FA7-4D1B-899C-F7BF9CF077BA}" type="sibTrans" cxnId="{402B807F-BB82-4C5D-95CE-9073CEB15DCE}">
      <dgm:prSet/>
      <dgm:spPr/>
      <dgm:t>
        <a:bodyPr/>
        <a:lstStyle/>
        <a:p>
          <a:endParaRPr lang="en-US"/>
        </a:p>
      </dgm:t>
    </dgm:pt>
    <dgm:pt modelId="{76F8A70C-CEC2-4875-81CE-63520A3AB6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Internet of Things</a:t>
          </a:r>
          <a:endParaRPr lang="en-US"/>
        </a:p>
      </dgm:t>
    </dgm:pt>
    <dgm:pt modelId="{EA11B2E0-0704-4B0F-A7D4-17A7E7EC0A4A}" type="parTrans" cxnId="{BA77B2EF-1FC6-4F2C-A6BE-A6B063A2D629}">
      <dgm:prSet/>
      <dgm:spPr/>
      <dgm:t>
        <a:bodyPr/>
        <a:lstStyle/>
        <a:p>
          <a:endParaRPr lang="en-US"/>
        </a:p>
      </dgm:t>
    </dgm:pt>
    <dgm:pt modelId="{0D96BDE3-48AF-4148-8C8A-5A0000784285}" type="sibTrans" cxnId="{BA77B2EF-1FC6-4F2C-A6BE-A6B063A2D629}">
      <dgm:prSet/>
      <dgm:spPr/>
      <dgm:t>
        <a:bodyPr/>
        <a:lstStyle/>
        <a:p>
          <a:endParaRPr lang="en-US"/>
        </a:p>
      </dgm:t>
    </dgm:pt>
    <dgm:pt modelId="{B2AF9BEF-96D4-47BD-992C-DA5D34ECBC3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Physical Computing</a:t>
          </a:r>
          <a:endParaRPr lang="en-US"/>
        </a:p>
      </dgm:t>
    </dgm:pt>
    <dgm:pt modelId="{2B464BFD-F30D-4F13-96B5-E462A90A1463}" type="parTrans" cxnId="{B768CB76-09F5-4A16-AD70-FFB4DE9B7E3C}">
      <dgm:prSet/>
      <dgm:spPr/>
      <dgm:t>
        <a:bodyPr/>
        <a:lstStyle/>
        <a:p>
          <a:endParaRPr lang="en-US"/>
        </a:p>
      </dgm:t>
    </dgm:pt>
    <dgm:pt modelId="{0FD8F2FE-423B-4C79-853A-5105BE5CA822}" type="sibTrans" cxnId="{B768CB76-09F5-4A16-AD70-FFB4DE9B7E3C}">
      <dgm:prSet/>
      <dgm:spPr/>
      <dgm:t>
        <a:bodyPr/>
        <a:lstStyle/>
        <a:p>
          <a:endParaRPr lang="en-US"/>
        </a:p>
      </dgm:t>
    </dgm:pt>
    <dgm:pt modelId="{1DA6F253-AB3D-4D5B-8CC2-0C9AE93D5F5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Sensing/Acuating</a:t>
          </a:r>
          <a:endParaRPr lang="en-US"/>
        </a:p>
      </dgm:t>
    </dgm:pt>
    <dgm:pt modelId="{BD283B5C-0AE8-4F10-BEE4-DB558E555263}" type="parTrans" cxnId="{4EC89E8D-DAED-4BF2-BFC0-66F989B4C0B9}">
      <dgm:prSet/>
      <dgm:spPr/>
      <dgm:t>
        <a:bodyPr/>
        <a:lstStyle/>
        <a:p>
          <a:endParaRPr lang="en-US"/>
        </a:p>
      </dgm:t>
    </dgm:pt>
    <dgm:pt modelId="{6595E721-738A-4E7A-AA2C-2A2FFB850A08}" type="sibTrans" cxnId="{4EC89E8D-DAED-4BF2-BFC0-66F989B4C0B9}">
      <dgm:prSet/>
      <dgm:spPr/>
      <dgm:t>
        <a:bodyPr/>
        <a:lstStyle/>
        <a:p>
          <a:endParaRPr lang="en-US"/>
        </a:p>
      </dgm:t>
    </dgm:pt>
    <dgm:pt modelId="{037E938D-3C49-457C-908F-0642B8FF83D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Messaging</a:t>
          </a:r>
          <a:endParaRPr lang="en-US"/>
        </a:p>
      </dgm:t>
    </dgm:pt>
    <dgm:pt modelId="{5F72609E-3B39-478A-A6AE-5FA68A98DAD3}" type="parTrans" cxnId="{097F830C-A3DC-4A0A-848B-5D35C7A7A751}">
      <dgm:prSet/>
      <dgm:spPr/>
      <dgm:t>
        <a:bodyPr/>
        <a:lstStyle/>
        <a:p>
          <a:endParaRPr lang="en-US"/>
        </a:p>
      </dgm:t>
    </dgm:pt>
    <dgm:pt modelId="{C8008A16-0DC6-4B60-979F-C0D681B8555D}" type="sibTrans" cxnId="{097F830C-A3DC-4A0A-848B-5D35C7A7A751}">
      <dgm:prSet/>
      <dgm:spPr/>
      <dgm:t>
        <a:bodyPr/>
        <a:lstStyle/>
        <a:p>
          <a:endParaRPr lang="en-US"/>
        </a:p>
      </dgm:t>
    </dgm:pt>
    <dgm:pt modelId="{05127A02-DEB4-40F5-A4D6-9EB9F906086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IoT Platforms</a:t>
          </a:r>
          <a:endParaRPr lang="en-US"/>
        </a:p>
      </dgm:t>
    </dgm:pt>
    <dgm:pt modelId="{2FAE3208-EB12-431A-B3D2-9A93E68279BE}" type="parTrans" cxnId="{3C8F4C90-E108-4735-9164-2B11A70258EF}">
      <dgm:prSet/>
      <dgm:spPr/>
      <dgm:t>
        <a:bodyPr/>
        <a:lstStyle/>
        <a:p>
          <a:endParaRPr lang="en-US"/>
        </a:p>
      </dgm:t>
    </dgm:pt>
    <dgm:pt modelId="{270C4916-462B-485E-A16F-016C5370A487}" type="sibTrans" cxnId="{3C8F4C90-E108-4735-9164-2B11A70258EF}">
      <dgm:prSet/>
      <dgm:spPr/>
      <dgm:t>
        <a:bodyPr/>
        <a:lstStyle/>
        <a:p>
          <a:endParaRPr lang="en-US"/>
        </a:p>
      </dgm:t>
    </dgm:pt>
    <dgm:pt modelId="{FC85F9BC-16FE-450B-B6C7-C41D39567EE9}" type="pres">
      <dgm:prSet presAssocID="{8C5CF98E-2868-400E-8E35-9BD44E87C308}" presName="root" presStyleCnt="0">
        <dgm:presLayoutVars>
          <dgm:dir/>
          <dgm:resizeHandles val="exact"/>
        </dgm:presLayoutVars>
      </dgm:prSet>
      <dgm:spPr/>
    </dgm:pt>
    <dgm:pt modelId="{C8D5E25A-5AB0-4084-AC9D-EC9C5926BAE1}" type="pres">
      <dgm:prSet presAssocID="{AFC35BD4-D378-4E73-BFDA-ED4052FC87C8}" presName="compNode" presStyleCnt="0"/>
      <dgm:spPr/>
    </dgm:pt>
    <dgm:pt modelId="{962969B3-26F6-42F6-BFE8-46BDDC6655A6}" type="pres">
      <dgm:prSet presAssocID="{AFC35BD4-D378-4E73-BFDA-ED4052FC87C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F2E8EC1-9E5E-4DF7-8956-319BE8DC06B6}" type="pres">
      <dgm:prSet presAssocID="{AFC35BD4-D378-4E73-BFDA-ED4052FC87C8}" presName="iconSpace" presStyleCnt="0"/>
      <dgm:spPr/>
    </dgm:pt>
    <dgm:pt modelId="{F0E5C5B1-150C-43FB-B570-C0A7EE6F9289}" type="pres">
      <dgm:prSet presAssocID="{AFC35BD4-D378-4E73-BFDA-ED4052FC87C8}" presName="parTx" presStyleLbl="revTx" presStyleIdx="0" presStyleCnt="4">
        <dgm:presLayoutVars>
          <dgm:chMax val="0"/>
          <dgm:chPref val="0"/>
        </dgm:presLayoutVars>
      </dgm:prSet>
      <dgm:spPr/>
    </dgm:pt>
    <dgm:pt modelId="{F4827952-8BE1-4C81-8367-7A7815E97601}" type="pres">
      <dgm:prSet presAssocID="{AFC35BD4-D378-4E73-BFDA-ED4052FC87C8}" presName="txSpace" presStyleCnt="0"/>
      <dgm:spPr/>
    </dgm:pt>
    <dgm:pt modelId="{46BB61D7-5CF1-4399-A407-C9A23E6AA413}" type="pres">
      <dgm:prSet presAssocID="{AFC35BD4-D378-4E73-BFDA-ED4052FC87C8}" presName="desTx" presStyleLbl="revTx" presStyleIdx="1" presStyleCnt="4">
        <dgm:presLayoutVars/>
      </dgm:prSet>
      <dgm:spPr/>
    </dgm:pt>
    <dgm:pt modelId="{57DA6DF1-48DE-4C19-BEB9-F9A6C38B1DFA}" type="pres">
      <dgm:prSet presAssocID="{69E3FF88-ABC0-4F91-A65A-C3F1B433C589}" presName="sibTrans" presStyleCnt="0"/>
      <dgm:spPr/>
    </dgm:pt>
    <dgm:pt modelId="{F00D5CA7-829F-440E-B767-2B1DEC84ED37}" type="pres">
      <dgm:prSet presAssocID="{76F8A70C-CEC2-4875-81CE-63520A3AB6A4}" presName="compNode" presStyleCnt="0"/>
      <dgm:spPr/>
    </dgm:pt>
    <dgm:pt modelId="{C875BE45-524F-438D-AC44-8073E2747FC9}" type="pres">
      <dgm:prSet presAssocID="{76F8A70C-CEC2-4875-81CE-63520A3AB6A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17BA4F5-B86A-46D5-A455-CB9111FE51F5}" type="pres">
      <dgm:prSet presAssocID="{76F8A70C-CEC2-4875-81CE-63520A3AB6A4}" presName="iconSpace" presStyleCnt="0"/>
      <dgm:spPr/>
    </dgm:pt>
    <dgm:pt modelId="{8B2D27ED-7625-4E0E-95B7-128DFC64C767}" type="pres">
      <dgm:prSet presAssocID="{76F8A70C-CEC2-4875-81CE-63520A3AB6A4}" presName="parTx" presStyleLbl="revTx" presStyleIdx="2" presStyleCnt="4">
        <dgm:presLayoutVars>
          <dgm:chMax val="0"/>
          <dgm:chPref val="0"/>
        </dgm:presLayoutVars>
      </dgm:prSet>
      <dgm:spPr/>
    </dgm:pt>
    <dgm:pt modelId="{231EE9F0-323C-46BC-8313-066518A243E2}" type="pres">
      <dgm:prSet presAssocID="{76F8A70C-CEC2-4875-81CE-63520A3AB6A4}" presName="txSpace" presStyleCnt="0"/>
      <dgm:spPr/>
    </dgm:pt>
    <dgm:pt modelId="{07019B9D-C29A-4EF4-9B4C-279FEFC961AC}" type="pres">
      <dgm:prSet presAssocID="{76F8A70C-CEC2-4875-81CE-63520A3AB6A4}" presName="desTx" presStyleLbl="revTx" presStyleIdx="3" presStyleCnt="4">
        <dgm:presLayoutVars/>
      </dgm:prSet>
      <dgm:spPr/>
    </dgm:pt>
  </dgm:ptLst>
  <dgm:cxnLst>
    <dgm:cxn modelId="{387D6B0C-5569-4F34-A1CB-CF201EE66431}" type="presOf" srcId="{8C5CF98E-2868-400E-8E35-9BD44E87C308}" destId="{FC85F9BC-16FE-450B-B6C7-C41D39567EE9}" srcOrd="0" destOrd="0" presId="urn:microsoft.com/office/officeart/2018/2/layout/IconLabelDescriptionList"/>
    <dgm:cxn modelId="{097F830C-A3DC-4A0A-848B-5D35C7A7A751}" srcId="{76F8A70C-CEC2-4875-81CE-63520A3AB6A4}" destId="{037E938D-3C49-457C-908F-0642B8FF83D3}" srcOrd="2" destOrd="0" parTransId="{5F72609E-3B39-478A-A6AE-5FA68A98DAD3}" sibTransId="{C8008A16-0DC6-4B60-979F-C0D681B8555D}"/>
    <dgm:cxn modelId="{BE7C430D-7F6A-4327-A17F-AFCDC1F392C3}" srcId="{AFC35BD4-D378-4E73-BFDA-ED4052FC87C8}" destId="{0E012AE7-9887-4F50-AA77-65F19425AB18}" srcOrd="0" destOrd="0" parTransId="{46583D98-A333-42AE-AA07-F5814E0A2B2C}" sibTransId="{26826FF3-BEBE-4A4B-8741-D41B93376CE7}"/>
    <dgm:cxn modelId="{CE41030F-245B-49FB-B483-2B1D4F5BA48F}" type="presOf" srcId="{76F8A70C-CEC2-4875-81CE-63520A3AB6A4}" destId="{8B2D27ED-7625-4E0E-95B7-128DFC64C767}" srcOrd="0" destOrd="0" presId="urn:microsoft.com/office/officeart/2018/2/layout/IconLabelDescriptionList"/>
    <dgm:cxn modelId="{26EAC50F-49F6-4CA8-9B83-D16F42E6BD8C}" type="presOf" srcId="{0E012AE7-9887-4F50-AA77-65F19425AB18}" destId="{46BB61D7-5CF1-4399-A407-C9A23E6AA413}" srcOrd="0" destOrd="0" presId="urn:microsoft.com/office/officeart/2018/2/layout/IconLabelDescriptionList"/>
    <dgm:cxn modelId="{1B504930-DFA5-41BF-8C50-7FDBBAC8BE74}" srcId="{AFC35BD4-D378-4E73-BFDA-ED4052FC87C8}" destId="{CB8E6B04-C328-454B-83F3-7264BEF3598A}" srcOrd="2" destOrd="0" parTransId="{0A7D5C31-FFF6-42E1-B586-878720946CDC}" sibTransId="{2C207AAF-BF17-48AD-8DE2-2F1693A4BA32}"/>
    <dgm:cxn modelId="{0D0DAF61-1556-436A-BB8E-0612A1D0E12D}" type="presOf" srcId="{05127A02-DEB4-40F5-A4D6-9EB9F9060866}" destId="{07019B9D-C29A-4EF4-9B4C-279FEFC961AC}" srcOrd="0" destOrd="3" presId="urn:microsoft.com/office/officeart/2018/2/layout/IconLabelDescriptionList"/>
    <dgm:cxn modelId="{BC0EC262-611C-4443-AF58-E47F9C8E559F}" type="presOf" srcId="{B2AF9BEF-96D4-47BD-992C-DA5D34ECBC3F}" destId="{07019B9D-C29A-4EF4-9B4C-279FEFC961AC}" srcOrd="0" destOrd="0" presId="urn:microsoft.com/office/officeart/2018/2/layout/IconLabelDescriptionList"/>
    <dgm:cxn modelId="{A6886250-5042-45FB-ABE4-0C5C1B4F1627}" type="presOf" srcId="{A4ADD112-3916-4F62-8DE1-E349DAA4D07C}" destId="{46BB61D7-5CF1-4399-A407-C9A23E6AA413}" srcOrd="0" destOrd="3" presId="urn:microsoft.com/office/officeart/2018/2/layout/IconLabelDescriptionList"/>
    <dgm:cxn modelId="{B768CB76-09F5-4A16-AD70-FFB4DE9B7E3C}" srcId="{76F8A70C-CEC2-4875-81CE-63520A3AB6A4}" destId="{B2AF9BEF-96D4-47BD-992C-DA5D34ECBC3F}" srcOrd="0" destOrd="0" parTransId="{2B464BFD-F30D-4F13-96B5-E462A90A1463}" sibTransId="{0FD8F2FE-423B-4C79-853A-5105BE5CA822}"/>
    <dgm:cxn modelId="{402B807F-BB82-4C5D-95CE-9073CEB15DCE}" srcId="{AFC35BD4-D378-4E73-BFDA-ED4052FC87C8}" destId="{A4ADD112-3916-4F62-8DE1-E349DAA4D07C}" srcOrd="3" destOrd="0" parTransId="{1C1C683C-500C-4957-A2B5-3C7CDF64B35E}" sibTransId="{41A75908-3FA7-4D1B-899C-F7BF9CF077BA}"/>
    <dgm:cxn modelId="{0F3B6887-2BF8-4DEC-BDA4-450ABAB732E2}" type="presOf" srcId="{1DA6F253-AB3D-4D5B-8CC2-0C9AE93D5F5F}" destId="{07019B9D-C29A-4EF4-9B4C-279FEFC961AC}" srcOrd="0" destOrd="1" presId="urn:microsoft.com/office/officeart/2018/2/layout/IconLabelDescriptionList"/>
    <dgm:cxn modelId="{4EC89E8D-DAED-4BF2-BFC0-66F989B4C0B9}" srcId="{76F8A70C-CEC2-4875-81CE-63520A3AB6A4}" destId="{1DA6F253-AB3D-4D5B-8CC2-0C9AE93D5F5F}" srcOrd="1" destOrd="0" parTransId="{BD283B5C-0AE8-4F10-BEE4-DB558E555263}" sibTransId="{6595E721-738A-4E7A-AA2C-2A2FFB850A08}"/>
    <dgm:cxn modelId="{3C8F4C90-E108-4735-9164-2B11A70258EF}" srcId="{76F8A70C-CEC2-4875-81CE-63520A3AB6A4}" destId="{05127A02-DEB4-40F5-A4D6-9EB9F9060866}" srcOrd="3" destOrd="0" parTransId="{2FAE3208-EB12-431A-B3D2-9A93E68279BE}" sibTransId="{270C4916-462B-485E-A16F-016C5370A487}"/>
    <dgm:cxn modelId="{A1CBC597-FFFC-4AF1-BAFF-5944E89EF5B5}" type="presOf" srcId="{CB8E6B04-C328-454B-83F3-7264BEF3598A}" destId="{46BB61D7-5CF1-4399-A407-C9A23E6AA413}" srcOrd="0" destOrd="2" presId="urn:microsoft.com/office/officeart/2018/2/layout/IconLabelDescriptionList"/>
    <dgm:cxn modelId="{841B0DA1-AB12-4FD5-BBED-8383C3EB8AFA}" type="presOf" srcId="{AFC35BD4-D378-4E73-BFDA-ED4052FC87C8}" destId="{F0E5C5B1-150C-43FB-B570-C0A7EE6F9289}" srcOrd="0" destOrd="0" presId="urn:microsoft.com/office/officeart/2018/2/layout/IconLabelDescriptionList"/>
    <dgm:cxn modelId="{B56A3BAD-538A-451A-A5BA-3317124ED54E}" srcId="{8C5CF98E-2868-400E-8E35-9BD44E87C308}" destId="{AFC35BD4-D378-4E73-BFDA-ED4052FC87C8}" srcOrd="0" destOrd="0" parTransId="{0F1BA7CA-D85C-4FA3-8780-B328DB2EDEF8}" sibTransId="{69E3FF88-ABC0-4F91-A65A-C3F1B433C589}"/>
    <dgm:cxn modelId="{48990FEE-795B-4D66-9A3B-D7B8AAE68F14}" type="presOf" srcId="{037E938D-3C49-457C-908F-0642B8FF83D3}" destId="{07019B9D-C29A-4EF4-9B4C-279FEFC961AC}" srcOrd="0" destOrd="2" presId="urn:microsoft.com/office/officeart/2018/2/layout/IconLabelDescriptionList"/>
    <dgm:cxn modelId="{BA77B2EF-1FC6-4F2C-A6BE-A6B063A2D629}" srcId="{8C5CF98E-2868-400E-8E35-9BD44E87C308}" destId="{76F8A70C-CEC2-4875-81CE-63520A3AB6A4}" srcOrd="1" destOrd="0" parTransId="{EA11B2E0-0704-4B0F-A7D4-17A7E7EC0A4A}" sibTransId="{0D96BDE3-48AF-4148-8C8A-5A0000784285}"/>
    <dgm:cxn modelId="{0190E6F3-1B65-4746-9909-765C7EA17F1A}" srcId="{AFC35BD4-D378-4E73-BFDA-ED4052FC87C8}" destId="{F4BF3AEE-EE54-4D82-B4A8-2066969660FF}" srcOrd="1" destOrd="0" parTransId="{F5FA2890-E675-48A6-9F49-9E8B64335D89}" sibTransId="{27451BBC-97FC-4235-99B0-0C958BE3EB94}"/>
    <dgm:cxn modelId="{18CD5FF7-4B2A-4A74-8112-5FCB22064B31}" type="presOf" srcId="{F4BF3AEE-EE54-4D82-B4A8-2066969660FF}" destId="{46BB61D7-5CF1-4399-A407-C9A23E6AA413}" srcOrd="0" destOrd="1" presId="urn:microsoft.com/office/officeart/2018/2/layout/IconLabelDescriptionList"/>
    <dgm:cxn modelId="{2CA18B60-3482-4563-BD8D-A8DFF6C16A5E}" type="presParOf" srcId="{FC85F9BC-16FE-450B-B6C7-C41D39567EE9}" destId="{C8D5E25A-5AB0-4084-AC9D-EC9C5926BAE1}" srcOrd="0" destOrd="0" presId="urn:microsoft.com/office/officeart/2018/2/layout/IconLabelDescriptionList"/>
    <dgm:cxn modelId="{FF380B91-FD0B-4550-94CD-90A3E3D2E344}" type="presParOf" srcId="{C8D5E25A-5AB0-4084-AC9D-EC9C5926BAE1}" destId="{962969B3-26F6-42F6-BFE8-46BDDC6655A6}" srcOrd="0" destOrd="0" presId="urn:microsoft.com/office/officeart/2018/2/layout/IconLabelDescriptionList"/>
    <dgm:cxn modelId="{FD3D18B5-5616-452F-9294-AA673016BFC3}" type="presParOf" srcId="{C8D5E25A-5AB0-4084-AC9D-EC9C5926BAE1}" destId="{FF2E8EC1-9E5E-4DF7-8956-319BE8DC06B6}" srcOrd="1" destOrd="0" presId="urn:microsoft.com/office/officeart/2018/2/layout/IconLabelDescriptionList"/>
    <dgm:cxn modelId="{D1F1B9BB-0102-4012-8BD2-0295FC882D7C}" type="presParOf" srcId="{C8D5E25A-5AB0-4084-AC9D-EC9C5926BAE1}" destId="{F0E5C5B1-150C-43FB-B570-C0A7EE6F9289}" srcOrd="2" destOrd="0" presId="urn:microsoft.com/office/officeart/2018/2/layout/IconLabelDescriptionList"/>
    <dgm:cxn modelId="{F8CFE3B1-2D43-403A-9840-EE9F49E7C0E7}" type="presParOf" srcId="{C8D5E25A-5AB0-4084-AC9D-EC9C5926BAE1}" destId="{F4827952-8BE1-4C81-8367-7A7815E97601}" srcOrd="3" destOrd="0" presId="urn:microsoft.com/office/officeart/2018/2/layout/IconLabelDescriptionList"/>
    <dgm:cxn modelId="{0BA25EB5-D5CD-439F-9577-607DDAAB10A1}" type="presParOf" srcId="{C8D5E25A-5AB0-4084-AC9D-EC9C5926BAE1}" destId="{46BB61D7-5CF1-4399-A407-C9A23E6AA413}" srcOrd="4" destOrd="0" presId="urn:microsoft.com/office/officeart/2018/2/layout/IconLabelDescriptionList"/>
    <dgm:cxn modelId="{8D2F7C41-DEC2-41FF-8728-C135A715370B}" type="presParOf" srcId="{FC85F9BC-16FE-450B-B6C7-C41D39567EE9}" destId="{57DA6DF1-48DE-4C19-BEB9-F9A6C38B1DFA}" srcOrd="1" destOrd="0" presId="urn:microsoft.com/office/officeart/2018/2/layout/IconLabelDescriptionList"/>
    <dgm:cxn modelId="{2C018036-3C07-451C-97F9-4BBB69DD31C2}" type="presParOf" srcId="{FC85F9BC-16FE-450B-B6C7-C41D39567EE9}" destId="{F00D5CA7-829F-440E-B767-2B1DEC84ED37}" srcOrd="2" destOrd="0" presId="urn:microsoft.com/office/officeart/2018/2/layout/IconLabelDescriptionList"/>
    <dgm:cxn modelId="{8DCBA574-1AB8-4763-B37F-D0C04C854FF8}" type="presParOf" srcId="{F00D5CA7-829F-440E-B767-2B1DEC84ED37}" destId="{C875BE45-524F-438D-AC44-8073E2747FC9}" srcOrd="0" destOrd="0" presId="urn:microsoft.com/office/officeart/2018/2/layout/IconLabelDescriptionList"/>
    <dgm:cxn modelId="{BF346D37-55B8-42A4-9D4A-D1511722E024}" type="presParOf" srcId="{F00D5CA7-829F-440E-B767-2B1DEC84ED37}" destId="{017BA4F5-B86A-46D5-A455-CB9111FE51F5}" srcOrd="1" destOrd="0" presId="urn:microsoft.com/office/officeart/2018/2/layout/IconLabelDescriptionList"/>
    <dgm:cxn modelId="{9D5E1A31-C016-40F9-9728-042AB1F47265}" type="presParOf" srcId="{F00D5CA7-829F-440E-B767-2B1DEC84ED37}" destId="{8B2D27ED-7625-4E0E-95B7-128DFC64C767}" srcOrd="2" destOrd="0" presId="urn:microsoft.com/office/officeart/2018/2/layout/IconLabelDescriptionList"/>
    <dgm:cxn modelId="{3E70EA55-FE60-4FCA-82E5-D9A4A16DA977}" type="presParOf" srcId="{F00D5CA7-829F-440E-B767-2B1DEC84ED37}" destId="{231EE9F0-323C-46BC-8313-066518A243E2}" srcOrd="3" destOrd="0" presId="urn:microsoft.com/office/officeart/2018/2/layout/IconLabelDescriptionList"/>
    <dgm:cxn modelId="{7BB6368C-34CC-48CC-A86C-9609B9D757FB}" type="presParOf" srcId="{F00D5CA7-829F-440E-B767-2B1DEC84ED37}" destId="{07019B9D-C29A-4EF4-9B4C-279FEFC961A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A15ED5-790F-4A5E-994A-7E23900110C6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D45332-BC8D-4103-88DB-743A97D46AD7}">
      <dgm:prSet/>
      <dgm:spPr/>
      <dgm:t>
        <a:bodyPr/>
        <a:lstStyle/>
        <a:p>
          <a:r>
            <a:rPr lang="en-US" dirty="0"/>
            <a:t>Devices</a:t>
          </a:r>
        </a:p>
      </dgm:t>
    </dgm:pt>
    <dgm:pt modelId="{44BB9F97-F539-4B6A-BE90-5E8962E8874A}" type="parTrans" cxnId="{0B8E6AFD-CE9A-4750-81B0-D2085DE5BE67}">
      <dgm:prSet/>
      <dgm:spPr/>
      <dgm:t>
        <a:bodyPr/>
        <a:lstStyle/>
        <a:p>
          <a:endParaRPr lang="en-US"/>
        </a:p>
      </dgm:t>
    </dgm:pt>
    <dgm:pt modelId="{B367864A-BBC1-41B9-8A25-C48410870A5E}" type="sibTrans" cxnId="{0B8E6AFD-CE9A-4750-81B0-D2085DE5BE67}">
      <dgm:prSet/>
      <dgm:spPr/>
      <dgm:t>
        <a:bodyPr/>
        <a:lstStyle/>
        <a:p>
          <a:endParaRPr lang="en-US"/>
        </a:p>
      </dgm:t>
    </dgm:pt>
    <dgm:pt modelId="{FF222B91-65DF-422C-802B-D09EA1484C5E}">
      <dgm:prSet/>
      <dgm:spPr/>
      <dgm:t>
        <a:bodyPr/>
        <a:lstStyle/>
        <a:p>
          <a:r>
            <a:rPr lang="en-US" dirty="0"/>
            <a:t>Communicate with one another.</a:t>
          </a:r>
        </a:p>
      </dgm:t>
    </dgm:pt>
    <dgm:pt modelId="{31853C7C-0381-4E38-881C-04B714A6FCA7}" type="parTrans" cxnId="{91311891-8643-4D65-8BC6-8A306BEA0CB8}">
      <dgm:prSet/>
      <dgm:spPr/>
      <dgm:t>
        <a:bodyPr/>
        <a:lstStyle/>
        <a:p>
          <a:endParaRPr lang="en-US"/>
        </a:p>
      </dgm:t>
    </dgm:pt>
    <dgm:pt modelId="{3ED52681-71B1-4EF0-BE48-A02154E2797C}" type="sibTrans" cxnId="{91311891-8643-4D65-8BC6-8A306BEA0CB8}">
      <dgm:prSet/>
      <dgm:spPr/>
      <dgm:t>
        <a:bodyPr/>
        <a:lstStyle/>
        <a:p>
          <a:endParaRPr lang="en-US"/>
        </a:p>
      </dgm:t>
    </dgm:pt>
    <dgm:pt modelId="{D10FF8D1-A1B8-4B88-9C63-3692E6CF12BF}">
      <dgm:prSet/>
      <dgm:spPr/>
      <dgm:t>
        <a:bodyPr/>
        <a:lstStyle/>
        <a:p>
          <a:r>
            <a:rPr lang="en-US"/>
            <a:t>Physical Medium</a:t>
          </a:r>
        </a:p>
      </dgm:t>
    </dgm:pt>
    <dgm:pt modelId="{0B4A77F0-4CAE-4CE7-8561-7B356E891CC8}" type="parTrans" cxnId="{F0AB354B-9459-4CA4-9C08-17B78ABC8C9C}">
      <dgm:prSet/>
      <dgm:spPr/>
      <dgm:t>
        <a:bodyPr/>
        <a:lstStyle/>
        <a:p>
          <a:endParaRPr lang="en-US"/>
        </a:p>
      </dgm:t>
    </dgm:pt>
    <dgm:pt modelId="{F81D8491-E3EA-4271-A0B0-7041B434FB2B}" type="sibTrans" cxnId="{F0AB354B-9459-4CA4-9C08-17B78ABC8C9C}">
      <dgm:prSet/>
      <dgm:spPr/>
      <dgm:t>
        <a:bodyPr/>
        <a:lstStyle/>
        <a:p>
          <a:endParaRPr lang="en-US"/>
        </a:p>
      </dgm:t>
    </dgm:pt>
    <dgm:pt modelId="{1A3F7D5A-89B9-437C-9E22-661B284E4F30}">
      <dgm:prSet/>
      <dgm:spPr/>
      <dgm:t>
        <a:bodyPr/>
        <a:lstStyle/>
        <a:p>
          <a:r>
            <a:rPr lang="en-US"/>
            <a:t>Used to connect devices</a:t>
          </a:r>
        </a:p>
      </dgm:t>
    </dgm:pt>
    <dgm:pt modelId="{B2CADA0D-A1EF-4B39-9D72-07DB470B090E}" type="parTrans" cxnId="{7116F1D2-EE52-4855-804E-86AD116493AE}">
      <dgm:prSet/>
      <dgm:spPr/>
      <dgm:t>
        <a:bodyPr/>
        <a:lstStyle/>
        <a:p>
          <a:endParaRPr lang="en-US"/>
        </a:p>
      </dgm:t>
    </dgm:pt>
    <dgm:pt modelId="{1BADEF69-A2D1-4CC3-A3EF-9093E54CD92B}" type="sibTrans" cxnId="{7116F1D2-EE52-4855-804E-86AD116493AE}">
      <dgm:prSet/>
      <dgm:spPr/>
      <dgm:t>
        <a:bodyPr/>
        <a:lstStyle/>
        <a:p>
          <a:endParaRPr lang="en-US"/>
        </a:p>
      </dgm:t>
    </dgm:pt>
    <dgm:pt modelId="{85418E1E-2E36-433A-A13F-84A8CF4861A7}">
      <dgm:prSet/>
      <dgm:spPr/>
      <dgm:t>
        <a:bodyPr/>
        <a:lstStyle/>
        <a:p>
          <a:r>
            <a:rPr lang="en-US"/>
            <a:t>Messages</a:t>
          </a:r>
        </a:p>
      </dgm:t>
    </dgm:pt>
    <dgm:pt modelId="{A65C99EA-7EAE-4DDE-A594-AB1FCBE62B72}" type="parTrans" cxnId="{60F064AA-A50A-4D8E-B509-EF83636BCD21}">
      <dgm:prSet/>
      <dgm:spPr/>
      <dgm:t>
        <a:bodyPr/>
        <a:lstStyle/>
        <a:p>
          <a:endParaRPr lang="en-US"/>
        </a:p>
      </dgm:t>
    </dgm:pt>
    <dgm:pt modelId="{EC10F652-2D49-4B75-BC08-789F86A0DE1B}" type="sibTrans" cxnId="{60F064AA-A50A-4D8E-B509-EF83636BCD21}">
      <dgm:prSet/>
      <dgm:spPr/>
      <dgm:t>
        <a:bodyPr/>
        <a:lstStyle/>
        <a:p>
          <a:endParaRPr lang="en-US"/>
        </a:p>
      </dgm:t>
    </dgm:pt>
    <dgm:pt modelId="{2E92AB3F-FF27-4942-996C-4A6937CBE9D1}">
      <dgm:prSet/>
      <dgm:spPr/>
      <dgm:t>
        <a:bodyPr/>
        <a:lstStyle/>
        <a:p>
          <a:r>
            <a:rPr lang="en-US"/>
            <a:t>Information travelling over the medium</a:t>
          </a:r>
        </a:p>
      </dgm:t>
    </dgm:pt>
    <dgm:pt modelId="{7EA7FAD7-0100-49D8-996F-B06999FDF79A}" type="parTrans" cxnId="{BB3D790E-4A7C-46A1-9174-9080C2FFA660}">
      <dgm:prSet/>
      <dgm:spPr/>
      <dgm:t>
        <a:bodyPr/>
        <a:lstStyle/>
        <a:p>
          <a:endParaRPr lang="en-US"/>
        </a:p>
      </dgm:t>
    </dgm:pt>
    <dgm:pt modelId="{77D953BC-ABDD-4936-A505-B36B94D8D089}" type="sibTrans" cxnId="{BB3D790E-4A7C-46A1-9174-9080C2FFA660}">
      <dgm:prSet/>
      <dgm:spPr/>
      <dgm:t>
        <a:bodyPr/>
        <a:lstStyle/>
        <a:p>
          <a:endParaRPr lang="en-US"/>
        </a:p>
      </dgm:t>
    </dgm:pt>
    <dgm:pt modelId="{C5433788-9548-40A7-98D9-1C62AAB4F6FD}">
      <dgm:prSet/>
      <dgm:spPr/>
      <dgm:t>
        <a:bodyPr/>
        <a:lstStyle/>
        <a:p>
          <a:r>
            <a:rPr lang="en-US"/>
            <a:t>Rules</a:t>
          </a:r>
        </a:p>
      </dgm:t>
    </dgm:pt>
    <dgm:pt modelId="{3187B0BF-2F65-4E63-ABF1-A04F6DE65F67}" type="parTrans" cxnId="{CDEEB3C5-7E89-42CD-BEDE-CB22A63708AB}">
      <dgm:prSet/>
      <dgm:spPr/>
      <dgm:t>
        <a:bodyPr/>
        <a:lstStyle/>
        <a:p>
          <a:endParaRPr lang="en-US"/>
        </a:p>
      </dgm:t>
    </dgm:pt>
    <dgm:pt modelId="{1E9AAE72-0E9E-4E30-95EE-3FB21823208B}" type="sibTrans" cxnId="{CDEEB3C5-7E89-42CD-BEDE-CB22A63708AB}">
      <dgm:prSet/>
      <dgm:spPr/>
      <dgm:t>
        <a:bodyPr/>
        <a:lstStyle/>
        <a:p>
          <a:endParaRPr lang="en-US"/>
        </a:p>
      </dgm:t>
    </dgm:pt>
    <dgm:pt modelId="{7E94A436-AC1D-4597-8368-CBDF06534B62}">
      <dgm:prSet/>
      <dgm:spPr/>
      <dgm:t>
        <a:bodyPr/>
        <a:lstStyle/>
        <a:p>
          <a:r>
            <a:rPr lang="en-US"/>
            <a:t>Governs how messages flow through a network</a:t>
          </a:r>
        </a:p>
      </dgm:t>
    </dgm:pt>
    <dgm:pt modelId="{5CB7AF13-4169-46E9-9505-9D3318194085}" type="parTrans" cxnId="{61003660-E244-4FAE-80BD-24D7DE981C17}">
      <dgm:prSet/>
      <dgm:spPr/>
      <dgm:t>
        <a:bodyPr/>
        <a:lstStyle/>
        <a:p>
          <a:endParaRPr lang="en-US"/>
        </a:p>
      </dgm:t>
    </dgm:pt>
    <dgm:pt modelId="{2B1BB040-516F-48DF-8B8B-9BE98B5267BB}" type="sibTrans" cxnId="{61003660-E244-4FAE-80BD-24D7DE981C17}">
      <dgm:prSet/>
      <dgm:spPr/>
      <dgm:t>
        <a:bodyPr/>
        <a:lstStyle/>
        <a:p>
          <a:endParaRPr lang="en-US"/>
        </a:p>
      </dgm:t>
    </dgm:pt>
    <dgm:pt modelId="{2B27AE6F-1C0E-41E6-898A-0CC73F260588}" type="pres">
      <dgm:prSet presAssocID="{04A15ED5-790F-4A5E-994A-7E23900110C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B304DD-D6DB-414C-B25A-8ED7DFB458D4}" type="pres">
      <dgm:prSet presAssocID="{E7D45332-BC8D-4103-88DB-743A97D46AD7}" presName="root" presStyleCnt="0"/>
      <dgm:spPr/>
    </dgm:pt>
    <dgm:pt modelId="{E9102E15-2B35-475A-88D1-B023861670C8}" type="pres">
      <dgm:prSet presAssocID="{E7D45332-BC8D-4103-88DB-743A97D46AD7}" presName="rootComposite" presStyleCnt="0"/>
      <dgm:spPr/>
    </dgm:pt>
    <dgm:pt modelId="{93FDE280-FA76-4185-A8C2-5FA6D09F5AF0}" type="pres">
      <dgm:prSet presAssocID="{E7D45332-BC8D-4103-88DB-743A97D46AD7}" presName="rootText" presStyleLbl="node1" presStyleIdx="0" presStyleCnt="4" custLinFactNeighborX="15570" custLinFactNeighborY="10779"/>
      <dgm:spPr/>
    </dgm:pt>
    <dgm:pt modelId="{81045016-EB86-4A93-9D43-6952B1ED2CDA}" type="pres">
      <dgm:prSet presAssocID="{E7D45332-BC8D-4103-88DB-743A97D46AD7}" presName="rootConnector" presStyleLbl="node1" presStyleIdx="0" presStyleCnt="4"/>
      <dgm:spPr/>
    </dgm:pt>
    <dgm:pt modelId="{B27CACC6-8FB7-4522-807F-7E2EBD77021A}" type="pres">
      <dgm:prSet presAssocID="{E7D45332-BC8D-4103-88DB-743A97D46AD7}" presName="childShape" presStyleCnt="0"/>
      <dgm:spPr/>
    </dgm:pt>
    <dgm:pt modelId="{B39BD4A0-E11A-4BB3-8943-4FBE5CD11ACE}" type="pres">
      <dgm:prSet presAssocID="{31853C7C-0381-4E38-881C-04B714A6FCA7}" presName="Name13" presStyleLbl="parChTrans1D2" presStyleIdx="0" presStyleCnt="4"/>
      <dgm:spPr/>
    </dgm:pt>
    <dgm:pt modelId="{8D4A8FA2-8486-4B0E-8E06-72CB8F057637}" type="pres">
      <dgm:prSet presAssocID="{FF222B91-65DF-422C-802B-D09EA1484C5E}" presName="childText" presStyleLbl="bgAcc1" presStyleIdx="0" presStyleCnt="4" custScaleY="83332">
        <dgm:presLayoutVars>
          <dgm:bulletEnabled val="1"/>
        </dgm:presLayoutVars>
      </dgm:prSet>
      <dgm:spPr/>
    </dgm:pt>
    <dgm:pt modelId="{374A9122-9BBB-4BD4-96E2-DE2D00A5FD86}" type="pres">
      <dgm:prSet presAssocID="{D10FF8D1-A1B8-4B88-9C63-3692E6CF12BF}" presName="root" presStyleCnt="0"/>
      <dgm:spPr/>
    </dgm:pt>
    <dgm:pt modelId="{346A8DB8-2527-48BA-B525-0975F1A552BA}" type="pres">
      <dgm:prSet presAssocID="{D10FF8D1-A1B8-4B88-9C63-3692E6CF12BF}" presName="rootComposite" presStyleCnt="0"/>
      <dgm:spPr/>
    </dgm:pt>
    <dgm:pt modelId="{13325541-B58C-4B70-85F1-78D773810BDC}" type="pres">
      <dgm:prSet presAssocID="{D10FF8D1-A1B8-4B88-9C63-3692E6CF12BF}" presName="rootText" presStyleLbl="node1" presStyleIdx="1" presStyleCnt="4"/>
      <dgm:spPr/>
    </dgm:pt>
    <dgm:pt modelId="{7AD72E7B-1175-4DC8-8808-1B6B7384E369}" type="pres">
      <dgm:prSet presAssocID="{D10FF8D1-A1B8-4B88-9C63-3692E6CF12BF}" presName="rootConnector" presStyleLbl="node1" presStyleIdx="1" presStyleCnt="4"/>
      <dgm:spPr/>
    </dgm:pt>
    <dgm:pt modelId="{C677A704-286D-4704-AD2E-BBFD82DEC094}" type="pres">
      <dgm:prSet presAssocID="{D10FF8D1-A1B8-4B88-9C63-3692E6CF12BF}" presName="childShape" presStyleCnt="0"/>
      <dgm:spPr/>
    </dgm:pt>
    <dgm:pt modelId="{6BCC0361-74F4-4B6C-8240-DEDB3AD8E872}" type="pres">
      <dgm:prSet presAssocID="{B2CADA0D-A1EF-4B39-9D72-07DB470B090E}" presName="Name13" presStyleLbl="parChTrans1D2" presStyleIdx="1" presStyleCnt="4"/>
      <dgm:spPr/>
    </dgm:pt>
    <dgm:pt modelId="{32C9AA44-EE9B-46F5-A0CF-49F0DD26AA7E}" type="pres">
      <dgm:prSet presAssocID="{1A3F7D5A-89B9-437C-9E22-661B284E4F30}" presName="childText" presStyleLbl="bgAcc1" presStyleIdx="1" presStyleCnt="4">
        <dgm:presLayoutVars>
          <dgm:bulletEnabled val="1"/>
        </dgm:presLayoutVars>
      </dgm:prSet>
      <dgm:spPr/>
    </dgm:pt>
    <dgm:pt modelId="{E8E272DF-93AD-410D-8064-B07AA7635ACD}" type="pres">
      <dgm:prSet presAssocID="{85418E1E-2E36-433A-A13F-84A8CF4861A7}" presName="root" presStyleCnt="0"/>
      <dgm:spPr/>
    </dgm:pt>
    <dgm:pt modelId="{0EFD679B-838B-4232-A3CE-712DDD0D9A70}" type="pres">
      <dgm:prSet presAssocID="{85418E1E-2E36-433A-A13F-84A8CF4861A7}" presName="rootComposite" presStyleCnt="0"/>
      <dgm:spPr/>
    </dgm:pt>
    <dgm:pt modelId="{B59ED598-8945-46F6-BD2D-746E395D5327}" type="pres">
      <dgm:prSet presAssocID="{85418E1E-2E36-433A-A13F-84A8CF4861A7}" presName="rootText" presStyleLbl="node1" presStyleIdx="2" presStyleCnt="4"/>
      <dgm:spPr/>
    </dgm:pt>
    <dgm:pt modelId="{59DE6494-4C0B-47F8-92B4-464F48ECB299}" type="pres">
      <dgm:prSet presAssocID="{85418E1E-2E36-433A-A13F-84A8CF4861A7}" presName="rootConnector" presStyleLbl="node1" presStyleIdx="2" presStyleCnt="4"/>
      <dgm:spPr/>
    </dgm:pt>
    <dgm:pt modelId="{8B5046FC-1960-44B2-B1EC-31D646C795D2}" type="pres">
      <dgm:prSet presAssocID="{85418E1E-2E36-433A-A13F-84A8CF4861A7}" presName="childShape" presStyleCnt="0"/>
      <dgm:spPr/>
    </dgm:pt>
    <dgm:pt modelId="{BAF5F656-9368-420B-9543-3ADD12A45D79}" type="pres">
      <dgm:prSet presAssocID="{7EA7FAD7-0100-49D8-996F-B06999FDF79A}" presName="Name13" presStyleLbl="parChTrans1D2" presStyleIdx="2" presStyleCnt="4"/>
      <dgm:spPr/>
    </dgm:pt>
    <dgm:pt modelId="{641522DB-FFAF-4FF6-8033-22AE411047E3}" type="pres">
      <dgm:prSet presAssocID="{2E92AB3F-FF27-4942-996C-4A6937CBE9D1}" presName="childText" presStyleLbl="bgAcc1" presStyleIdx="2" presStyleCnt="4">
        <dgm:presLayoutVars>
          <dgm:bulletEnabled val="1"/>
        </dgm:presLayoutVars>
      </dgm:prSet>
      <dgm:spPr/>
    </dgm:pt>
    <dgm:pt modelId="{79919084-119B-473E-9CFB-7E257CAE8210}" type="pres">
      <dgm:prSet presAssocID="{C5433788-9548-40A7-98D9-1C62AAB4F6FD}" presName="root" presStyleCnt="0"/>
      <dgm:spPr/>
    </dgm:pt>
    <dgm:pt modelId="{E1B6FC55-2B6A-428E-8BF7-3CDA3319905B}" type="pres">
      <dgm:prSet presAssocID="{C5433788-9548-40A7-98D9-1C62AAB4F6FD}" presName="rootComposite" presStyleCnt="0"/>
      <dgm:spPr/>
    </dgm:pt>
    <dgm:pt modelId="{E68FFABE-58EA-4AB5-8D37-81F0840C0C35}" type="pres">
      <dgm:prSet presAssocID="{C5433788-9548-40A7-98D9-1C62AAB4F6FD}" presName="rootText" presStyleLbl="node1" presStyleIdx="3" presStyleCnt="4"/>
      <dgm:spPr/>
    </dgm:pt>
    <dgm:pt modelId="{92CB9F41-0F93-41C0-8700-06F98389B8D7}" type="pres">
      <dgm:prSet presAssocID="{C5433788-9548-40A7-98D9-1C62AAB4F6FD}" presName="rootConnector" presStyleLbl="node1" presStyleIdx="3" presStyleCnt="4"/>
      <dgm:spPr/>
    </dgm:pt>
    <dgm:pt modelId="{113A67C0-C1A1-4956-A8A2-064F06C3CEF2}" type="pres">
      <dgm:prSet presAssocID="{C5433788-9548-40A7-98D9-1C62AAB4F6FD}" presName="childShape" presStyleCnt="0"/>
      <dgm:spPr/>
    </dgm:pt>
    <dgm:pt modelId="{7BE26D1A-D51D-4479-B0BC-F99232A91A2D}" type="pres">
      <dgm:prSet presAssocID="{5CB7AF13-4169-46E9-9505-9D3318194085}" presName="Name13" presStyleLbl="parChTrans1D2" presStyleIdx="3" presStyleCnt="4"/>
      <dgm:spPr/>
    </dgm:pt>
    <dgm:pt modelId="{F2C914D8-C069-4B12-9290-84248D89C474}" type="pres">
      <dgm:prSet presAssocID="{7E94A436-AC1D-4597-8368-CBDF06534B62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23627F0B-EC42-4DE2-AD6A-B4049F24917B}" type="presOf" srcId="{1A3F7D5A-89B9-437C-9E22-661B284E4F30}" destId="{32C9AA44-EE9B-46F5-A0CF-49F0DD26AA7E}" srcOrd="0" destOrd="0" presId="urn:microsoft.com/office/officeart/2005/8/layout/hierarchy3"/>
    <dgm:cxn modelId="{BB3D790E-4A7C-46A1-9174-9080C2FFA660}" srcId="{85418E1E-2E36-433A-A13F-84A8CF4861A7}" destId="{2E92AB3F-FF27-4942-996C-4A6937CBE9D1}" srcOrd="0" destOrd="0" parTransId="{7EA7FAD7-0100-49D8-996F-B06999FDF79A}" sibTransId="{77D953BC-ABDD-4936-A505-B36B94D8D089}"/>
    <dgm:cxn modelId="{26EC441B-BE91-472E-BA57-CD0CE98A47E3}" type="presOf" srcId="{E7D45332-BC8D-4103-88DB-743A97D46AD7}" destId="{93FDE280-FA76-4185-A8C2-5FA6D09F5AF0}" srcOrd="0" destOrd="0" presId="urn:microsoft.com/office/officeart/2005/8/layout/hierarchy3"/>
    <dgm:cxn modelId="{26A6112E-FC1C-4DF7-B450-D4F6ECFB2210}" type="presOf" srcId="{C5433788-9548-40A7-98D9-1C62AAB4F6FD}" destId="{E68FFABE-58EA-4AB5-8D37-81F0840C0C35}" srcOrd="0" destOrd="0" presId="urn:microsoft.com/office/officeart/2005/8/layout/hierarchy3"/>
    <dgm:cxn modelId="{DA79AC35-EC2D-4F62-8EEC-C8DD3E99AEA3}" type="presOf" srcId="{D10FF8D1-A1B8-4B88-9C63-3692E6CF12BF}" destId="{7AD72E7B-1175-4DC8-8808-1B6B7384E369}" srcOrd="1" destOrd="0" presId="urn:microsoft.com/office/officeart/2005/8/layout/hierarchy3"/>
    <dgm:cxn modelId="{2283E936-41C6-4A06-AA64-DFA5272731B0}" type="presOf" srcId="{2E92AB3F-FF27-4942-996C-4A6937CBE9D1}" destId="{641522DB-FFAF-4FF6-8033-22AE411047E3}" srcOrd="0" destOrd="0" presId="urn:microsoft.com/office/officeart/2005/8/layout/hierarchy3"/>
    <dgm:cxn modelId="{6D8D9A38-E7B6-49E8-9C23-0D16D89F9F6B}" type="presOf" srcId="{B2CADA0D-A1EF-4B39-9D72-07DB470B090E}" destId="{6BCC0361-74F4-4B6C-8240-DEDB3AD8E872}" srcOrd="0" destOrd="0" presId="urn:microsoft.com/office/officeart/2005/8/layout/hierarchy3"/>
    <dgm:cxn modelId="{50AED139-79CF-4E5E-BD31-4026D2A2F991}" type="presOf" srcId="{E7D45332-BC8D-4103-88DB-743A97D46AD7}" destId="{81045016-EB86-4A93-9D43-6952B1ED2CDA}" srcOrd="1" destOrd="0" presId="urn:microsoft.com/office/officeart/2005/8/layout/hierarchy3"/>
    <dgm:cxn modelId="{61003660-E244-4FAE-80BD-24D7DE981C17}" srcId="{C5433788-9548-40A7-98D9-1C62AAB4F6FD}" destId="{7E94A436-AC1D-4597-8368-CBDF06534B62}" srcOrd="0" destOrd="0" parTransId="{5CB7AF13-4169-46E9-9505-9D3318194085}" sibTransId="{2B1BB040-516F-48DF-8B8B-9BE98B5267BB}"/>
    <dgm:cxn modelId="{F0AB354B-9459-4CA4-9C08-17B78ABC8C9C}" srcId="{04A15ED5-790F-4A5E-994A-7E23900110C6}" destId="{D10FF8D1-A1B8-4B88-9C63-3692E6CF12BF}" srcOrd="1" destOrd="0" parTransId="{0B4A77F0-4CAE-4CE7-8561-7B356E891CC8}" sibTransId="{F81D8491-E3EA-4271-A0B0-7041B434FB2B}"/>
    <dgm:cxn modelId="{59B36F53-8A29-4631-B4A7-F0E100C529AD}" type="presOf" srcId="{5CB7AF13-4169-46E9-9505-9D3318194085}" destId="{7BE26D1A-D51D-4479-B0BC-F99232A91A2D}" srcOrd="0" destOrd="0" presId="urn:microsoft.com/office/officeart/2005/8/layout/hierarchy3"/>
    <dgm:cxn modelId="{261AD275-F7BC-42DD-A9CC-35893F057E85}" type="presOf" srcId="{31853C7C-0381-4E38-881C-04B714A6FCA7}" destId="{B39BD4A0-E11A-4BB3-8943-4FBE5CD11ACE}" srcOrd="0" destOrd="0" presId="urn:microsoft.com/office/officeart/2005/8/layout/hierarchy3"/>
    <dgm:cxn modelId="{6785A35A-5444-4FD6-B204-79774F1CEDE4}" type="presOf" srcId="{FF222B91-65DF-422C-802B-D09EA1484C5E}" destId="{8D4A8FA2-8486-4B0E-8E06-72CB8F057637}" srcOrd="0" destOrd="0" presId="urn:microsoft.com/office/officeart/2005/8/layout/hierarchy3"/>
    <dgm:cxn modelId="{91311891-8643-4D65-8BC6-8A306BEA0CB8}" srcId="{E7D45332-BC8D-4103-88DB-743A97D46AD7}" destId="{FF222B91-65DF-422C-802B-D09EA1484C5E}" srcOrd="0" destOrd="0" parTransId="{31853C7C-0381-4E38-881C-04B714A6FCA7}" sibTransId="{3ED52681-71B1-4EF0-BE48-A02154E2797C}"/>
    <dgm:cxn modelId="{05AF109F-D636-4D6F-B6C3-DC507760A8EB}" type="presOf" srcId="{85418E1E-2E36-433A-A13F-84A8CF4861A7}" destId="{B59ED598-8945-46F6-BD2D-746E395D5327}" srcOrd="0" destOrd="0" presId="urn:microsoft.com/office/officeart/2005/8/layout/hierarchy3"/>
    <dgm:cxn modelId="{60F064AA-A50A-4D8E-B509-EF83636BCD21}" srcId="{04A15ED5-790F-4A5E-994A-7E23900110C6}" destId="{85418E1E-2E36-433A-A13F-84A8CF4861A7}" srcOrd="2" destOrd="0" parTransId="{A65C99EA-7EAE-4DDE-A594-AB1FCBE62B72}" sibTransId="{EC10F652-2D49-4B75-BC08-789F86A0DE1B}"/>
    <dgm:cxn modelId="{2878FFB1-A401-49DE-A4D9-0DD6648BA720}" type="presOf" srcId="{04A15ED5-790F-4A5E-994A-7E23900110C6}" destId="{2B27AE6F-1C0E-41E6-898A-0CC73F260588}" srcOrd="0" destOrd="0" presId="urn:microsoft.com/office/officeart/2005/8/layout/hierarchy3"/>
    <dgm:cxn modelId="{CDEEB3C5-7E89-42CD-BEDE-CB22A63708AB}" srcId="{04A15ED5-790F-4A5E-994A-7E23900110C6}" destId="{C5433788-9548-40A7-98D9-1C62AAB4F6FD}" srcOrd="3" destOrd="0" parTransId="{3187B0BF-2F65-4E63-ABF1-A04F6DE65F67}" sibTransId="{1E9AAE72-0E9E-4E30-95EE-3FB21823208B}"/>
    <dgm:cxn modelId="{7116F1D2-EE52-4855-804E-86AD116493AE}" srcId="{D10FF8D1-A1B8-4B88-9C63-3692E6CF12BF}" destId="{1A3F7D5A-89B9-437C-9E22-661B284E4F30}" srcOrd="0" destOrd="0" parTransId="{B2CADA0D-A1EF-4B39-9D72-07DB470B090E}" sibTransId="{1BADEF69-A2D1-4CC3-A3EF-9093E54CD92B}"/>
    <dgm:cxn modelId="{B2E2AED3-979E-49A7-9070-726B69619D1A}" type="presOf" srcId="{D10FF8D1-A1B8-4B88-9C63-3692E6CF12BF}" destId="{13325541-B58C-4B70-85F1-78D773810BDC}" srcOrd="0" destOrd="0" presId="urn:microsoft.com/office/officeart/2005/8/layout/hierarchy3"/>
    <dgm:cxn modelId="{84819AEB-0113-4184-8349-F864836A1333}" type="presOf" srcId="{C5433788-9548-40A7-98D9-1C62AAB4F6FD}" destId="{92CB9F41-0F93-41C0-8700-06F98389B8D7}" srcOrd="1" destOrd="0" presId="urn:microsoft.com/office/officeart/2005/8/layout/hierarchy3"/>
    <dgm:cxn modelId="{8D44C8EC-E803-4EBD-8552-487AC4C755E9}" type="presOf" srcId="{85418E1E-2E36-433A-A13F-84A8CF4861A7}" destId="{59DE6494-4C0B-47F8-92B4-464F48ECB299}" srcOrd="1" destOrd="0" presId="urn:microsoft.com/office/officeart/2005/8/layout/hierarchy3"/>
    <dgm:cxn modelId="{1E7F4BF5-CCB1-4968-BC35-8711BB1DF0F5}" type="presOf" srcId="{7EA7FAD7-0100-49D8-996F-B06999FDF79A}" destId="{BAF5F656-9368-420B-9543-3ADD12A45D79}" srcOrd="0" destOrd="0" presId="urn:microsoft.com/office/officeart/2005/8/layout/hierarchy3"/>
    <dgm:cxn modelId="{5A2171FB-BE3E-4C96-BB78-16395D85FEF5}" type="presOf" srcId="{7E94A436-AC1D-4597-8368-CBDF06534B62}" destId="{F2C914D8-C069-4B12-9290-84248D89C474}" srcOrd="0" destOrd="0" presId="urn:microsoft.com/office/officeart/2005/8/layout/hierarchy3"/>
    <dgm:cxn modelId="{0B8E6AFD-CE9A-4750-81B0-D2085DE5BE67}" srcId="{04A15ED5-790F-4A5E-994A-7E23900110C6}" destId="{E7D45332-BC8D-4103-88DB-743A97D46AD7}" srcOrd="0" destOrd="0" parTransId="{44BB9F97-F539-4B6A-BE90-5E8962E8874A}" sibTransId="{B367864A-BBC1-41B9-8A25-C48410870A5E}"/>
    <dgm:cxn modelId="{833F68B9-8CC8-472E-A668-BAB2CD589C47}" type="presParOf" srcId="{2B27AE6F-1C0E-41E6-898A-0CC73F260588}" destId="{73B304DD-D6DB-414C-B25A-8ED7DFB458D4}" srcOrd="0" destOrd="0" presId="urn:microsoft.com/office/officeart/2005/8/layout/hierarchy3"/>
    <dgm:cxn modelId="{A9165FB9-526A-4F14-96F7-147AEE91B999}" type="presParOf" srcId="{73B304DD-D6DB-414C-B25A-8ED7DFB458D4}" destId="{E9102E15-2B35-475A-88D1-B023861670C8}" srcOrd="0" destOrd="0" presId="urn:microsoft.com/office/officeart/2005/8/layout/hierarchy3"/>
    <dgm:cxn modelId="{40B38F31-F9E8-4927-9438-4960E64B73BE}" type="presParOf" srcId="{E9102E15-2B35-475A-88D1-B023861670C8}" destId="{93FDE280-FA76-4185-A8C2-5FA6D09F5AF0}" srcOrd="0" destOrd="0" presId="urn:microsoft.com/office/officeart/2005/8/layout/hierarchy3"/>
    <dgm:cxn modelId="{5D1D26FF-5ABA-4BF5-884D-E045A0AB4418}" type="presParOf" srcId="{E9102E15-2B35-475A-88D1-B023861670C8}" destId="{81045016-EB86-4A93-9D43-6952B1ED2CDA}" srcOrd="1" destOrd="0" presId="urn:microsoft.com/office/officeart/2005/8/layout/hierarchy3"/>
    <dgm:cxn modelId="{D34384BD-FD72-4FE3-983F-18C1417FF775}" type="presParOf" srcId="{73B304DD-D6DB-414C-B25A-8ED7DFB458D4}" destId="{B27CACC6-8FB7-4522-807F-7E2EBD77021A}" srcOrd="1" destOrd="0" presId="urn:microsoft.com/office/officeart/2005/8/layout/hierarchy3"/>
    <dgm:cxn modelId="{FBCAB764-463F-4023-9304-E5C6992E07E1}" type="presParOf" srcId="{B27CACC6-8FB7-4522-807F-7E2EBD77021A}" destId="{B39BD4A0-E11A-4BB3-8943-4FBE5CD11ACE}" srcOrd="0" destOrd="0" presId="urn:microsoft.com/office/officeart/2005/8/layout/hierarchy3"/>
    <dgm:cxn modelId="{CB5F7C42-0BE7-4F31-93FB-08901DB14DD5}" type="presParOf" srcId="{B27CACC6-8FB7-4522-807F-7E2EBD77021A}" destId="{8D4A8FA2-8486-4B0E-8E06-72CB8F057637}" srcOrd="1" destOrd="0" presId="urn:microsoft.com/office/officeart/2005/8/layout/hierarchy3"/>
    <dgm:cxn modelId="{03214848-FF26-4C98-A83E-BA64184EA88A}" type="presParOf" srcId="{2B27AE6F-1C0E-41E6-898A-0CC73F260588}" destId="{374A9122-9BBB-4BD4-96E2-DE2D00A5FD86}" srcOrd="1" destOrd="0" presId="urn:microsoft.com/office/officeart/2005/8/layout/hierarchy3"/>
    <dgm:cxn modelId="{2921E286-98F8-4E72-A2FC-173DCA9D506E}" type="presParOf" srcId="{374A9122-9BBB-4BD4-96E2-DE2D00A5FD86}" destId="{346A8DB8-2527-48BA-B525-0975F1A552BA}" srcOrd="0" destOrd="0" presId="urn:microsoft.com/office/officeart/2005/8/layout/hierarchy3"/>
    <dgm:cxn modelId="{2BBEC536-8FFF-4AF0-9EFA-BE1E1FC608F9}" type="presParOf" srcId="{346A8DB8-2527-48BA-B525-0975F1A552BA}" destId="{13325541-B58C-4B70-85F1-78D773810BDC}" srcOrd="0" destOrd="0" presId="urn:microsoft.com/office/officeart/2005/8/layout/hierarchy3"/>
    <dgm:cxn modelId="{AB776450-B72F-4FE0-A0FF-B58AE7E36F9B}" type="presParOf" srcId="{346A8DB8-2527-48BA-B525-0975F1A552BA}" destId="{7AD72E7B-1175-4DC8-8808-1B6B7384E369}" srcOrd="1" destOrd="0" presId="urn:microsoft.com/office/officeart/2005/8/layout/hierarchy3"/>
    <dgm:cxn modelId="{1E1A4269-27D4-4123-B71A-F28D08A6656E}" type="presParOf" srcId="{374A9122-9BBB-4BD4-96E2-DE2D00A5FD86}" destId="{C677A704-286D-4704-AD2E-BBFD82DEC094}" srcOrd="1" destOrd="0" presId="urn:microsoft.com/office/officeart/2005/8/layout/hierarchy3"/>
    <dgm:cxn modelId="{41C5618C-6351-41C0-ADBA-0E9BFDC3DBF9}" type="presParOf" srcId="{C677A704-286D-4704-AD2E-BBFD82DEC094}" destId="{6BCC0361-74F4-4B6C-8240-DEDB3AD8E872}" srcOrd="0" destOrd="0" presId="urn:microsoft.com/office/officeart/2005/8/layout/hierarchy3"/>
    <dgm:cxn modelId="{4853C72B-0DD2-4584-B011-491EBBAAD217}" type="presParOf" srcId="{C677A704-286D-4704-AD2E-BBFD82DEC094}" destId="{32C9AA44-EE9B-46F5-A0CF-49F0DD26AA7E}" srcOrd="1" destOrd="0" presId="urn:microsoft.com/office/officeart/2005/8/layout/hierarchy3"/>
    <dgm:cxn modelId="{B0522A99-7619-4746-88A2-5ED1CEFBADEC}" type="presParOf" srcId="{2B27AE6F-1C0E-41E6-898A-0CC73F260588}" destId="{E8E272DF-93AD-410D-8064-B07AA7635ACD}" srcOrd="2" destOrd="0" presId="urn:microsoft.com/office/officeart/2005/8/layout/hierarchy3"/>
    <dgm:cxn modelId="{BEF0FA0B-6F5B-48CA-9054-5246553C9F27}" type="presParOf" srcId="{E8E272DF-93AD-410D-8064-B07AA7635ACD}" destId="{0EFD679B-838B-4232-A3CE-712DDD0D9A70}" srcOrd="0" destOrd="0" presId="urn:microsoft.com/office/officeart/2005/8/layout/hierarchy3"/>
    <dgm:cxn modelId="{80C1D54E-439B-4354-8EC1-CED40CA758FA}" type="presParOf" srcId="{0EFD679B-838B-4232-A3CE-712DDD0D9A70}" destId="{B59ED598-8945-46F6-BD2D-746E395D5327}" srcOrd="0" destOrd="0" presId="urn:microsoft.com/office/officeart/2005/8/layout/hierarchy3"/>
    <dgm:cxn modelId="{EA1E0E45-E0A0-4AAD-82DA-BC1A37A799B6}" type="presParOf" srcId="{0EFD679B-838B-4232-A3CE-712DDD0D9A70}" destId="{59DE6494-4C0B-47F8-92B4-464F48ECB299}" srcOrd="1" destOrd="0" presId="urn:microsoft.com/office/officeart/2005/8/layout/hierarchy3"/>
    <dgm:cxn modelId="{6F44F9B5-CDA9-4DFF-ABB5-2621FB6990D3}" type="presParOf" srcId="{E8E272DF-93AD-410D-8064-B07AA7635ACD}" destId="{8B5046FC-1960-44B2-B1EC-31D646C795D2}" srcOrd="1" destOrd="0" presId="urn:microsoft.com/office/officeart/2005/8/layout/hierarchy3"/>
    <dgm:cxn modelId="{A67583B5-20F7-41B1-B97E-FAE41F2E1CFB}" type="presParOf" srcId="{8B5046FC-1960-44B2-B1EC-31D646C795D2}" destId="{BAF5F656-9368-420B-9543-3ADD12A45D79}" srcOrd="0" destOrd="0" presId="urn:microsoft.com/office/officeart/2005/8/layout/hierarchy3"/>
    <dgm:cxn modelId="{48984262-DCCF-4677-B9AF-0498C013A6BC}" type="presParOf" srcId="{8B5046FC-1960-44B2-B1EC-31D646C795D2}" destId="{641522DB-FFAF-4FF6-8033-22AE411047E3}" srcOrd="1" destOrd="0" presId="urn:microsoft.com/office/officeart/2005/8/layout/hierarchy3"/>
    <dgm:cxn modelId="{E70D9B3D-EA8C-4C70-A572-F26992A8E6EB}" type="presParOf" srcId="{2B27AE6F-1C0E-41E6-898A-0CC73F260588}" destId="{79919084-119B-473E-9CFB-7E257CAE8210}" srcOrd="3" destOrd="0" presId="urn:microsoft.com/office/officeart/2005/8/layout/hierarchy3"/>
    <dgm:cxn modelId="{5D1D74E3-DA48-4A68-B229-7F39CBF5CAAA}" type="presParOf" srcId="{79919084-119B-473E-9CFB-7E257CAE8210}" destId="{E1B6FC55-2B6A-428E-8BF7-3CDA3319905B}" srcOrd="0" destOrd="0" presId="urn:microsoft.com/office/officeart/2005/8/layout/hierarchy3"/>
    <dgm:cxn modelId="{7A89C11D-18C7-4AB7-8C43-A9923960009D}" type="presParOf" srcId="{E1B6FC55-2B6A-428E-8BF7-3CDA3319905B}" destId="{E68FFABE-58EA-4AB5-8D37-81F0840C0C35}" srcOrd="0" destOrd="0" presId="urn:microsoft.com/office/officeart/2005/8/layout/hierarchy3"/>
    <dgm:cxn modelId="{F0C60872-C8EF-4B9C-A1ED-43B0C8188E59}" type="presParOf" srcId="{E1B6FC55-2B6A-428E-8BF7-3CDA3319905B}" destId="{92CB9F41-0F93-41C0-8700-06F98389B8D7}" srcOrd="1" destOrd="0" presId="urn:microsoft.com/office/officeart/2005/8/layout/hierarchy3"/>
    <dgm:cxn modelId="{C0A4FA08-E0F2-4020-9204-4D1CC94B26BE}" type="presParOf" srcId="{79919084-119B-473E-9CFB-7E257CAE8210}" destId="{113A67C0-C1A1-4956-A8A2-064F06C3CEF2}" srcOrd="1" destOrd="0" presId="urn:microsoft.com/office/officeart/2005/8/layout/hierarchy3"/>
    <dgm:cxn modelId="{6A705B06-1C94-424B-A9D2-388A10AEF3AC}" type="presParOf" srcId="{113A67C0-C1A1-4956-A8A2-064F06C3CEF2}" destId="{7BE26D1A-D51D-4479-B0BC-F99232A91A2D}" srcOrd="0" destOrd="0" presId="urn:microsoft.com/office/officeart/2005/8/layout/hierarchy3"/>
    <dgm:cxn modelId="{CDAFFC88-B8F5-4138-84FB-0980D38953C6}" type="presParOf" srcId="{113A67C0-C1A1-4956-A8A2-064F06C3CEF2}" destId="{F2C914D8-C069-4B12-9290-84248D89C474}" srcOrd="1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2969B3-26F6-42F6-BFE8-46BDDC6655A6}">
      <dsp:nvSpPr>
        <dsp:cNvPr id="0" name=""/>
        <dsp:cNvSpPr/>
      </dsp:nvSpPr>
      <dsp:spPr>
        <a:xfrm>
          <a:off x="2079" y="155903"/>
          <a:ext cx="1506093" cy="1506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5C5B1-150C-43FB-B570-C0A7EE6F9289}">
      <dsp:nvSpPr>
        <dsp:cNvPr id="0" name=""/>
        <dsp:cNvSpPr/>
      </dsp:nvSpPr>
      <dsp:spPr>
        <a:xfrm>
          <a:off x="2079" y="1822380"/>
          <a:ext cx="4303125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TCP/IP Protocol Stack</a:t>
          </a:r>
          <a:endParaRPr lang="en-US" sz="3600" kern="1200"/>
        </a:p>
      </dsp:txBody>
      <dsp:txXfrm>
        <a:off x="2079" y="1822380"/>
        <a:ext cx="4303125" cy="645468"/>
      </dsp:txXfrm>
    </dsp:sp>
    <dsp:sp modelId="{46BB61D7-5CF1-4399-A407-C9A23E6AA413}">
      <dsp:nvSpPr>
        <dsp:cNvPr id="0" name=""/>
        <dsp:cNvSpPr/>
      </dsp:nvSpPr>
      <dsp:spPr>
        <a:xfrm>
          <a:off x="2079" y="2542445"/>
          <a:ext cx="4303125" cy="1343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Link Layer/Ethernet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 IP Networks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TCP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Application Layer Protocols</a:t>
          </a:r>
          <a:endParaRPr lang="en-US" sz="1700" kern="1200"/>
        </a:p>
      </dsp:txBody>
      <dsp:txXfrm>
        <a:off x="2079" y="2542445"/>
        <a:ext cx="4303125" cy="1343298"/>
      </dsp:txXfrm>
    </dsp:sp>
    <dsp:sp modelId="{C875BE45-524F-438D-AC44-8073E2747FC9}">
      <dsp:nvSpPr>
        <dsp:cNvPr id="0" name=""/>
        <dsp:cNvSpPr/>
      </dsp:nvSpPr>
      <dsp:spPr>
        <a:xfrm>
          <a:off x="5058251" y="155903"/>
          <a:ext cx="1506093" cy="1506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D27ED-7625-4E0E-95B7-128DFC64C767}">
      <dsp:nvSpPr>
        <dsp:cNvPr id="0" name=""/>
        <dsp:cNvSpPr/>
      </dsp:nvSpPr>
      <dsp:spPr>
        <a:xfrm>
          <a:off x="5058251" y="1822380"/>
          <a:ext cx="4303125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Internet of Things</a:t>
          </a:r>
          <a:endParaRPr lang="en-US" sz="3600" kern="1200"/>
        </a:p>
      </dsp:txBody>
      <dsp:txXfrm>
        <a:off x="5058251" y="1822380"/>
        <a:ext cx="4303125" cy="645468"/>
      </dsp:txXfrm>
    </dsp:sp>
    <dsp:sp modelId="{07019B9D-C29A-4EF4-9B4C-279FEFC961AC}">
      <dsp:nvSpPr>
        <dsp:cNvPr id="0" name=""/>
        <dsp:cNvSpPr/>
      </dsp:nvSpPr>
      <dsp:spPr>
        <a:xfrm>
          <a:off x="5058251" y="2542445"/>
          <a:ext cx="4303125" cy="1343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Physical Computing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Sensing/Acuating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Messaging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IoT Platforms</a:t>
          </a:r>
          <a:endParaRPr lang="en-US" sz="1700" kern="1200"/>
        </a:p>
      </dsp:txBody>
      <dsp:txXfrm>
        <a:off x="5058251" y="2542445"/>
        <a:ext cx="4303125" cy="1343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DE280-FA76-4185-A8C2-5FA6D09F5AF0}">
      <dsp:nvSpPr>
        <dsp:cNvPr id="0" name=""/>
        <dsp:cNvSpPr/>
      </dsp:nvSpPr>
      <dsp:spPr>
        <a:xfrm>
          <a:off x="545062" y="125667"/>
          <a:ext cx="2306308" cy="11531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Devices</a:t>
          </a:r>
        </a:p>
      </dsp:txBody>
      <dsp:txXfrm>
        <a:off x="578837" y="159442"/>
        <a:ext cx="2238758" cy="1085604"/>
      </dsp:txXfrm>
    </dsp:sp>
    <dsp:sp modelId="{B39BD4A0-E11A-4BB3-8943-4FBE5CD11ACE}">
      <dsp:nvSpPr>
        <dsp:cNvPr id="0" name=""/>
        <dsp:cNvSpPr/>
      </dsp:nvSpPr>
      <dsp:spPr>
        <a:xfrm>
          <a:off x="647232" y="1278821"/>
          <a:ext cx="128461" cy="644463"/>
        </a:xfrm>
        <a:custGeom>
          <a:avLst/>
          <a:gdLst/>
          <a:ahLst/>
          <a:cxnLst/>
          <a:rect l="0" t="0" r="0" b="0"/>
          <a:pathLst>
            <a:path>
              <a:moveTo>
                <a:pt x="128461" y="0"/>
              </a:moveTo>
              <a:lnTo>
                <a:pt x="0" y="64446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A8FA2-8486-4B0E-8E06-72CB8F057637}">
      <dsp:nvSpPr>
        <dsp:cNvPr id="0" name=""/>
        <dsp:cNvSpPr/>
      </dsp:nvSpPr>
      <dsp:spPr>
        <a:xfrm>
          <a:off x="647232" y="1442811"/>
          <a:ext cx="1845046" cy="9609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Communicate with one another.</a:t>
          </a:r>
        </a:p>
      </dsp:txBody>
      <dsp:txXfrm>
        <a:off x="675377" y="1470956"/>
        <a:ext cx="1788756" cy="904656"/>
      </dsp:txXfrm>
    </dsp:sp>
    <dsp:sp modelId="{13325541-B58C-4B70-85F1-78D773810BDC}">
      <dsp:nvSpPr>
        <dsp:cNvPr id="0" name=""/>
        <dsp:cNvSpPr/>
      </dsp:nvSpPr>
      <dsp:spPr>
        <a:xfrm>
          <a:off x="3068856" y="1368"/>
          <a:ext cx="2306308" cy="11531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Physical Medium</a:t>
          </a:r>
        </a:p>
      </dsp:txBody>
      <dsp:txXfrm>
        <a:off x="3102631" y="35143"/>
        <a:ext cx="2238758" cy="1085604"/>
      </dsp:txXfrm>
    </dsp:sp>
    <dsp:sp modelId="{6BCC0361-74F4-4B6C-8240-DEDB3AD8E872}">
      <dsp:nvSpPr>
        <dsp:cNvPr id="0" name=""/>
        <dsp:cNvSpPr/>
      </dsp:nvSpPr>
      <dsp:spPr>
        <a:xfrm>
          <a:off x="3299487" y="1154523"/>
          <a:ext cx="230630" cy="8648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4865"/>
              </a:lnTo>
              <a:lnTo>
                <a:pt x="230630" y="8648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9AA44-EE9B-46F5-A0CF-49F0DD26AA7E}">
      <dsp:nvSpPr>
        <dsp:cNvPr id="0" name=""/>
        <dsp:cNvSpPr/>
      </dsp:nvSpPr>
      <dsp:spPr>
        <a:xfrm>
          <a:off x="3530117" y="1442811"/>
          <a:ext cx="1845046" cy="11531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Used to connect devices</a:t>
          </a:r>
        </a:p>
      </dsp:txBody>
      <dsp:txXfrm>
        <a:off x="3563892" y="1476586"/>
        <a:ext cx="1777496" cy="1085604"/>
      </dsp:txXfrm>
    </dsp:sp>
    <dsp:sp modelId="{B59ED598-8945-46F6-BD2D-746E395D5327}">
      <dsp:nvSpPr>
        <dsp:cNvPr id="0" name=""/>
        <dsp:cNvSpPr/>
      </dsp:nvSpPr>
      <dsp:spPr>
        <a:xfrm>
          <a:off x="5951742" y="1368"/>
          <a:ext cx="2306308" cy="11531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Messages</a:t>
          </a:r>
        </a:p>
      </dsp:txBody>
      <dsp:txXfrm>
        <a:off x="5985517" y="35143"/>
        <a:ext cx="2238758" cy="1085604"/>
      </dsp:txXfrm>
    </dsp:sp>
    <dsp:sp modelId="{BAF5F656-9368-420B-9543-3ADD12A45D79}">
      <dsp:nvSpPr>
        <dsp:cNvPr id="0" name=""/>
        <dsp:cNvSpPr/>
      </dsp:nvSpPr>
      <dsp:spPr>
        <a:xfrm>
          <a:off x="6182372" y="1154523"/>
          <a:ext cx="230630" cy="8648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4865"/>
              </a:lnTo>
              <a:lnTo>
                <a:pt x="230630" y="8648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522DB-FFAF-4FF6-8033-22AE411047E3}">
      <dsp:nvSpPr>
        <dsp:cNvPr id="0" name=""/>
        <dsp:cNvSpPr/>
      </dsp:nvSpPr>
      <dsp:spPr>
        <a:xfrm>
          <a:off x="6413003" y="1442811"/>
          <a:ext cx="1845046" cy="11531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Information travelling over the medium</a:t>
          </a:r>
        </a:p>
      </dsp:txBody>
      <dsp:txXfrm>
        <a:off x="6446778" y="1476586"/>
        <a:ext cx="1777496" cy="1085604"/>
      </dsp:txXfrm>
    </dsp:sp>
    <dsp:sp modelId="{E68FFABE-58EA-4AB5-8D37-81F0840C0C35}">
      <dsp:nvSpPr>
        <dsp:cNvPr id="0" name=""/>
        <dsp:cNvSpPr/>
      </dsp:nvSpPr>
      <dsp:spPr>
        <a:xfrm>
          <a:off x="8834627" y="1368"/>
          <a:ext cx="2306308" cy="11531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Rules</a:t>
          </a:r>
        </a:p>
      </dsp:txBody>
      <dsp:txXfrm>
        <a:off x="8868402" y="35143"/>
        <a:ext cx="2238758" cy="1085604"/>
      </dsp:txXfrm>
    </dsp:sp>
    <dsp:sp modelId="{7BE26D1A-D51D-4479-B0BC-F99232A91A2D}">
      <dsp:nvSpPr>
        <dsp:cNvPr id="0" name=""/>
        <dsp:cNvSpPr/>
      </dsp:nvSpPr>
      <dsp:spPr>
        <a:xfrm>
          <a:off x="9065258" y="1154523"/>
          <a:ext cx="230630" cy="8648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4865"/>
              </a:lnTo>
              <a:lnTo>
                <a:pt x="230630" y="8648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914D8-C069-4B12-9290-84248D89C474}">
      <dsp:nvSpPr>
        <dsp:cNvPr id="0" name=""/>
        <dsp:cNvSpPr/>
      </dsp:nvSpPr>
      <dsp:spPr>
        <a:xfrm>
          <a:off x="9295889" y="1442811"/>
          <a:ext cx="1845046" cy="11531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Governs how messages flow through a network</a:t>
          </a:r>
        </a:p>
      </dsp:txBody>
      <dsp:txXfrm>
        <a:off x="9329664" y="1476586"/>
        <a:ext cx="1777496" cy="10856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2T10:10:48.9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474 202 0 0,'-26'-11'0'0,"24"10"0"0,8 3 0 0,39 18 0 0,-36-17 0 0,4 3 0 0,-4-2 0 0,2 0 0 0,-1 0 0 0,-1 0 0 0,2 1 0 0,53 22 0 0,30 13 0 0,-80-34 0 0,-2-1 0 0,1 1 0 0,-1-1 0 0,0 0 0 0,1 0 0 0,-1 0 0 0,0 1 0 0,-3-3 0 0,4 3 0 0,1 0 0 0,-1-1 0 0,1 1 0 0,-3-1 0 0,0-1 0 0,2 2 0 0,0 0 0 0,1 0 0 0,0 0 0 0,-1-1 0 0,-1 0 0 0,-3-1 0 0,4 1 0 0,-1 0 0 0,0 1 0 0,1-1 0 0,44 20 0 0,170 71 0 0,-164-69 0 0,73 30 0 0,-43-17 0 0,-25-11 0 0,-27-12 0 0,-14-6 0 0,101 44 0 0,-68-30 0 0,51 22 0 0,1587 674 0 0,-1607-682 0 0,-67-29 0 0,3 1 0 0,15 7 0 0,-5-2 0 0,20 8 0 0,452 192 0 0,-466-198 0 0,-4-1 0 0,43 18 0 0,-69-30 0 0,0 1 0 0,4 1 0 0,36 15 0 0,-44-18 0 0,2 1 0 0,7 3 0 0,-12-6 0 0,-1 0 0 0,1 1 0 0,18 7 0 0,37 16 0 0,-47-20 0 0,1 0 0 0,-1 0 0 0,61 26 0 0,-57-25 0 0,-1 1 0 0,-1-1 0 0,1 0 0 0,4 2 0 0,0 0 0 0,6 2 0 0,-37-15 0 0,5 2 0 0,-3424-1454 0 0,3371 1432 0 0,14 5 0 0,36 16 0 0,-2-2 0 0,-1 0 0 0,0 1 0 0,2 0 0 0,-53-22 0 0,27 11 0 0,-8-3 0 0,-14-7 0 0,-43-17 0 0,55 23 0 0,1 0 0 0,-54-22 0 0,60 25 0 0,-27-12 0 0,3 2 0 0,3 1 0 0,27 11 0 0,25 11 0 0,0 0 0 0,-5-2 0 0,1 1 0 0,-54-24 0 0,56 24 0 0,-29-12 0 0,6 2 0 0,-20-8 0 0,-17-7 0 0,58 24 0 0,-31-12 0 0,-14-8 0 0,36 17 0 0,-82-35 0 0,71 30 0 0,-131-56 0 0,72 31 0 0,81 34 0 0,2 1 0 0,-2-1 0 0,-2-1 0 0,3 2 0 0,3 1 0 0,6 2 0 0,6 3 0 0,10 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2T10:11:10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3567 243 3512 0 0,'-10'-5'412'0'0,"1"0"0"0"0,1 0 1 0 0,-1-1-1 0 0,1 0 0 0 0,0 0 0 0 0,0-1 1 0 0,-7-8-1 0 0,5 5 376 0 0,-1 0 0 0 0,0 1 0 0 0,-19-13 0 0 0,17 15-623 0 0,-9-5 94 0 0,10 6-123 0 0,-6-4 70 0 0,10 6-123 0 0,-14-8 132 0 0,-95-32 648 0 0,77 32-605 0 0,0 2 0 0 0,-63-6-1 0 0,52 13-186 0 0,-1 3-1 0 0,-85 10 1 0 0,57-3-41 0 0,30-1-54 0 0,1 3 0 0 0,-48 15 0 0 0,91-23 24 0 0,-81 21 0 0 0,-151 43 0 0 0,215-57 0 0 0,-60 18 0 0 0,2 4 0 0 0,-82 42 0 0 0,124-52-3 0 0,-135 81-48 0 0,-73 65-23 0 0,103-76 74 0 0,-18 14 0 0 0,115-71-4 0 0,-88 66-31 0 0,106-75 26 0 0,0 2 1 0 0,-32 36 0 0 0,-20 24 8 0 0,-24 29 0 0 0,-35 55 0 0 0,102-124 0 0 0,26-34 0 0 0,1 1 0 0 0,1 0 0 0 0,0 0 0 0 0,1 1 0 0 0,0 1 0 0 0,-12 28 0 0 0,13-13 14 0 0,6-22 6 0 0,0 0-1 0 0,0 0 0 0 0,-7 14 1 0 0,-62 107 126 0 0,31-59-225 0 0,-54 129 0 0 0,85-172 27 0 0,2 1 0 0 0,-5 40 0 0 0,1-10 16 0 0,-2 22 36 0 0,-4 18 0 0 0,13-76 0 0 0,1 0 0 0 0,-1 24 0 0 0,-3 24 0 0 0,2-36 0 0 0,2 1 0 0 0,1-1 0 0 0,4 50 0 0 0,20 105 0 0 0,-6-60 0 0 0,-9-84-25 0 0,1-1 1 0 0,22 63-1 0 0,-2-7-68 0 0,-10-36-27 0 0,2-1-1 0 0,3 0 1 0 0,40 75 0 0 0,30 63 280 0 0,-54-115-102 0 0,-25-51-131 0 0,31 52 0 0 0,-29-61 82 0 0,164 245 862 0 0,-163-252-871 0 0,1 0 0 0 0,1-1 0 0 0,38 28 0 0 0,-16-14 0 0 0,22 15-30 0 0,73 41 1 0 0,-77-52 18 0 0,-1 2 0 0 0,55 49 0 0 0,-57-35 84 0 0,41 35 107 0 0,36 10 123 0 0,-112-83-327 0 0,1-2 0 0 0,1 0-1 0 0,0-1 1 0 0,33 10-1 0 0,123 26-168 0 0,-114-31 309 0 0,173 31 509 0 0,-150-31-577 0 0,362 35 306 0 0,1-48 270 0 0,-378-7-539 0 0,-1-4 0 0 0,102-24 1 0 0,133-53 566 0 0,-59-3-429 0 0,-191 62-280 0 0,-2-2 0 0 0,65-43 0 0 0,260-169 281 0 0,-281 184-217 0 0,-3-4 1 0 0,125-103-1 0 0,-80 38 408 0 0,184-206 1 0 0,-307 310-326 0 0,175-215 990 0 0,-152 180-700 0 0,-3-1 0 0 0,44-88 0 0 0,-33 40 352 0 0,61-188 0 0 0,-91 226-480 0 0,-3-1 0 0 0,-3 0 0 0 0,-3 0 0 0 0,1-85 0 0 0,-10 60 159 0 0,-20-171-1 0 0,11 216-249 0 0,-2 1 0 0 0,-1 1 1 0 0,-3 0-1 0 0,-2 0 0 0 0,-30-62 0 0 0,21 63-10 0 0,-3 0-1 0 0,-1 1 0 0 0,-40-45 1 0 0,-115-108 279 0 0,66 71-134 0 0,-61-57 256 0 0,105 121-225 0 0,-127-82 0 0 0,-95-33-37 0 0,213 129-234 0 0,-714-361 0 0 0,353 226-765 0 0,309 139-330 0 0,-188-38-1 0 0,138 52-588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42408-4F80-458C-BF9E-D003E19AA17F}" type="datetimeFigureOut">
              <a:rPr lang="en-US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90341-E123-41B7-9138-DC1D29E0C6A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6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Going back a few decades, machines worked in isolation. Cars originally were very electromechanical. Could be thought of as information islands.</a:t>
            </a:r>
          </a:p>
          <a:p>
            <a:r>
              <a:rPr lang="en-US" dirty="0">
                <a:cs typeface="Calibri"/>
              </a:rPr>
              <a:t>Jump forward to today – everything is getting connected, not just computers, but pretty much anything you can think of. Example in modern cars – connect to roadside </a:t>
            </a:r>
            <a:r>
              <a:rPr lang="en-US" dirty="0" err="1">
                <a:cs typeface="Calibri"/>
              </a:rPr>
              <a:t>infrastrure</a:t>
            </a:r>
            <a:r>
              <a:rPr lang="en-US" dirty="0">
                <a:cs typeface="Calibri"/>
              </a:rPr>
              <a:t> and other cars. </a:t>
            </a:r>
            <a:r>
              <a:rPr lang="en-US" dirty="0" err="1">
                <a:cs typeface="Calibri"/>
              </a:rPr>
              <a:t>Autonamous</a:t>
            </a:r>
            <a:r>
              <a:rPr lang="en-US" dirty="0">
                <a:cs typeface="Calibri"/>
              </a:rPr>
              <a:t>. Also can react to events (sensors in cars can detect impact/orientation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90341-E123-41B7-9138-DC1D29E0C6A4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63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39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02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An end device is where a message originates from or where it is received. Data originates with an end device, flows through the network, and arrives at an end device.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indent="0">
              <a:buNone/>
            </a:pPr>
            <a:r>
              <a:rPr lang="en-US" altLang="en-US" dirty="0"/>
              <a:t>An intermediary device interconnects end devices. Examples include switches, wireless access points, routers, and firewalls.</a:t>
            </a:r>
          </a:p>
          <a:p>
            <a:pPr marL="0" indent="0">
              <a:buNone/>
            </a:pPr>
            <a:r>
              <a:rPr lang="en-US" altLang="en-US" dirty="0"/>
              <a:t>Management of data as it flows through a network is also the role of an intermediary device, including:</a:t>
            </a:r>
          </a:p>
          <a:p>
            <a:pPr lvl="1"/>
            <a:r>
              <a:rPr lang="en-US" altLang="en-US" dirty="0"/>
              <a:t>Regenerate and retransmit data signals.</a:t>
            </a:r>
          </a:p>
          <a:p>
            <a:pPr lvl="1"/>
            <a:r>
              <a:rPr lang="en-US" altLang="en-US" dirty="0"/>
              <a:t>Maintain information about what pathways exist in the network.</a:t>
            </a:r>
          </a:p>
          <a:p>
            <a:pPr lvl="1"/>
            <a:r>
              <a:rPr lang="en-US" altLang="en-US" dirty="0"/>
              <a:t>Notify other devices of errors and communication failures.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altLang="en-US" sz="1200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07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Communication across a network is carried through a medium which allows a message to travel from source to destination.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Wired  - Uses Electrical Impulses/Pulses of light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Wireless – Modulates specific frequencies of Electromagnetic Waves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74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Physical topology diagrams illustrate the physical location of intermediary devices and cable installation.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</a:rPr>
              <a:t>Logical topology diagrams illustrate devices, ports, and the addressing scheme of the network.</a:t>
            </a:r>
            <a:endParaRPr lang="en-CA" altLang="en-US" sz="1200" dirty="0">
              <a:solidFill>
                <a:srgbClr val="00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50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565656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Physical network diagrams show all the physical assets inside buildings, floors, and rooms. Whether the devices are inside a telecom room, data center room, or office space rooms. With these diagrams, user can visualize how everything is connected — from ports of a device, cables going to and from ports, the racks/cabinets, and the equipment inside the rack, such as patch panels and servers, and all of the cabling inside the racks too.</a:t>
            </a:r>
          </a:p>
          <a:p>
            <a:endParaRPr lang="en-US" b="0" i="0" dirty="0">
              <a:solidFill>
                <a:srgbClr val="565656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A logical network diagram describes how information flows through a network. Logical diagrams typically show subnets (including VLAN IDs, masks, and addresses), routers, firewalls, and its routing protocols. </a:t>
            </a:r>
          </a:p>
          <a:p>
            <a:endParaRPr lang="en-US" b="0" i="0" dirty="0">
              <a:solidFill>
                <a:srgbClr val="565656"/>
              </a:solidFill>
              <a:effectLst/>
              <a:latin typeface="roboto" panose="02000000000000000000" pitchFamily="2" charset="0"/>
            </a:endParaRPr>
          </a:p>
          <a:p>
            <a:endParaRPr lang="en-US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64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example of Small home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49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IETF – Interne Eng Task Force Tech Standards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ICANN - </a:t>
            </a:r>
            <a:r>
              <a:rPr lang="en-GB" b="0" i="0" dirty="0">
                <a:solidFill>
                  <a:srgbClr val="444444"/>
                </a:solidFill>
                <a:effectLst/>
                <a:latin typeface="DDG_ProximaNova"/>
              </a:rPr>
              <a:t>Internet Corporation for Assigned Names and Numbers  Namespaces/Domains</a:t>
            </a:r>
            <a:br>
              <a:rPr lang="en-GB" b="0" i="0" dirty="0">
                <a:solidFill>
                  <a:srgbClr val="444444"/>
                </a:solidFill>
                <a:effectLst/>
                <a:latin typeface="DDG_ProximaNova"/>
              </a:rPr>
            </a:br>
            <a:r>
              <a:rPr lang="en-IE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01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08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86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60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https://community.fs.com/article/what-is-quality-of-service-qos-in-networking.html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60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87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Biological systems encode and send messages – maybe using chemical and molecules. </a:t>
            </a:r>
            <a:r>
              <a:rPr lang="en-IE" dirty="0" err="1"/>
              <a:t>Concievable</a:t>
            </a:r>
            <a:r>
              <a:rPr lang="en-IE" dirty="0"/>
              <a:t> we can engineer these types of networks too.</a:t>
            </a:r>
            <a:br>
              <a:rPr lang="en-IE" dirty="0"/>
            </a:br>
            <a:r>
              <a:rPr lang="en-IE" dirty="0"/>
              <a:t>In the body, encode and </a:t>
            </a:r>
            <a:r>
              <a:rPr lang="en-IE"/>
              <a:t>send data using </a:t>
            </a:r>
            <a:r>
              <a:rPr lang="en-IE" dirty="0"/>
              <a:t>these mechanisms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98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networking-pn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E_FPEFpHt4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452445-network-protocol-vector-illustration" TargetMode="Externa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tworkinterview.com/lan-vs-wan-2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networkengineering.stackexchange.com/questions/22396/optimizing-router-topology-redundancy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5.png"/><Relationship Id="rId10" Type="http://schemas.openxmlformats.org/officeDocument/2006/relationships/image" Target="../media/image51.png"/><Relationship Id="rId4" Type="http://schemas.openxmlformats.org/officeDocument/2006/relationships/hyperlink" Target="http://networkengineering.stackexchange.com/questions/22396/optimizing-router-topology-redundancy" TargetMode="External"/><Relationship Id="rId9" Type="http://schemas.openxmlformats.org/officeDocument/2006/relationships/customXml" Target="../ink/ink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cs typeface="Calibri"/>
              </a:rPr>
              <a:t>Mujahid Tabassum 2026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 descr="A cloud computing system with laptops and devices&#10;&#10;Description automatically generated">
            <a:extLst>
              <a:ext uri="{FF2B5EF4-FFF2-40B4-BE49-F238E27FC236}">
                <a16:creationId xmlns:a16="http://schemas.microsoft.com/office/drawing/2014/main" id="{022C4E88-3E99-5924-19FD-3E678A9DBA2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" b="3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B08A9F-5802-B901-DB29-D80D357D399E}"/>
              </a:ext>
            </a:extLst>
          </p:cNvPr>
          <p:cNvSpPr txBox="1"/>
          <p:nvPr/>
        </p:nvSpPr>
        <p:spPr>
          <a:xfrm>
            <a:off x="9872134" y="6657945"/>
            <a:ext cx="2319866" cy="200055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 dirty="0">
                <a:solidFill>
                  <a:srgbClr val="FFFFFF"/>
                </a:solidFill>
                <a:hlinkClick r:id="rId3" tooltip="https://www.pngall.com/networking-png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IE" sz="700" dirty="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IE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E7C26D-B6FE-4C41-9472-F9B2A4BEB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80" b="-2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E69E85-8863-4976-A4BB-6C92FF81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Agenda (1</a:t>
            </a:r>
            <a:r>
              <a:rPr lang="en-US" baseline="30000" dirty="0">
                <a:cs typeface="Calibri Light"/>
              </a:rPr>
              <a:t>st</a:t>
            </a:r>
            <a:r>
              <a:rPr lang="en-US" dirty="0">
                <a:cs typeface="Calibri Light"/>
              </a:rPr>
              <a:t> Part)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A4B-95AE-44FA-97A0-F1314D93D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Intro</a:t>
            </a:r>
          </a:p>
          <a:p>
            <a:r>
              <a:rPr lang="en-US" dirty="0">
                <a:cs typeface="Calibri"/>
              </a:rPr>
              <a:t>What’s a computer network</a:t>
            </a:r>
          </a:p>
          <a:p>
            <a:r>
              <a:rPr lang="en-US" dirty="0">
                <a:cs typeface="Calibri"/>
              </a:rPr>
              <a:t>Computer Network Components</a:t>
            </a:r>
            <a:endParaRPr lang="en-US" dirty="0"/>
          </a:p>
          <a:p>
            <a:r>
              <a:rPr lang="en-US" dirty="0">
                <a:cs typeface="Calibri"/>
              </a:rPr>
              <a:t>Device Types</a:t>
            </a:r>
          </a:p>
          <a:p>
            <a:r>
              <a:rPr lang="en-US" dirty="0">
                <a:cs typeface="Calibri"/>
              </a:rPr>
              <a:t>Protocols</a:t>
            </a:r>
            <a:endParaRPr lang="en-US" sz="2800" dirty="0">
              <a:cs typeface="Calibri"/>
            </a:endParaRPr>
          </a:p>
          <a:p>
            <a:r>
              <a:rPr lang="en-US" dirty="0">
                <a:cs typeface="Calibri"/>
              </a:rPr>
              <a:t>Topologies</a:t>
            </a:r>
          </a:p>
          <a:p>
            <a:r>
              <a:rPr lang="en-US" dirty="0">
                <a:cs typeface="Calibri"/>
              </a:rPr>
              <a:t>Reliable Network Characteristics</a:t>
            </a:r>
          </a:p>
          <a:p>
            <a:r>
              <a:rPr lang="en-US" dirty="0">
                <a:cs typeface="Calibri"/>
              </a:rPr>
              <a:t>Internet of Things</a:t>
            </a:r>
          </a:p>
          <a:p>
            <a:pPr lvl="1"/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781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12110C-454D-45D4-A43C-D268FC30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D047C-4A47-4F80-A434-55884051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365760"/>
            <a:ext cx="9363456" cy="1188720"/>
          </a:xfrm>
        </p:spPr>
        <p:txBody>
          <a:bodyPr>
            <a:normAutofit/>
          </a:bodyPr>
          <a:lstStyle/>
          <a:p>
            <a:r>
              <a:rPr lang="en-GB"/>
              <a:t>Computer System &amp; Networks</a:t>
            </a:r>
            <a:endParaRPr lang="en-I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3663F10-4AEF-432D-B195-513FD3539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8AEFC5D-4625-4A90-904B-81C44B4AF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EDD63EEE-824E-47D6-81E1-10240787C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748200"/>
              </p:ext>
            </p:extLst>
          </p:nvPr>
        </p:nvGraphicFramePr>
        <p:xfrm>
          <a:off x="1655064" y="2176272"/>
          <a:ext cx="9363456" cy="4041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269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32AD-990C-49F8-9BC2-DDB9DF47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2927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F5DDE-5C4B-B9C7-76C6-3CD3FA6A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IE" dirty="0"/>
              <a:t>QI: 1850s - Transatlantic Cable</a:t>
            </a:r>
          </a:p>
        </p:txBody>
      </p:sp>
      <p:sp>
        <p:nvSpPr>
          <p:cNvPr id="1040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EEF2D-A381-1B1E-C363-4738933F4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GB" sz="1700" dirty="0"/>
              <a:t> The first cable was laid in the 1850s from Valentia Island to Newfoundland</a:t>
            </a:r>
          </a:p>
          <a:p>
            <a:r>
              <a:rPr lang="en-GB" sz="1700" dirty="0"/>
              <a:t>Messages </a:t>
            </a:r>
            <a:r>
              <a:rPr lang="en-GB" sz="1700" b="1" i="1" dirty="0"/>
              <a:t>encoded</a:t>
            </a:r>
            <a:r>
              <a:rPr lang="en-GB" sz="1700" dirty="0"/>
              <a:t> using Morse Code using electrical </a:t>
            </a:r>
            <a:r>
              <a:rPr lang="en-GB" sz="1700" b="1" i="1" dirty="0"/>
              <a:t>signal</a:t>
            </a:r>
            <a:r>
              <a:rPr lang="en-GB" sz="1700" dirty="0"/>
              <a:t> through cable.</a:t>
            </a:r>
          </a:p>
          <a:p>
            <a:pPr lvl="1"/>
            <a:r>
              <a:rPr lang="en-GB" sz="1700" b="0" i="0" dirty="0">
                <a:effectLst/>
                <a:latin typeface="Arial" panose="020B0604020202020204" pitchFamily="34" charset="0"/>
              </a:rPr>
              <a:t>it took 2 minutes to transmit just one character!</a:t>
            </a:r>
            <a:r>
              <a:rPr lang="en-GB" sz="1700" dirty="0">
                <a:latin typeface="Arial" panose="020B0604020202020204" pitchFamily="34" charset="0"/>
              </a:rPr>
              <a:t>(Now </a:t>
            </a:r>
            <a:r>
              <a:rPr lang="en-IE" sz="1700" b="1" i="0" dirty="0">
                <a:effectLst/>
                <a:latin typeface="Lato" panose="020F0502020204030203" pitchFamily="34" charset="0"/>
              </a:rPr>
              <a:t>30 Tb/s capacity using optical cables(optical signalling))</a:t>
            </a:r>
            <a:endParaRPr lang="en-GB" sz="1700" dirty="0"/>
          </a:p>
          <a:p>
            <a:endParaRPr lang="en-IE" sz="1700" dirty="0"/>
          </a:p>
        </p:txBody>
      </p:sp>
      <p:pic>
        <p:nvPicPr>
          <p:cNvPr id="5" name="Picture 2" descr="morse code GIF">
            <a:extLst>
              <a:ext uri="{FF2B5EF4-FFF2-40B4-BE49-F238E27FC236}">
                <a16:creationId xmlns:a16="http://schemas.microsoft.com/office/drawing/2014/main" id="{7643E8F6-7501-4B4C-E834-1B644C48A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1840" y="2569464"/>
            <a:ext cx="4837119" cy="367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77D865C-D091-D4A5-8103-7C64B04D1E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1" t="12872" r="13201" b="25682"/>
          <a:stretch/>
        </p:blipFill>
        <p:spPr bwMode="auto">
          <a:xfrm>
            <a:off x="5808493" y="3714775"/>
            <a:ext cx="6160118" cy="25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08E83-1054-6843-2CB6-C3497D22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https://www.telecomtv.com/content/emerging-tech/real-time-trans-atlantic-submarine-cable-capacity-and-wavelength-records-broken-again-40600/</a:t>
            </a:r>
          </a:p>
        </p:txBody>
      </p:sp>
      <p:sp>
        <p:nvSpPr>
          <p:cNvPr id="6" name="Callout: Double Bent Line with No Border 5">
            <a:extLst>
              <a:ext uri="{FF2B5EF4-FFF2-40B4-BE49-F238E27FC236}">
                <a16:creationId xmlns:a16="http://schemas.microsoft.com/office/drawing/2014/main" id="{1E94A4A3-CA5E-3BDA-6D16-48FCC96FFF9D}"/>
              </a:ext>
            </a:extLst>
          </p:cNvPr>
          <p:cNvSpPr/>
          <p:nvPr/>
        </p:nvSpPr>
        <p:spPr>
          <a:xfrm>
            <a:off x="5808493" y="2569464"/>
            <a:ext cx="2969889" cy="1070383"/>
          </a:xfrm>
          <a:prstGeom prst="callout3">
            <a:avLst>
              <a:gd name="adj1" fmla="val -6415"/>
              <a:gd name="adj2" fmla="val 5271"/>
              <a:gd name="adj3" fmla="val -30255"/>
              <a:gd name="adj4" fmla="val 11258"/>
              <a:gd name="adj5" fmla="val -54299"/>
              <a:gd name="adj6" fmla="val 17941"/>
              <a:gd name="adj7" fmla="val -130736"/>
              <a:gd name="adj8" fmla="val 444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Encoding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is the process of converting data into a specific format or code before transmission.</a:t>
            </a:r>
            <a:endParaRPr lang="en-IE" dirty="0"/>
          </a:p>
        </p:txBody>
      </p:sp>
      <p:sp>
        <p:nvSpPr>
          <p:cNvPr id="7" name="Callout: Double Bent Line with No Border 6">
            <a:extLst>
              <a:ext uri="{FF2B5EF4-FFF2-40B4-BE49-F238E27FC236}">
                <a16:creationId xmlns:a16="http://schemas.microsoft.com/office/drawing/2014/main" id="{71BFA50E-8164-AC89-5798-EF32D5BE6FC5}"/>
              </a:ext>
            </a:extLst>
          </p:cNvPr>
          <p:cNvSpPr/>
          <p:nvPr/>
        </p:nvSpPr>
        <p:spPr>
          <a:xfrm>
            <a:off x="8998722" y="2569463"/>
            <a:ext cx="2969889" cy="1070383"/>
          </a:xfrm>
          <a:prstGeom prst="callout3">
            <a:avLst>
              <a:gd name="adj1" fmla="val -9064"/>
              <a:gd name="adj2" fmla="val 88091"/>
              <a:gd name="adj3" fmla="val -38864"/>
              <a:gd name="adj4" fmla="val 81190"/>
              <a:gd name="adj5" fmla="val -88073"/>
              <a:gd name="adj6" fmla="val 75939"/>
              <a:gd name="adj7" fmla="val -135372"/>
              <a:gd name="adj8" fmla="val 589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374151"/>
                </a:solidFill>
                <a:latin typeface="Söhne"/>
              </a:rPr>
              <a:t>A </a:t>
            </a:r>
            <a:r>
              <a:rPr lang="en-GB" b="1" dirty="0">
                <a:solidFill>
                  <a:srgbClr val="374151"/>
                </a:solidFill>
                <a:latin typeface="Söhne"/>
              </a:rPr>
              <a:t>S</a:t>
            </a: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ignal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refers to the physical manifestation of data. E.g. electrical voltage, light pulses, or electromagnetic waves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343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AF8A-E67D-4F10-8372-36F68C57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QI: 1960s - Arpanet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6D6DA-CECB-4D66-BFC5-060102CB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 dirty="0">
                <a:cs typeface="Calibri"/>
              </a:rPr>
              <a:t>US government responds to launch of Sputnik by setting up ARPA, the Advanced Research Projects Agency</a:t>
            </a:r>
          </a:p>
          <a:p>
            <a:r>
              <a:rPr lang="en-US" sz="2000" b="1" dirty="0">
                <a:cs typeface="Calibri"/>
              </a:rPr>
              <a:t>ARPANET</a:t>
            </a:r>
            <a:r>
              <a:rPr lang="en-US" sz="2000" dirty="0">
                <a:cs typeface="Calibri"/>
              </a:rPr>
              <a:t> created in 1969 connecting computers in UCLA and Stanford</a:t>
            </a:r>
          </a:p>
          <a:p>
            <a:r>
              <a:rPr lang="en-US" sz="2000" dirty="0">
                <a:cs typeface="Calibri"/>
              </a:rPr>
              <a:t>In 1973, it was called the "internetwork" or </a:t>
            </a:r>
            <a:r>
              <a:rPr lang="en-US" sz="2000" b="1" i="1" dirty="0">
                <a:cs typeface="Calibri"/>
              </a:rPr>
              <a:t>"internet" </a:t>
            </a:r>
            <a:r>
              <a:rPr lang="en-US" sz="2000" dirty="0">
                <a:cs typeface="Calibri"/>
              </a:rPr>
              <a:t>for short</a:t>
            </a:r>
          </a:p>
          <a:p>
            <a:r>
              <a:rPr lang="en-US" sz="2000" b="1" u="sng" dirty="0">
                <a:cs typeface="Calibri"/>
              </a:rPr>
              <a:t>The internet is 50 years old</a:t>
            </a:r>
          </a:p>
          <a:p>
            <a:r>
              <a:rPr lang="en-US" sz="2000" b="1" u="sng" dirty="0">
                <a:cs typeface="Calibri"/>
              </a:rPr>
              <a:t>1</a:t>
            </a:r>
            <a:r>
              <a:rPr lang="en-US" sz="2000" b="1" u="sng" baseline="30000" dirty="0">
                <a:cs typeface="Calibri"/>
              </a:rPr>
              <a:t>st</a:t>
            </a:r>
            <a:r>
              <a:rPr lang="en-US" sz="2000" b="1" u="sng" dirty="0">
                <a:cs typeface="Calibri"/>
              </a:rPr>
              <a:t> Wide Area Packet Switched  Network</a:t>
            </a:r>
          </a:p>
          <a:p>
            <a:pPr lvl="1"/>
            <a:r>
              <a:rPr lang="en-GB" dirty="0"/>
              <a:t>data is divided into small packets for transmission</a:t>
            </a:r>
            <a:endParaRPr lang="en-US" sz="1600" b="1" u="sng" dirty="0">
              <a:cs typeface="Calibri"/>
            </a:endParaRPr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DF48ED79-061F-48FD-8A22-EC19F7EB11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19" r="1" b="4479"/>
          <a:stretch/>
        </p:blipFill>
        <p:spPr>
          <a:xfrm>
            <a:off x="5120640" y="1530470"/>
            <a:ext cx="623316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3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8590-75C6-405C-9DD2-33813196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61" y="55091"/>
            <a:ext cx="5527414" cy="9759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cs typeface="Calibri Light"/>
              </a:rPr>
              <a:t>Computer Networks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3311D0-7BD9-4473-ADEA-B2D6CF1BCA90}"/>
              </a:ext>
            </a:extLst>
          </p:cNvPr>
          <p:cNvGrpSpPr/>
          <p:nvPr/>
        </p:nvGrpSpPr>
        <p:grpSpPr>
          <a:xfrm>
            <a:off x="5652550" y="1151921"/>
            <a:ext cx="6360290" cy="2756421"/>
            <a:chOff x="5652550" y="94636"/>
            <a:chExt cx="6360290" cy="2756421"/>
          </a:xfrm>
        </p:grpSpPr>
        <p:pic>
          <p:nvPicPr>
            <p:cNvPr id="1026" name="Picture 2" descr="Amstrad CPC - Wikipedia">
              <a:extLst>
                <a:ext uri="{FF2B5EF4-FFF2-40B4-BE49-F238E27FC236}">
                  <a16:creationId xmlns:a16="http://schemas.microsoft.com/office/drawing/2014/main" id="{4E1146B0-4F77-4A5B-9D50-A6528DB574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2550" y="716957"/>
              <a:ext cx="3198186" cy="2134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5FCCE3-8C8F-4B21-8583-61D4B5A107B6}"/>
                </a:ext>
              </a:extLst>
            </p:cNvPr>
            <p:cNvSpPr txBox="1"/>
            <p:nvPr/>
          </p:nvSpPr>
          <p:spPr>
            <a:xfrm>
              <a:off x="8216761" y="94636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rgbClr val="FF0000"/>
                  </a:solidFill>
                </a:rPr>
                <a:t>1984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2502333-7FAC-4741-8FEC-F5AC9E5B49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4251" y="888839"/>
              <a:ext cx="3248589" cy="1624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469B40-2CDA-4103-B346-80621B4A8E5B}"/>
              </a:ext>
            </a:extLst>
          </p:cNvPr>
          <p:cNvGrpSpPr/>
          <p:nvPr/>
        </p:nvGrpSpPr>
        <p:grpSpPr>
          <a:xfrm>
            <a:off x="5244293" y="821162"/>
            <a:ext cx="6754168" cy="5205045"/>
            <a:chOff x="5679975" y="3230850"/>
            <a:chExt cx="6754168" cy="520504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9BCE7D-36FE-4526-B498-D3B670963DAB}"/>
                </a:ext>
              </a:extLst>
            </p:cNvPr>
            <p:cNvSpPr txBox="1"/>
            <p:nvPr/>
          </p:nvSpPr>
          <p:spPr>
            <a:xfrm>
              <a:off x="8287518" y="3230850"/>
              <a:ext cx="14565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2200" dirty="0">
                  <a:solidFill>
                    <a:srgbClr val="FF0000"/>
                  </a:solidFill>
                </a:rPr>
                <a:t>2024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715DBB-3CA9-4D17-81B3-FB0B0E7C5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79975" y="3644151"/>
              <a:ext cx="6754168" cy="4791744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8124-1A86-443A-BF3E-08718B27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61" y="1058383"/>
            <a:ext cx="4626244" cy="54281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cs typeface="Calibri"/>
              </a:rPr>
              <a:t>Devices &amp; Machines are effective/beautiful in isolation...</a:t>
            </a:r>
          </a:p>
          <a:p>
            <a:r>
              <a:rPr lang="en-US" dirty="0">
                <a:solidFill>
                  <a:srgbClr val="000000"/>
                </a:solidFill>
                <a:cs typeface="Calibri"/>
              </a:rPr>
              <a:t>Connecting a machine to a network creates amazing possibilities/challenges...</a:t>
            </a:r>
          </a:p>
          <a:p>
            <a:r>
              <a:rPr lang="en-US" dirty="0">
                <a:solidFill>
                  <a:srgbClr val="000000"/>
                </a:solidFill>
                <a:cs typeface="Calibri"/>
              </a:rPr>
              <a:t>Key points: 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Computer networks are no longer only used to connect conventional “computers”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Part of everyday life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“Wired people should know something about wires”</a:t>
            </a:r>
          </a:p>
        </p:txBody>
      </p:sp>
    </p:spTree>
    <p:extLst>
      <p:ext uri="{BB962C8B-B14F-4D97-AF65-F5344CB8AC3E}">
        <p14:creationId xmlns:p14="http://schemas.microsoft.com/office/powerpoint/2010/main" val="3472451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DAEC-5203-4264-A212-789D75B6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QI: Computer Networks </a:t>
            </a:r>
            <a:r>
              <a:rPr lang="en-US" sz="2600" dirty="0">
                <a:solidFill>
                  <a:srgbClr val="FFFFFF"/>
                </a:solidFill>
              </a:rPr>
              <a:t>Growth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512F1980-47A2-44FF-8D61-4C47C4FC4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3523" y="659888"/>
            <a:ext cx="6356008" cy="519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1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D81C-2B83-423E-A139-D4096DAB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204984" cy="1344975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 Light"/>
              </a:rPr>
              <a:t>Networks  - Under the bonnet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127D-1BAD-4823-B682-786CBCCE5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5" y="2121762"/>
            <a:ext cx="6204984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cs typeface="Calibri"/>
              </a:rPr>
              <a:t>Inherently </a:t>
            </a:r>
            <a:r>
              <a:rPr lang="en-US" sz="1700" b="1" dirty="0">
                <a:cs typeface="Calibri"/>
              </a:rPr>
              <a:t>Physical</a:t>
            </a:r>
            <a:r>
              <a:rPr lang="en-US" sz="1700" dirty="0">
                <a:cs typeface="Calibri"/>
              </a:rPr>
              <a:t>:</a:t>
            </a:r>
          </a:p>
          <a:p>
            <a:pPr lvl="1"/>
            <a:r>
              <a:rPr lang="en-US" sz="1700" dirty="0">
                <a:cs typeface="Calibri"/>
              </a:rPr>
              <a:t>Devices need some form of </a:t>
            </a:r>
            <a:r>
              <a:rPr lang="en-US" sz="1700" b="1" dirty="0">
                <a:cs typeface="Calibri"/>
              </a:rPr>
              <a:t>physical channel </a:t>
            </a:r>
            <a:r>
              <a:rPr lang="en-US" sz="1700" dirty="0">
                <a:cs typeface="Calibri"/>
              </a:rPr>
              <a:t>to communicate</a:t>
            </a:r>
          </a:p>
          <a:p>
            <a:pPr lvl="1"/>
            <a:r>
              <a:rPr lang="en-US" sz="1700" dirty="0">
                <a:cs typeface="Calibri"/>
              </a:rPr>
              <a:t>Devices need specific hardware to </a:t>
            </a:r>
            <a:r>
              <a:rPr lang="en-US" sz="1700" b="1" dirty="0">
                <a:cs typeface="Calibri"/>
              </a:rPr>
              <a:t>interface</a:t>
            </a:r>
            <a:r>
              <a:rPr lang="en-US" sz="1700" dirty="0">
                <a:cs typeface="Calibri"/>
              </a:rPr>
              <a:t> to that channel (</a:t>
            </a:r>
            <a:r>
              <a:rPr lang="en-US" sz="1700" dirty="0" err="1">
                <a:cs typeface="Calibri"/>
              </a:rPr>
              <a:t>eg.</a:t>
            </a:r>
            <a:r>
              <a:rPr lang="en-US" sz="1700" dirty="0">
                <a:cs typeface="Calibri"/>
              </a:rPr>
              <a:t> </a:t>
            </a:r>
            <a:r>
              <a:rPr lang="en-US" sz="1700" b="1" dirty="0">
                <a:cs typeface="Calibri"/>
              </a:rPr>
              <a:t>Antenna</a:t>
            </a:r>
            <a:r>
              <a:rPr lang="en-US" sz="1700" dirty="0">
                <a:cs typeface="Calibri"/>
              </a:rPr>
              <a:t>, </a:t>
            </a:r>
            <a:r>
              <a:rPr lang="en-US" sz="1700" b="1" dirty="0">
                <a:cs typeface="Calibri"/>
              </a:rPr>
              <a:t>adapter</a:t>
            </a:r>
            <a:r>
              <a:rPr lang="en-US" sz="1700" dirty="0">
                <a:cs typeface="Calibri"/>
              </a:rPr>
              <a:t>, and associated electronics)</a:t>
            </a:r>
          </a:p>
          <a:p>
            <a:pPr marL="0" indent="0">
              <a:buNone/>
            </a:pPr>
            <a:endParaRPr lang="en-US" sz="1700" dirty="0">
              <a:cs typeface="Calibri"/>
            </a:endParaRPr>
          </a:p>
        </p:txBody>
      </p:sp>
      <p:pic>
        <p:nvPicPr>
          <p:cNvPr id="10" name="Picture 10">
            <a:hlinkClick r:id="" action="ppaction://media"/>
            <a:extLst>
              <a:ext uri="{FF2B5EF4-FFF2-40B4-BE49-F238E27FC236}">
                <a16:creationId xmlns:a16="http://schemas.microsoft.com/office/drawing/2014/main" id="{8DD8791E-4FDF-4A92-98D9-B7AEDEEF2FB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628167" y="3802948"/>
            <a:ext cx="4284453" cy="25429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77428D-BF76-4FCB-8150-285E5B4E5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452" y="698924"/>
            <a:ext cx="5031798" cy="22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9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5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5156-712F-4DA1-B824-9EF882F3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67" y="802955"/>
            <a:ext cx="4333814" cy="145405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0000"/>
                </a:solidFill>
                <a:cs typeface="Calibri Light"/>
              </a:rPr>
              <a:t>Networks – Under the bonnet</a:t>
            </a:r>
            <a:endParaRPr lang="en-US" sz="40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A50FB-43F5-463D-9BC5-549D0D7C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684" y="2019116"/>
            <a:ext cx="5167354" cy="41712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Once connected, it can get complicated!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Sophisticated combination of protocols, software, hardware, algorithms, configurations, policies...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Security, privacy, access, quality of service, wired/wireless...</a:t>
            </a:r>
          </a:p>
          <a:p>
            <a:pPr lvl="1"/>
            <a:endParaRPr lang="en-US" sz="2000" dirty="0">
              <a:solidFill>
                <a:srgbClr val="000000"/>
              </a:solidFill>
              <a:cs typeface="Calibri"/>
            </a:endParaRPr>
          </a:p>
        </p:txBody>
      </p:sp>
      <p:pic>
        <p:nvPicPr>
          <p:cNvPr id="8" name="Picture 8" descr="A circuit board&#10;&#10;Description generated with high confidence">
            <a:extLst>
              <a:ext uri="{FF2B5EF4-FFF2-40B4-BE49-F238E27FC236}">
                <a16:creationId xmlns:a16="http://schemas.microsoft.com/office/drawing/2014/main" id="{F91F4E06-B50B-4204-B5DF-8579D494F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8" r="16352"/>
          <a:stretch/>
        </p:blipFill>
        <p:spPr>
          <a:xfrm>
            <a:off x="623175" y="547275"/>
            <a:ext cx="5763449" cy="57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BBC7-147D-4E49-9351-4C85B91CC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17" y="134471"/>
            <a:ext cx="10515600" cy="697193"/>
          </a:xfrm>
        </p:spPr>
        <p:txBody>
          <a:bodyPr/>
          <a:lstStyle/>
          <a:p>
            <a:r>
              <a:rPr lang="en-US" dirty="0">
                <a:cs typeface="Calibri Light"/>
              </a:rPr>
              <a:t>Components of Computer Networks</a:t>
            </a:r>
            <a:endParaRPr lang="en-US" dirty="0"/>
          </a:p>
        </p:txBody>
      </p:sp>
      <p:graphicFrame>
        <p:nvGraphicFramePr>
          <p:cNvPr id="5" name="Diagram 5">
            <a:extLst>
              <a:ext uri="{FF2B5EF4-FFF2-40B4-BE49-F238E27FC236}">
                <a16:creationId xmlns:a16="http://schemas.microsoft.com/office/drawing/2014/main" id="{1AA25A3B-2619-4071-849B-A42DE0BE79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8823589"/>
              </p:ext>
            </p:extLst>
          </p:nvPr>
        </p:nvGraphicFramePr>
        <p:xfrm>
          <a:off x="336176" y="831665"/>
          <a:ext cx="11326907" cy="2597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531D284-BA9D-444A-BD0E-AD34D4D04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280" y="3599907"/>
            <a:ext cx="5381420" cy="313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520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3DC4-49D5-421D-8552-EAA1F736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Components of Computer Networks - Device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03DD6-5ABC-4B98-89F8-36BB41575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End Devices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Infrastructure/intermediary Devices</a:t>
            </a:r>
          </a:p>
        </p:txBody>
      </p:sp>
      <p:pic>
        <p:nvPicPr>
          <p:cNvPr id="4" name="Picture 4" descr="A screen shot of an open computer&#10;&#10;Description generated with very high confidence">
            <a:extLst>
              <a:ext uri="{FF2B5EF4-FFF2-40B4-BE49-F238E27FC236}">
                <a16:creationId xmlns:a16="http://schemas.microsoft.com/office/drawing/2014/main" id="{BEDE229E-3B2D-40D9-8517-CCEBAE571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46" y="2419634"/>
            <a:ext cx="1765541" cy="1659298"/>
          </a:xfrm>
          <a:prstGeom prst="rect">
            <a:avLst/>
          </a:prstGeom>
        </p:spPr>
      </p:pic>
      <p:pic>
        <p:nvPicPr>
          <p:cNvPr id="6" name="Picture 6" descr="A screen shot of a computer&#10;&#10;Description generated with high confidence">
            <a:extLst>
              <a:ext uri="{FF2B5EF4-FFF2-40B4-BE49-F238E27FC236}">
                <a16:creationId xmlns:a16="http://schemas.microsoft.com/office/drawing/2014/main" id="{83810932-5EAD-4F5C-B555-C0C1C0B78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790" y="2312041"/>
            <a:ext cx="1233579" cy="1766891"/>
          </a:xfrm>
          <a:prstGeom prst="rect">
            <a:avLst/>
          </a:prstGeom>
        </p:spPr>
      </p:pic>
      <p:pic>
        <p:nvPicPr>
          <p:cNvPr id="8" name="Picture 8" descr="A picture containing indoor, table&#10;&#10;Description generated with very high confidence">
            <a:extLst>
              <a:ext uri="{FF2B5EF4-FFF2-40B4-BE49-F238E27FC236}">
                <a16:creationId xmlns:a16="http://schemas.microsoft.com/office/drawing/2014/main" id="{6BD60278-E4DB-4719-A195-83E8EA155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783" y="2559915"/>
            <a:ext cx="3246407" cy="1405831"/>
          </a:xfrm>
          <a:prstGeom prst="rect">
            <a:avLst/>
          </a:prstGeom>
        </p:spPr>
      </p:pic>
      <p:pic>
        <p:nvPicPr>
          <p:cNvPr id="10" name="Picture 10" descr="A close up of a device&#10;&#10;Description generated with high confidence">
            <a:extLst>
              <a:ext uri="{FF2B5EF4-FFF2-40B4-BE49-F238E27FC236}">
                <a16:creationId xmlns:a16="http://schemas.microsoft.com/office/drawing/2014/main" id="{D1C77007-75F4-4D6E-93DE-4F49B0A51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434" y="5087576"/>
            <a:ext cx="2107905" cy="1402715"/>
          </a:xfrm>
          <a:prstGeom prst="rect">
            <a:avLst/>
          </a:prstGeom>
        </p:spPr>
      </p:pic>
      <p:pic>
        <p:nvPicPr>
          <p:cNvPr id="12" name="Picture 12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64AAD0D6-D1CA-4030-9384-DAB66ADED9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2193" y="5087576"/>
            <a:ext cx="2343235" cy="1394503"/>
          </a:xfrm>
          <a:prstGeom prst="rect">
            <a:avLst/>
          </a:prstGeom>
        </p:spPr>
      </p:pic>
      <p:pic>
        <p:nvPicPr>
          <p:cNvPr id="14" name="Picture 14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321B8F95-8049-4BF0-932E-FFB48F6423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6282" y="5094922"/>
            <a:ext cx="2325950" cy="944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5D8E2C-3A5D-4537-9F21-C61295E3EB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0734" y="2520620"/>
            <a:ext cx="4048125" cy="145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BCBC33-CDA2-4120-889B-6844901F58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7217" y="5094922"/>
            <a:ext cx="35337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5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C702-B2F2-4F3B-8E82-1716634D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89" y="82224"/>
            <a:ext cx="1177514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Components of Computer Networks - Physical Medium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AFAA-E098-4443-BE95-A7C18DB7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064" y="1842021"/>
            <a:ext cx="10267971" cy="13666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Wired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pic>
        <p:nvPicPr>
          <p:cNvPr id="4" name="Picture 4" descr="A picture containing blue, sky, cable, connector&#10;&#10;Description generated with high confidence">
            <a:extLst>
              <a:ext uri="{FF2B5EF4-FFF2-40B4-BE49-F238E27FC236}">
                <a16:creationId xmlns:a16="http://schemas.microsoft.com/office/drawing/2014/main" id="{FE097365-6D89-4FB6-B4B7-1F131D7CF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664" y="1825206"/>
            <a:ext cx="2743200" cy="2057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D386EB5-4F41-434F-9A55-0BF8A0CB4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513" y="1829339"/>
            <a:ext cx="2466975" cy="1847850"/>
          </a:xfrm>
          <a:prstGeom prst="rect">
            <a:avLst/>
          </a:prstGeom>
        </p:spPr>
      </p:pic>
      <p:pic>
        <p:nvPicPr>
          <p:cNvPr id="10" name="Picture 10" descr="A picture containing object, indoor, small&#10;&#10;Description generated with high confidence">
            <a:extLst>
              <a:ext uri="{FF2B5EF4-FFF2-40B4-BE49-F238E27FC236}">
                <a16:creationId xmlns:a16="http://schemas.microsoft.com/office/drawing/2014/main" id="{240CF1DC-E0CE-46EA-BF40-F146A64FA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966" y="3883325"/>
            <a:ext cx="2743200" cy="2743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0C1F2FDF-C14D-42AA-8D5E-DB386E815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820" y="4138522"/>
            <a:ext cx="3519577" cy="204589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E22DB8C-119A-419C-B791-712F547570B7}"/>
              </a:ext>
            </a:extLst>
          </p:cNvPr>
          <p:cNvGrpSpPr/>
          <p:nvPr/>
        </p:nvGrpSpPr>
        <p:grpSpPr>
          <a:xfrm>
            <a:off x="9317380" y="1124941"/>
            <a:ext cx="2310175" cy="2909577"/>
            <a:chOff x="9317380" y="1124941"/>
            <a:chExt cx="2310175" cy="2909577"/>
          </a:xfrm>
        </p:grpSpPr>
        <p:pic>
          <p:nvPicPr>
            <p:cNvPr id="8" name="Picture 8" descr="A picture containing connector, cable, indoor, yellow&#10;&#10;Description generated with very high confidence">
              <a:extLst>
                <a:ext uri="{FF2B5EF4-FFF2-40B4-BE49-F238E27FC236}">
                  <a16:creationId xmlns:a16="http://schemas.microsoft.com/office/drawing/2014/main" id="{D768037F-697A-43EC-A880-0CA736BA4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17380" y="2595587"/>
              <a:ext cx="2310175" cy="143893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2D581AB-631B-4269-9897-D17272E82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17380" y="1124941"/>
              <a:ext cx="2310175" cy="1366642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23882D2-3E2A-4DB9-AF52-A1E9CE682908}"/>
              </a:ext>
            </a:extLst>
          </p:cNvPr>
          <p:cNvSpPr txBox="1"/>
          <p:nvPr/>
        </p:nvSpPr>
        <p:spPr>
          <a:xfrm>
            <a:off x="564445" y="3928605"/>
            <a:ext cx="604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cs typeface="Calibri"/>
              </a:rPr>
              <a:t>Wireless</a:t>
            </a:r>
          </a:p>
        </p:txBody>
      </p:sp>
    </p:spTree>
    <p:extLst>
      <p:ext uri="{BB962C8B-B14F-4D97-AF65-F5344CB8AC3E}">
        <p14:creationId xmlns:p14="http://schemas.microsoft.com/office/powerpoint/2010/main" val="245924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C051-CB84-4EB1-A98E-EBBB81C40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79" y="64543"/>
            <a:ext cx="11022106" cy="83652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Components of Computer Networks - Messages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22EE7-CF07-4831-B38B-BB75D339B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480" y="859517"/>
            <a:ext cx="4927113" cy="48829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cs typeface="Calibri"/>
              </a:rPr>
              <a:t>Data is divided into smaller parts during transmission</a:t>
            </a:r>
          </a:p>
          <a:p>
            <a:pPr lvl="1"/>
            <a:r>
              <a:rPr lang="en-US" sz="1600" dirty="0">
                <a:cs typeface="Calibri"/>
              </a:rPr>
              <a:t>Segmentation</a:t>
            </a:r>
          </a:p>
          <a:p>
            <a:r>
              <a:rPr lang="en-US" sz="1600" dirty="0">
                <a:cs typeface="Calibri"/>
              </a:rPr>
              <a:t>The benefits of doing so:</a:t>
            </a:r>
          </a:p>
          <a:p>
            <a:pPr lvl="1"/>
            <a:r>
              <a:rPr lang="en-US" sz="1600" dirty="0">
                <a:cs typeface="Calibri"/>
              </a:rPr>
              <a:t>Many different conversations can be interleaved on the network(multiplexing)</a:t>
            </a:r>
          </a:p>
          <a:p>
            <a:pPr lvl="1"/>
            <a:r>
              <a:rPr lang="en-US" sz="1600" dirty="0">
                <a:cs typeface="Calibri"/>
              </a:rPr>
              <a:t>Increases reliability of network communications.</a:t>
            </a:r>
          </a:p>
          <a:p>
            <a:pPr lvl="1"/>
            <a:r>
              <a:rPr lang="en-US" sz="1600" dirty="0">
                <a:cs typeface="Calibri"/>
              </a:rPr>
              <a:t>The separate pieces of each message need not travel the same pathway across the network from source to destination</a:t>
            </a:r>
          </a:p>
          <a:p>
            <a:r>
              <a:rPr lang="en-US" sz="1600" dirty="0">
                <a:cs typeface="Calibri"/>
              </a:rPr>
              <a:t>Adds complexity however:</a:t>
            </a:r>
          </a:p>
          <a:p>
            <a:pPr lvl="1"/>
            <a:r>
              <a:rPr lang="en-US" sz="1600" dirty="0">
                <a:cs typeface="Calibri"/>
              </a:rPr>
              <a:t>Addressing, labeling, sending, receiving.</a:t>
            </a:r>
          </a:p>
          <a:p>
            <a:pPr lvl="1"/>
            <a:r>
              <a:rPr lang="en-US" sz="1600" dirty="0">
                <a:cs typeface="Calibri"/>
              </a:rPr>
              <a:t>Reassembling</a:t>
            </a:r>
          </a:p>
          <a:p>
            <a:r>
              <a:rPr lang="en-US" sz="1600" dirty="0">
                <a:cs typeface="Calibri"/>
              </a:rPr>
              <a:t>NEED RULES FOR THIS...</a:t>
            </a:r>
          </a:p>
          <a:p>
            <a:pPr lvl="1"/>
            <a:endParaRPr lang="en-US" sz="1400" dirty="0"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465334-565F-4C0E-B924-3599CC21EDEC}"/>
              </a:ext>
            </a:extLst>
          </p:cNvPr>
          <p:cNvGrpSpPr/>
          <p:nvPr/>
        </p:nvGrpSpPr>
        <p:grpSpPr>
          <a:xfrm>
            <a:off x="5761092" y="901067"/>
            <a:ext cx="6090250" cy="4174811"/>
            <a:chOff x="5687235" y="1060673"/>
            <a:chExt cx="6090250" cy="41748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C2AC8B6-CFB7-497C-A3D3-C11620F47B71}"/>
                </a:ext>
              </a:extLst>
            </p:cNvPr>
            <p:cNvSpPr/>
            <p:nvPr/>
          </p:nvSpPr>
          <p:spPr>
            <a:xfrm>
              <a:off x="5687235" y="1060673"/>
              <a:ext cx="6090249" cy="626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cs typeface="Calibri"/>
                </a:rPr>
                <a:t>Application Data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0966C9-1608-4C02-B8F8-E1065129168E}"/>
                </a:ext>
              </a:extLst>
            </p:cNvPr>
            <p:cNvSpPr/>
            <p:nvPr/>
          </p:nvSpPr>
          <p:spPr>
            <a:xfrm>
              <a:off x="5687235" y="2311502"/>
              <a:ext cx="1805797" cy="626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cs typeface="Calibri"/>
                </a:rPr>
                <a:t>Segment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4AD75A5-7EC0-49E4-BAC7-C62C48EE05EF}"/>
                </a:ext>
              </a:extLst>
            </p:cNvPr>
            <p:cNvSpPr/>
            <p:nvPr/>
          </p:nvSpPr>
          <p:spPr>
            <a:xfrm>
              <a:off x="7829459" y="2311501"/>
              <a:ext cx="1805797" cy="626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cs typeface="Calibri"/>
                </a:rPr>
                <a:t>Segment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4BA1833-409D-4B20-A6D3-67A8F36B7286}"/>
                </a:ext>
              </a:extLst>
            </p:cNvPr>
            <p:cNvSpPr/>
            <p:nvPr/>
          </p:nvSpPr>
          <p:spPr>
            <a:xfrm>
              <a:off x="9971688" y="2311501"/>
              <a:ext cx="1805797" cy="626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cs typeface="Calibri"/>
                </a:rPr>
                <a:t>Segment</a:t>
              </a:r>
              <a:endParaRPr lang="en-US" dirty="0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C70F548A-1F6D-483A-BD1A-3140066C2C29}"/>
                </a:ext>
              </a:extLst>
            </p:cNvPr>
            <p:cNvSpPr/>
            <p:nvPr/>
          </p:nvSpPr>
          <p:spPr>
            <a:xfrm flipH="1">
              <a:off x="6588038" y="1776290"/>
              <a:ext cx="147971" cy="46082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F9A8EA94-BB6E-4F66-BA1A-1FE8ABADE11F}"/>
                </a:ext>
              </a:extLst>
            </p:cNvPr>
            <p:cNvSpPr/>
            <p:nvPr/>
          </p:nvSpPr>
          <p:spPr>
            <a:xfrm flipH="1">
              <a:off x="10800606" y="1776289"/>
              <a:ext cx="147971" cy="46082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B0C30CBB-5A91-4950-ADB6-8A5B741EE2E6}"/>
                </a:ext>
              </a:extLst>
            </p:cNvPr>
            <p:cNvSpPr/>
            <p:nvPr/>
          </p:nvSpPr>
          <p:spPr>
            <a:xfrm flipH="1">
              <a:off x="8658376" y="1776289"/>
              <a:ext cx="147971" cy="46082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90FC2F-F43C-44C7-B941-65DAF18F3C07}"/>
                </a:ext>
              </a:extLst>
            </p:cNvPr>
            <p:cNvSpPr/>
            <p:nvPr/>
          </p:nvSpPr>
          <p:spPr>
            <a:xfrm>
              <a:off x="7829459" y="3519198"/>
              <a:ext cx="1805797" cy="626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cs typeface="Calibri"/>
                </a:rPr>
                <a:t>Segment</a:t>
              </a:r>
              <a:endParaRPr lang="en-US" dirty="0"/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2843DE80-9D2D-4EB7-A949-24CB6C8AA5D9}"/>
                </a:ext>
              </a:extLst>
            </p:cNvPr>
            <p:cNvSpPr/>
            <p:nvPr/>
          </p:nvSpPr>
          <p:spPr>
            <a:xfrm flipH="1">
              <a:off x="8658372" y="3012742"/>
              <a:ext cx="147971" cy="46082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C95F797-A5BF-4414-98A7-6180E29EBFFE}"/>
                </a:ext>
              </a:extLst>
            </p:cNvPr>
            <p:cNvSpPr/>
            <p:nvPr/>
          </p:nvSpPr>
          <p:spPr>
            <a:xfrm>
              <a:off x="6880550" y="3519197"/>
              <a:ext cx="943156" cy="62685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cs typeface="Calibri"/>
                </a:rPr>
                <a:t>Header</a:t>
              </a:r>
              <a:endParaRPr lang="en-US" dirty="0"/>
            </a:p>
          </p:txBody>
        </p:sp>
        <p:sp>
          <p:nvSpPr>
            <p:cNvPr id="16" name="Arrow: Bent-Up 15">
              <a:extLst>
                <a:ext uri="{FF2B5EF4-FFF2-40B4-BE49-F238E27FC236}">
                  <a16:creationId xmlns:a16="http://schemas.microsoft.com/office/drawing/2014/main" id="{F799EE1E-FDBE-4983-A4DB-45FFAF8F35DB}"/>
                </a:ext>
              </a:extLst>
            </p:cNvPr>
            <p:cNvSpPr/>
            <p:nvPr/>
          </p:nvSpPr>
          <p:spPr>
            <a:xfrm rot="5400000">
              <a:off x="8515637" y="4667376"/>
              <a:ext cx="807260" cy="328955"/>
            </a:xfrm>
            <a:prstGeom prst="bent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D713070-27CB-428E-89FE-A8ECCB311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79" y="3986444"/>
            <a:ext cx="8405297" cy="264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4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drawing of a face&#10;&#10;Description generated with high confidence">
            <a:extLst>
              <a:ext uri="{FF2B5EF4-FFF2-40B4-BE49-F238E27FC236}">
                <a16:creationId xmlns:a16="http://schemas.microsoft.com/office/drawing/2014/main" id="{0BAD747F-17B0-42C2-8FD0-416DEC4D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210" y="306909"/>
            <a:ext cx="3325090" cy="2286000"/>
          </a:xfrm>
          <a:prstGeom prst="rect">
            <a:avLst/>
          </a:prstGeom>
        </p:spPr>
      </p:pic>
      <p:pic>
        <p:nvPicPr>
          <p:cNvPr id="4" name="Picture 4" descr="A person standing in a room&#10;&#10;Description generated with very high confidence">
            <a:extLst>
              <a:ext uri="{FF2B5EF4-FFF2-40B4-BE49-F238E27FC236}">
                <a16:creationId xmlns:a16="http://schemas.microsoft.com/office/drawing/2014/main" id="{A445B1FF-A794-4EEB-95F7-6CE07F43E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1" y="3108578"/>
            <a:ext cx="4042410" cy="2829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EF1F3B-C1FD-4FED-A60E-941E556B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204984" cy="1344975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 Light"/>
              </a:rPr>
              <a:t>Components of Computer Networks -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BCEE-8725-4A28-95A2-5C1C49A3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5" y="2121762"/>
            <a:ext cx="6204984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Humans have generally accepted protocols for interaction:</a:t>
            </a:r>
          </a:p>
          <a:p>
            <a:pPr lvl="1"/>
            <a:r>
              <a:rPr lang="en-US" sz="2000" dirty="0">
                <a:cs typeface="Calibri"/>
              </a:rPr>
              <a:t>Identified sender and receiver</a:t>
            </a:r>
          </a:p>
          <a:p>
            <a:pPr lvl="1"/>
            <a:r>
              <a:rPr lang="en-US" sz="2000" dirty="0">
                <a:cs typeface="Calibri"/>
              </a:rPr>
              <a:t>Agreed upon method of communicating (face-to-face, telephone...)</a:t>
            </a:r>
          </a:p>
          <a:p>
            <a:pPr lvl="1"/>
            <a:r>
              <a:rPr lang="en-US" sz="2000" dirty="0">
                <a:cs typeface="Calibri"/>
              </a:rPr>
              <a:t>Common language and grammar</a:t>
            </a:r>
          </a:p>
          <a:p>
            <a:pPr lvl="1"/>
            <a:r>
              <a:rPr lang="en-US" sz="2000" dirty="0">
                <a:cs typeface="Calibri"/>
              </a:rPr>
              <a:t>Speed and timing of delivery</a:t>
            </a:r>
          </a:p>
          <a:p>
            <a:pPr lvl="1"/>
            <a:r>
              <a:rPr lang="en-US" sz="2000" dirty="0">
                <a:cs typeface="Calibri"/>
              </a:rPr>
              <a:t>Confirmation or acknowledgement requirements</a:t>
            </a:r>
          </a:p>
          <a:p>
            <a:r>
              <a:rPr lang="en-US" sz="2000" dirty="0">
                <a:cs typeface="Calibri"/>
              </a:rPr>
              <a:t>All communication activity on the Internet is governed by protocols</a:t>
            </a:r>
          </a:p>
        </p:txBody>
      </p:sp>
    </p:spTree>
    <p:extLst>
      <p:ext uri="{BB962C8B-B14F-4D97-AF65-F5344CB8AC3E}">
        <p14:creationId xmlns:p14="http://schemas.microsoft.com/office/powerpoint/2010/main" val="251146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87ECC3CC-6235-4353-98FC-2B8A34B2F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980" y="1506107"/>
            <a:ext cx="7634039" cy="4406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0F9C8D-2691-41E3-8E26-B3E6A6044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125" y="1065345"/>
            <a:ext cx="4048381" cy="1344975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 Light"/>
              </a:rPr>
              <a:t>Human Protocol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0DD6D3-C6E3-47DD-807D-A3DF28A16FA0}"/>
              </a:ext>
            </a:extLst>
          </p:cNvPr>
          <p:cNvSpPr txBox="1">
            <a:spLocks/>
          </p:cNvSpPr>
          <p:nvPr/>
        </p:nvSpPr>
        <p:spPr>
          <a:xfrm>
            <a:off x="6096000" y="945392"/>
            <a:ext cx="4048381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cs typeface="Calibri Light"/>
              </a:rPr>
              <a:t>Network Protocol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085644-8FEA-684B-DE8F-D6C99D11CA31}"/>
              </a:ext>
            </a:extLst>
          </p:cNvPr>
          <p:cNvSpPr txBox="1">
            <a:spLocks/>
          </p:cNvSpPr>
          <p:nvPr/>
        </p:nvSpPr>
        <p:spPr>
          <a:xfrm>
            <a:off x="3339991" y="-73011"/>
            <a:ext cx="6204984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cs typeface="Calibri Light"/>
              </a:rPr>
              <a:t>Components of Computer Networks -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403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CC9D-7C62-41B6-A106-68A0AF4D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01" y="68521"/>
            <a:ext cx="9552296" cy="817231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Network Protocols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1E7D-6DDE-4C8F-8ABC-52B7CDF2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02" y="735624"/>
            <a:ext cx="6405680" cy="34269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Machines rather than humans</a:t>
            </a:r>
          </a:p>
          <a:p>
            <a:r>
              <a:rPr lang="en-US" sz="2000" dirty="0">
                <a:cs typeface="Calibri"/>
              </a:rPr>
              <a:t>All communication activity in Internet governed by protocols</a:t>
            </a:r>
          </a:p>
          <a:p>
            <a:r>
              <a:rPr lang="en-GB" sz="2000" dirty="0">
                <a:cs typeface="Calibri"/>
              </a:rPr>
              <a:t>Devices use agreed-upon protocols to communicate .</a:t>
            </a:r>
          </a:p>
          <a:p>
            <a:r>
              <a:rPr lang="en-GB" sz="2000" dirty="0">
                <a:cs typeface="Calibri"/>
              </a:rPr>
              <a:t>Protocols may have may have one or functions.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Protocols define </a:t>
            </a:r>
          </a:p>
          <a:p>
            <a:pPr lvl="1"/>
            <a:r>
              <a:rPr lang="en-US" sz="2000" dirty="0">
                <a:cs typeface="Calibri"/>
              </a:rPr>
              <a:t>Format, order of messages sent and received among network entities</a:t>
            </a:r>
          </a:p>
          <a:p>
            <a:pPr lvl="1"/>
            <a:r>
              <a:rPr lang="en-US" sz="2000" dirty="0">
                <a:cs typeface="Calibri"/>
              </a:rPr>
              <a:t>Actions taken on msg transmission, receipt</a:t>
            </a:r>
            <a:endParaRPr lang="en-US" sz="2000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B4722D6-799A-4EC9-B5F0-57D3B9030A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58781" y="584838"/>
            <a:ext cx="5828917" cy="193603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62E480-87E2-4847-91D4-EE89AEEA9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392395"/>
              </p:ext>
            </p:extLst>
          </p:nvPr>
        </p:nvGraphicFramePr>
        <p:xfrm>
          <a:off x="2953002" y="3985095"/>
          <a:ext cx="9121046" cy="283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069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069">
                <a:tc>
                  <a:txBody>
                    <a:bodyPr/>
                    <a:lstStyle/>
                    <a:p>
                      <a:r>
                        <a:rPr lang="en-US" dirty="0"/>
                        <a:t>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Identifies</a:t>
                      </a:r>
                      <a:r>
                        <a:rPr lang="en-US" baseline="0" dirty="0"/>
                        <a:t> sender and receiver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69">
                <a:tc>
                  <a:txBody>
                    <a:bodyPr/>
                    <a:lstStyle/>
                    <a:p>
                      <a:r>
                        <a:rPr lang="en-US" dirty="0"/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guaranteed delivery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069">
                <a:tc>
                  <a:txBody>
                    <a:bodyPr/>
                    <a:lstStyle/>
                    <a:p>
                      <a:r>
                        <a:rPr lang="en-US" dirty="0"/>
                        <a:t>Flow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Ensures data flows at an efficient</a:t>
                      </a:r>
                      <a:r>
                        <a:rPr lang="en-US" baseline="0" dirty="0"/>
                        <a:t> rate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69">
                <a:tc>
                  <a:txBody>
                    <a:bodyPr/>
                    <a:lstStyle/>
                    <a:p>
                      <a:r>
                        <a:rPr lang="en-US" dirty="0"/>
                        <a:t>Sequencing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Uniquely labels each transmitted segment of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069">
                <a:tc>
                  <a:txBody>
                    <a:bodyPr/>
                    <a:lstStyle/>
                    <a:p>
                      <a:r>
                        <a:rPr lang="en-US" dirty="0"/>
                        <a:t>Error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Determines if data became corrupted during transmission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120">
                <a:tc>
                  <a:txBody>
                    <a:bodyPr/>
                    <a:lstStyle/>
                    <a:p>
                      <a:r>
                        <a:rPr lang="en-US" dirty="0"/>
                        <a:t>Application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Process-to-process communications between network 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26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B29C-F396-4B52-82D5-5A951C00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89" y="-109328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Network Topology and Representations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5EE2-F815-435D-8646-9DD074065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73" y="109418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en-US" sz="2800" dirty="0"/>
              <a:t>Network diagrams are called </a:t>
            </a:r>
            <a:r>
              <a:rPr lang="en-US" altLang="en-US" sz="2800" b="1" dirty="0"/>
              <a:t>topology diagrams</a:t>
            </a:r>
            <a:r>
              <a:rPr lang="en-US" altLang="en-US" b="1" dirty="0"/>
              <a:t>.</a:t>
            </a:r>
            <a:r>
              <a:rPr lang="en-US" altLang="en-US" sz="2800" dirty="0"/>
              <a:t> Use accepted symbols to represent devices within the network.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6" name="Picture 6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C7EF9BF3-92AC-4AE0-ACA2-E7C4476B8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34" y="2057399"/>
            <a:ext cx="6826337" cy="4033045"/>
          </a:xfrm>
          <a:prstGeom prst="rect">
            <a:avLst/>
          </a:prstGeom>
        </p:spPr>
      </p:pic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A73F4F52-E5FE-40D7-AF50-FDE6064C2FFE}"/>
              </a:ext>
            </a:extLst>
          </p:cNvPr>
          <p:cNvSpPr/>
          <p:nvPr/>
        </p:nvSpPr>
        <p:spPr>
          <a:xfrm>
            <a:off x="5150498" y="2076061"/>
            <a:ext cx="5738327" cy="676469"/>
          </a:xfrm>
          <a:prstGeom prst="accent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Physical topology diagrams illustrate the physical location of intermediary devices and cable installation.</a:t>
            </a:r>
            <a:endParaRPr lang="en-US" dirty="0"/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B7596D08-7A7F-4885-BEB2-667C30C70EB7}"/>
              </a:ext>
            </a:extLst>
          </p:cNvPr>
          <p:cNvSpPr/>
          <p:nvPr/>
        </p:nvSpPr>
        <p:spPr>
          <a:xfrm>
            <a:off x="7840825" y="3612356"/>
            <a:ext cx="4147458" cy="1530219"/>
          </a:xfrm>
          <a:prstGeom prst="accentCallout1">
            <a:avLst>
              <a:gd name="adj1" fmla="val 18750"/>
              <a:gd name="adj2" fmla="val -8333"/>
              <a:gd name="adj3" fmla="val 55418"/>
              <a:gd name="adj4" fmla="val -427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Logical topology diagrams illustrate devices, ports, and the addressing scheme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904679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B29C-F396-4B52-82D5-5A951C00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000" y="54817"/>
            <a:ext cx="11247999" cy="956493"/>
          </a:xfrm>
        </p:spPr>
        <p:txBody>
          <a:bodyPr/>
          <a:lstStyle/>
          <a:p>
            <a:r>
              <a:rPr lang="en-US" dirty="0">
                <a:cs typeface="Calibri Light"/>
              </a:rPr>
              <a:t>Network Topologies Examples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D1E317-6F74-4802-96CB-E8D734BAA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50" y="1007064"/>
            <a:ext cx="4696708" cy="5257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52E4B0-4093-4987-9D92-57251F3E5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887" y="1011362"/>
            <a:ext cx="7207723" cy="4824663"/>
          </a:xfrm>
          <a:prstGeom prst="rect">
            <a:avLst/>
          </a:prstGeom>
        </p:spPr>
      </p:pic>
      <p:sp>
        <p:nvSpPr>
          <p:cNvPr id="17" name="Upfront costs…">
            <a:extLst>
              <a:ext uri="{FF2B5EF4-FFF2-40B4-BE49-F238E27FC236}">
                <a16:creationId xmlns:a16="http://schemas.microsoft.com/office/drawing/2014/main" id="{AFE2BE71-2349-482E-80CC-87617BEE307C}"/>
              </a:ext>
            </a:extLst>
          </p:cNvPr>
          <p:cNvSpPr txBox="1">
            <a:spLocks/>
          </p:cNvSpPr>
          <p:nvPr/>
        </p:nvSpPr>
        <p:spPr>
          <a:xfrm>
            <a:off x="472000" y="6327835"/>
            <a:ext cx="5391750" cy="571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6147" marR="0" indent="-456147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1pPr>
            <a:lvl2pPr marL="1482481" marR="0" indent="-570184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2pPr>
            <a:lvl3pPr marL="2508815" marR="0" indent="-684221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3pPr>
            <a:lvl4pPr marL="3497137" marR="0" indent="-760246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4pPr>
            <a:lvl5pPr marL="4409434" marR="0" indent="-760247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5pPr>
            <a:lvl6pPr marL="5343452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6pPr>
            <a:lvl7pPr marL="6255749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7pPr>
            <a:lvl8pPr marL="7168047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8pPr>
            <a:lvl9pPr marL="8080343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300"/>
              <a:t>Physical topology diagrams</a:t>
            </a:r>
            <a:endParaRPr lang="en-US" sz="2300" dirty="0"/>
          </a:p>
        </p:txBody>
      </p:sp>
      <p:sp>
        <p:nvSpPr>
          <p:cNvPr id="18" name="Upfront costs…">
            <a:extLst>
              <a:ext uri="{FF2B5EF4-FFF2-40B4-BE49-F238E27FC236}">
                <a16:creationId xmlns:a16="http://schemas.microsoft.com/office/drawing/2014/main" id="{42DF65EA-715E-45A3-87D0-0C23E77F957B}"/>
              </a:ext>
            </a:extLst>
          </p:cNvPr>
          <p:cNvSpPr txBox="1">
            <a:spLocks/>
          </p:cNvSpPr>
          <p:nvPr/>
        </p:nvSpPr>
        <p:spPr>
          <a:xfrm>
            <a:off x="5863750" y="6285371"/>
            <a:ext cx="5463941" cy="47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6147" marR="0" indent="-456147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1pPr>
            <a:lvl2pPr marL="1482481" marR="0" indent="-570184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2pPr>
            <a:lvl3pPr marL="2508815" marR="0" indent="-684221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3pPr>
            <a:lvl4pPr marL="3497137" marR="0" indent="-760246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4pPr>
            <a:lvl5pPr marL="4409434" marR="0" indent="-760247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5pPr>
            <a:lvl6pPr marL="5343452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6pPr>
            <a:lvl7pPr marL="6255749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7pPr>
            <a:lvl8pPr marL="7168047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8pPr>
            <a:lvl9pPr marL="8080343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300" dirty="0"/>
              <a:t>Logical topology diagrams</a:t>
            </a:r>
          </a:p>
        </p:txBody>
      </p:sp>
    </p:spTree>
    <p:extLst>
      <p:ext uri="{BB962C8B-B14F-4D97-AF65-F5344CB8AC3E}">
        <p14:creationId xmlns:p14="http://schemas.microsoft.com/office/powerpoint/2010/main" val="320708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0C94-3CAC-46E1-9755-59B2D9B1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Topology</a:t>
            </a:r>
          </a:p>
        </p:txBody>
      </p:sp>
      <p:pic>
        <p:nvPicPr>
          <p:cNvPr id="5" name="Content Placeholder 4" descr="A picture containing brush&#10;&#10;Description generated with high confidence">
            <a:extLst>
              <a:ext uri="{FF2B5EF4-FFF2-40B4-BE49-F238E27FC236}">
                <a16:creationId xmlns:a16="http://schemas.microsoft.com/office/drawing/2014/main" id="{8EEC20A6-7BE9-4C43-B9DD-CC76C8759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859" y="1870563"/>
            <a:ext cx="8880281" cy="4351338"/>
          </a:xfr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7C1D2B9-033B-4B08-B920-F3209F08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15070" cy="365125"/>
          </a:xfrm>
        </p:spPr>
        <p:txBody>
          <a:bodyPr/>
          <a:lstStyle/>
          <a:p>
            <a:r>
              <a:rPr lang="fr-FR" dirty="0"/>
              <a:t>Source: </a:t>
            </a:r>
            <a:r>
              <a:rPr lang="fr-FR" dirty="0" err="1"/>
              <a:t>wikipedia</a:t>
            </a:r>
            <a:endParaRPr lang="en-US" dirty="0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E1C10822-2FF5-4EF1-BE24-0F28EC7CE8C2}"/>
              </a:ext>
            </a:extLst>
          </p:cNvPr>
          <p:cNvSpPr/>
          <p:nvPr/>
        </p:nvSpPr>
        <p:spPr>
          <a:xfrm>
            <a:off x="9998258" y="1711429"/>
            <a:ext cx="1846730" cy="591670"/>
          </a:xfrm>
          <a:prstGeom prst="borderCallout1">
            <a:avLst>
              <a:gd name="adj1" fmla="val 18750"/>
              <a:gd name="adj2" fmla="val -8333"/>
              <a:gd name="adj3" fmla="val 159536"/>
              <a:gd name="adj4" fmla="val -40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Will not scale well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92212B33-5865-4B12-9AE9-3CD946D6BA10}"/>
              </a:ext>
            </a:extLst>
          </p:cNvPr>
          <p:cNvSpPr/>
          <p:nvPr/>
        </p:nvSpPr>
        <p:spPr>
          <a:xfrm>
            <a:off x="10150658" y="5441924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-12939"/>
              <a:gd name="adj4" fmla="val -44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 devices communicate simultaneously???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01EB9689-ED2B-4549-834E-59C73881FF4A}"/>
              </a:ext>
            </a:extLst>
          </p:cNvPr>
          <p:cNvSpPr/>
          <p:nvPr/>
        </p:nvSpPr>
        <p:spPr>
          <a:xfrm>
            <a:off x="4056529" y="5756146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-12939"/>
              <a:gd name="adj4" fmla="val -44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What if one device goes down???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036CB816-4AE8-43F7-88FE-C324B28F4FA0}"/>
              </a:ext>
            </a:extLst>
          </p:cNvPr>
          <p:cNvSpPr/>
          <p:nvPr/>
        </p:nvSpPr>
        <p:spPr>
          <a:xfrm>
            <a:off x="7304363" y="790382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180256"/>
              <a:gd name="adj4" fmla="val -31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Centre is single point of failure</a:t>
            </a: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19F37F81-D5F5-419C-B84B-EA1A1AA07A98}"/>
              </a:ext>
            </a:extLst>
          </p:cNvPr>
          <p:cNvSpPr/>
          <p:nvPr/>
        </p:nvSpPr>
        <p:spPr>
          <a:xfrm>
            <a:off x="5034051" y="624730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180256"/>
              <a:gd name="adj4" fmla="val -31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What connection to use? Unorganised….</a:t>
            </a:r>
          </a:p>
        </p:txBody>
      </p:sp>
    </p:spTree>
    <p:extLst>
      <p:ext uri="{BB962C8B-B14F-4D97-AF65-F5344CB8AC3E}">
        <p14:creationId xmlns:p14="http://schemas.microsoft.com/office/powerpoint/2010/main" val="286085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E5AE-E7AC-3286-C372-A9059A4F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63901-9847-F44E-FF51-DDA347188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Small Home Network</a:t>
            </a:r>
          </a:p>
          <a:p>
            <a:pPr lvl="1"/>
            <a:r>
              <a:rPr lang="en-IE" dirty="0"/>
              <a:t>A few devices connected to each other and the Internet</a:t>
            </a:r>
          </a:p>
          <a:p>
            <a:r>
              <a:rPr lang="en-IE" dirty="0"/>
              <a:t>Small Office/Home Office</a:t>
            </a:r>
          </a:p>
          <a:p>
            <a:pPr lvl="1"/>
            <a:r>
              <a:rPr lang="en-IE" dirty="0"/>
              <a:t>Connects to corporate network</a:t>
            </a:r>
          </a:p>
          <a:p>
            <a:pPr lvl="1"/>
            <a:r>
              <a:rPr lang="en-IE" dirty="0"/>
              <a:t>More complex intermediary devices/design(VPN/Firewalls/VLAN)</a:t>
            </a:r>
          </a:p>
          <a:p>
            <a:r>
              <a:rPr lang="en-IE" dirty="0"/>
              <a:t>Medium to Large Network</a:t>
            </a:r>
          </a:p>
          <a:p>
            <a:pPr lvl="1"/>
            <a:r>
              <a:rPr lang="en-IE" dirty="0"/>
              <a:t>Many locations/networks. &gt;100 devices</a:t>
            </a:r>
          </a:p>
          <a:p>
            <a:r>
              <a:rPr lang="en-IE" dirty="0"/>
              <a:t>Worldwide Networks</a:t>
            </a:r>
          </a:p>
          <a:p>
            <a:pPr lvl="1"/>
            <a:r>
              <a:rPr lang="en-IE" dirty="0"/>
              <a:t>Millions of connected devices via interconnected networks across the globe.</a:t>
            </a:r>
          </a:p>
          <a:p>
            <a:pPr lvl="1"/>
            <a:r>
              <a:rPr lang="en-IE" dirty="0"/>
              <a:t>E.g. the Internet</a:t>
            </a:r>
          </a:p>
        </p:txBody>
      </p:sp>
    </p:spTree>
    <p:extLst>
      <p:ext uri="{BB962C8B-B14F-4D97-AF65-F5344CB8AC3E}">
        <p14:creationId xmlns:p14="http://schemas.microsoft.com/office/powerpoint/2010/main" val="4168015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69B6-7F1A-4348-BB94-21E59BBB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7" y="-94951"/>
            <a:ext cx="10515600" cy="1325563"/>
          </a:xfrm>
        </p:spPr>
        <p:txBody>
          <a:bodyPr/>
          <a:lstStyle/>
          <a:p>
            <a:r>
              <a:rPr lang="en-IE" dirty="0"/>
              <a:t>Network Types - </a:t>
            </a:r>
            <a:r>
              <a:rPr lang="en-US" dirty="0">
                <a:cs typeface="Calibri Light"/>
              </a:rPr>
              <a:t>Typical Home Network</a:t>
            </a:r>
            <a:endParaRPr lang="en-US" dirty="0"/>
          </a:p>
        </p:txBody>
      </p:sp>
      <p:pic>
        <p:nvPicPr>
          <p:cNvPr id="4" name="Picture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10F2EEA5-6704-43CE-BEAB-59343B792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985" y="1241772"/>
            <a:ext cx="7430218" cy="5078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950075-D896-4EEE-BC5E-3FC67730689C}"/>
              </a:ext>
            </a:extLst>
          </p:cNvPr>
          <p:cNvSpPr txBox="1"/>
          <p:nvPr/>
        </p:nvSpPr>
        <p:spPr>
          <a:xfrm>
            <a:off x="3085381" y="6485626"/>
            <a:ext cx="5877463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Source: https://techterms.com/definition/network</a:t>
            </a:r>
          </a:p>
        </p:txBody>
      </p:sp>
    </p:spTree>
    <p:extLst>
      <p:ext uri="{BB962C8B-B14F-4D97-AF65-F5344CB8AC3E}">
        <p14:creationId xmlns:p14="http://schemas.microsoft.com/office/powerpoint/2010/main" val="24625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14BA9-EBDC-7BC1-9567-15C4ECCC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5400" dirty="0"/>
              <a:t>Network Types - 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8991-585D-E313-E3E8-5A246F0B8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24" y="2659974"/>
            <a:ext cx="4097971" cy="4042422"/>
          </a:xfrm>
        </p:spPr>
        <p:txBody>
          <a:bodyPr anchor="t">
            <a:normAutofit fontScale="92500" lnSpcReduction="10000"/>
          </a:bodyPr>
          <a:lstStyle/>
          <a:p>
            <a:r>
              <a:rPr lang="en-IE" sz="1600" dirty="0"/>
              <a:t>LAN(local area network)</a:t>
            </a:r>
          </a:p>
          <a:p>
            <a:pPr lvl="1"/>
            <a:r>
              <a:rPr lang="en-GB" sz="1600" dirty="0"/>
              <a:t> interconnects computers within a limited area, such as a home, office building, school, or campus.</a:t>
            </a:r>
          </a:p>
          <a:p>
            <a:pPr lvl="1"/>
            <a:r>
              <a:rPr lang="en-GB" sz="1600" dirty="0"/>
              <a:t>Administered by single person or organisation</a:t>
            </a:r>
          </a:p>
          <a:p>
            <a:r>
              <a:rPr lang="en-GB" sz="1600" dirty="0"/>
              <a:t>WAN(wide area network)</a:t>
            </a:r>
          </a:p>
          <a:p>
            <a:pPr lvl="1"/>
            <a:r>
              <a:rPr lang="en-GB" sz="1600" dirty="0"/>
              <a:t>covers a broad area.</a:t>
            </a:r>
          </a:p>
          <a:p>
            <a:pPr lvl="1"/>
            <a:r>
              <a:rPr lang="en-GB" sz="1600" dirty="0"/>
              <a:t>Interconnects LANs </a:t>
            </a:r>
          </a:p>
          <a:p>
            <a:r>
              <a:rPr lang="en-GB" sz="1600" dirty="0"/>
              <a:t>Internet</a:t>
            </a:r>
          </a:p>
          <a:p>
            <a:pPr lvl="1"/>
            <a:r>
              <a:rPr lang="en-GB" sz="1600" dirty="0"/>
              <a:t>Global collection of interconnected LANS and WANS</a:t>
            </a:r>
          </a:p>
          <a:p>
            <a:pPr lvl="1"/>
            <a:r>
              <a:rPr lang="en-GB" sz="1600" dirty="0"/>
              <a:t>No ownership. Groups formed to maintain structure:</a:t>
            </a:r>
          </a:p>
          <a:p>
            <a:pPr lvl="2"/>
            <a:r>
              <a:rPr lang="en-GB" sz="1600" dirty="0"/>
              <a:t>IETF</a:t>
            </a:r>
          </a:p>
          <a:p>
            <a:pPr lvl="2"/>
            <a:r>
              <a:rPr lang="en-GB" sz="1600" dirty="0"/>
              <a:t>ICANN</a:t>
            </a:r>
          </a:p>
        </p:txBody>
      </p:sp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34B6A241-8BFC-654E-2510-FA84FA4F5A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156" t="15059" r="18571" b="15059"/>
          <a:stretch/>
        </p:blipFill>
        <p:spPr>
          <a:xfrm>
            <a:off x="4654296" y="1255923"/>
            <a:ext cx="6903720" cy="434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04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B859-8E7B-44BC-B75C-A8465D56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Some Networking Vocabulary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5052D-8223-4785-A759-54666F63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cs typeface="Calibri"/>
              </a:rPr>
              <a:t>Network Interface/Adapter</a:t>
            </a:r>
            <a:r>
              <a:rPr lang="en-US" dirty="0">
                <a:cs typeface="Calibri"/>
              </a:rPr>
              <a:t>: any kind of software interface to networking hardware. (e.g. </a:t>
            </a:r>
            <a:r>
              <a:rPr lang="en-US" dirty="0" err="1">
                <a:cs typeface="Calibri"/>
              </a:rPr>
              <a:t>wifi</a:t>
            </a:r>
            <a:r>
              <a:rPr lang="en-US" dirty="0">
                <a:cs typeface="Calibri"/>
              </a:rPr>
              <a:t> interface and wired interface). A network interface may be associated with a physical device, or it may be a representation of a virtual interface. (e.g. interfaces on your virtual machines)</a:t>
            </a:r>
          </a:p>
          <a:p>
            <a:r>
              <a:rPr lang="en-US" b="1" dirty="0">
                <a:cs typeface="Calibri"/>
              </a:rPr>
              <a:t>LAN</a:t>
            </a:r>
            <a:r>
              <a:rPr lang="en-US" dirty="0">
                <a:cs typeface="Calibri"/>
              </a:rPr>
              <a:t>: Local Area Network refers to a network or a portion of a network that is not publicly accessible to the greater internet.</a:t>
            </a:r>
          </a:p>
          <a:p>
            <a:r>
              <a:rPr lang="en-US" b="1" dirty="0">
                <a:cs typeface="Calibri"/>
              </a:rPr>
              <a:t>WAN</a:t>
            </a:r>
            <a:r>
              <a:rPr lang="en-US" dirty="0">
                <a:cs typeface="Calibri"/>
              </a:rPr>
              <a:t>: Wide Area Network. Much Larger and extensive than a LAN. Often used to refer to the Internet, as a whole.</a:t>
            </a:r>
          </a:p>
          <a:p>
            <a:r>
              <a:rPr lang="en-US" b="1" dirty="0">
                <a:cs typeface="Calibri"/>
              </a:rPr>
              <a:t>Node:</a:t>
            </a:r>
            <a:r>
              <a:rPr lang="en-US" dirty="0">
                <a:cs typeface="Calibri"/>
              </a:rPr>
              <a:t> General term usually for a device on a network. Every node has a unique network address.</a:t>
            </a:r>
          </a:p>
          <a:p>
            <a:r>
              <a:rPr lang="en-US" b="1" dirty="0"/>
              <a:t>Media Access Control</a:t>
            </a:r>
            <a:r>
              <a:rPr lang="en-US" b="1" dirty="0">
                <a:cs typeface="Calibri"/>
              </a:rPr>
              <a:t>(MAC) address:</a:t>
            </a:r>
            <a:r>
              <a:rPr lang="en-US" dirty="0">
                <a:cs typeface="Calibri"/>
              </a:rPr>
              <a:t> Used to distinguish specific devices. A unique address that each device is assigned during manufacturing. Used to differentiates it from every other device on the internet. Typically, each network interface has a MAC address.</a:t>
            </a:r>
          </a:p>
          <a:p>
            <a:r>
              <a:rPr lang="en-US" b="1" dirty="0"/>
              <a:t>IP</a:t>
            </a:r>
            <a:r>
              <a:rPr lang="en-US" b="1" dirty="0">
                <a:cs typeface="Calibri"/>
              </a:rPr>
              <a:t>: </a:t>
            </a:r>
            <a:r>
              <a:rPr lang="en-US" dirty="0">
                <a:cs typeface="Calibri"/>
              </a:rPr>
              <a:t>protocols that allow the internet to work. IP addresses are unique on each network and they allow machines to address each other across networks.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833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62D0-64D1-47F3-98DD-065BC3A2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Reliable Networks - Network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A71F-44A6-4C0A-B5C7-42FC70FE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8" y="1515877"/>
            <a:ext cx="5607425" cy="49656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cs typeface="Calibri"/>
              </a:rPr>
              <a:t>Network architecture refers to:</a:t>
            </a:r>
          </a:p>
          <a:p>
            <a:pPr lvl="1"/>
            <a:r>
              <a:rPr lang="en-US" sz="2200" dirty="0">
                <a:cs typeface="Calibri"/>
              </a:rPr>
              <a:t>Design of a Network</a:t>
            </a:r>
          </a:p>
          <a:p>
            <a:pPr lvl="1"/>
            <a:r>
              <a:rPr lang="en-GB" sz="2200" dirty="0">
                <a:cs typeface="Calibri"/>
              </a:rPr>
              <a:t>network's physical components and its organisation</a:t>
            </a:r>
            <a:endParaRPr lang="en-US" sz="2200" dirty="0">
              <a:cs typeface="Calibri"/>
            </a:endParaRPr>
          </a:p>
          <a:p>
            <a:pPr lvl="1"/>
            <a:r>
              <a:rPr lang="en-US" sz="2200" dirty="0">
                <a:cs typeface="Calibri"/>
              </a:rPr>
              <a:t>the technologies that support the infrastructure </a:t>
            </a:r>
          </a:p>
          <a:p>
            <a:r>
              <a:rPr lang="en-US" sz="2000" dirty="0">
                <a:cs typeface="Calibri"/>
              </a:rPr>
              <a:t>4 general characteristics to meet user expectations</a:t>
            </a:r>
          </a:p>
          <a:p>
            <a:pPr lvl="1"/>
            <a:r>
              <a:rPr lang="en-US" sz="2000" dirty="0">
                <a:cs typeface="Calibri"/>
              </a:rPr>
              <a:t>Fault tolerance</a:t>
            </a:r>
          </a:p>
          <a:p>
            <a:pPr lvl="1"/>
            <a:r>
              <a:rPr lang="en-US" sz="2000" dirty="0">
                <a:cs typeface="Calibri"/>
              </a:rPr>
              <a:t>Scalability</a:t>
            </a:r>
          </a:p>
          <a:p>
            <a:pPr lvl="1"/>
            <a:r>
              <a:rPr lang="en-US" sz="2000" dirty="0">
                <a:cs typeface="Calibri"/>
              </a:rPr>
              <a:t>Quality of service (QoS)</a:t>
            </a:r>
          </a:p>
          <a:p>
            <a:pPr lvl="1"/>
            <a:r>
              <a:rPr lang="en-US" sz="2000" dirty="0">
                <a:cs typeface="Calibri"/>
              </a:rPr>
              <a:t>Security</a:t>
            </a:r>
          </a:p>
        </p:txBody>
      </p:sp>
      <p:pic>
        <p:nvPicPr>
          <p:cNvPr id="4" name="Picture 4" descr="A close up of a device&#10;&#10;Description generated with high confidence">
            <a:extLst>
              <a:ext uri="{FF2B5EF4-FFF2-40B4-BE49-F238E27FC236}">
                <a16:creationId xmlns:a16="http://schemas.microsoft.com/office/drawing/2014/main" id="{1F4DF414-B919-4ECF-834C-06FECF310B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55" r="-1" b="-1"/>
          <a:stretch/>
        </p:blipFill>
        <p:spPr>
          <a:xfrm>
            <a:off x="6338316" y="1904281"/>
            <a:ext cx="507407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0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8C4869-0777-A7DD-46B8-6A1F037F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127114"/>
            <a:ext cx="9392421" cy="1330841"/>
          </a:xfrm>
        </p:spPr>
        <p:txBody>
          <a:bodyPr>
            <a:normAutofit/>
          </a:bodyPr>
          <a:lstStyle/>
          <a:p>
            <a:r>
              <a:rPr lang="en-IE" dirty="0"/>
              <a:t>Reliable Networks – 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83F8F-92CB-B2B2-F2ED-95B5421EE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64" y="2061836"/>
            <a:ext cx="4285045" cy="4473435"/>
          </a:xfrm>
        </p:spPr>
        <p:txBody>
          <a:bodyPr>
            <a:normAutofit/>
          </a:bodyPr>
          <a:lstStyle/>
          <a:p>
            <a:r>
              <a:rPr lang="en-IE" sz="2000" dirty="0"/>
              <a:t>Refers to limiting impact failures</a:t>
            </a:r>
          </a:p>
          <a:p>
            <a:r>
              <a:rPr lang="en-IE" sz="2000" dirty="0"/>
              <a:t>Implemented using </a:t>
            </a:r>
            <a:r>
              <a:rPr lang="en-IE" sz="2000" b="1" dirty="0"/>
              <a:t>Packet Switched Networks </a:t>
            </a:r>
            <a:r>
              <a:rPr lang="en-IE" sz="2000" dirty="0"/>
              <a:t> and </a:t>
            </a:r>
            <a:r>
              <a:rPr lang="en-IE" sz="2000" b="1" dirty="0"/>
              <a:t>Multiple Paths</a:t>
            </a:r>
          </a:p>
          <a:p>
            <a:pPr lvl="1"/>
            <a:r>
              <a:rPr lang="en-GB" sz="2000" dirty="0"/>
              <a:t>Packet switching splits transmitted data into packets that are routed individually over a network. </a:t>
            </a:r>
          </a:p>
          <a:p>
            <a:pPr lvl="1"/>
            <a:r>
              <a:rPr lang="en-GB" sz="2000" dirty="0"/>
              <a:t>Packets can take different routes from source to destination</a:t>
            </a:r>
          </a:p>
          <a:p>
            <a:r>
              <a:rPr lang="en-GB" sz="2000" dirty="0"/>
              <a:t>Not possible with </a:t>
            </a:r>
            <a:r>
              <a:rPr lang="en-GB" sz="2000" b="1" dirty="0"/>
              <a:t>Circuit Switched Networks (</a:t>
            </a:r>
            <a:r>
              <a:rPr lang="en-GB" sz="2000" dirty="0" err="1"/>
              <a:t>eg</a:t>
            </a:r>
            <a:r>
              <a:rPr lang="en-GB" sz="2000" dirty="0"/>
              <a:t> old telecoms/phone networks)</a:t>
            </a:r>
          </a:p>
          <a:p>
            <a:pPr lvl="1"/>
            <a:endParaRPr lang="en-IE" sz="2000" dirty="0"/>
          </a:p>
        </p:txBody>
      </p:sp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7E7BB923-ED36-423E-125E-65BD297C5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52164" y="1738857"/>
            <a:ext cx="3995654" cy="375591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5211FA66-25C7-D906-C0B2-9E3F5E2403DC}"/>
              </a:ext>
            </a:extLst>
          </p:cNvPr>
          <p:cNvSpPr/>
          <p:nvPr/>
        </p:nvSpPr>
        <p:spPr>
          <a:xfrm>
            <a:off x="4924173" y="4706684"/>
            <a:ext cx="2855700" cy="1494502"/>
          </a:xfrm>
          <a:prstGeom prst="borderCallout1">
            <a:avLst>
              <a:gd name="adj1" fmla="val 1089"/>
              <a:gd name="adj2" fmla="val 49169"/>
              <a:gd name="adj3" fmla="val -105994"/>
              <a:gd name="adj4" fmla="val 1380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Redundant connections provide alternative paths if a  device or link fails</a:t>
            </a:r>
          </a:p>
        </p:txBody>
      </p:sp>
    </p:spTree>
    <p:extLst>
      <p:ext uri="{BB962C8B-B14F-4D97-AF65-F5344CB8AC3E}">
        <p14:creationId xmlns:p14="http://schemas.microsoft.com/office/powerpoint/2010/main" val="3253042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00BD7-C225-56A4-291B-1DAD185C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Reliable Networks -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A6054-11D7-8C99-0415-CA5658384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Networks should be able to scale(grow) easily</a:t>
            </a:r>
          </a:p>
          <a:p>
            <a:r>
              <a:rPr lang="en-IE" dirty="0"/>
              <a:t>Performance should not be affected for existing users</a:t>
            </a:r>
          </a:p>
          <a:p>
            <a:r>
              <a:rPr lang="en-IE" dirty="0"/>
              <a:t>Standards/protocols help to achieve this.</a:t>
            </a:r>
          </a:p>
        </p:txBody>
      </p:sp>
      <p:pic>
        <p:nvPicPr>
          <p:cNvPr id="4" name="Picture 3" descr="A diagram of a network&#10;&#10;Description automatically generated">
            <a:extLst>
              <a:ext uri="{FF2B5EF4-FFF2-40B4-BE49-F238E27FC236}">
                <a16:creationId xmlns:a16="http://schemas.microsoft.com/office/drawing/2014/main" id="{F03DBB3F-B1F3-8C67-5FA6-5FE7B037A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63632" y="3429000"/>
            <a:ext cx="3025836" cy="284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1FEB41-A34A-615A-1AB9-AFCDA6E34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483" y="4942359"/>
            <a:ext cx="1301817" cy="12827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D004664-3FE3-8BF6-A9ED-419642148B0A}"/>
                  </a:ext>
                </a:extLst>
              </p14:cNvPr>
              <p14:cNvContentPartPr/>
              <p14:nvPr/>
            </p14:nvContentPartPr>
            <p14:xfrm>
              <a:off x="3654323" y="4272748"/>
              <a:ext cx="1872360" cy="794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D004664-3FE3-8BF6-A9ED-419642148B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45683" y="4264108"/>
                <a:ext cx="1890000" cy="81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3FCC6C-CE49-343B-969F-89D195E69ACF}"/>
                  </a:ext>
                </a:extLst>
              </p14:cNvPr>
              <p14:cNvContentPartPr/>
              <p14:nvPr/>
            </p14:nvContentPartPr>
            <p14:xfrm>
              <a:off x="4408883" y="4463188"/>
              <a:ext cx="2187720" cy="1904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73FCC6C-CE49-343B-969F-89D195E69AC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90883" y="4445548"/>
                <a:ext cx="2223360" cy="1940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Callout: Line 12">
            <a:extLst>
              <a:ext uri="{FF2B5EF4-FFF2-40B4-BE49-F238E27FC236}">
                <a16:creationId xmlns:a16="http://schemas.microsoft.com/office/drawing/2014/main" id="{FBE6196B-AC9A-B4BB-8C04-40CD3A14D363}"/>
              </a:ext>
            </a:extLst>
          </p:cNvPr>
          <p:cNvSpPr/>
          <p:nvPr/>
        </p:nvSpPr>
        <p:spPr>
          <a:xfrm>
            <a:off x="6963130" y="5131874"/>
            <a:ext cx="2855700" cy="1494502"/>
          </a:xfrm>
          <a:prstGeom prst="borderCallout1">
            <a:avLst>
              <a:gd name="adj1" fmla="val -23205"/>
              <a:gd name="adj2" fmla="val 53878"/>
              <a:gd name="adj3" fmla="val -32884"/>
              <a:gd name="adj4" fmla="val -369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Adding new users/networks without degrading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108517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188F4-6C84-A887-D289-E144EE4E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210" y="106610"/>
            <a:ext cx="11018520" cy="1204603"/>
          </a:xfrm>
        </p:spPr>
        <p:txBody>
          <a:bodyPr anchor="b">
            <a:normAutofit/>
          </a:bodyPr>
          <a:lstStyle/>
          <a:p>
            <a:r>
              <a:rPr lang="en-IE" sz="5400" dirty="0"/>
              <a:t>Reliable Networks - QoS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128D0-DE1A-321C-E80D-749CC7B62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93" y="1911493"/>
            <a:ext cx="5051424" cy="4803320"/>
          </a:xfrm>
        </p:spPr>
        <p:txBody>
          <a:bodyPr anchor="t">
            <a:normAutofit/>
          </a:bodyPr>
          <a:lstStyle/>
          <a:p>
            <a:r>
              <a:rPr lang="en-IE" sz="2200" dirty="0"/>
              <a:t>Ever watched laggy/freezing video</a:t>
            </a:r>
          </a:p>
          <a:p>
            <a:pPr lvl="1"/>
            <a:r>
              <a:rPr lang="en-IE" sz="2200" dirty="0"/>
              <a:t>Caused by higher demand for Bandwidth available</a:t>
            </a:r>
          </a:p>
          <a:p>
            <a:r>
              <a:rPr lang="en-IE" sz="2200" dirty="0"/>
              <a:t>Certain traffic types require higher performance/bandwidth</a:t>
            </a:r>
          </a:p>
          <a:p>
            <a:r>
              <a:rPr lang="en-IE" sz="2200" dirty="0"/>
              <a:t>Quality of Service used to do this</a:t>
            </a:r>
          </a:p>
          <a:p>
            <a:pPr lvl="1"/>
            <a:r>
              <a:rPr lang="en-IE" sz="2200" dirty="0"/>
              <a:t>QoS policy enables routers to manage flow of media traffic(voice/video)</a:t>
            </a:r>
          </a:p>
          <a:p>
            <a:r>
              <a:rPr lang="en-IE" sz="2600" dirty="0"/>
              <a:t>Example: Routers prioritise voice/video traffic over web page traffic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D57B3-EDFA-4522-A697-4A992C6DB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010" y="1835799"/>
            <a:ext cx="6794697" cy="383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3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C83D-E5E2-5AE5-B95D-D6CC128A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14" y="168175"/>
            <a:ext cx="7568468" cy="692438"/>
          </a:xfrm>
        </p:spPr>
        <p:txBody>
          <a:bodyPr anchor="b">
            <a:normAutofit/>
          </a:bodyPr>
          <a:lstStyle/>
          <a:p>
            <a:r>
              <a:rPr lang="en-IE" sz="3200" dirty="0"/>
              <a:t>Reliable Networks - Network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4BC0-0CCA-D7B5-231A-D2369BECC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15" y="1350135"/>
            <a:ext cx="5026974" cy="3248759"/>
          </a:xfrm>
        </p:spPr>
        <p:txBody>
          <a:bodyPr anchor="t">
            <a:normAutofit lnSpcReduction="10000"/>
          </a:bodyPr>
          <a:lstStyle/>
          <a:p>
            <a:r>
              <a:rPr lang="en-CA" altLang="en-US" sz="1700" dirty="0"/>
              <a:t>Network infrastructure security</a:t>
            </a:r>
          </a:p>
          <a:p>
            <a:pPr lvl="1"/>
            <a:r>
              <a:rPr lang="en-CA" altLang="en-US" sz="1700" dirty="0"/>
              <a:t>Preventing unauthorized access to the physical devices</a:t>
            </a:r>
          </a:p>
          <a:p>
            <a:r>
              <a:rPr lang="en-CA" altLang="en-US" sz="1700" dirty="0"/>
              <a:t>Information Security</a:t>
            </a:r>
          </a:p>
          <a:p>
            <a:pPr lvl="1"/>
            <a:r>
              <a:rPr lang="en-CA" altLang="en-US" sz="1700" dirty="0"/>
              <a:t>Security of data transmitted on network</a:t>
            </a:r>
          </a:p>
          <a:p>
            <a:r>
              <a:rPr lang="en-CA" altLang="en-US" sz="1700" dirty="0"/>
              <a:t>Confidentiality – only intended recipients can read the data</a:t>
            </a:r>
          </a:p>
          <a:p>
            <a:r>
              <a:rPr lang="en-CA" altLang="en-US" sz="1700" dirty="0"/>
              <a:t>Integrity – assurance that the data has not be altered with during transmission</a:t>
            </a:r>
          </a:p>
          <a:p>
            <a:r>
              <a:rPr lang="en-CA" altLang="en-US" sz="1700" dirty="0"/>
              <a:t>Availability – assurance of timely and reliable access to data for authorised users</a:t>
            </a:r>
          </a:p>
          <a:p>
            <a:endParaRPr lang="en-CA" altLang="en-US" sz="1700" dirty="0"/>
          </a:p>
          <a:p>
            <a:endParaRPr lang="en-CA" altLang="en-US" sz="1700" dirty="0"/>
          </a:p>
          <a:p>
            <a:endParaRPr lang="en-CA" altLang="en-US" sz="1700" dirty="0"/>
          </a:p>
          <a:p>
            <a:pPr lvl="1"/>
            <a:endParaRPr lang="en-IE" sz="17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5D85E59-80AA-4EEB-A9E7-928E546EA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140" y="168174"/>
            <a:ext cx="894245" cy="894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02A32C-131F-41A8-8958-5755BED99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239" y="1209027"/>
            <a:ext cx="5920146" cy="376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92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5D66-CAA9-46D5-8B20-89998726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Key Points so far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D7B2-C723-43E7-88BE-086441DD4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Networks are everywhere</a:t>
            </a:r>
          </a:p>
          <a:p>
            <a:r>
              <a:rPr lang="en-US" dirty="0">
                <a:cs typeface="Calibri"/>
              </a:rPr>
              <a:t>4 Components of every network</a:t>
            </a:r>
          </a:p>
          <a:p>
            <a:pPr lvl="1"/>
            <a:r>
              <a:rPr lang="en-US" dirty="0">
                <a:cs typeface="Calibri"/>
              </a:rPr>
              <a:t>Devices</a:t>
            </a:r>
          </a:p>
          <a:p>
            <a:pPr lvl="1"/>
            <a:r>
              <a:rPr lang="en-US" dirty="0">
                <a:cs typeface="Calibri"/>
              </a:rPr>
              <a:t>Medium</a:t>
            </a:r>
          </a:p>
          <a:p>
            <a:pPr lvl="1"/>
            <a:r>
              <a:rPr lang="en-US" dirty="0">
                <a:cs typeface="Calibri"/>
              </a:rPr>
              <a:t>Protocols (Rules)</a:t>
            </a:r>
          </a:p>
          <a:p>
            <a:pPr lvl="1"/>
            <a:r>
              <a:rPr lang="en-US" dirty="0">
                <a:cs typeface="Calibri"/>
              </a:rPr>
              <a:t>Messages (Data)</a:t>
            </a:r>
          </a:p>
          <a:p>
            <a:r>
              <a:rPr lang="en-US" dirty="0">
                <a:cs typeface="Calibri"/>
              </a:rPr>
              <a:t>Networks are connecting everything (not just for PCs/Laptops)</a:t>
            </a:r>
          </a:p>
          <a:p>
            <a:r>
              <a:rPr lang="en-US" dirty="0">
                <a:cs typeface="Calibri"/>
              </a:rPr>
              <a:t>Networks have a Topology</a:t>
            </a:r>
          </a:p>
          <a:p>
            <a:r>
              <a:rPr lang="en-US" dirty="0">
                <a:cs typeface="Calibri"/>
              </a:rPr>
              <a:t>Some key characteristics of a network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93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Internet of Things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Internet </a:t>
            </a:r>
            <a:r>
              <a:rPr lang="en-US" altLang="en-US" sz="1800" dirty="0">
                <a:sym typeface="Wingdings" charset="2"/>
              </a:rPr>
              <a:t> The worldwide network of interconnected computer networks, based on a standard communication protocol (TCP/IP).</a:t>
            </a:r>
          </a:p>
          <a:p>
            <a:pPr>
              <a:buFontTx/>
              <a:buNone/>
            </a:pPr>
            <a:endParaRPr lang="en-US" altLang="en-US" sz="1800" dirty="0">
              <a:sym typeface="Wingdings" charset="2"/>
            </a:endParaRPr>
          </a:p>
          <a:p>
            <a:r>
              <a:rPr lang="en-US" altLang="en-US" sz="1800" dirty="0"/>
              <a:t>Thing </a:t>
            </a:r>
            <a:r>
              <a:rPr lang="en-US" altLang="en-US" sz="1800" dirty="0">
                <a:sym typeface="Wingdings" charset="2"/>
              </a:rPr>
              <a:t> An object not precisely identifiable.</a:t>
            </a:r>
          </a:p>
          <a:p>
            <a:pPr>
              <a:buFontTx/>
              <a:buNone/>
            </a:pPr>
            <a:endParaRPr lang="en-US" altLang="en-US" sz="1800" dirty="0">
              <a:sym typeface="Wingdings" charset="2"/>
            </a:endParaRPr>
          </a:p>
          <a:p>
            <a:r>
              <a:rPr lang="en-US" altLang="en-US" sz="1800" dirty="0"/>
              <a:t>Internet of Things (IoT) </a:t>
            </a:r>
            <a:r>
              <a:rPr lang="en-US" altLang="en-US" sz="1800" dirty="0">
                <a:sym typeface="Wingdings" charset="2"/>
              </a:rPr>
              <a:t> A worldwide network of interconnected objects uniquely addressable, based on standard communication protocol.</a:t>
            </a:r>
            <a:endParaRPr lang="en-US" sz="1800" dirty="0"/>
          </a:p>
          <a:p>
            <a:pPr>
              <a:buClrTx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41820" y="6356350"/>
            <a:ext cx="116586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3AA60A-E467-4DB9-BF1F-F60A1C08184A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pic>
        <p:nvPicPr>
          <p:cNvPr id="5" name="Picture 2" descr="http://blogs-images.forbes.com/oracle/files/2015/07/InternetofThing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5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0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What’s the difference…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211" y="1514330"/>
            <a:ext cx="11726779" cy="1045006"/>
          </a:xfrm>
        </p:spPr>
        <p:txBody>
          <a:bodyPr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GB" altLang="en-US" sz="2400" dirty="0"/>
              <a:t>Extending the current Internet and providing connection, communication, and inter-networking between devices and physical objects, or "Things,“ (even biological things!)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5" name="Picture 2" descr="https://www.capitatranslationinterpreting.com/wp-content/uploads/2014/10/Internet-of-Things-Blog-Post-Ima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039" y="2559336"/>
            <a:ext cx="6089904" cy="343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68059" y="61032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https://www.capitatranslationinterpreting.com/the-internet-of-things/</a:t>
            </a:r>
          </a:p>
        </p:txBody>
      </p:sp>
    </p:spTree>
    <p:extLst>
      <p:ext uri="{BB962C8B-B14F-4D97-AF65-F5344CB8AC3E}">
        <p14:creationId xmlns:p14="http://schemas.microsoft.com/office/powerpoint/2010/main" val="3469591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030" y="228600"/>
            <a:ext cx="10278035" cy="910759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IoT Evolution</a:t>
            </a: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325030" y="1491861"/>
            <a:ext cx="4722478" cy="5137539"/>
          </a:xfrm>
        </p:spPr>
        <p:txBody>
          <a:bodyPr>
            <a:normAutofit fontScale="77500" lnSpcReduction="20000"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Started with </a:t>
            </a:r>
            <a:r>
              <a:rPr lang="en-US" dirty="0">
                <a:solidFill>
                  <a:srgbClr val="6A0032"/>
                </a:solidFill>
              </a:rPr>
              <a:t>connectivity</a:t>
            </a:r>
            <a:r>
              <a:rPr lang="en-US" dirty="0"/>
              <a:t> among people for sharing information.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Led to a “flat-world” where </a:t>
            </a:r>
            <a:r>
              <a:rPr lang="en-US" dirty="0">
                <a:solidFill>
                  <a:srgbClr val="6A0032"/>
                </a:solidFill>
              </a:rPr>
              <a:t>everyone </a:t>
            </a:r>
            <a:r>
              <a:rPr lang="en-US" dirty="0"/>
              <a:t>across the world is connected.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Advancement in </a:t>
            </a:r>
            <a:r>
              <a:rPr lang="en-US" dirty="0">
                <a:solidFill>
                  <a:srgbClr val="6A0032"/>
                </a:solidFill>
              </a:rPr>
              <a:t>cloud computing </a:t>
            </a:r>
            <a:r>
              <a:rPr lang="en-US" dirty="0"/>
              <a:t>and immersive experience led towards universal accessibility of data.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Combination of immersive experiences, connectivity and advancement in electronics further leading to </a:t>
            </a:r>
            <a:r>
              <a:rPr lang="en-US" u="sng" dirty="0">
                <a:solidFill>
                  <a:srgbClr val="6A0032"/>
                </a:solidFill>
              </a:rPr>
              <a:t>Internet of Everything (IoE)</a:t>
            </a:r>
            <a:endParaRPr lang="en-US" dirty="0">
              <a:solidFill>
                <a:srgbClr val="6A0032"/>
              </a:solidFill>
            </a:endParaRP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82" y="995083"/>
            <a:ext cx="6425257" cy="289355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8073520" y="3888632"/>
            <a:ext cx="1074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Source: Cisco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8F1AD-0252-4126-802F-76CCB66C2D1B}"/>
              </a:ext>
            </a:extLst>
          </p:cNvPr>
          <p:cNvSpPr txBox="1"/>
          <p:nvPr/>
        </p:nvSpPr>
        <p:spPr>
          <a:xfrm>
            <a:off x="4719918" y="4518133"/>
            <a:ext cx="7286122" cy="73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an estimated 8.4 billion devices in 2017, the number of connected IoT devices is projected to reach over 25 billion by 2030</a:t>
            </a:r>
          </a:p>
        </p:txBody>
      </p:sp>
    </p:spTree>
    <p:extLst>
      <p:ext uri="{BB962C8B-B14F-4D97-AF65-F5344CB8AC3E}">
        <p14:creationId xmlns:p14="http://schemas.microsoft.com/office/powerpoint/2010/main" val="4341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IoT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Conservatively </a:t>
            </a:r>
            <a:r>
              <a:rPr lang="en-US" sz="1300" dirty="0">
                <a:sym typeface="Wingdings" panose="05000000000000000000" pitchFamily="2" charset="2"/>
              </a:rPr>
              <a:t> 20 billion newly connected devices will be deployed.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First public website went live at CERN in 1990.</a:t>
            </a: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It took 15 years to reach 1 billion people on earth over the internet.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IoT is looking to add 6 billion connected devices per year.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endParaRPr lang="en-US" sz="1300" dirty="0">
              <a:cs typeface="Calibri"/>
            </a:endParaRP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Economic impact</a:t>
            </a: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New revenue streams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costs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time to market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Improving supply chain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production loss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Increasing productivity</a:t>
            </a:r>
            <a:endParaRPr lang="en-US" sz="1300" dirty="0">
              <a:cs typeface="Calibri"/>
            </a:endParaRPr>
          </a:p>
          <a:p>
            <a:pPr marL="474980" lvl="2" indent="0">
              <a:buClrTx/>
              <a:buNone/>
            </a:pPr>
            <a:endParaRPr lang="en-US" sz="1300" dirty="0">
              <a:cs typeface="Calibri"/>
            </a:endParaRPr>
          </a:p>
          <a:p>
            <a:pPr marL="0" indent="0">
              <a:buClrTx/>
              <a:buNone/>
            </a:pPr>
            <a:endParaRPr lang="en-US" sz="1300" dirty="0"/>
          </a:p>
        </p:txBody>
      </p:sp>
      <p:pic>
        <p:nvPicPr>
          <p:cNvPr id="8" name="Picture 2" descr="http://mahdoton.fi/wp-content/uploads/2015/01/ibm-cisco-iot.png">
            <a:extLst>
              <a:ext uri="{FF2B5EF4-FFF2-40B4-BE49-F238E27FC236}">
                <a16:creationId xmlns:a16="http://schemas.microsoft.com/office/drawing/2014/main" id="{49B184FB-FD2A-48E7-96C2-54BD26AA8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5" b="3"/>
          <a:stretch/>
        </p:blipFill>
        <p:spPr bwMode="auto">
          <a:xfrm>
            <a:off x="5120640" y="1904281"/>
            <a:ext cx="6233160" cy="427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3AA60A-E467-4DB9-BF1F-F60A1C08184A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7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psemi-website-files.s3.amazonaws.com/markets/featured_images/000/000/016/original/Markets_Internet-of-Things.jpg?14153904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615" y="2145262"/>
            <a:ext cx="4065169" cy="256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601" y="182895"/>
            <a:ext cx="10515600" cy="1325563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Networking and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607" y="1525866"/>
            <a:ext cx="7515224" cy="4566855"/>
          </a:xfrm>
        </p:spPr>
        <p:txBody>
          <a:bodyPr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The Roles of Networks</a:t>
            </a:r>
          </a:p>
          <a:p>
            <a:pPr marL="566928" lvl="1" indent="-274320">
              <a:buClrTx/>
              <a:buFont typeface="Arial" panose="020B0604020202020204" pitchFamily="34" charset="0"/>
              <a:buChar char="•"/>
            </a:pPr>
            <a:r>
              <a:rPr lang="en-US" sz="2200" dirty="0"/>
              <a:t>Managing connected devices (discovery, join, leave, </a:t>
            </a:r>
            <a:r>
              <a:rPr lang="en-US" sz="2200" dirty="0" err="1"/>
              <a:t>etc</a:t>
            </a:r>
            <a:r>
              <a:rPr lang="en-US" sz="2200" dirty="0"/>
              <a:t>).</a:t>
            </a:r>
          </a:p>
          <a:p>
            <a:pPr marL="566928" lvl="1" indent="-274320">
              <a:buClrTx/>
              <a:buFont typeface="Arial" panose="020B0604020202020204" pitchFamily="34" charset="0"/>
              <a:buChar char="•"/>
            </a:pPr>
            <a:r>
              <a:rPr lang="en-US" sz="2200" dirty="0"/>
              <a:t>Relaying data packets from the source to the destination node in the network.</a:t>
            </a:r>
          </a:p>
          <a:p>
            <a:pPr marL="0" indent="0">
              <a:buClrTx/>
              <a:buNone/>
            </a:pPr>
            <a:endParaRPr lang="en-US" sz="2400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IoT is a distributed system. All nodes need to perform networking related tasks.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Main concerns as before: Reliability, Performance, Security, QOS, Scalability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10613" y="6307341"/>
            <a:ext cx="3457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http://www.psemi.com/markets/industrial/internet-of-things</a:t>
            </a:r>
          </a:p>
        </p:txBody>
      </p:sp>
    </p:spTree>
    <p:extLst>
      <p:ext uri="{BB962C8B-B14F-4D97-AF65-F5344CB8AC3E}">
        <p14:creationId xmlns:p14="http://schemas.microsoft.com/office/powerpoint/2010/main" val="265899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circuit board&#10;&#10;Description generated with very high confidence">
            <a:extLst>
              <a:ext uri="{FF2B5EF4-FFF2-40B4-BE49-F238E27FC236}">
                <a16:creationId xmlns:a16="http://schemas.microsoft.com/office/drawing/2014/main" id="{5956D1A0-8AEB-4546-8C02-8F894BC643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50" b="1"/>
          <a:stretch/>
        </p:blipFill>
        <p:spPr>
          <a:xfrm>
            <a:off x="6338316" y="1904281"/>
            <a:ext cx="5074070" cy="42726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0247CD-819A-42F1-AA68-267A9A38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Learning about Networks/IoT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BCF44-63ED-4690-A855-32F0C4276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548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Can't create complex networks at home however you can simulate "virtual networks"</a:t>
            </a:r>
            <a:endParaRPr lang="en-US" dirty="0">
              <a:cs typeface="Calibri"/>
            </a:endParaRPr>
          </a:p>
          <a:p>
            <a:pPr lvl="1"/>
            <a:r>
              <a:rPr lang="en-US" sz="1600" dirty="0" err="1">
                <a:cs typeface="Calibri"/>
              </a:rPr>
              <a:t>Virtualbox</a:t>
            </a:r>
            <a:r>
              <a:rPr lang="en-US" sz="1600" dirty="0">
                <a:cs typeface="Calibri"/>
              </a:rPr>
              <a:t> hypervisor</a:t>
            </a:r>
          </a:p>
          <a:p>
            <a:pPr lvl="1"/>
            <a:r>
              <a:rPr lang="en-US" sz="1600" dirty="0">
                <a:cs typeface="Calibri"/>
              </a:rPr>
              <a:t>Packet Tracer</a:t>
            </a:r>
          </a:p>
          <a:p>
            <a:r>
              <a:rPr lang="en-US" sz="2000" dirty="0">
                <a:cs typeface="Calibri"/>
              </a:rPr>
              <a:t>Can use programmable, multi-channel,  prototyping device to investigate different mediums, protocols, IoT etc.</a:t>
            </a:r>
          </a:p>
          <a:p>
            <a:pPr lvl="1"/>
            <a:r>
              <a:rPr lang="en-US" sz="2000" dirty="0">
                <a:cs typeface="Calibri"/>
              </a:rPr>
              <a:t>Raspberry Pi has </a:t>
            </a:r>
            <a:r>
              <a:rPr lang="en-US" sz="2000" dirty="0" err="1">
                <a:cs typeface="Calibri"/>
              </a:rPr>
              <a:t>bluetooth</a:t>
            </a:r>
            <a:r>
              <a:rPr lang="en-US" sz="2000" dirty="0">
                <a:cs typeface="Calibri"/>
              </a:rPr>
              <a:t>, </a:t>
            </a:r>
            <a:r>
              <a:rPr lang="en-US" sz="2000" dirty="0" err="1">
                <a:cs typeface="Calibri"/>
              </a:rPr>
              <a:t>Wifi</a:t>
            </a:r>
            <a:r>
              <a:rPr lang="en-US" sz="2000" dirty="0">
                <a:cs typeface="Calibri"/>
              </a:rPr>
              <a:t>, Ethernet, SPI, I2C...</a:t>
            </a:r>
          </a:p>
        </p:txBody>
      </p:sp>
    </p:spTree>
    <p:extLst>
      <p:ext uri="{BB962C8B-B14F-4D97-AF65-F5344CB8AC3E}">
        <p14:creationId xmlns:p14="http://schemas.microsoft.com/office/powerpoint/2010/main" val="283350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7784</TotalTime>
  <Words>2282</Words>
  <Application>Microsoft Office PowerPoint</Application>
  <PresentationFormat>Widescreen</PresentationFormat>
  <Paragraphs>316</Paragraphs>
  <Slides>36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Calibri Light</vt:lpstr>
      <vt:lpstr>DDG_ProximaNova</vt:lpstr>
      <vt:lpstr>Lato</vt:lpstr>
      <vt:lpstr>roboto</vt:lpstr>
      <vt:lpstr>Söhne</vt:lpstr>
      <vt:lpstr>Wingdings</vt:lpstr>
      <vt:lpstr>office theme</vt:lpstr>
      <vt:lpstr>Computer Networks</vt:lpstr>
      <vt:lpstr>Agenda (1st Part)</vt:lpstr>
      <vt:lpstr>Computer System &amp; Networks</vt:lpstr>
      <vt:lpstr>Intro</vt:lpstr>
      <vt:lpstr>QI: 1850s - Transatlantic Cable</vt:lpstr>
      <vt:lpstr>QI: 1960s - Arpanet</vt:lpstr>
      <vt:lpstr>Computer Networks</vt:lpstr>
      <vt:lpstr>QI: Computer Networks Growth</vt:lpstr>
      <vt:lpstr>Networks  - Under the bonnet</vt:lpstr>
      <vt:lpstr>Networks – Under the bonnet</vt:lpstr>
      <vt:lpstr>Components of Computer Networks</vt:lpstr>
      <vt:lpstr>Components of Computer Networks - Device Types</vt:lpstr>
      <vt:lpstr>Components of Computer Networks - Physical Medium</vt:lpstr>
      <vt:lpstr>Components of Computer Networks - Messages</vt:lpstr>
      <vt:lpstr>Components of Computer Networks - Rules</vt:lpstr>
      <vt:lpstr>Human Protocol</vt:lpstr>
      <vt:lpstr>Network Protocols</vt:lpstr>
      <vt:lpstr>Network Topology and Representations</vt:lpstr>
      <vt:lpstr>Network Topologies Examples</vt:lpstr>
      <vt:lpstr>Network Topology</vt:lpstr>
      <vt:lpstr>Network Types</vt:lpstr>
      <vt:lpstr>Network Types - Typical Home Network</vt:lpstr>
      <vt:lpstr>Network Types - </vt:lpstr>
      <vt:lpstr>Some Networking Vocabulary</vt:lpstr>
      <vt:lpstr>Reliable Networks - Network Characteristics</vt:lpstr>
      <vt:lpstr>Reliable Networks – Fault Tolerance</vt:lpstr>
      <vt:lpstr>Reliable Networks - Scalability</vt:lpstr>
      <vt:lpstr>Reliable Networks - QoS</vt:lpstr>
      <vt:lpstr>Reliable Networks - Network Security</vt:lpstr>
      <vt:lpstr>Key Points so far</vt:lpstr>
      <vt:lpstr>Internet of Things</vt:lpstr>
      <vt:lpstr>What’s the difference…</vt:lpstr>
      <vt:lpstr>IoT Evolution</vt:lpstr>
      <vt:lpstr>IoT Potential</vt:lpstr>
      <vt:lpstr>Networking and IoT</vt:lpstr>
      <vt:lpstr>Learning about Networks/IoT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Frank X Walsh</dc:creator>
  <cp:lastModifiedBy>Mujahid Tabassum</cp:lastModifiedBy>
  <cp:revision>67</cp:revision>
  <dcterms:created xsi:type="dcterms:W3CDTF">2018-09-11T11:50:21Z</dcterms:created>
  <dcterms:modified xsi:type="dcterms:W3CDTF">2026-02-10T19:02:35Z</dcterms:modified>
</cp:coreProperties>
</file>